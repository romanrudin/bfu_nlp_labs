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3"/>
  </p:sldMasterIdLst>
  <p:notesMasterIdLst>
    <p:notesMasterId r:id="rId51"/>
  </p:notesMasterIdLst>
  <p:handoutMasterIdLst>
    <p:handoutMasterId r:id="rId52"/>
  </p:handoutMasterIdLst>
  <p:sldIdLst>
    <p:sldId id="282" r:id="rId4"/>
    <p:sldId id="292" r:id="rId5"/>
    <p:sldId id="299" r:id="rId6"/>
    <p:sldId id="367" r:id="rId7"/>
    <p:sldId id="302" r:id="rId8"/>
    <p:sldId id="333" r:id="rId9"/>
    <p:sldId id="303" r:id="rId10"/>
    <p:sldId id="364" r:id="rId11"/>
    <p:sldId id="363" r:id="rId12"/>
    <p:sldId id="365" r:id="rId13"/>
    <p:sldId id="366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8" r:id="rId24"/>
    <p:sldId id="379" r:id="rId25"/>
    <p:sldId id="380" r:id="rId26"/>
    <p:sldId id="381" r:id="rId27"/>
    <p:sldId id="377" r:id="rId28"/>
    <p:sldId id="383" r:id="rId29"/>
    <p:sldId id="382" r:id="rId30"/>
    <p:sldId id="384" r:id="rId31"/>
    <p:sldId id="385" r:id="rId32"/>
    <p:sldId id="386" r:id="rId33"/>
    <p:sldId id="388" r:id="rId34"/>
    <p:sldId id="389" r:id="rId35"/>
    <p:sldId id="387" r:id="rId36"/>
    <p:sldId id="391" r:id="rId37"/>
    <p:sldId id="393" r:id="rId38"/>
    <p:sldId id="390" r:id="rId39"/>
    <p:sldId id="392" r:id="rId40"/>
    <p:sldId id="394" r:id="rId41"/>
    <p:sldId id="395" r:id="rId42"/>
    <p:sldId id="396" r:id="rId43"/>
    <p:sldId id="397" r:id="rId44"/>
    <p:sldId id="316" r:id="rId45"/>
    <p:sldId id="322" r:id="rId46"/>
    <p:sldId id="398" r:id="rId47"/>
    <p:sldId id="328" r:id="rId48"/>
    <p:sldId id="329" r:id="rId49"/>
    <p:sldId id="296" r:id="rId5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31" autoAdjust="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68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8DD750-E9C8-498E-B02F-A465CB2BB798}" type="datetime1">
              <a:rPr lang="ru-RU" smtClean="0"/>
              <a:t>27.01.2026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C6E7-B645-4B70-AC63-7A575D94CEB1}" type="datetime1">
              <a:rPr lang="ru-RU" smtClean="0"/>
              <a:pPr/>
              <a:t>27.01.2026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00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466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8017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92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 rtlCol="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 слайда-разделителя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-фотография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3" name="Полилиния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4" name="Полилиния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5" name="Полилиния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Сравнение слева — заполнитель 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2" name="Сравнение слева — заполнитель 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ое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rtlCol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ru-RU" noProof="0" dirty="0"/>
              <a:t>Введите подпись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лайд с благодар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Вставьте или перетащите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38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Спасибо за внимание!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Полное имя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Номер телефона</a:t>
            </a:r>
          </a:p>
        </p:txBody>
      </p:sp>
      <p:sp>
        <p:nvSpPr>
          <p:cNvPr id="9" name="Текст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Электронная почта или контакт в социальной сети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 rtlCol="0"/>
          <a:lstStyle>
            <a:lvl1pPr marL="0" indent="0">
              <a:buNone/>
              <a:defRPr sz="1400"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Веб-сайт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ru-RU" noProof="0" dirty="0"/>
              <a:t>Подзаголовок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5" name="Прямоугольник: Скругленные углы 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ru-RU" noProof="0" dirty="0"/>
              <a:t>Щелкните, чтобы изменить 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fld id="{19B51A1E-902D-48AF-9020-955120F399B6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0" r:id="rId11"/>
    <p:sldLayoutId id="2147483652" r:id="rId12"/>
    <p:sldLayoutId id="2147483656" r:id="rId13"/>
    <p:sldLayoutId id="2147483657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3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7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8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2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11.svg"/><Relationship Id="rId4" Type="http://schemas.openxmlformats.org/officeDocument/2006/relationships/image" Target="../media/image23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слайда">
            <a:extLst>
              <a:ext uri="{FF2B5EF4-FFF2-40B4-BE49-F238E27FC236}">
                <a16:creationId xmlns:a16="http://schemas.microsoft.com/office/drawing/2014/main" id="{FE5D908F-BAEF-2843-BC2F-691696E72E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5" name="Надпись 24" descr="Акцент слайда для поля заголовка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-1" y="3914775"/>
            <a:ext cx="1481849" cy="2200275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93" y="3114635"/>
            <a:ext cx="4459766" cy="2514635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 rtlCol="0"/>
          <a:lstStyle/>
          <a:p>
            <a:pPr rtl="0"/>
            <a:r>
              <a:rPr lang="en-US" sz="5000" dirty="0" smtClean="0"/>
              <a:t>TF-IDF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4624645"/>
            <a:ext cx="4000500" cy="690752"/>
          </a:xfrm>
        </p:spPr>
        <p:txBody>
          <a:bodyPr rtlCol="0"/>
          <a:lstStyle/>
          <a:p>
            <a:r>
              <a:rPr lang="ru-RU" dirty="0" smtClean="0"/>
              <a:t>Основы обработки текстов</a:t>
            </a:r>
            <a:endParaRPr lang="ru-RU" dirty="0"/>
          </a:p>
        </p:txBody>
      </p:sp>
      <p:sp>
        <p:nvSpPr>
          <p:cNvPr id="20" name="Равнобедренный треугольник 19" descr="Тень на слайде для поля заголовка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0837" y="562927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слайда-разделителя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Надпись 23" descr="Контрастный элемент для поля заголовка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18" name="Равнобедренный треугольник 17" descr="Тень для поля заголовка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rtl="0"/>
            <a:r>
              <a:rPr lang="ru-RU" sz="5000" dirty="0" smtClean="0"/>
              <a:t>В предыдущей лекции…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15" name="Полилиния 5" descr="Контрастный блок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16" name="Полилиния 5" descr="Пустой контрастный блок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 smtClean="0"/>
              <a:t>Поговорили про:</a:t>
            </a:r>
          </a:p>
          <a:p>
            <a:r>
              <a:rPr lang="ru-RU" sz="3200" dirty="0" smtClean="0"/>
              <a:t>Бинарное кодирование </a:t>
            </a:r>
          </a:p>
          <a:p>
            <a:r>
              <a:rPr lang="ru-RU" sz="3200" dirty="0" smtClean="0"/>
              <a:t>Далее можно было много говорить про сжатие информации и даже прийти к алгоритму </a:t>
            </a:r>
            <a:r>
              <a:rPr lang="en-US" sz="3200" dirty="0" err="1" smtClean="0"/>
              <a:t>MapReduce</a:t>
            </a:r>
            <a:r>
              <a:rPr lang="en-US" sz="3200" dirty="0" smtClean="0"/>
              <a:t> </a:t>
            </a:r>
            <a:r>
              <a:rPr lang="ru-RU" sz="3200" dirty="0" smtClean="0"/>
              <a:t>от </a:t>
            </a:r>
            <a:r>
              <a:rPr lang="en-US" sz="3200" dirty="0" smtClean="0"/>
              <a:t>Google</a:t>
            </a:r>
            <a:r>
              <a:rPr lang="ru-RU" sz="3200" dirty="0" smtClean="0"/>
              <a:t>…</a:t>
            </a:r>
          </a:p>
          <a:p>
            <a:r>
              <a:rPr lang="ru-RU" sz="3200" dirty="0"/>
              <a:t>и</a:t>
            </a:r>
            <a:r>
              <a:rPr lang="ru-RU" sz="3200" dirty="0" smtClean="0"/>
              <a:t> далее переходим к ранжированному поиску.</a:t>
            </a:r>
          </a:p>
          <a:p>
            <a:pPr marL="0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744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Рисунок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Полилиния 5" descr="Пустой контрастный элемент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1" name="Надпись 30" descr="Акцент флага для заголовка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21" name="Равнобедренный треугольник 20" descr="Акцент тени для заголовка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9"/>
            <a:ext cx="4459766" cy="3146839"/>
          </a:xfrm>
        </p:spPr>
        <p:txBody>
          <a:bodyPr rtlCol="0"/>
          <a:lstStyle/>
          <a:p>
            <a:r>
              <a:rPr lang="ru-RU" dirty="0"/>
              <a:t>Ранжированный поиск</a:t>
            </a:r>
            <a:endParaRPr lang="ru-RU" sz="5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9739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Ранжированный поиск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5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ru-RU" sz="3200" dirty="0"/>
              <a:t>До сих пор </a:t>
            </a:r>
            <a:r>
              <a:rPr lang="ru-RU" sz="3200" dirty="0" smtClean="0"/>
              <a:t>рассматриваемые </a:t>
            </a:r>
            <a:r>
              <a:rPr lang="ru-RU" sz="3200" dirty="0"/>
              <a:t>запросы были исключительно булевыми:</a:t>
            </a:r>
          </a:p>
          <a:p>
            <a:pPr lvl="1" fontAlgn="base"/>
            <a:r>
              <a:rPr lang="ru-RU" sz="3000" dirty="0" smtClean="0"/>
              <a:t>Документ </a:t>
            </a:r>
            <a:r>
              <a:rPr lang="ru-RU" sz="3000" dirty="0"/>
              <a:t>либо соответствует запросу, либо нет</a:t>
            </a:r>
          </a:p>
          <a:p>
            <a:pPr marL="0" indent="0" fontAlgn="base">
              <a:buNone/>
            </a:pPr>
            <a:r>
              <a:rPr lang="ru-RU" sz="3200" dirty="0">
                <a:solidFill>
                  <a:srgbClr val="00B050"/>
                </a:solidFill>
              </a:rPr>
              <a:t>Хорошо подходит для опытных пользователей с четким пониманием своих </a:t>
            </a:r>
            <a:r>
              <a:rPr lang="ru-RU" sz="3200" dirty="0" smtClean="0">
                <a:solidFill>
                  <a:srgbClr val="00B050"/>
                </a:solidFill>
              </a:rPr>
              <a:t>поисковых запросов </a:t>
            </a:r>
            <a:r>
              <a:rPr lang="ru-RU" sz="3200" dirty="0">
                <a:solidFill>
                  <a:srgbClr val="00B050"/>
                </a:solidFill>
              </a:rPr>
              <a:t>и состава </a:t>
            </a:r>
            <a:r>
              <a:rPr lang="ru-RU" sz="3200" dirty="0" smtClean="0">
                <a:solidFill>
                  <a:srgbClr val="00B050"/>
                </a:solidFill>
              </a:rPr>
              <a:t>корпуса текстов</a:t>
            </a:r>
          </a:p>
          <a:p>
            <a:pPr lvl="1" fontAlgn="base"/>
            <a:r>
              <a:rPr lang="ru-RU" sz="3000" dirty="0" smtClean="0"/>
              <a:t>Также подходит для приложений, которым легко обрабатывать тысячи результатов поиска.</a:t>
            </a:r>
          </a:p>
          <a:p>
            <a:pPr marL="0" indent="0" fontAlgn="base">
              <a:buNone/>
            </a:pPr>
            <a:r>
              <a:rPr lang="ru-RU" sz="3200" dirty="0" smtClean="0">
                <a:solidFill>
                  <a:srgbClr val="FF0000"/>
                </a:solidFill>
              </a:rPr>
              <a:t>Однако </a:t>
            </a:r>
            <a:r>
              <a:rPr lang="ru-RU" sz="3200" dirty="0">
                <a:solidFill>
                  <a:srgbClr val="FF0000"/>
                </a:solidFill>
              </a:rPr>
              <a:t>плохо подходит большинству пользователей:</a:t>
            </a:r>
          </a:p>
          <a:p>
            <a:pPr lvl="1" fontAlgn="base"/>
            <a:r>
              <a:rPr lang="ru-RU" sz="3000" dirty="0"/>
              <a:t>Большинство пользователей неспособны составлять </a:t>
            </a:r>
            <a:r>
              <a:rPr lang="ru-RU" sz="3000" dirty="0" err="1"/>
              <a:t>булевые</a:t>
            </a:r>
            <a:r>
              <a:rPr lang="ru-RU" sz="3000" dirty="0"/>
              <a:t> запросы (или считают это слишком трудоемким)</a:t>
            </a:r>
          </a:p>
          <a:p>
            <a:pPr lvl="1" fontAlgn="base"/>
            <a:r>
              <a:rPr lang="ru-RU" sz="3000" dirty="0"/>
              <a:t>Пользователи не хотят просматривать тысячи результатов</a:t>
            </a:r>
          </a:p>
          <a:p>
            <a:pPr lvl="2" fontAlgn="base">
              <a:buFont typeface="Courier New" panose="02070309020205020404" pitchFamily="49" charset="0"/>
              <a:buChar char="o"/>
            </a:pPr>
            <a:r>
              <a:rPr lang="ru-RU" sz="2800" dirty="0"/>
              <a:t>Это особенно актуально для веб-поиска</a:t>
            </a:r>
          </a:p>
        </p:txBody>
      </p:sp>
    </p:spTree>
    <p:extLst>
      <p:ext uri="{BB962C8B-B14F-4D97-AF65-F5344CB8AC3E}">
        <p14:creationId xmlns:p14="http://schemas.microsoft.com/office/powerpoint/2010/main" val="25856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Проблема булевого поиска: Изобилие или </a:t>
            </a:r>
            <a:r>
              <a:rPr lang="ru-RU" b="1" dirty="0" smtClean="0"/>
              <a:t>голод (метафора)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6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92500"/>
          </a:bodyPr>
          <a:lstStyle/>
          <a:p>
            <a:pPr marL="0" indent="0" fontAlgn="base">
              <a:buNone/>
            </a:pPr>
            <a:r>
              <a:rPr lang="ru-RU" sz="3200" dirty="0"/>
              <a:t>Запросы часто приводят к слишком малому количеству результатов (например, 0) или слишком большому числу (десяткам тысяч).</a:t>
            </a:r>
          </a:p>
          <a:p>
            <a:pPr marL="0" indent="0" fontAlgn="base">
              <a:buNone/>
            </a:pPr>
            <a:r>
              <a:rPr lang="ru-RU" sz="3200" dirty="0" smtClean="0"/>
              <a:t>Примеры </a:t>
            </a:r>
            <a:r>
              <a:rPr lang="ru-RU" sz="3200" dirty="0"/>
              <a:t>запросов:</a:t>
            </a:r>
          </a:p>
          <a:p>
            <a:pPr marL="0" indent="0" fontAlgn="base">
              <a:buNone/>
            </a:pPr>
            <a:r>
              <a:rPr lang="ru-RU" sz="3200" dirty="0" smtClean="0"/>
              <a:t>Запрос </a:t>
            </a:r>
            <a:r>
              <a:rPr lang="ru-RU" sz="3200" dirty="0"/>
              <a:t>1: "стандартный пользователь </a:t>
            </a:r>
            <a:r>
              <a:rPr lang="ru-RU" sz="3200" dirty="0" err="1"/>
              <a:t>DLink</a:t>
            </a:r>
            <a:r>
              <a:rPr lang="ru-RU" sz="3200" dirty="0"/>
              <a:t> </a:t>
            </a:r>
            <a:r>
              <a:rPr lang="ru-RU" sz="3200" dirty="0" smtClean="0"/>
              <a:t>650"  </a:t>
            </a:r>
            <a:r>
              <a:rPr lang="ru-RU" sz="3200" dirty="0"/>
              <a:t>→ 200,000 </a:t>
            </a:r>
            <a:r>
              <a:rPr lang="ru-RU" sz="3200" dirty="0" smtClean="0"/>
              <a:t>совпадений (</a:t>
            </a:r>
            <a:r>
              <a:rPr lang="en-US" altLang="ru-RU" sz="3200" i="1" dirty="0">
                <a:ea typeface="ＭＳ Ｐゴシック" panose="020B0600070205080204" pitchFamily="34" charset="-128"/>
              </a:rPr>
              <a:t>standard user </a:t>
            </a:r>
            <a:r>
              <a:rPr lang="en-US" altLang="ru-RU" sz="3200" i="1" dirty="0" err="1">
                <a:ea typeface="ＭＳ Ｐゴシック" panose="020B0600070205080204" pitchFamily="34" charset="-128"/>
              </a:rPr>
              <a:t>dlink</a:t>
            </a:r>
            <a:r>
              <a:rPr lang="en-US" altLang="ru-RU" sz="3200" i="1" dirty="0">
                <a:ea typeface="ＭＳ Ｐゴシック" panose="020B0600070205080204" pitchFamily="34" charset="-128"/>
              </a:rPr>
              <a:t> 650</a:t>
            </a:r>
            <a:r>
              <a:rPr lang="ru-RU" sz="3200" dirty="0" smtClean="0"/>
              <a:t>)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/>
              <a:t>Запрос 2: "стандартный пользователь </a:t>
            </a:r>
            <a:r>
              <a:rPr lang="ru-RU" sz="3200" dirty="0" err="1"/>
              <a:t>DLink</a:t>
            </a:r>
            <a:r>
              <a:rPr lang="ru-RU" sz="3200" dirty="0"/>
              <a:t> 650 карта не найдена" → 0 </a:t>
            </a:r>
            <a:r>
              <a:rPr lang="ru-RU" sz="3200" dirty="0" smtClean="0"/>
              <a:t>совпадений (</a:t>
            </a:r>
            <a:r>
              <a:rPr lang="en-US" altLang="ru-RU" sz="3200" i="1" dirty="0">
                <a:ea typeface="ＭＳ Ｐゴシック" panose="020B0600070205080204" pitchFamily="34" charset="-128"/>
              </a:rPr>
              <a:t>standard user </a:t>
            </a:r>
            <a:r>
              <a:rPr lang="en-US" altLang="ru-RU" sz="3200" i="1" dirty="0" err="1">
                <a:ea typeface="ＭＳ Ｐゴシック" panose="020B0600070205080204" pitchFamily="34" charset="-128"/>
              </a:rPr>
              <a:t>dlink</a:t>
            </a:r>
            <a:r>
              <a:rPr lang="en-US" altLang="ru-RU" sz="3200" i="1" dirty="0">
                <a:ea typeface="ＭＳ Ｐゴシック" panose="020B0600070205080204" pitchFamily="34" charset="-128"/>
              </a:rPr>
              <a:t> 650 no card found</a:t>
            </a:r>
            <a:r>
              <a:rPr lang="ru-RU" sz="3200" dirty="0" smtClean="0"/>
              <a:t>)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/>
              <a:t>Требуется высокий уровень мастерства, чтобы составить запрос, дающий </a:t>
            </a:r>
            <a:r>
              <a:rPr lang="ru-RU" sz="3200" dirty="0" smtClean="0"/>
              <a:t>«нормальное» </a:t>
            </a:r>
            <a:r>
              <a:rPr lang="ru-RU" sz="3200" dirty="0"/>
              <a:t>количество результатов.</a:t>
            </a:r>
          </a:p>
          <a:p>
            <a:pPr lvl="1" fontAlgn="base"/>
            <a:r>
              <a:rPr lang="ru-RU" sz="3000" dirty="0" smtClean="0"/>
              <a:t>Операция </a:t>
            </a:r>
            <a:r>
              <a:rPr lang="ru-RU" sz="3000" dirty="0">
                <a:solidFill>
                  <a:srgbClr val="FF0000"/>
                </a:solidFill>
              </a:rPr>
              <a:t>AND</a:t>
            </a:r>
            <a:r>
              <a:rPr lang="ru-RU" sz="3000" dirty="0"/>
              <a:t> дает слишком мало результатов, операция </a:t>
            </a:r>
            <a:r>
              <a:rPr lang="ru-RU" sz="3000" dirty="0">
                <a:solidFill>
                  <a:srgbClr val="00B050"/>
                </a:solidFill>
              </a:rPr>
              <a:t>OR</a:t>
            </a:r>
            <a:r>
              <a:rPr lang="ru-RU" sz="3000" dirty="0"/>
              <a:t> — слишком много.</a:t>
            </a:r>
          </a:p>
        </p:txBody>
      </p:sp>
    </p:spTree>
    <p:extLst>
      <p:ext uri="{BB962C8B-B14F-4D97-AF65-F5344CB8AC3E}">
        <p14:creationId xmlns:p14="http://schemas.microsoft.com/office/powerpoint/2010/main" val="265281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Модели ранжированного поиска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7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Вместо множества документов, удовлетворяющих выражению запроса, система возвращает упорядоченный список наиболее </a:t>
            </a:r>
            <a:r>
              <a:rPr lang="ru-RU" sz="3200" b="1" dirty="0"/>
              <a:t>релевантных документов </a:t>
            </a:r>
            <a:r>
              <a:rPr lang="ru-RU" sz="3200" dirty="0"/>
              <a:t>для данного запроса.</a:t>
            </a:r>
          </a:p>
          <a:p>
            <a:pPr marL="0" indent="0" fontAlgn="base">
              <a:buNone/>
            </a:pPr>
            <a:r>
              <a:rPr lang="ru-RU" sz="3200" dirty="0" smtClean="0"/>
              <a:t>Текстовые запросы произвольной формы: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Вместо </a:t>
            </a:r>
            <a:r>
              <a:rPr lang="ru-RU" sz="3200" dirty="0"/>
              <a:t>выражения операторов и выражений пользователь вводит одно или несколько слов на </a:t>
            </a:r>
            <a:r>
              <a:rPr lang="ru-RU" sz="3200" dirty="0" smtClean="0"/>
              <a:t>естественном </a:t>
            </a:r>
            <a:r>
              <a:rPr lang="ru-RU" sz="3200" dirty="0"/>
              <a:t>языке.</a:t>
            </a:r>
          </a:p>
          <a:p>
            <a:pPr marL="0" indent="0" fontAlgn="base">
              <a:buNone/>
            </a:pPr>
            <a:r>
              <a:rPr lang="ru-RU" sz="3200" dirty="0"/>
              <a:t>Хотя теоретически возможны </a:t>
            </a:r>
            <a:r>
              <a:rPr lang="ru-RU" sz="3200" dirty="0" smtClean="0"/>
              <a:t>оба варианта, на практике </a:t>
            </a:r>
            <a:r>
              <a:rPr lang="ru-RU" sz="3200" dirty="0"/>
              <a:t>ранжированный поиск ассоциируется именно </a:t>
            </a:r>
            <a:r>
              <a:rPr lang="ru-RU" sz="3200" dirty="0" smtClean="0"/>
              <a:t>с произвольными </a:t>
            </a:r>
            <a:r>
              <a:rPr lang="ru-RU" sz="3200" dirty="0"/>
              <a:t>текстовыми запросами.</a:t>
            </a:r>
          </a:p>
        </p:txBody>
      </p:sp>
    </p:spTree>
    <p:extLst>
      <p:ext uri="{BB962C8B-B14F-4D97-AF65-F5344CB8AC3E}">
        <p14:creationId xmlns:p14="http://schemas.microsoft.com/office/powerpoint/2010/main" val="278803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Модели ранжированного поиска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8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Пользовательские </a:t>
            </a:r>
            <a:r>
              <a:rPr lang="ru-RU" sz="3200" dirty="0"/>
              <a:t>запросы теперь состоят из простого текста, без строгих синтаксических конструкций.</a:t>
            </a:r>
          </a:p>
          <a:p>
            <a:pPr marL="0" indent="0" fontAlgn="base">
              <a:buNone/>
            </a:pPr>
            <a:r>
              <a:rPr lang="ru-RU" sz="3200" dirty="0" smtClean="0"/>
              <a:t>Например</a:t>
            </a:r>
            <a:r>
              <a:rPr lang="ru-RU" sz="3200" dirty="0"/>
              <a:t>:</a:t>
            </a:r>
          </a:p>
          <a:p>
            <a:pPr marL="0" indent="0" fontAlgn="base">
              <a:buNone/>
            </a:pPr>
            <a:r>
              <a:rPr lang="ru-RU" sz="3200" dirty="0" err="1" smtClean="0"/>
              <a:t>Булевый</a:t>
            </a:r>
            <a:r>
              <a:rPr lang="ru-RU" sz="3200" dirty="0" smtClean="0"/>
              <a:t> </a:t>
            </a:r>
            <a:r>
              <a:rPr lang="ru-RU" sz="3200" dirty="0"/>
              <a:t>запрос: "</a:t>
            </a:r>
            <a:r>
              <a:rPr lang="ru-RU" sz="3200" dirty="0" err="1"/>
              <a:t>author</a:t>
            </a:r>
            <a:r>
              <a:rPr lang="ru-RU" sz="3200" dirty="0"/>
              <a:t>=(</a:t>
            </a:r>
            <a:r>
              <a:rPr lang="ru-RU" sz="3200" dirty="0" err="1"/>
              <a:t>Shakespeare</a:t>
            </a:r>
            <a:r>
              <a:rPr lang="ru-RU" sz="3200" dirty="0"/>
              <a:t>) AND </a:t>
            </a:r>
            <a:r>
              <a:rPr lang="ru-RU" sz="3200" dirty="0" err="1"/>
              <a:t>play</a:t>
            </a:r>
            <a:r>
              <a:rPr lang="ru-RU" sz="3200" dirty="0"/>
              <a:t>=(</a:t>
            </a:r>
            <a:r>
              <a:rPr lang="ru-RU" sz="3200" dirty="0" err="1"/>
              <a:t>Hamlet</a:t>
            </a:r>
            <a:r>
              <a:rPr lang="ru-RU" sz="3200" dirty="0"/>
              <a:t>)"</a:t>
            </a:r>
          </a:p>
          <a:p>
            <a:pPr marL="0" indent="0" fontAlgn="base">
              <a:buNone/>
            </a:pPr>
            <a:r>
              <a:rPr lang="ru-RU" sz="3200" dirty="0" smtClean="0"/>
              <a:t>Произвольный </a:t>
            </a:r>
            <a:r>
              <a:rPr lang="ru-RU" sz="3200" dirty="0"/>
              <a:t>текстовый запрос: "</a:t>
            </a:r>
            <a:r>
              <a:rPr lang="ru-RU" sz="3200" dirty="0" err="1"/>
              <a:t>Shakespeare's</a:t>
            </a:r>
            <a:r>
              <a:rPr lang="ru-RU" sz="3200" dirty="0"/>
              <a:t> </a:t>
            </a:r>
            <a:r>
              <a:rPr lang="ru-RU" sz="3200" dirty="0" err="1"/>
              <a:t>plays</a:t>
            </a:r>
            <a:r>
              <a:rPr lang="ru-RU" sz="3200" dirty="0"/>
              <a:t> </a:t>
            </a:r>
            <a:r>
              <a:rPr lang="ru-RU" sz="3200" dirty="0" err="1"/>
              <a:t>about</a:t>
            </a:r>
            <a:r>
              <a:rPr lang="ru-RU" sz="3200" dirty="0"/>
              <a:t> </a:t>
            </a:r>
            <a:r>
              <a:rPr lang="ru-RU" sz="3200" dirty="0" err="1"/>
              <a:t>revenge</a:t>
            </a:r>
            <a:r>
              <a:rPr lang="ru-RU" sz="3200" dirty="0"/>
              <a:t>"</a:t>
            </a:r>
          </a:p>
          <a:p>
            <a:pPr marL="0" indent="0" fontAlgn="base">
              <a:buNone/>
            </a:pPr>
            <a:r>
              <a:rPr lang="ru-RU" sz="3200" dirty="0"/>
              <a:t>Это позволяет пользователям формулировать запросы проще и </a:t>
            </a:r>
            <a:r>
              <a:rPr lang="ru-RU" sz="3200" dirty="0" err="1"/>
              <a:t>интуитивнее</a:t>
            </a:r>
            <a:r>
              <a:rPr lang="ru-RU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7055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Ранжирование: Решение проблемы изобилия или голода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9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При выдаче результата в виде ранжированного списка размер набора результатов больше не является проблемой.</a:t>
            </a:r>
          </a:p>
          <a:p>
            <a:pPr marL="0" indent="0" fontAlgn="base">
              <a:buNone/>
            </a:pPr>
            <a:r>
              <a:rPr lang="ru-RU" sz="3200" dirty="0" smtClean="0"/>
              <a:t>Мы </a:t>
            </a:r>
            <a:r>
              <a:rPr lang="ru-RU" sz="3200" dirty="0"/>
              <a:t>показываем лишь первые k (≈10) результатов, не перегружая </a:t>
            </a:r>
            <a:r>
              <a:rPr lang="ru-RU" sz="3200" dirty="0" smtClean="0"/>
              <a:t>пользователя.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Основное </a:t>
            </a:r>
            <a:r>
              <a:rPr lang="ru-RU" sz="3200" dirty="0"/>
              <a:t>предположение: алгоритм ранжирования работает эффективно.</a:t>
            </a:r>
          </a:p>
        </p:txBody>
      </p:sp>
    </p:spTree>
    <p:extLst>
      <p:ext uri="{BB962C8B-B14F-4D97-AF65-F5344CB8AC3E}">
        <p14:creationId xmlns:p14="http://schemas.microsoft.com/office/powerpoint/2010/main" val="2505739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Основы ранжированной выборки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10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Цель</a:t>
            </a:r>
            <a:r>
              <a:rPr lang="ru-RU" sz="3200" dirty="0"/>
              <a:t>: вернуть документы в порядке убывания вероятности полезности для </a:t>
            </a:r>
            <a:r>
              <a:rPr lang="ru-RU" sz="3200" dirty="0" smtClean="0"/>
              <a:t>поиска</a:t>
            </a:r>
            <a:r>
              <a:rPr lang="ru-RU" sz="3200" dirty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Задача</a:t>
            </a:r>
            <a:r>
              <a:rPr lang="ru-RU" sz="3200" dirty="0"/>
              <a:t>: как отсортировать документы относительно запроса?</a:t>
            </a:r>
          </a:p>
          <a:p>
            <a:pPr marL="0" indent="0" fontAlgn="base">
              <a:buNone/>
            </a:pPr>
            <a:r>
              <a:rPr lang="ru-RU" sz="3200" dirty="0" smtClean="0"/>
              <a:t>Решение</a:t>
            </a:r>
            <a:r>
              <a:rPr lang="ru-RU" sz="3200" dirty="0"/>
              <a:t>: присвоение каждому документу балла — скажем, в диапазоне [0, 1], измеряющего степень соответствия документа запросу.</a:t>
            </a:r>
          </a:p>
        </p:txBody>
      </p:sp>
    </p:spTree>
    <p:extLst>
      <p:ext uri="{BB962C8B-B14F-4D97-AF65-F5344CB8AC3E}">
        <p14:creationId xmlns:p14="http://schemas.microsoft.com/office/powerpoint/2010/main" val="63766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Баллы соответствия запроса и документа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11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Необходимо </a:t>
            </a:r>
            <a:r>
              <a:rPr lang="ru-RU" sz="3200" dirty="0"/>
              <a:t>определить способ присваивания баллов паре запрос-документ.</a:t>
            </a:r>
          </a:p>
          <a:p>
            <a:pPr marL="0" indent="0" fontAlgn="base">
              <a:buNone/>
            </a:pPr>
            <a:r>
              <a:rPr lang="ru-RU" sz="3200" dirty="0" smtClean="0"/>
              <a:t>Начнем </a:t>
            </a:r>
            <a:r>
              <a:rPr lang="ru-RU" sz="3200" dirty="0"/>
              <a:t>с </a:t>
            </a:r>
            <a:r>
              <a:rPr lang="ru-RU" sz="3200" dirty="0" smtClean="0"/>
              <a:t>запроса из одного слова (термина):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Если </a:t>
            </a:r>
            <a:r>
              <a:rPr lang="ru-RU" sz="3200" dirty="0"/>
              <a:t>термин запроса отсутствует в документе, балл равен нулю.</a:t>
            </a:r>
          </a:p>
          <a:p>
            <a:pPr marL="0" indent="0" fontAlgn="base">
              <a:buNone/>
            </a:pPr>
            <a:r>
              <a:rPr lang="ru-RU" sz="3200" b="1" dirty="0"/>
              <a:t>Чем чаще встречается термин запроса в документе, тем выше должен быть балл.</a:t>
            </a:r>
          </a:p>
          <a:p>
            <a:pPr marL="0" indent="0" fontAlgn="base">
              <a:buNone/>
            </a:pPr>
            <a:r>
              <a:rPr lang="ru-RU" sz="3200" dirty="0"/>
              <a:t>Рассмотрим несколько альтернативных подходов.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58564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Первый вариант: Коэффициент </a:t>
            </a:r>
            <a:r>
              <a:rPr lang="ru-RU" b="1" dirty="0" err="1"/>
              <a:t>Жаккара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12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Коэффициент </a:t>
            </a:r>
            <a:r>
              <a:rPr lang="ru-RU" sz="3200" dirty="0" err="1"/>
              <a:t>Жаккара</a:t>
            </a:r>
            <a:r>
              <a:rPr lang="ru-RU" sz="3200" dirty="0"/>
              <a:t> используется для измерения пересечения двух множеств </a:t>
            </a:r>
            <a:r>
              <a:rPr lang="en-US" sz="3200" dirty="0"/>
              <a:t>A </a:t>
            </a:r>
            <a:r>
              <a:rPr lang="ru-RU" sz="3200" dirty="0"/>
              <a:t>и </a:t>
            </a:r>
            <a:r>
              <a:rPr lang="en-US" sz="3200" dirty="0"/>
              <a:t>B.</a:t>
            </a:r>
          </a:p>
          <a:p>
            <a:r>
              <a:rPr lang="en-US" altLang="ru-RU" sz="32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jaccard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(A,B) = 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|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∩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B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| / |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∪ 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B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|</a:t>
            </a:r>
          </a:p>
          <a:p>
            <a:r>
              <a:rPr lang="en-US" altLang="ru-RU" sz="32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jaccard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(A,A) = 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1</a:t>
            </a:r>
          </a:p>
          <a:p>
            <a:r>
              <a:rPr lang="en-US" altLang="ru-RU" sz="3200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jaccard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(A,B) = 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0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if </a:t>
            </a:r>
            <a:r>
              <a:rPr lang="en-US" altLang="ru-RU" sz="3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∩ B = </a:t>
            </a:r>
            <a:r>
              <a:rPr lang="en-US" altLang="ru-RU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0</a:t>
            </a:r>
          </a:p>
          <a:p>
            <a:pPr fontAlgn="base"/>
            <a:r>
              <a:rPr lang="ru-RU" sz="3200" dirty="0" smtClean="0"/>
              <a:t>Размер </a:t>
            </a:r>
            <a:r>
              <a:rPr lang="ru-RU" sz="3200" dirty="0"/>
              <a:t>множеств может различаться</a:t>
            </a:r>
          </a:p>
          <a:p>
            <a:pPr fontAlgn="base"/>
            <a:r>
              <a:rPr lang="ru-RU" sz="3200" dirty="0"/>
              <a:t>Всегда возвращает значение от 0 до 1.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18865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Примеры вычисления коэффициента </a:t>
            </a:r>
            <a:r>
              <a:rPr lang="ru-RU" b="1" dirty="0" err="1"/>
              <a:t>Жаккара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13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Пример: какие баллы соответствия выдаст коэффициент </a:t>
            </a:r>
            <a:r>
              <a:rPr lang="ru-RU" sz="3200" dirty="0" err="1"/>
              <a:t>Жаккара</a:t>
            </a:r>
            <a:r>
              <a:rPr lang="ru-RU" sz="3200" dirty="0"/>
              <a:t> для каждого из двух документов ниже?</a:t>
            </a:r>
          </a:p>
          <a:p>
            <a:pPr marL="0" indent="0" fontAlgn="base">
              <a:buNone/>
            </a:pPr>
            <a:r>
              <a:rPr lang="ru-RU" sz="3200" dirty="0" smtClean="0"/>
              <a:t>Запрос</a:t>
            </a:r>
            <a:r>
              <a:rPr lang="ru-RU" sz="3200" dirty="0"/>
              <a:t>: "</a:t>
            </a:r>
            <a:r>
              <a:rPr lang="ru-RU" sz="3200" dirty="0" err="1"/>
              <a:t>ides</a:t>
            </a:r>
            <a:r>
              <a:rPr lang="ru-RU" sz="3200" dirty="0"/>
              <a:t> </a:t>
            </a:r>
            <a:r>
              <a:rPr lang="ru-RU" sz="3200" dirty="0" err="1"/>
              <a:t>of</a:t>
            </a:r>
            <a:r>
              <a:rPr lang="ru-RU" sz="3200" dirty="0"/>
              <a:t> </a:t>
            </a:r>
            <a:r>
              <a:rPr lang="ru-RU" sz="3200" dirty="0" err="1"/>
              <a:t>March</a:t>
            </a:r>
            <a:r>
              <a:rPr lang="ru-RU" sz="3200" dirty="0"/>
              <a:t>"</a:t>
            </a:r>
          </a:p>
          <a:p>
            <a:pPr marL="0" indent="0" fontAlgn="base">
              <a:buNone/>
            </a:pPr>
            <a:r>
              <a:rPr lang="ru-RU" sz="3200" dirty="0"/>
              <a:t>Документ 1: "</a:t>
            </a:r>
            <a:r>
              <a:rPr lang="ru-RU" sz="3200" dirty="0" err="1"/>
              <a:t>Caesar</a:t>
            </a:r>
            <a:r>
              <a:rPr lang="ru-RU" sz="3200" dirty="0"/>
              <a:t> </a:t>
            </a:r>
            <a:r>
              <a:rPr lang="ru-RU" sz="3200" dirty="0" err="1"/>
              <a:t>died</a:t>
            </a:r>
            <a:r>
              <a:rPr lang="ru-RU" sz="3200" dirty="0"/>
              <a:t> </a:t>
            </a:r>
            <a:r>
              <a:rPr lang="ru-RU" sz="3200" dirty="0" err="1"/>
              <a:t>in</a:t>
            </a:r>
            <a:r>
              <a:rPr lang="ru-RU" sz="3200" dirty="0"/>
              <a:t> </a:t>
            </a:r>
            <a:r>
              <a:rPr lang="ru-RU" sz="3200" dirty="0" err="1"/>
              <a:t>March</a:t>
            </a:r>
            <a:r>
              <a:rPr lang="ru-RU" sz="3200" dirty="0"/>
              <a:t>"</a:t>
            </a:r>
          </a:p>
          <a:p>
            <a:pPr marL="0" indent="0" fontAlgn="base">
              <a:buNone/>
            </a:pPr>
            <a:r>
              <a:rPr lang="ru-RU" sz="3200" dirty="0"/>
              <a:t>Документ 2: "</a:t>
            </a:r>
            <a:r>
              <a:rPr lang="ru-RU" sz="3200" dirty="0" err="1"/>
              <a:t>The</a:t>
            </a:r>
            <a:r>
              <a:rPr lang="ru-RU" sz="3200" dirty="0"/>
              <a:t> </a:t>
            </a:r>
            <a:r>
              <a:rPr lang="ru-RU" sz="3200" dirty="0" err="1"/>
              <a:t>Long</a:t>
            </a:r>
            <a:r>
              <a:rPr lang="ru-RU" sz="3200" dirty="0"/>
              <a:t> </a:t>
            </a:r>
            <a:r>
              <a:rPr lang="ru-RU" sz="3200" dirty="0" err="1"/>
              <a:t>March</a:t>
            </a:r>
            <a:r>
              <a:rPr lang="ru-RU" sz="3200" dirty="0"/>
              <a:t>"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390683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Проблемы с использованием коэффициента </a:t>
            </a:r>
            <a:r>
              <a:rPr lang="ru-RU" b="1" dirty="0" err="1"/>
              <a:t>Жаккара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14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Недостатки </a:t>
            </a:r>
            <a:r>
              <a:rPr lang="ru-RU" sz="3200" dirty="0"/>
              <a:t>метода:</a:t>
            </a:r>
          </a:p>
          <a:p>
            <a:pPr fontAlgn="base"/>
            <a:r>
              <a:rPr lang="ru-RU" sz="3200" dirty="0" smtClean="0"/>
              <a:t>Игнорирует </a:t>
            </a:r>
            <a:r>
              <a:rPr lang="ru-RU" sz="3200" b="1" dirty="0"/>
              <a:t>частоту встречаемости </a:t>
            </a:r>
            <a:r>
              <a:rPr lang="ru-RU" sz="3200" dirty="0"/>
              <a:t>терминов</a:t>
            </a:r>
          </a:p>
          <a:p>
            <a:pPr fontAlgn="base"/>
            <a:r>
              <a:rPr lang="ru-RU" sz="3200" dirty="0"/>
              <a:t>Редко используемые термины информативнее частых, однако этот факт игнорируется</a:t>
            </a:r>
          </a:p>
          <a:p>
            <a:pPr fontAlgn="base"/>
            <a:r>
              <a:rPr lang="ru-RU" sz="3200" dirty="0"/>
              <a:t>Необходимо более совершенное нормирование длины документа</a:t>
            </a:r>
          </a:p>
          <a:p>
            <a:pPr fontAlgn="base"/>
            <a:r>
              <a:rPr lang="ru-RU" sz="3200" dirty="0"/>
              <a:t>Позднее мы рассмотрим использование нормализованной </a:t>
            </a:r>
            <a:r>
              <a:rPr lang="ru-RU" sz="3200" dirty="0" smtClean="0"/>
              <a:t>меры                              вместо коэффициента </a:t>
            </a:r>
            <a:r>
              <a:rPr lang="ru-RU" sz="3200" dirty="0" err="1" smtClean="0"/>
              <a:t>Жаккара</a:t>
            </a:r>
            <a:r>
              <a:rPr lang="ru-RU" sz="3200" dirty="0" smtClean="0"/>
              <a:t>.</a:t>
            </a:r>
            <a:endParaRPr lang="ru-RU" sz="320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211473"/>
              </p:ext>
            </p:extLst>
          </p:nvPr>
        </p:nvGraphicFramePr>
        <p:xfrm>
          <a:off x="1692634" y="4618007"/>
          <a:ext cx="25558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3" name="Equation" r:id="rId3" imgW="1193800" imgH="254000" progId="Equation.3">
                  <p:embed/>
                </p:oleObj>
              </mc:Choice>
              <mc:Fallback>
                <p:oleObj name="Equation" r:id="rId3" imgW="1193800" imgH="254000" progId="Equation.3">
                  <p:embed/>
                  <p:pic>
                    <p:nvPicPr>
                      <p:cNvPr id="2253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634" y="4618007"/>
                        <a:ext cx="25558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530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Бинарная матрица инцидентности терм-документа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15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Каждый документ представлен бинарным </a:t>
            </a:r>
            <a:r>
              <a:rPr lang="ru-RU" sz="3200" dirty="0" smtClean="0"/>
              <a:t>вектором </a:t>
            </a:r>
            <a:r>
              <a:rPr lang="en-US" altLang="ru-RU" sz="3200" dirty="0">
                <a:latin typeface="Lucida Sans" panose="020B0602030504020204" pitchFamily="34" charset="0"/>
              </a:rPr>
              <a:t>∈ {0,1}</a:t>
            </a:r>
            <a:r>
              <a:rPr lang="en-US" altLang="ru-RU" sz="3200" baseline="30000" dirty="0">
                <a:latin typeface="Lucida Sans" panose="020B0602030504020204" pitchFamily="34" charset="0"/>
              </a:rPr>
              <a:t>|V|</a:t>
            </a:r>
          </a:p>
          <a:p>
            <a:pPr marL="0" indent="0" fontAlgn="base">
              <a:buNone/>
            </a:pPr>
            <a:endParaRPr lang="ru-RU" sz="3200" dirty="0"/>
          </a:p>
        </p:txBody>
      </p:sp>
      <p:graphicFrame>
        <p:nvGraphicFramePr>
          <p:cNvPr id="6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61749"/>
              </p:ext>
            </p:extLst>
          </p:nvPr>
        </p:nvGraphicFramePr>
        <p:xfrm>
          <a:off x="432000" y="1945495"/>
          <a:ext cx="10888663" cy="335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6" name="Worksheet" r:id="rId3" imgW="10888920" imgH="3355200" progId="Excel.Sheet.8">
                  <p:embed/>
                </p:oleObj>
              </mc:Choice>
              <mc:Fallback>
                <p:oleObj name="Worksheet" r:id="rId3" imgW="10888920" imgH="3355200" progId="Excel.Sheet.8">
                  <p:embed/>
                  <p:pic>
                    <p:nvPicPr>
                      <p:cNvPr id="8" name="Object 102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000" y="1945495"/>
                        <a:ext cx="10888663" cy="335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3185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Матрицы подсчета частоты терминов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16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-9525" fontAlgn="base">
              <a:buNone/>
            </a:pPr>
            <a:r>
              <a:rPr lang="ru-RU" sz="3200" dirty="0"/>
              <a:t>Рассмотрим количество </a:t>
            </a:r>
            <a:r>
              <a:rPr lang="ru-RU" sz="3200" dirty="0" smtClean="0"/>
              <a:t>включений </a:t>
            </a:r>
            <a:r>
              <a:rPr lang="ru-RU" sz="3200" dirty="0"/>
              <a:t>термина в документе: </a:t>
            </a:r>
            <a:endParaRPr lang="ru-RU" sz="3200" dirty="0" smtClean="0"/>
          </a:p>
          <a:p>
            <a:pPr lvl="1" fontAlgn="base"/>
            <a:r>
              <a:rPr lang="ru-RU" sz="3000" dirty="0" smtClean="0"/>
              <a:t>Каждый </a:t>
            </a:r>
            <a:r>
              <a:rPr lang="ru-RU" sz="3000" dirty="0"/>
              <a:t>документ представляет собой </a:t>
            </a:r>
            <a:r>
              <a:rPr lang="ru-RU" sz="3000" dirty="0" smtClean="0"/>
              <a:t>«вектор подсчета» (</a:t>
            </a:r>
            <a:r>
              <a:rPr lang="en-US" altLang="ru-RU" sz="3200" dirty="0">
                <a:ea typeface="ＭＳ Ｐゴシック" panose="020B0600070205080204" pitchFamily="34" charset="-128"/>
              </a:rPr>
              <a:t>count </a:t>
            </a:r>
            <a:r>
              <a:rPr lang="en-US" altLang="ru-RU" sz="3200" dirty="0" smtClean="0">
                <a:ea typeface="ＭＳ Ｐゴシック" panose="020B0600070205080204" pitchFamily="34" charset="-128"/>
              </a:rPr>
              <a:t>vector</a:t>
            </a:r>
            <a:r>
              <a:rPr lang="ru-RU" sz="3000" dirty="0" smtClean="0"/>
              <a:t>) в </a:t>
            </a:r>
            <a:r>
              <a:rPr lang="en-US" altLang="ru-RU" sz="3200" dirty="0" err="1" smtClean="0">
                <a:latin typeface="Lucida Sans Unicode" panose="020B0602030504020204" pitchFamily="34" charset="0"/>
                <a:ea typeface="ＭＳ Ｐゴシック" panose="020B0600070205080204" pitchFamily="34" charset="-128"/>
                <a:cs typeface="Lucida Sans Unicode" panose="020B0602030504020204" pitchFamily="34" charset="0"/>
              </a:rPr>
              <a:t>ℕ</a:t>
            </a:r>
            <a:r>
              <a:rPr lang="en-US" altLang="ru-RU" sz="3200" baseline="30000" dirty="0" err="1" smtClean="0">
                <a:ea typeface="ＭＳ Ｐゴシック" panose="020B0600070205080204" pitchFamily="34" charset="-128"/>
              </a:rPr>
              <a:t>v</a:t>
            </a:r>
            <a:r>
              <a:rPr lang="ru-RU" altLang="ru-RU" sz="3200" baseline="30000" dirty="0" smtClean="0">
                <a:ea typeface="ＭＳ Ｐゴシック" panose="020B0600070205080204" pitchFamily="34" charset="-128"/>
              </a:rPr>
              <a:t> </a:t>
            </a:r>
            <a:endParaRPr lang="ru-RU" sz="3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815" y="2728013"/>
            <a:ext cx="9582150" cy="3248025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244751" y="1587065"/>
            <a:ext cx="3046562" cy="3970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ru-RU" altLang="ru-RU" sz="2400"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090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Модель мешка слов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17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Представление </a:t>
            </a:r>
            <a:r>
              <a:rPr lang="ru-RU" sz="3200" dirty="0"/>
              <a:t>документа в виде вектора игнорирует порядок слов:</a:t>
            </a:r>
          </a:p>
          <a:p>
            <a:pPr marL="0" indent="0" fontAlgn="base">
              <a:buNone/>
            </a:pPr>
            <a:r>
              <a:rPr lang="ru-RU" sz="3200" dirty="0" smtClean="0"/>
              <a:t>Фразы </a:t>
            </a:r>
            <a:r>
              <a:rPr lang="ru-RU" sz="3200" dirty="0"/>
              <a:t>"Джон быстрее Мэри" и "Мэри быстрее Джона" имеют одинаковый вектор.</a:t>
            </a:r>
          </a:p>
          <a:p>
            <a:pPr marL="0" indent="0" fontAlgn="base">
              <a:buNone/>
            </a:pPr>
            <a:r>
              <a:rPr lang="ru-RU" sz="3200" dirty="0"/>
              <a:t>Такая модель называется </a:t>
            </a:r>
            <a:r>
              <a:rPr lang="ru-RU" sz="3200" dirty="0" smtClean="0"/>
              <a:t>"мешок слов" (</a:t>
            </a:r>
            <a:r>
              <a:rPr lang="en-US" sz="3200" dirty="0"/>
              <a:t>bag of </a:t>
            </a:r>
            <a:r>
              <a:rPr lang="en-US" sz="3200" dirty="0" smtClean="0"/>
              <a:t>words</a:t>
            </a:r>
            <a:r>
              <a:rPr lang="ru-RU" sz="3200" dirty="0" smtClean="0"/>
              <a:t>).</a:t>
            </a:r>
            <a:endParaRPr lang="ru-RU" sz="3200" dirty="0"/>
          </a:p>
          <a:p>
            <a:pPr marL="0" indent="0" fontAlgn="base">
              <a:buNone/>
            </a:pPr>
            <a:r>
              <a:rPr lang="ru-RU" sz="3200" dirty="0"/>
              <a:t>В каком-то смысле это шаг назад: позиционный индекс позволял различать эти </a:t>
            </a:r>
            <a:r>
              <a:rPr lang="ru-RU" sz="3200" dirty="0" smtClean="0"/>
              <a:t>две фразы. Мы постараемся разобраться как это вернуть, но позже.</a:t>
            </a:r>
          </a:p>
          <a:p>
            <a:pPr marL="0" indent="0" fontAlgn="base">
              <a:buNone/>
            </a:pPr>
            <a:r>
              <a:rPr lang="ru-RU" sz="3200" dirty="0" smtClean="0"/>
              <a:t>А </a:t>
            </a:r>
            <a:r>
              <a:rPr lang="ru-RU" sz="3200" dirty="0"/>
              <a:t>пока: модель «мешок слов»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602848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Частота термина </a:t>
            </a:r>
            <a:r>
              <a:rPr lang="en-US" b="1" dirty="0"/>
              <a:t>TF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18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ru-RU" sz="3200" dirty="0" smtClean="0"/>
              <a:t>Частота </a:t>
            </a:r>
            <a:r>
              <a:rPr lang="ru-RU" sz="3200" dirty="0"/>
              <a:t>термина </a:t>
            </a:r>
            <a:r>
              <a:rPr lang="en-US" altLang="ru-RU" sz="3200" dirty="0" err="1">
                <a:ea typeface="ＭＳ Ｐゴシック" panose="020B0600070205080204" pitchFamily="34" charset="-128"/>
              </a:rPr>
              <a:t>tf</a:t>
            </a:r>
            <a:r>
              <a:rPr lang="en-US" altLang="ru-RU" sz="3200" i="1" baseline="-25000" dirty="0" err="1">
                <a:ea typeface="ＭＳ Ｐゴシック" panose="020B0600070205080204" pitchFamily="34" charset="-128"/>
              </a:rPr>
              <a:t>t,d</a:t>
            </a:r>
            <a:r>
              <a:rPr lang="ru-RU" sz="3200" dirty="0" smtClean="0"/>
              <a:t> </a:t>
            </a:r>
            <a:r>
              <a:rPr lang="ru-RU" sz="3200" dirty="0"/>
              <a:t>в документе d определяется как количество вхождений термина t в документе d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/>
              <a:t>Мы хотим использовать </a:t>
            </a:r>
            <a:r>
              <a:rPr lang="ru-RU" sz="3200" dirty="0" err="1"/>
              <a:t>tf</a:t>
            </a:r>
            <a:r>
              <a:rPr lang="ru-RU" sz="3200" dirty="0"/>
              <a:t> при вычислении показателей соответствия запросу и документу. Но как</a:t>
            </a:r>
            <a:r>
              <a:rPr lang="ru-RU" sz="3200" dirty="0" smtClean="0"/>
              <a:t>?</a:t>
            </a:r>
          </a:p>
          <a:p>
            <a:pPr marL="0" indent="0" fontAlgn="base">
              <a:buNone/>
            </a:pPr>
            <a:r>
              <a:rPr lang="ru-RU" sz="3200" dirty="0" smtClean="0"/>
              <a:t>Частота </a:t>
            </a:r>
            <a:r>
              <a:rPr lang="ru-RU" sz="3200" dirty="0"/>
              <a:t>употребления термина сама по себе — это не то, что нам нужно</a:t>
            </a:r>
            <a:r>
              <a:rPr lang="ru-RU" sz="3200" dirty="0" smtClean="0"/>
              <a:t>.</a:t>
            </a:r>
          </a:p>
          <a:p>
            <a:pPr lvl="1" fontAlgn="base"/>
            <a:r>
              <a:rPr lang="ru-RU" sz="3000" dirty="0" smtClean="0"/>
              <a:t>Документ</a:t>
            </a:r>
            <a:r>
              <a:rPr lang="ru-RU" sz="3000" dirty="0"/>
              <a:t>, в </a:t>
            </a:r>
            <a:r>
              <a:rPr lang="ru-RU" sz="3000" dirty="0" smtClean="0"/>
              <a:t>котором </a:t>
            </a:r>
            <a:r>
              <a:rPr lang="ru-RU" sz="3000" dirty="0"/>
              <a:t>термин</a:t>
            </a:r>
            <a:r>
              <a:rPr lang="ru-RU" sz="3000" dirty="0" smtClean="0"/>
              <a:t> </a:t>
            </a:r>
            <a:r>
              <a:rPr lang="ru-RU" sz="3000" dirty="0"/>
              <a:t>встречается 10 раз </a:t>
            </a:r>
            <a:r>
              <a:rPr lang="ru-RU" sz="3000" dirty="0" smtClean="0"/>
              <a:t>более </a:t>
            </a:r>
            <a:r>
              <a:rPr lang="ru-RU" sz="3000" dirty="0" err="1"/>
              <a:t>релевантен</a:t>
            </a:r>
            <a:r>
              <a:rPr lang="ru-RU" sz="3000" dirty="0"/>
              <a:t>, чем документ, в котором он встречается 1 раз</a:t>
            </a:r>
            <a:r>
              <a:rPr lang="ru-RU" sz="3000" dirty="0" smtClean="0"/>
              <a:t>.</a:t>
            </a:r>
          </a:p>
          <a:p>
            <a:pPr lvl="1" fontAlgn="base"/>
            <a:r>
              <a:rPr lang="ru-RU" sz="3000" dirty="0" smtClean="0"/>
              <a:t>Но </a:t>
            </a:r>
            <a:r>
              <a:rPr lang="ru-RU" sz="3000" dirty="0"/>
              <a:t>не в 10 раз более </a:t>
            </a:r>
            <a:r>
              <a:rPr lang="ru-RU" sz="3000" dirty="0" err="1"/>
              <a:t>релевантен</a:t>
            </a:r>
            <a:r>
              <a:rPr lang="ru-RU" sz="30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Релевантность </a:t>
            </a:r>
            <a:r>
              <a:rPr lang="ru-RU" sz="3200" dirty="0"/>
              <a:t>не увеличивается пропорционально частоте употребления термина.</a:t>
            </a:r>
          </a:p>
        </p:txBody>
      </p:sp>
    </p:spTree>
    <p:extLst>
      <p:ext uri="{BB962C8B-B14F-4D97-AF65-F5344CB8AC3E}">
        <p14:creationId xmlns:p14="http://schemas.microsoft.com/office/powerpoint/2010/main" val="2973116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Логарифмически взвешенная частота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19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ru-RU" sz="3200" dirty="0"/>
              <a:t>Логарифмический частотный </a:t>
            </a:r>
            <a:r>
              <a:rPr lang="ru-RU" sz="3200" dirty="0" smtClean="0"/>
              <a:t>вес (</a:t>
            </a:r>
            <a:r>
              <a:rPr lang="en-US" altLang="ru-RU" sz="3200" dirty="0">
                <a:ea typeface="ＭＳ Ｐゴシック" panose="020B0600070205080204" pitchFamily="34" charset="-128"/>
              </a:rPr>
              <a:t>log frequency </a:t>
            </a:r>
            <a:r>
              <a:rPr lang="en-US" altLang="ru-RU" sz="3200" dirty="0" smtClean="0">
                <a:ea typeface="ＭＳ Ｐゴシック" panose="020B0600070205080204" pitchFamily="34" charset="-128"/>
              </a:rPr>
              <a:t>weight</a:t>
            </a:r>
            <a:r>
              <a:rPr lang="ru-RU" sz="3200" dirty="0" smtClean="0"/>
              <a:t>) термина </a:t>
            </a:r>
            <a:r>
              <a:rPr lang="ru-RU" sz="3200" dirty="0"/>
              <a:t>t в d </a:t>
            </a:r>
            <a:r>
              <a:rPr lang="ru-RU" sz="3200" dirty="0" smtClean="0"/>
              <a:t>равен:</a:t>
            </a:r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en-US" altLang="ru-RU" sz="3200" dirty="0" smtClean="0">
              <a:ea typeface="ＭＳ Ｐゴシック" panose="020B0600070205080204" pitchFamily="34" charset="-128"/>
            </a:endParaRPr>
          </a:p>
          <a:p>
            <a:pPr marL="0" indent="0" fontAlgn="base">
              <a:buNone/>
            </a:pPr>
            <a:r>
              <a:rPr lang="en-US" altLang="ru-RU" sz="3200" dirty="0" smtClean="0">
                <a:ea typeface="ＭＳ Ｐゴシック" panose="020B0600070205080204" pitchFamily="34" charset="-128"/>
              </a:rPr>
              <a:t>0 </a:t>
            </a:r>
            <a:r>
              <a:rPr lang="en-US" altLang="ru-RU" sz="3200" dirty="0">
                <a:ea typeface="ＭＳ Ｐゴシック" panose="020B0600070205080204" pitchFamily="34" charset="-128"/>
              </a:rPr>
              <a:t>→ 0, 1 → 1, 2 → 1.3, 10 → 2, 1000 → </a:t>
            </a:r>
            <a:r>
              <a:rPr lang="en-US" altLang="ru-RU" sz="3200" dirty="0" smtClean="0">
                <a:ea typeface="ＭＳ Ｐゴシック" panose="020B0600070205080204" pitchFamily="34" charset="-128"/>
              </a:rPr>
              <a:t>4</a:t>
            </a:r>
            <a:r>
              <a:rPr lang="ru-RU" altLang="ru-RU" sz="3200" dirty="0" smtClean="0">
                <a:ea typeface="ＭＳ Ｐゴシック" panose="020B0600070205080204" pitchFamily="34" charset="-128"/>
              </a:rPr>
              <a:t> и так далее.</a:t>
            </a:r>
          </a:p>
          <a:p>
            <a:pPr marL="0" indent="0" fontAlgn="base">
              <a:buNone/>
            </a:pPr>
            <a:r>
              <a:rPr lang="ru-RU" sz="3200" dirty="0"/>
              <a:t>Оценка для пары «документ </a:t>
            </a:r>
            <a:r>
              <a:rPr lang="ru-RU" sz="3200" dirty="0" smtClean="0"/>
              <a:t>- </a:t>
            </a:r>
            <a:r>
              <a:rPr lang="ru-RU" sz="3200" dirty="0"/>
              <a:t>запрос»: сумма значений терминов t в запросе q и документе d</a:t>
            </a:r>
            <a:r>
              <a:rPr lang="ru-RU" sz="3200" dirty="0" smtClean="0"/>
              <a:t>:</a:t>
            </a:r>
          </a:p>
          <a:p>
            <a:pPr marL="0" indent="0" fontAlgn="base">
              <a:buNone/>
            </a:pPr>
            <a:endParaRPr lang="en-US" sz="3200" dirty="0" smtClean="0"/>
          </a:p>
          <a:p>
            <a:pPr marL="0" indent="0" fontAlgn="base">
              <a:buNone/>
            </a:pPr>
            <a:r>
              <a:rPr lang="en-US" sz="3200" dirty="0" smtClean="0"/>
              <a:t>Score  </a:t>
            </a:r>
            <a:endParaRPr lang="ru-RU" sz="3200" dirty="0"/>
          </a:p>
          <a:p>
            <a:pPr marL="0" indent="0" fontAlgn="base">
              <a:buNone/>
            </a:pPr>
            <a:endParaRPr lang="en-US" sz="3200" dirty="0" smtClean="0"/>
          </a:p>
          <a:p>
            <a:pPr marL="0" indent="0" fontAlgn="base">
              <a:buNone/>
            </a:pPr>
            <a:r>
              <a:rPr lang="ru-RU" sz="3200" dirty="0"/>
              <a:t>Если ни один из поисковых запросов не встречается в документе, оценка равна 0</a:t>
            </a:r>
            <a:r>
              <a:rPr lang="ru-RU" sz="3200" dirty="0" smtClean="0"/>
              <a:t>.</a:t>
            </a:r>
            <a:endParaRPr lang="ru-RU" sz="320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912615"/>
              </p:ext>
            </p:extLst>
          </p:nvPr>
        </p:nvGraphicFramePr>
        <p:xfrm>
          <a:off x="2885117" y="1666334"/>
          <a:ext cx="5795932" cy="91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1" name="Equation" r:id="rId3" imgW="2108200" imgH="457200" progId="Equation.3">
                  <p:embed/>
                </p:oleObj>
              </mc:Choice>
              <mc:Fallback>
                <p:oleObj name="Equation" r:id="rId3" imgW="2108200" imgH="457200" progId="Equation.3">
                  <p:embed/>
                  <p:pic>
                    <p:nvPicPr>
                      <p:cNvPr id="276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5117" y="1666334"/>
                        <a:ext cx="5795932" cy="91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716538"/>
              </p:ext>
            </p:extLst>
          </p:nvPr>
        </p:nvGraphicFramePr>
        <p:xfrm>
          <a:off x="1437737" y="4158202"/>
          <a:ext cx="3538538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2" name="Equation" r:id="rId5" imgW="1358900" imgH="279400" progId="Equation.3">
                  <p:embed/>
                </p:oleObj>
              </mc:Choice>
              <mc:Fallback>
                <p:oleObj name="Equation" r:id="rId5" imgW="1358900" imgH="279400" progId="Equation.3">
                  <p:embed/>
                  <p:pic>
                    <p:nvPicPr>
                      <p:cNvPr id="2765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7737" y="4158202"/>
                        <a:ext cx="3538538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797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Document </a:t>
            </a:r>
            <a:r>
              <a:rPr lang="en-US" b="1" dirty="0" smtClean="0"/>
              <a:t>frequency (</a:t>
            </a:r>
            <a:r>
              <a:rPr lang="ru-RU" b="1" dirty="0" smtClean="0"/>
              <a:t>Частота документа)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20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Редкие термины информативнее распространенных:</a:t>
            </a:r>
          </a:p>
          <a:p>
            <a:pPr lvl="1" fontAlgn="base"/>
            <a:r>
              <a:rPr lang="ru-RU" sz="3000" dirty="0"/>
              <a:t>Вспомните стоп-слова</a:t>
            </a:r>
          </a:p>
          <a:p>
            <a:pPr marL="0" indent="0" fontAlgn="base">
              <a:buNone/>
            </a:pPr>
            <a:r>
              <a:rPr lang="ru-RU" sz="3200" dirty="0"/>
              <a:t>Например, термин "</a:t>
            </a:r>
            <a:r>
              <a:rPr lang="ru-RU" sz="3200" dirty="0" err="1" smtClean="0"/>
              <a:t>арахноцентрик</a:t>
            </a:r>
            <a:r>
              <a:rPr lang="ru-RU" sz="3200" dirty="0"/>
              <a:t>" редко встречается в </a:t>
            </a:r>
            <a:r>
              <a:rPr lang="ru-RU" sz="3200" dirty="0" smtClean="0"/>
              <a:t>корпусе, </a:t>
            </a:r>
            <a:r>
              <a:rPr lang="ru-RU" sz="3200" dirty="0"/>
              <a:t>и документ, содержащий его, скорее всего, относится к данному запросу.</a:t>
            </a:r>
          </a:p>
          <a:p>
            <a:pPr marL="0" indent="0" fontAlgn="base">
              <a:buNone/>
            </a:pPr>
            <a:r>
              <a:rPr lang="ru-RU" sz="3200" dirty="0"/>
              <a:t>Мы хотим больший вес для редких </a:t>
            </a:r>
            <a:r>
              <a:rPr lang="ru-RU" sz="3200" dirty="0" smtClean="0"/>
              <a:t>терминов!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016609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Document </a:t>
            </a:r>
            <a:r>
              <a:rPr lang="en-US" b="1" dirty="0" smtClean="0"/>
              <a:t>frequency (</a:t>
            </a:r>
            <a:r>
              <a:rPr lang="ru-RU" b="1" dirty="0" smtClean="0"/>
              <a:t>Частота документа)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21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ru-RU" sz="3200" dirty="0" smtClean="0"/>
              <a:t>Частые </a:t>
            </a:r>
            <a:r>
              <a:rPr lang="ru-RU" sz="3200" dirty="0"/>
              <a:t>термины менее информативны:</a:t>
            </a:r>
          </a:p>
          <a:p>
            <a:pPr marL="0" indent="0" fontAlgn="base">
              <a:buNone/>
            </a:pPr>
            <a:r>
              <a:rPr lang="ru-RU" sz="3200" dirty="0" smtClean="0"/>
              <a:t>Термины </a:t>
            </a:r>
            <a:r>
              <a:rPr lang="ru-RU" sz="3200" dirty="0"/>
              <a:t>вроде "</a:t>
            </a:r>
            <a:r>
              <a:rPr lang="ru-RU" sz="3200" dirty="0" err="1"/>
              <a:t>high</a:t>
            </a:r>
            <a:r>
              <a:rPr lang="ru-RU" sz="3200" dirty="0"/>
              <a:t>", "</a:t>
            </a:r>
            <a:r>
              <a:rPr lang="ru-RU" sz="3200" dirty="0" err="1"/>
              <a:t>increase</a:t>
            </a:r>
            <a:r>
              <a:rPr lang="ru-RU" sz="3200" dirty="0"/>
              <a:t>", "</a:t>
            </a:r>
            <a:r>
              <a:rPr lang="ru-RU" sz="3200" dirty="0" err="1"/>
              <a:t>line</a:t>
            </a:r>
            <a:r>
              <a:rPr lang="ru-RU" sz="3200" dirty="0"/>
              <a:t>" встречаются часто и сами по себе не являются надежным индикатором релевантности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/>
              <a:t>Документ, содержащий такой термин, с большей вероятностью будет релевантным, чем документ без него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Но </a:t>
            </a:r>
            <a:r>
              <a:rPr lang="ru-RU" sz="3200" dirty="0"/>
              <a:t>это не стопроцентный показатель релевантности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Для </a:t>
            </a:r>
            <a:r>
              <a:rPr lang="ru-RU" sz="3200" dirty="0"/>
              <a:t>часто встречающихся терминов мы хотим, чтобы такие слова, как «высокий», «увеличивать» и «линия», имели </a:t>
            </a:r>
            <a:r>
              <a:rPr lang="ru-RU" sz="3200" dirty="0" smtClean="0"/>
              <a:t>высокий положительный </a:t>
            </a:r>
            <a:r>
              <a:rPr lang="ru-RU" sz="3200" dirty="0"/>
              <a:t>вес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Но </a:t>
            </a:r>
            <a:r>
              <a:rPr lang="ru-RU" sz="3200" dirty="0"/>
              <a:t>для редких терминов этот вес должен быть </a:t>
            </a:r>
            <a:r>
              <a:rPr lang="ru-RU" sz="3200" dirty="0" smtClean="0"/>
              <a:t>выше. </a:t>
            </a:r>
          </a:p>
          <a:p>
            <a:pPr marL="0" indent="0" fontAlgn="base">
              <a:buNone/>
            </a:pPr>
            <a:r>
              <a:rPr lang="ru-RU" sz="3200" dirty="0" smtClean="0"/>
              <a:t>Для </a:t>
            </a:r>
            <a:r>
              <a:rPr lang="ru-RU" sz="3200" dirty="0"/>
              <a:t>этого мы будем использовать показатель частоты встречаемости термина в документе (</a:t>
            </a:r>
            <a:r>
              <a:rPr lang="ru-RU" sz="3200" dirty="0" err="1"/>
              <a:t>df</a:t>
            </a:r>
            <a:r>
              <a:rPr lang="ru-RU" sz="32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25260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Обратная частота документа </a:t>
            </a:r>
            <a:r>
              <a:rPr lang="en-US" b="1" dirty="0"/>
              <a:t>IDF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22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3200" dirty="0" err="1"/>
              <a:t>df</a:t>
            </a:r>
            <a:r>
              <a:rPr lang="en-US" sz="3200" baseline="-25000" dirty="0" err="1"/>
              <a:t>t</a:t>
            </a:r>
            <a:r>
              <a:rPr lang="en-US" sz="3200" dirty="0"/>
              <a:t> </a:t>
            </a:r>
            <a:r>
              <a:rPr lang="ru-RU" sz="3200" dirty="0" smtClean="0"/>
              <a:t>это частота документа для термина </a:t>
            </a:r>
            <a:r>
              <a:rPr lang="en-US" sz="3200" dirty="0" smtClean="0"/>
              <a:t>t: </a:t>
            </a:r>
            <a:r>
              <a:rPr lang="ru-RU" sz="3200" dirty="0"/>
              <a:t>количество документов, содержащих </a:t>
            </a:r>
            <a:r>
              <a:rPr lang="en-US" sz="3200" dirty="0" smtClean="0"/>
              <a:t>t.</a:t>
            </a:r>
            <a:endParaRPr lang="en-US" sz="3200" dirty="0"/>
          </a:p>
          <a:p>
            <a:pPr lvl="1" fontAlgn="base"/>
            <a:r>
              <a:rPr lang="en-US" sz="3000" dirty="0" err="1"/>
              <a:t>df</a:t>
            </a:r>
            <a:r>
              <a:rPr lang="en-US" sz="3000" baseline="-25000" dirty="0" err="1"/>
              <a:t>t</a:t>
            </a:r>
            <a:r>
              <a:rPr lang="en-US" sz="3000" dirty="0"/>
              <a:t> </a:t>
            </a:r>
            <a:r>
              <a:rPr lang="ru-RU" sz="3200" dirty="0"/>
              <a:t>обратная мера информативности </a:t>
            </a:r>
            <a:r>
              <a:rPr lang="en-US" sz="3200" dirty="0" smtClean="0"/>
              <a:t>t</a:t>
            </a:r>
            <a:r>
              <a:rPr lang="ru-RU" sz="3200" dirty="0" smtClean="0"/>
              <a:t>.</a:t>
            </a:r>
            <a:endParaRPr lang="en-US" sz="3200" dirty="0" smtClean="0"/>
          </a:p>
          <a:p>
            <a:pPr lvl="1" fontAlgn="base"/>
            <a:r>
              <a:rPr lang="en-US" sz="3000" dirty="0" err="1" smtClean="0"/>
              <a:t>df</a:t>
            </a:r>
            <a:r>
              <a:rPr lang="en-US" sz="3000" baseline="-25000" dirty="0" err="1" smtClean="0"/>
              <a:t>t</a:t>
            </a:r>
            <a:r>
              <a:rPr lang="en-US" sz="3000" dirty="0" smtClean="0"/>
              <a:t>  </a:t>
            </a:r>
            <a:r>
              <a:rPr lang="en-US" sz="3000" dirty="0" smtClean="0">
                <a:sym typeface="Symbol" panose="05050102010706020507" pitchFamily="18" charset="2"/>
              </a:rPr>
              <a:t></a:t>
            </a:r>
            <a:r>
              <a:rPr lang="en-US" sz="3000" dirty="0" smtClean="0"/>
              <a:t> N</a:t>
            </a:r>
            <a:r>
              <a:rPr lang="ru-RU" sz="3000" dirty="0" smtClean="0"/>
              <a:t>.</a:t>
            </a:r>
            <a:endParaRPr lang="en-US" sz="3000" dirty="0"/>
          </a:p>
          <a:p>
            <a:pPr marL="0" indent="0" fontAlgn="base">
              <a:buNone/>
            </a:pPr>
            <a:r>
              <a:rPr lang="ru-RU" sz="3200" dirty="0"/>
              <a:t>Обратная частота документа (IDF</a:t>
            </a:r>
            <a:r>
              <a:rPr lang="ru-RU" sz="3200" dirty="0" smtClean="0"/>
              <a:t>):</a:t>
            </a:r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N - </a:t>
            </a:r>
            <a:r>
              <a:rPr lang="ru-RU" sz="3200" dirty="0"/>
              <a:t>общее число документов в коллекции</a:t>
            </a:r>
          </a:p>
          <a:p>
            <a:pPr marL="0" indent="0" fontAlgn="base">
              <a:buNone/>
            </a:pPr>
            <a:r>
              <a:rPr lang="en-US" sz="3200" dirty="0" err="1" smtClean="0"/>
              <a:t>df</a:t>
            </a:r>
            <a:r>
              <a:rPr lang="en-US" sz="3200" baseline="-25000" dirty="0" err="1" smtClean="0"/>
              <a:t>t</a:t>
            </a:r>
            <a:r>
              <a:rPr lang="ru-RU" sz="3200" dirty="0" smtClean="0"/>
              <a:t> - число </a:t>
            </a:r>
            <a:r>
              <a:rPr lang="ru-RU" sz="3200" dirty="0"/>
              <a:t>документов, содержащих термин </a:t>
            </a:r>
            <a:r>
              <a:rPr lang="ru-RU" sz="3200" dirty="0" smtClean="0"/>
              <a:t>t</a:t>
            </a:r>
            <a:endParaRPr lang="ru-RU" sz="320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801080"/>
              </p:ext>
            </p:extLst>
          </p:nvPr>
        </p:nvGraphicFramePr>
        <p:xfrm>
          <a:off x="3787326" y="3486240"/>
          <a:ext cx="36369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Equation" r:id="rId3" imgW="1155700" imgH="228600" progId="Equation.3">
                  <p:embed/>
                </p:oleObj>
              </mc:Choice>
              <mc:Fallback>
                <p:oleObj name="Equation" r:id="rId3" imgW="1155700" imgH="228600" progId="Equation.3">
                  <p:embed/>
                  <p:pic>
                    <p:nvPicPr>
                      <p:cNvPr id="3072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326" y="3486240"/>
                        <a:ext cx="3636962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8499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Обратная частота документа </a:t>
            </a:r>
            <a:r>
              <a:rPr lang="en-US" b="1" dirty="0"/>
              <a:t>IDF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23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Мы используем </a:t>
            </a:r>
            <a:r>
              <a:rPr lang="ru-RU" sz="3200" dirty="0" err="1"/>
              <a:t>log</a:t>
            </a:r>
            <a:r>
              <a:rPr lang="ru-RU" sz="3200" dirty="0"/>
              <a:t> (N/</a:t>
            </a:r>
            <a:r>
              <a:rPr lang="ru-RU" sz="3200" dirty="0" err="1"/>
              <a:t>df</a:t>
            </a:r>
            <a:r>
              <a:rPr lang="ru-RU" sz="3200" baseline="-25000" dirty="0" err="1"/>
              <a:t>t</a:t>
            </a:r>
            <a:r>
              <a:rPr lang="ru-RU" sz="3200" dirty="0"/>
              <a:t>) вместо N/</a:t>
            </a:r>
            <a:r>
              <a:rPr lang="ru-RU" sz="3200" dirty="0" err="1"/>
              <a:t>df</a:t>
            </a:r>
            <a:r>
              <a:rPr lang="ru-RU" sz="3200" baseline="-25000" dirty="0" err="1"/>
              <a:t>t</a:t>
            </a:r>
            <a:r>
              <a:rPr lang="ru-RU" sz="3200" dirty="0"/>
              <a:t>, чтобы «сгладить» влияние </a:t>
            </a:r>
            <a:r>
              <a:rPr lang="ru-RU" sz="3200" dirty="0" err="1"/>
              <a:t>idf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/>
              <a:t>Основание </a:t>
            </a:r>
            <a:r>
              <a:rPr lang="ru-RU" sz="3200" dirty="0" smtClean="0"/>
              <a:t>логарифма </a:t>
            </a:r>
            <a:r>
              <a:rPr lang="ru-RU" sz="3200" dirty="0"/>
              <a:t>не имеет </a:t>
            </a:r>
            <a:r>
              <a:rPr lang="ru-RU" sz="3200" dirty="0" smtClean="0"/>
              <a:t>большого значения.</a:t>
            </a:r>
          </a:p>
          <a:p>
            <a:pPr marL="0" indent="0" fontAlgn="base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30337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Обратная частота документа </a:t>
            </a:r>
            <a:r>
              <a:rPr lang="en-US" b="1" dirty="0"/>
              <a:t>IDF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24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ru-RU" sz="3200" dirty="0"/>
              <a:t>Пример </a:t>
            </a:r>
            <a:r>
              <a:rPr lang="ru-RU" sz="3200" dirty="0" smtClean="0"/>
              <a:t>расчета </a:t>
            </a:r>
            <a:r>
              <a:rPr lang="ru-RU" sz="3200" dirty="0" err="1"/>
              <a:t>idf</a:t>
            </a:r>
            <a:r>
              <a:rPr lang="ru-RU" sz="3200" dirty="0"/>
              <a:t>: предположим, что N = 1 </a:t>
            </a:r>
            <a:r>
              <a:rPr lang="ru-RU" sz="3200" dirty="0" smtClean="0"/>
              <a:t>миллион.</a:t>
            </a:r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/>
              <a:t>Для каждого термина t в коллекции существует одно значение </a:t>
            </a:r>
            <a:r>
              <a:rPr lang="ru-RU" sz="3200" dirty="0" err="1"/>
              <a:t>idf</a:t>
            </a:r>
            <a:r>
              <a:rPr lang="ru-RU" sz="3200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117" y="1666875"/>
            <a:ext cx="9196118" cy="325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63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Влияние показателя IDF на ранжирование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25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Влияет ли </a:t>
            </a:r>
            <a:r>
              <a:rPr lang="ru-RU" sz="3200" dirty="0" err="1"/>
              <a:t>idf</a:t>
            </a:r>
            <a:r>
              <a:rPr lang="ru-RU" sz="3200" dirty="0"/>
              <a:t> на ранжирование по запросам с одним термином, например по запросу «</a:t>
            </a:r>
            <a:r>
              <a:rPr lang="ru-RU" sz="3200" dirty="0" err="1"/>
              <a:t>iPhone</a:t>
            </a:r>
            <a:r>
              <a:rPr lang="ru-RU" sz="3200" dirty="0" smtClean="0"/>
              <a:t>»?</a:t>
            </a:r>
          </a:p>
          <a:p>
            <a:pPr marL="0" indent="0" fontAlgn="base">
              <a:buNone/>
            </a:pPr>
            <a:r>
              <a:rPr lang="ru-RU" sz="3200" dirty="0" err="1" smtClean="0"/>
              <a:t>idf</a:t>
            </a:r>
            <a:r>
              <a:rPr lang="ru-RU" sz="3200" dirty="0" smtClean="0"/>
              <a:t> </a:t>
            </a:r>
            <a:r>
              <a:rPr lang="ru-RU" sz="3200" dirty="0"/>
              <a:t>не влияет на ранжирование по запросам с одним термином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err="1" smtClean="0"/>
              <a:t>idf</a:t>
            </a:r>
            <a:r>
              <a:rPr lang="ru-RU" sz="3200" dirty="0" smtClean="0"/>
              <a:t> </a:t>
            </a:r>
            <a:r>
              <a:rPr lang="ru-RU" sz="3200" dirty="0"/>
              <a:t>влияет на ранжирование документов по запросам, содержащим как минимум два термина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В </a:t>
            </a:r>
            <a:r>
              <a:rPr lang="ru-RU" sz="3200" dirty="0"/>
              <a:t>запросе «</a:t>
            </a:r>
            <a:r>
              <a:rPr lang="ru-RU" sz="3200" b="1" dirty="0"/>
              <a:t>капризный человек</a:t>
            </a:r>
            <a:r>
              <a:rPr lang="ru-RU" sz="3200" dirty="0"/>
              <a:t>» вес </a:t>
            </a:r>
            <a:r>
              <a:rPr lang="ru-RU" sz="3200" dirty="0" err="1"/>
              <a:t>idf</a:t>
            </a:r>
            <a:r>
              <a:rPr lang="ru-RU" sz="3200" dirty="0"/>
              <a:t> приводит к тому, что в итоговом рейтинге документов вхождения слова «</a:t>
            </a:r>
            <a:r>
              <a:rPr lang="ru-RU" sz="3200" b="1" dirty="0"/>
              <a:t>капризный</a:t>
            </a:r>
            <a:r>
              <a:rPr lang="ru-RU" sz="3200" dirty="0"/>
              <a:t>» имеют гораздо большее значение, чем вхождения слова «</a:t>
            </a:r>
            <a:r>
              <a:rPr lang="ru-RU" sz="3200" b="1" dirty="0"/>
              <a:t>человек</a:t>
            </a:r>
            <a:r>
              <a:rPr lang="ru-RU" sz="3200" dirty="0"/>
              <a:t>».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80552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 err="1" smtClean="0"/>
              <a:t>tf-idf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26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Вес термина в </a:t>
            </a:r>
            <a:r>
              <a:rPr lang="ru-RU" sz="3200" dirty="0" err="1"/>
              <a:t>tf</a:t>
            </a:r>
            <a:r>
              <a:rPr lang="ru-RU" sz="3200" dirty="0"/>
              <a:t>-</a:t>
            </a:r>
            <a:r>
              <a:rPr lang="ru-RU" sz="3200" dirty="0" err="1"/>
              <a:t>idf</a:t>
            </a:r>
            <a:r>
              <a:rPr lang="ru-RU" sz="3200" dirty="0"/>
              <a:t>-оценке </a:t>
            </a:r>
            <a:r>
              <a:rPr lang="ru-RU" sz="3200" dirty="0" smtClean="0"/>
              <a:t>- </a:t>
            </a:r>
            <a:r>
              <a:rPr lang="ru-RU" sz="3200" dirty="0"/>
              <a:t>это произведение его веса в </a:t>
            </a:r>
            <a:r>
              <a:rPr lang="ru-RU" sz="3200" dirty="0" err="1"/>
              <a:t>tf</a:t>
            </a:r>
            <a:r>
              <a:rPr lang="ru-RU" sz="3200" dirty="0"/>
              <a:t>-оценке и веса в </a:t>
            </a:r>
            <a:r>
              <a:rPr lang="ru-RU" sz="3200" dirty="0" err="1"/>
              <a:t>idf</a:t>
            </a:r>
            <a:r>
              <a:rPr lang="ru-RU" sz="3200" dirty="0"/>
              <a:t>-оценке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/>
              <a:t>Наиболее известная схема </a:t>
            </a:r>
            <a:r>
              <a:rPr lang="ru-RU" sz="3200" dirty="0" smtClean="0"/>
              <a:t>«взвешивания» </a:t>
            </a:r>
            <a:r>
              <a:rPr lang="ru-RU" sz="3200" dirty="0"/>
              <a:t>в информационном поиске</a:t>
            </a:r>
            <a:r>
              <a:rPr lang="ru-RU" sz="3200" dirty="0" smtClean="0"/>
              <a:t>.</a:t>
            </a:r>
          </a:p>
          <a:p>
            <a:pPr lvl="1" fontAlgn="base"/>
            <a:r>
              <a:rPr lang="ru-RU" sz="3000" dirty="0" smtClean="0"/>
              <a:t>Примечание</a:t>
            </a:r>
            <a:r>
              <a:rPr lang="ru-RU" sz="3000" dirty="0"/>
              <a:t>: </a:t>
            </a:r>
            <a:r>
              <a:rPr lang="ru-RU" sz="3000" dirty="0" smtClean="0"/>
              <a:t>«-» </a:t>
            </a:r>
            <a:r>
              <a:rPr lang="ru-RU" sz="3000" dirty="0"/>
              <a:t>в аббревиатуре </a:t>
            </a:r>
            <a:r>
              <a:rPr lang="ru-RU" sz="3000" dirty="0" err="1"/>
              <a:t>tf-idf</a:t>
            </a:r>
            <a:r>
              <a:rPr lang="ru-RU" sz="3000" dirty="0"/>
              <a:t> — это дефис, а не знак </a:t>
            </a:r>
            <a:r>
              <a:rPr lang="ru-RU" sz="3000" dirty="0" smtClean="0"/>
              <a:t>минус!</a:t>
            </a:r>
          </a:p>
          <a:p>
            <a:pPr marL="0" indent="0" fontAlgn="base">
              <a:buNone/>
            </a:pPr>
            <a:r>
              <a:rPr lang="ru-RU" sz="3200" dirty="0" smtClean="0"/>
              <a:t>Увеличивается </a:t>
            </a:r>
            <a:r>
              <a:rPr lang="ru-RU" sz="3200" dirty="0"/>
              <a:t>с ростом количества вхождений в документе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Увеличивается </a:t>
            </a:r>
            <a:r>
              <a:rPr lang="ru-RU" sz="3200" dirty="0"/>
              <a:t>с ростом </a:t>
            </a:r>
            <a:r>
              <a:rPr lang="ru-RU" sz="3200" dirty="0" smtClean="0"/>
              <a:t>«редкости» </a:t>
            </a:r>
            <a:r>
              <a:rPr lang="ru-RU" sz="3200" dirty="0"/>
              <a:t>термина в </a:t>
            </a:r>
            <a:r>
              <a:rPr lang="ru-RU" sz="3200" dirty="0" smtClean="0"/>
              <a:t>корпусе.</a:t>
            </a:r>
          </a:p>
          <a:p>
            <a:pPr marL="0" indent="0" fontAlgn="base">
              <a:buNone/>
            </a:pPr>
            <a:endParaRPr lang="ru-RU" sz="320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780963"/>
              </p:ext>
            </p:extLst>
          </p:nvPr>
        </p:nvGraphicFramePr>
        <p:xfrm>
          <a:off x="2540839" y="1950049"/>
          <a:ext cx="6288088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0" name="Equation" r:id="rId3" imgW="2082800" imgH="254000" progId="Equation.3">
                  <p:embed/>
                </p:oleObj>
              </mc:Choice>
              <mc:Fallback>
                <p:oleObj name="Equation" r:id="rId3" imgW="2082800" imgH="254000" progId="Equation.3">
                  <p:embed/>
                  <p:pic>
                    <p:nvPicPr>
                      <p:cNvPr id="3686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839" y="1950049"/>
                        <a:ext cx="6288088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0655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Оценка документа по запросу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27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/>
              <a:t>Существует множество </a:t>
            </a:r>
            <a:r>
              <a:rPr lang="ru-RU" sz="3200" dirty="0" smtClean="0"/>
              <a:t>вариантов</a:t>
            </a:r>
          </a:p>
          <a:p>
            <a:pPr fontAlgn="base"/>
            <a:r>
              <a:rPr lang="ru-RU" sz="3200" dirty="0"/>
              <a:t>Как вычисляется «</a:t>
            </a:r>
            <a:r>
              <a:rPr lang="ru-RU" sz="3200" dirty="0" err="1"/>
              <a:t>tf</a:t>
            </a:r>
            <a:r>
              <a:rPr lang="ru-RU" sz="3200" dirty="0"/>
              <a:t>» (с </a:t>
            </a:r>
            <a:r>
              <a:rPr lang="ru-RU" sz="3200" dirty="0" smtClean="0"/>
              <a:t>логарифмом </a:t>
            </a:r>
            <a:r>
              <a:rPr lang="ru-RU" sz="3200" dirty="0"/>
              <a:t>или без </a:t>
            </a:r>
            <a:r>
              <a:rPr lang="ru-RU" sz="3200" dirty="0" smtClean="0"/>
              <a:t>него)</a:t>
            </a:r>
          </a:p>
          <a:p>
            <a:pPr fontAlgn="base"/>
            <a:r>
              <a:rPr lang="ru-RU" sz="3200" dirty="0" smtClean="0"/>
              <a:t>Учитываются </a:t>
            </a:r>
            <a:r>
              <a:rPr lang="ru-RU" sz="3200" dirty="0"/>
              <a:t>ли веса терминов в запросе</a:t>
            </a:r>
            <a:endParaRPr lang="ru-RU" sz="3200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489446"/>
              </p:ext>
            </p:extLst>
          </p:nvPr>
        </p:nvGraphicFramePr>
        <p:xfrm>
          <a:off x="2594769" y="1242204"/>
          <a:ext cx="70024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" name="Equation" r:id="rId3" imgW="1714500" imgH="279400" progId="Equation.3">
                  <p:embed/>
                </p:oleObj>
              </mc:Choice>
              <mc:Fallback>
                <p:oleObj name="Equation" r:id="rId3" imgW="1714500" imgH="279400" progId="Equation.3">
                  <p:embed/>
                  <p:pic>
                    <p:nvPicPr>
                      <p:cNvPr id="3789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4769" y="1242204"/>
                        <a:ext cx="70024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495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Бинарная → счетная → весовая матрица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28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r>
              <a:rPr lang="ru-RU" sz="3200" dirty="0"/>
              <a:t>Теперь каждый документ представлен вектором </a:t>
            </a:r>
            <a:r>
              <a:rPr lang="ru-RU" sz="3200" dirty="0" err="1"/>
              <a:t>tf</a:t>
            </a:r>
            <a:r>
              <a:rPr lang="ru-RU" sz="3200" dirty="0"/>
              <a:t>-</a:t>
            </a:r>
            <a:r>
              <a:rPr lang="ru-RU" sz="3200" dirty="0" err="1"/>
              <a:t>idf</a:t>
            </a:r>
            <a:r>
              <a:rPr lang="ru-RU" sz="3200" dirty="0"/>
              <a:t>-весов с действительными значениями ∈ </a:t>
            </a:r>
            <a:r>
              <a:rPr lang="en-US" altLang="ru-RU" sz="3200" dirty="0">
                <a:latin typeface="Palatino Linotype" panose="02040502050505030304" pitchFamily="18" charset="0"/>
              </a:rPr>
              <a:t>R</a:t>
            </a:r>
            <a:r>
              <a:rPr lang="en-US" altLang="ru-RU" sz="3200" baseline="30000" dirty="0">
                <a:latin typeface="Lucida Sans" panose="020B0602030504020204" pitchFamily="34" charset="0"/>
              </a:rPr>
              <a:t>|V|</a:t>
            </a:r>
            <a:endParaRPr lang="ru-RU" sz="320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921953"/>
              </p:ext>
            </p:extLst>
          </p:nvPr>
        </p:nvGraphicFramePr>
        <p:xfrm>
          <a:off x="561276" y="1283899"/>
          <a:ext cx="10898565" cy="326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4" name="Worksheet" r:id="rId3" imgW="9776460" imgH="2926080" progId="Excel.Sheet.8">
                  <p:embed/>
                </p:oleObj>
              </mc:Choice>
              <mc:Fallback>
                <p:oleObj name="Worksheet" r:id="rId3" imgW="9776460" imgH="2926080" progId="Excel.Sheet.8">
                  <p:embed/>
                  <p:pic>
                    <p:nvPicPr>
                      <p:cNvPr id="3891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276" y="1283899"/>
                        <a:ext cx="10898565" cy="3262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3070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Документы в виде векторов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29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Итак, у нас есть |V|-мерное векторное пространство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Термины </a:t>
            </a:r>
            <a:r>
              <a:rPr lang="ru-RU" sz="3200" dirty="0"/>
              <a:t>— это оси пространства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Документы </a:t>
            </a:r>
            <a:r>
              <a:rPr lang="ru-RU" sz="3200" dirty="0"/>
              <a:t>— это точки или векторы в этом пространстве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Пространство </a:t>
            </a:r>
            <a:r>
              <a:rPr lang="ru-RU" sz="3200" dirty="0"/>
              <a:t>очень многомерное: десятки миллионов измерений, если применить этот подход к поисковой </a:t>
            </a:r>
            <a:r>
              <a:rPr lang="ru-RU" sz="3200" dirty="0" smtClean="0"/>
              <a:t>системе или корпусу текстов.</a:t>
            </a:r>
          </a:p>
          <a:p>
            <a:pPr marL="0" indent="0" fontAlgn="base">
              <a:buNone/>
            </a:pPr>
            <a:r>
              <a:rPr lang="ru-RU" sz="3200" dirty="0" smtClean="0"/>
              <a:t>Это </a:t>
            </a:r>
            <a:r>
              <a:rPr lang="ru-RU" sz="3200" dirty="0"/>
              <a:t>очень разреженные векторы — большинство элементов равны нулю.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761469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Запросы в виде векторов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30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Ключевая идея 1. Сделаем то же самое с запросами: представим их в виде векторов в пространстве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Ключевая </a:t>
            </a:r>
            <a:r>
              <a:rPr lang="ru-RU" sz="3200" dirty="0"/>
              <a:t>идея 2. Ранжируем документы в соответствии с их близостью к запросу в этом пространстве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Близость </a:t>
            </a:r>
            <a:r>
              <a:rPr lang="ru-RU" sz="3200" dirty="0"/>
              <a:t>= сходство векторов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Близость </a:t>
            </a:r>
            <a:r>
              <a:rPr lang="ru-RU" sz="3200" dirty="0"/>
              <a:t>≈ величина, обратная расстоянию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smtClean="0"/>
              <a:t>Важно: </a:t>
            </a:r>
            <a:r>
              <a:rPr lang="ru-RU" sz="3200" dirty="0"/>
              <a:t>мы делаем это, чтобы отойти от булевой модели «либо есть, либо нет</a:t>
            </a:r>
            <a:r>
              <a:rPr lang="ru-RU" sz="3200" dirty="0" smtClean="0"/>
              <a:t>».</a:t>
            </a:r>
          </a:p>
          <a:p>
            <a:pPr marL="0" indent="0" fontAlgn="base">
              <a:buNone/>
            </a:pPr>
            <a:r>
              <a:rPr lang="ru-RU" sz="3200" dirty="0" smtClean="0"/>
              <a:t>Вместо </a:t>
            </a:r>
            <a:r>
              <a:rPr lang="ru-RU" sz="3200" dirty="0"/>
              <a:t>этого мы ранжируем более релевантные документы выше, чем менее релевантные.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8860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Формализация близости векторного пространства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31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 smtClean="0"/>
              <a:t>Первая попытка: </a:t>
            </a:r>
            <a:r>
              <a:rPr lang="ru-RU" sz="3200" dirty="0"/>
              <a:t>расстояние между двумя </a:t>
            </a:r>
            <a:r>
              <a:rPr lang="ru-RU" sz="3200" dirty="0" smtClean="0"/>
              <a:t>точками</a:t>
            </a:r>
          </a:p>
          <a:p>
            <a:pPr marL="0" indent="0" fontAlgn="base">
              <a:buNone/>
            </a:pPr>
            <a:r>
              <a:rPr lang="ru-RU" sz="3200" dirty="0" smtClean="0"/>
              <a:t>( </a:t>
            </a:r>
            <a:r>
              <a:rPr lang="ru-RU" sz="3200" dirty="0"/>
              <a:t>= расстояние между конечными точками двух векторов</a:t>
            </a:r>
            <a:r>
              <a:rPr lang="ru-RU" sz="3200" dirty="0" smtClean="0"/>
              <a:t>)</a:t>
            </a:r>
          </a:p>
          <a:p>
            <a:pPr marL="0" indent="0" fontAlgn="base">
              <a:buNone/>
            </a:pPr>
            <a:r>
              <a:rPr lang="ru-RU" sz="3200" dirty="0" smtClean="0"/>
              <a:t>Евклидово </a:t>
            </a:r>
            <a:r>
              <a:rPr lang="ru-RU" sz="3200" dirty="0"/>
              <a:t>расстояние</a:t>
            </a:r>
            <a:r>
              <a:rPr lang="ru-RU" sz="3200" dirty="0" smtClean="0"/>
              <a:t>?</a:t>
            </a:r>
          </a:p>
          <a:p>
            <a:pPr marL="0" indent="0" fontAlgn="base">
              <a:buNone/>
            </a:pPr>
            <a:r>
              <a:rPr lang="ru-RU" sz="3200" dirty="0" smtClean="0"/>
              <a:t>Евклидово </a:t>
            </a:r>
            <a:r>
              <a:rPr lang="ru-RU" sz="3200" dirty="0"/>
              <a:t>расстояние — плохая идея...... потому что евклидово расстояние велико для векторов разной длины.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602315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Почему </a:t>
            </a:r>
            <a:r>
              <a:rPr lang="ru-RU" b="1" dirty="0" smtClean="0"/>
              <a:t>расстояние </a:t>
            </a:r>
            <a:r>
              <a:rPr lang="ru-RU" b="1" dirty="0"/>
              <a:t>— плохая идея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32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3958845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Евклидово расстояние между q и d2 велико, несмотря на то, что распределение терминов в запросе q и распределение терминов в документе d2 очень похожи.</a:t>
            </a:r>
            <a:endParaRPr lang="ru-RU" sz="3200" dirty="0"/>
          </a:p>
        </p:txBody>
      </p:sp>
      <p:pic>
        <p:nvPicPr>
          <p:cNvPr id="6" name="Content Placeholder 3" descr="vs1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5233" y="1055716"/>
            <a:ext cx="6272841" cy="490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71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Используе</a:t>
            </a:r>
            <a:r>
              <a:rPr lang="ru-RU" b="1" dirty="0"/>
              <a:t>м</a:t>
            </a:r>
            <a:r>
              <a:rPr lang="ru-RU" b="1" dirty="0" smtClean="0"/>
              <a:t> </a:t>
            </a:r>
            <a:r>
              <a:rPr lang="ru-RU" b="1" dirty="0"/>
              <a:t>угол вместо расстояния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33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Мысленный эксперимент: возьмем документ d и добавим его к самому себе. Назовем этот документ d</a:t>
            </a:r>
            <a:r>
              <a:rPr lang="ru-RU" sz="3200" dirty="0" smtClean="0"/>
              <a:t>'.</a:t>
            </a:r>
          </a:p>
          <a:p>
            <a:pPr marL="0" indent="0" fontAlgn="base">
              <a:buNone/>
            </a:pPr>
            <a:r>
              <a:rPr lang="ru-RU" sz="3200" dirty="0" smtClean="0"/>
              <a:t>"</a:t>
            </a:r>
            <a:r>
              <a:rPr lang="ru-RU" sz="3200" dirty="0"/>
              <a:t>Семантически" d и d' имеют одинаковое </a:t>
            </a:r>
            <a:r>
              <a:rPr lang="ru-RU" sz="3200" dirty="0" smtClean="0"/>
              <a:t>содержимое</a:t>
            </a:r>
          </a:p>
          <a:p>
            <a:pPr marL="0" indent="0" fontAlgn="base">
              <a:buNone/>
            </a:pPr>
            <a:r>
              <a:rPr lang="ru-RU" sz="3200" dirty="0" smtClean="0"/>
              <a:t>Евклидово </a:t>
            </a:r>
            <a:r>
              <a:rPr lang="ru-RU" sz="3200" dirty="0"/>
              <a:t>расстояние между двумя документами может быть довольно </a:t>
            </a:r>
            <a:r>
              <a:rPr lang="ru-RU" sz="3200" dirty="0" smtClean="0"/>
              <a:t>большим</a:t>
            </a:r>
          </a:p>
          <a:p>
            <a:pPr marL="0" indent="0" fontAlgn="base">
              <a:buNone/>
            </a:pPr>
            <a:r>
              <a:rPr lang="ru-RU" sz="3200" dirty="0" smtClean="0"/>
              <a:t>Угол </a:t>
            </a:r>
            <a:r>
              <a:rPr lang="ru-RU" sz="3200" dirty="0"/>
              <a:t>между двумя документами равен 0, что соответствует максимальному сходству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b="1" dirty="0" smtClean="0"/>
              <a:t>Ключевая </a:t>
            </a:r>
            <a:r>
              <a:rPr lang="ru-RU" sz="3200" b="1" dirty="0"/>
              <a:t>идея: ранжировать документы по углу с помощью запроса.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861774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Переходим от </a:t>
            </a:r>
            <a:r>
              <a:rPr lang="ru-RU" b="1" dirty="0"/>
              <a:t>углов к косинусам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34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Следующие два </a:t>
            </a:r>
            <a:r>
              <a:rPr lang="ru-RU" sz="3200" dirty="0" smtClean="0"/>
              <a:t>подхода </a:t>
            </a:r>
            <a:r>
              <a:rPr lang="ru-RU" sz="3200" dirty="0"/>
              <a:t>эквивалентны</a:t>
            </a:r>
            <a:r>
              <a:rPr lang="ru-RU" sz="3200" dirty="0" smtClean="0"/>
              <a:t>.</a:t>
            </a:r>
          </a:p>
          <a:p>
            <a:pPr fontAlgn="base"/>
            <a:r>
              <a:rPr lang="ru-RU" sz="3200" dirty="0" smtClean="0"/>
              <a:t>Ранжируйте </a:t>
            </a:r>
            <a:r>
              <a:rPr lang="ru-RU" sz="3200" dirty="0"/>
              <a:t>документы в порядке убывания угла между запросом и </a:t>
            </a:r>
            <a:r>
              <a:rPr lang="ru-RU" sz="3200" dirty="0" smtClean="0"/>
              <a:t>документом</a:t>
            </a:r>
          </a:p>
          <a:p>
            <a:pPr fontAlgn="base"/>
            <a:r>
              <a:rPr lang="ru-RU" sz="3200" dirty="0" smtClean="0"/>
              <a:t>Ранжируйте </a:t>
            </a:r>
            <a:r>
              <a:rPr lang="ru-RU" sz="3200" dirty="0"/>
              <a:t>документы в порядке возрастания косинуса (запрос</a:t>
            </a:r>
            <a:r>
              <a:rPr lang="ru-RU" sz="3200" dirty="0" smtClean="0"/>
              <a:t>, документ)</a:t>
            </a:r>
          </a:p>
          <a:p>
            <a:pPr marL="0" indent="0" fontAlgn="base">
              <a:buNone/>
            </a:pPr>
            <a:r>
              <a:rPr lang="ru-RU" sz="3200" dirty="0" smtClean="0"/>
              <a:t>Косинус </a:t>
            </a:r>
            <a:r>
              <a:rPr lang="ru-RU" sz="3200" dirty="0"/>
              <a:t>- это монотонно убывающая функция для интервала [0</a:t>
            </a:r>
            <a:r>
              <a:rPr lang="ru-RU" sz="3200" baseline="30000" dirty="0"/>
              <a:t>o</a:t>
            </a:r>
            <a:r>
              <a:rPr lang="ru-RU" sz="3200" dirty="0"/>
              <a:t>, 180</a:t>
            </a:r>
            <a:r>
              <a:rPr lang="ru-RU" sz="3200" baseline="30000" dirty="0"/>
              <a:t>o</a:t>
            </a:r>
            <a:r>
              <a:rPr lang="ru-RU" sz="3200" dirty="0" smtClean="0"/>
              <a:t>].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829800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Переходим от </a:t>
            </a:r>
            <a:r>
              <a:rPr lang="ru-RU" b="1" dirty="0"/>
              <a:t>углов к косинусам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35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Но </a:t>
            </a:r>
            <a:r>
              <a:rPr lang="ru-RU" sz="3200" dirty="0"/>
              <a:t>как – и </a:t>
            </a:r>
            <a:r>
              <a:rPr lang="ru-RU" sz="3200" dirty="0" smtClean="0"/>
              <a:t>от какой величины </a:t>
            </a:r>
            <a:r>
              <a:rPr lang="ru-RU" sz="3200" dirty="0"/>
              <a:t>– мы должны вычислять косинусы?</a:t>
            </a:r>
            <a:endParaRPr lang="ru-RU" sz="3200" dirty="0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6" b="16666"/>
          <a:stretch>
            <a:fillRect/>
          </a:stretch>
        </p:blipFill>
        <p:spPr bwMode="auto">
          <a:xfrm>
            <a:off x="2616678" y="1055716"/>
            <a:ext cx="632460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3249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Нормализация длины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36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Вектор может быть нормализован (по длине) путем деления каждого из его компонентов на его длину - для этого мы используем норму L</a:t>
            </a:r>
            <a:r>
              <a:rPr lang="ru-RU" sz="3200" baseline="-25000" dirty="0"/>
              <a:t>2</a:t>
            </a:r>
            <a:r>
              <a:rPr lang="ru-RU" sz="3200" dirty="0" smtClean="0"/>
              <a:t>:</a:t>
            </a:r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r>
              <a:rPr lang="ru-RU" sz="3200" dirty="0" smtClean="0"/>
              <a:t>Деление </a:t>
            </a:r>
            <a:r>
              <a:rPr lang="ru-RU" sz="3200" dirty="0"/>
              <a:t>вектора на его норму L</a:t>
            </a:r>
            <a:r>
              <a:rPr lang="ru-RU" sz="3200" baseline="-25000" dirty="0"/>
              <a:t>2</a:t>
            </a:r>
            <a:r>
              <a:rPr lang="ru-RU" sz="3200" dirty="0"/>
              <a:t> делает его вектором единичной длины (на поверхности единичной </a:t>
            </a:r>
            <a:r>
              <a:rPr lang="ru-RU" sz="3200" dirty="0" err="1"/>
              <a:t>гиперсферы</a:t>
            </a:r>
            <a:r>
              <a:rPr lang="ru-RU" sz="3200" dirty="0" smtClean="0"/>
              <a:t>).</a:t>
            </a:r>
          </a:p>
          <a:p>
            <a:pPr marL="0" indent="0" fontAlgn="base">
              <a:buNone/>
            </a:pPr>
            <a:r>
              <a:rPr lang="ru-RU" sz="3200" dirty="0" smtClean="0"/>
              <a:t>Влияние </a:t>
            </a:r>
            <a:r>
              <a:rPr lang="ru-RU" sz="3200" dirty="0"/>
              <a:t>на два документа d и d</a:t>
            </a:r>
            <a:r>
              <a:rPr lang="ru-RU" sz="3200" dirty="0" smtClean="0"/>
              <a:t>': </a:t>
            </a:r>
            <a:r>
              <a:rPr lang="ru-RU" sz="3200" dirty="0"/>
              <a:t>после нормализации длины у них одинаковые векторы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b="1" dirty="0" smtClean="0"/>
              <a:t>Длинные </a:t>
            </a:r>
            <a:r>
              <a:rPr lang="ru-RU" sz="3200" b="1" dirty="0"/>
              <a:t>и короткие документы теперь имеют сопоставимые веса</a:t>
            </a:r>
            <a:endParaRPr lang="ru-RU" sz="3200" b="1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998291"/>
              </p:ext>
            </p:extLst>
          </p:nvPr>
        </p:nvGraphicFramePr>
        <p:xfrm>
          <a:off x="4553398" y="2124973"/>
          <a:ext cx="2252843" cy="815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Equation" r:id="rId3" imgW="875920" imgH="317362" progId="Equation.3">
                  <p:embed/>
                </p:oleObj>
              </mc:Choice>
              <mc:Fallback>
                <p:oleObj name="Equation" r:id="rId3" imgW="875920" imgH="317362" progId="Equation.3">
                  <p:embed/>
                  <p:pic>
                    <p:nvPicPr>
                      <p:cNvPr id="4710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3398" y="2124973"/>
                        <a:ext cx="2252843" cy="815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2253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Косинус </a:t>
            </a:r>
            <a:r>
              <a:rPr lang="ru-RU" b="1" dirty="0"/>
              <a:t>(запрос</a:t>
            </a:r>
            <a:r>
              <a:rPr lang="ru-RU" b="1" dirty="0" smtClean="0"/>
              <a:t>, документ</a:t>
            </a:r>
            <a:r>
              <a:rPr lang="ru-RU" b="1" dirty="0"/>
              <a:t>)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37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 err="1"/>
              <a:t>q</a:t>
            </a:r>
            <a:r>
              <a:rPr lang="ru-RU" sz="3200" baseline="-25000" dirty="0" err="1"/>
              <a:t>i</a:t>
            </a:r>
            <a:r>
              <a:rPr lang="ru-RU" sz="3200" dirty="0"/>
              <a:t> - это значение </a:t>
            </a:r>
            <a:r>
              <a:rPr lang="ru-RU" sz="3200" dirty="0" err="1"/>
              <a:t>tf-idf</a:t>
            </a:r>
            <a:r>
              <a:rPr lang="ru-RU" sz="3200" dirty="0"/>
              <a:t> для термина i в запросе</a:t>
            </a:r>
            <a:r>
              <a:rPr lang="ru-RU" sz="3200" dirty="0" smtClean="0"/>
              <a:t>,</a:t>
            </a:r>
          </a:p>
          <a:p>
            <a:pPr marL="0" indent="0" fontAlgn="base">
              <a:buNone/>
            </a:pPr>
            <a:r>
              <a:rPr lang="ru-RU" sz="3200" dirty="0" err="1" smtClean="0"/>
              <a:t>d</a:t>
            </a:r>
            <a:r>
              <a:rPr lang="ru-RU" sz="3200" baseline="-25000" dirty="0" err="1" smtClean="0"/>
              <a:t>i</a:t>
            </a:r>
            <a:r>
              <a:rPr lang="ru-RU" sz="3200" dirty="0" smtClean="0"/>
              <a:t> </a:t>
            </a:r>
            <a:r>
              <a:rPr lang="ru-RU" sz="3200" dirty="0"/>
              <a:t>- значение </a:t>
            </a:r>
            <a:r>
              <a:rPr lang="ru-RU" sz="3200" dirty="0" err="1"/>
              <a:t>tf-idf</a:t>
            </a:r>
            <a:r>
              <a:rPr lang="ru-RU" sz="3200" dirty="0"/>
              <a:t> для термина i в документе</a:t>
            </a:r>
            <a:r>
              <a:rPr lang="ru-RU" sz="3200" dirty="0" smtClean="0"/>
              <a:t>.</a:t>
            </a:r>
          </a:p>
          <a:p>
            <a:pPr marL="0" indent="0" fontAlgn="base">
              <a:buNone/>
            </a:pPr>
            <a:r>
              <a:rPr lang="ru-RU" sz="3200" dirty="0" err="1" smtClean="0"/>
              <a:t>cos</a:t>
            </a:r>
            <a:r>
              <a:rPr lang="ru-RU" sz="3200" dirty="0" smtClean="0"/>
              <a:t> </a:t>
            </a:r>
            <a:r>
              <a:rPr lang="ru-RU" sz="3200" dirty="0"/>
              <a:t>(q, d) - это косинусное сходство q и d ... или</a:t>
            </a:r>
            <a:r>
              <a:rPr lang="ru-RU" sz="3200" dirty="0" smtClean="0"/>
              <a:t>, что </a:t>
            </a:r>
            <a:r>
              <a:rPr lang="ru-RU" sz="3200" dirty="0"/>
              <a:t>эквивалентно, косинус угла между q и d.</a:t>
            </a:r>
            <a:endParaRPr lang="ru-RU" sz="3200" dirty="0"/>
          </a:p>
        </p:txBody>
      </p:sp>
      <p:graphicFrame>
        <p:nvGraphicFramePr>
          <p:cNvPr id="6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539394"/>
              </p:ext>
            </p:extLst>
          </p:nvPr>
        </p:nvGraphicFramePr>
        <p:xfrm>
          <a:off x="2186017" y="1697066"/>
          <a:ext cx="72167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" name="Equation" r:id="rId3" imgW="2946400" imgH="609600" progId="Equation.3">
                  <p:embed/>
                </p:oleObj>
              </mc:Choice>
              <mc:Fallback>
                <p:oleObj name="Equation" r:id="rId3" imgW="2946400" imgH="609600" progId="Equation.3">
                  <p:embed/>
                  <p:pic>
                    <p:nvPicPr>
                      <p:cNvPr id="48131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6017" y="1697066"/>
                        <a:ext cx="72167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Callout 1 4"/>
          <p:cNvSpPr>
            <a:spLocks/>
          </p:cNvSpPr>
          <p:nvPr/>
        </p:nvSpPr>
        <p:spPr bwMode="auto">
          <a:xfrm>
            <a:off x="1383091" y="1055716"/>
            <a:ext cx="3563411" cy="461665"/>
          </a:xfrm>
          <a:prstGeom prst="borderCallout1">
            <a:avLst>
              <a:gd name="adj1" fmla="val 104463"/>
              <a:gd name="adj2" fmla="val 51190"/>
              <a:gd name="adj3" fmla="val 198570"/>
              <a:gd name="adj4" fmla="val 8340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ru-RU" altLang="ru-RU" sz="2400" dirty="0">
                <a:solidFill>
                  <a:srgbClr val="C00000"/>
                </a:solidFill>
                <a:latin typeface="Lucida Sans" panose="020B0602030504020204" pitchFamily="34" charset="0"/>
              </a:rPr>
              <a:t>Скалярное произведение</a:t>
            </a:r>
            <a:endParaRPr lang="en-US" altLang="ru-RU" sz="2400" dirty="0">
              <a:solidFill>
                <a:srgbClr val="C00000"/>
              </a:solidFill>
              <a:latin typeface="Lucida Sans" panose="020B0602030504020204" pitchFamily="34" charset="0"/>
            </a:endParaRPr>
          </a:p>
        </p:txBody>
      </p:sp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5287992" y="1055716"/>
            <a:ext cx="1981200" cy="762000"/>
            <a:chOff x="4114800" y="1676400"/>
            <a:chExt cx="1981200" cy="762000"/>
          </a:xfrm>
        </p:grpSpPr>
        <p:sp>
          <p:nvSpPr>
            <p:cNvPr id="9" name="Line Callout 2 5"/>
            <p:cNvSpPr>
              <a:spLocks/>
            </p:cNvSpPr>
            <p:nvPr/>
          </p:nvSpPr>
          <p:spPr bwMode="auto">
            <a:xfrm>
              <a:off x="4114800" y="1676400"/>
              <a:ext cx="1981200" cy="457200"/>
            </a:xfrm>
            <a:prstGeom prst="borderCallout2">
              <a:avLst>
                <a:gd name="adj1" fmla="val 97319"/>
                <a:gd name="adj2" fmla="val 8153"/>
                <a:gd name="adj3" fmla="val 159227"/>
                <a:gd name="adj4" fmla="val 7509"/>
                <a:gd name="adj5" fmla="val 172023"/>
                <a:gd name="adj6" fmla="val 388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2400" dirty="0">
                  <a:solidFill>
                    <a:srgbClr val="C00000"/>
                  </a:solidFill>
                  <a:latin typeface="Lucida Sans" panose="020B0602030504020204" pitchFamily="34" charset="0"/>
                </a:rPr>
                <a:t>Unit vectors</a:t>
              </a:r>
            </a:p>
          </p:txBody>
        </p:sp>
        <p:cxnSp>
          <p:nvCxnSpPr>
            <p:cNvPr id="10" name="Straight Connector 7"/>
            <p:cNvCxnSpPr>
              <a:cxnSpLocks noChangeShapeType="1"/>
            </p:cNvCxnSpPr>
            <p:nvPr/>
          </p:nvCxnSpPr>
          <p:spPr bwMode="auto">
            <a:xfrm rot="5400000">
              <a:off x="4572794" y="2286000"/>
              <a:ext cx="304006" cy="7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31068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Косинус для векторов, нормализованных по длине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38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6"/>
            <a:ext cx="11328000" cy="51355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3200" dirty="0"/>
              <a:t>Для векторов, нормализованных по длине, </a:t>
            </a:r>
            <a:r>
              <a:rPr lang="ru-RU" sz="3200" dirty="0" err="1"/>
              <a:t>косинусоидальное</a:t>
            </a:r>
            <a:r>
              <a:rPr lang="ru-RU" sz="3200" dirty="0"/>
              <a:t> сходство - это просто скалярное произведение</a:t>
            </a:r>
            <a:r>
              <a:rPr lang="ru-RU" sz="3200" dirty="0" smtClean="0"/>
              <a:t>:</a:t>
            </a:r>
          </a:p>
          <a:p>
            <a:pPr marL="0" indent="0" fontAlgn="base">
              <a:buNone/>
            </a:pPr>
            <a:endParaRPr lang="ru-RU" sz="3200" dirty="0"/>
          </a:p>
          <a:p>
            <a:pPr marL="0" indent="0" fontAlgn="base">
              <a:buNone/>
            </a:pP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/>
              <a:t>для q </a:t>
            </a:r>
            <a:r>
              <a:rPr lang="ru-RU" sz="3200" dirty="0" smtClean="0"/>
              <a:t>и d </a:t>
            </a:r>
            <a:r>
              <a:rPr lang="ru-RU" sz="3200" dirty="0"/>
              <a:t>- длина </a:t>
            </a:r>
            <a:r>
              <a:rPr lang="ru-RU" sz="3200" dirty="0" smtClean="0"/>
              <a:t>нормализована</a:t>
            </a:r>
            <a:r>
              <a:rPr lang="ru-RU" sz="3200" dirty="0"/>
              <a:t>.</a:t>
            </a:r>
            <a:endParaRPr lang="ru-RU" sz="3200" dirty="0"/>
          </a:p>
        </p:txBody>
      </p:sp>
      <p:graphicFrame>
        <p:nvGraphicFramePr>
          <p:cNvPr id="6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040227"/>
              </p:ext>
            </p:extLst>
          </p:nvPr>
        </p:nvGraphicFramePr>
        <p:xfrm>
          <a:off x="2626384" y="2097656"/>
          <a:ext cx="5885592" cy="1094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3" imgW="1638300" imgH="304800" progId="Equation.3">
                  <p:embed/>
                </p:oleObj>
              </mc:Choice>
              <mc:Fallback>
                <p:oleObj name="Equation" r:id="rId3" imgW="1638300" imgH="304800" progId="Equation.3">
                  <p:embed/>
                  <p:pic>
                    <p:nvPicPr>
                      <p:cNvPr id="50181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384" y="2097656"/>
                        <a:ext cx="5885592" cy="1094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1860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 smtClean="0"/>
              <a:t>Пример косинусного сходства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39</a:t>
            </a:fld>
            <a:endParaRPr lang="ru-RU" noProof="0" dirty="0"/>
          </a:p>
        </p:txBody>
      </p:sp>
      <p:pic>
        <p:nvPicPr>
          <p:cNvPr id="6" name="Picture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839" y="1055688"/>
            <a:ext cx="6886321" cy="51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32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Косинусное сходство между 3 документами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40</a:t>
            </a:fld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32000" y="1055715"/>
            <a:ext cx="4096868" cy="5405469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ru-RU" sz="3200" dirty="0" smtClean="0"/>
              <a:t>Насколько близки (похожи) романы:</a:t>
            </a:r>
            <a:endParaRPr lang="en-US" sz="3200" dirty="0"/>
          </a:p>
          <a:p>
            <a:pPr marL="0" indent="0" fontAlgn="base">
              <a:buNone/>
            </a:pPr>
            <a:r>
              <a:rPr lang="en-US" sz="3200" dirty="0" err="1"/>
              <a:t>SaS</a:t>
            </a:r>
            <a:r>
              <a:rPr lang="en-US" sz="3200" dirty="0"/>
              <a:t>: Sense and</a:t>
            </a:r>
          </a:p>
          <a:p>
            <a:pPr marL="0" indent="0" fontAlgn="base">
              <a:buNone/>
            </a:pPr>
            <a:r>
              <a:rPr lang="en-US" sz="3200" dirty="0"/>
              <a:t>Sensibility</a:t>
            </a:r>
          </a:p>
          <a:p>
            <a:pPr marL="0" indent="0" fontAlgn="base">
              <a:buNone/>
            </a:pPr>
            <a:r>
              <a:rPr lang="en-US" sz="3200" dirty="0" err="1"/>
              <a:t>PaP</a:t>
            </a:r>
            <a:r>
              <a:rPr lang="en-US" sz="3200" dirty="0"/>
              <a:t>: Pride and</a:t>
            </a:r>
          </a:p>
          <a:p>
            <a:pPr marL="0" indent="0" fontAlgn="base">
              <a:buNone/>
            </a:pPr>
            <a:r>
              <a:rPr lang="en-US" sz="3200" dirty="0"/>
              <a:t>Prejudice, and</a:t>
            </a:r>
          </a:p>
          <a:p>
            <a:pPr marL="0" indent="0" fontAlgn="base">
              <a:buNone/>
            </a:pPr>
            <a:r>
              <a:rPr lang="en-US" sz="3200" dirty="0"/>
              <a:t>WH: Wuthering</a:t>
            </a:r>
          </a:p>
          <a:p>
            <a:pPr marL="0" indent="0" fontAlgn="base">
              <a:buNone/>
            </a:pPr>
            <a:r>
              <a:rPr lang="en-US" sz="3200" dirty="0"/>
              <a:t>Heights</a:t>
            </a:r>
            <a:r>
              <a:rPr lang="en-US" sz="3200" dirty="0" smtClean="0"/>
              <a:t>?</a:t>
            </a:r>
            <a:endParaRPr lang="ru-RU" sz="3200" dirty="0" smtClean="0"/>
          </a:p>
          <a:p>
            <a:pPr marL="0" indent="0" fontAlgn="base">
              <a:buNone/>
            </a:pPr>
            <a:r>
              <a:rPr lang="ru-RU" sz="3200" dirty="0"/>
              <a:t>Чтобы упростить этот пример, мы не проводим взвешивание </a:t>
            </a:r>
            <a:r>
              <a:rPr lang="ru-RU" sz="3200" dirty="0" err="1"/>
              <a:t>idf</a:t>
            </a:r>
            <a:r>
              <a:rPr lang="ru-RU" sz="3200" dirty="0"/>
              <a:t>.</a:t>
            </a:r>
            <a:endParaRPr lang="en-US" sz="3200" dirty="0"/>
          </a:p>
          <a:p>
            <a:pPr marL="0" indent="0" fontAlgn="base">
              <a:buNone/>
            </a:pPr>
            <a:endParaRPr lang="ru-RU" sz="3200" dirty="0"/>
          </a:p>
        </p:txBody>
      </p:sp>
      <p:graphicFrame>
        <p:nvGraphicFramePr>
          <p:cNvPr id="7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2172332"/>
              </p:ext>
            </p:extLst>
          </p:nvPr>
        </p:nvGraphicFramePr>
        <p:xfrm>
          <a:off x="4756031" y="1191883"/>
          <a:ext cx="5410200" cy="2436815"/>
        </p:xfrm>
        <a:graphic>
          <a:graphicData uri="http://schemas.openxmlformats.org/drawingml/2006/table">
            <a:tbl>
              <a:tblPr/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term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SaS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affection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58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jealous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gossip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wuthering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353355" y="3782683"/>
            <a:ext cx="21547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dirty="0" smtClean="0">
                <a:solidFill>
                  <a:srgbClr val="C00000"/>
                </a:solidFill>
                <a:latin typeface="Lucida Sans" panose="020B0602030504020204" pitchFamily="34" charset="0"/>
              </a:rPr>
              <a:t>Значения </a:t>
            </a:r>
            <a:r>
              <a:rPr lang="en-US" altLang="ru-RU" dirty="0" smtClean="0">
                <a:solidFill>
                  <a:srgbClr val="C00000"/>
                </a:solidFill>
                <a:latin typeface="Lucida Sans" panose="020B0602030504020204" pitchFamily="34" charset="0"/>
              </a:rPr>
              <a:t>TF</a:t>
            </a:r>
            <a:endParaRPr lang="en-US" altLang="ru-RU" dirty="0">
              <a:solidFill>
                <a:srgbClr val="C00000"/>
              </a:solidFill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6177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ru-RU" b="1" dirty="0"/>
              <a:t>Косинусное сходство между 3 документами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41</a:t>
            </a:fld>
            <a:endParaRPr lang="ru-RU" noProof="0" dirty="0"/>
          </a:p>
        </p:txBody>
      </p:sp>
      <p:graphicFrame>
        <p:nvGraphicFramePr>
          <p:cNvPr id="7" name="Conten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0014528"/>
              </p:ext>
            </p:extLst>
          </p:nvPr>
        </p:nvGraphicFramePr>
        <p:xfrm>
          <a:off x="1315529" y="1929080"/>
          <a:ext cx="4191000" cy="1857375"/>
        </p:xfrm>
        <a:graphic>
          <a:graphicData uri="http://schemas.openxmlformats.org/drawingml/2006/table">
            <a:tbl>
              <a:tblPr/>
              <a:tblGrid>
                <a:gridCol w="118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term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SaS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PaP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WH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affection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3.06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jealous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gossip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 Unicode MS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wuthering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ontent Placeholder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9871996"/>
              </p:ext>
            </p:extLst>
          </p:nvPr>
        </p:nvGraphicFramePr>
        <p:xfrm>
          <a:off x="5731954" y="1929080"/>
          <a:ext cx="4268788" cy="1857375"/>
        </p:xfrm>
        <a:graphic>
          <a:graphicData uri="http://schemas.openxmlformats.org/drawingml/2006/table">
            <a:tbl>
              <a:tblPr/>
              <a:tblGrid>
                <a:gridCol w="1236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term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affection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0.789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0.832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0.524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jealous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0.515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0.555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0.465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gossip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0.335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0.405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wuthering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0.588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59125" y="3888055"/>
            <a:ext cx="1077439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>
                <a:solidFill>
                  <a:srgbClr val="0000FF"/>
                </a:solidFill>
                <a:latin typeface="Lucida Sans" panose="020B0602030504020204" pitchFamily="34" charset="0"/>
              </a:rPr>
              <a:t>cos(</a:t>
            </a:r>
            <a:r>
              <a:rPr lang="en-US" altLang="ru-RU" sz="2400" dirty="0" err="1">
                <a:solidFill>
                  <a:srgbClr val="0000FF"/>
                </a:solidFill>
                <a:latin typeface="Lucida Sans" panose="020B0602030504020204" pitchFamily="34" charset="0"/>
              </a:rPr>
              <a:t>SaS,PaP</a:t>
            </a:r>
            <a:r>
              <a:rPr lang="en-US" altLang="ru-RU" sz="2400" dirty="0">
                <a:solidFill>
                  <a:srgbClr val="0000FF"/>
                </a:solidFill>
                <a:latin typeface="Lucida Sans" panose="020B0602030504020204" pitchFamily="34" charset="0"/>
              </a:rPr>
              <a:t>) </a:t>
            </a:r>
            <a:r>
              <a:rPr lang="en-US" altLang="ru-RU" sz="2400" dirty="0">
                <a:latin typeface="Lucida Sans" panose="020B0602030504020204" pitchFamily="34" charset="0"/>
              </a:rPr>
              <a:t>≈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>
                <a:latin typeface="Lucida Sans" panose="020B0602030504020204" pitchFamily="34" charset="0"/>
              </a:rPr>
              <a:t>0.789 × 0.832 + 0.515 × 0.555 + 0.335 × 0.0 + 0.0 × </a:t>
            </a:r>
            <a:r>
              <a:rPr lang="en-US" altLang="ru-RU" sz="2400" dirty="0" smtClean="0">
                <a:latin typeface="Lucida Sans" panose="020B0602030504020204" pitchFamily="34" charset="0"/>
              </a:rPr>
              <a:t>0.0</a:t>
            </a:r>
            <a:r>
              <a:rPr lang="ru-RU" altLang="ru-RU" sz="2400" dirty="0" smtClean="0">
                <a:latin typeface="Lucida Sans" panose="020B0602030504020204" pitchFamily="34" charset="0"/>
              </a:rPr>
              <a:t> </a:t>
            </a:r>
            <a:r>
              <a:rPr lang="en-US" altLang="ru-RU" sz="2400" dirty="0" smtClean="0">
                <a:latin typeface="Lucida Sans" panose="020B0602030504020204" pitchFamily="34" charset="0"/>
              </a:rPr>
              <a:t>≈ </a:t>
            </a:r>
            <a:r>
              <a:rPr lang="en-US" altLang="ru-RU" sz="2400" dirty="0">
                <a:solidFill>
                  <a:srgbClr val="C00000"/>
                </a:solidFill>
                <a:latin typeface="Lucida Sans" panose="020B0602030504020204" pitchFamily="34" charset="0"/>
              </a:rPr>
              <a:t>0.94</a:t>
            </a:r>
            <a:endParaRPr lang="en-US" altLang="ru-RU" sz="2400" dirty="0">
              <a:latin typeface="Lucida Sans" panose="020B0602030504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>
                <a:solidFill>
                  <a:srgbClr val="0000FF"/>
                </a:solidFill>
                <a:latin typeface="Lucida Sans" panose="020B0602030504020204" pitchFamily="34" charset="0"/>
              </a:rPr>
              <a:t>cos(</a:t>
            </a:r>
            <a:r>
              <a:rPr lang="en-US" altLang="ru-RU" sz="2400" dirty="0" err="1">
                <a:solidFill>
                  <a:srgbClr val="0000FF"/>
                </a:solidFill>
                <a:latin typeface="Lucida Sans" panose="020B0602030504020204" pitchFamily="34" charset="0"/>
              </a:rPr>
              <a:t>SaS,WH</a:t>
            </a:r>
            <a:r>
              <a:rPr lang="en-US" altLang="ru-RU" sz="2400" dirty="0">
                <a:solidFill>
                  <a:srgbClr val="0000FF"/>
                </a:solidFill>
                <a:latin typeface="Lucida Sans" panose="020B0602030504020204" pitchFamily="34" charset="0"/>
              </a:rPr>
              <a:t>)</a:t>
            </a:r>
            <a:r>
              <a:rPr lang="en-US" altLang="ru-RU" sz="2400" dirty="0">
                <a:latin typeface="Lucida Sans" panose="020B0602030504020204" pitchFamily="34" charset="0"/>
              </a:rPr>
              <a:t> ≈ </a:t>
            </a:r>
            <a:r>
              <a:rPr lang="en-US" altLang="ru-RU" sz="2400" dirty="0">
                <a:solidFill>
                  <a:srgbClr val="C00000"/>
                </a:solidFill>
                <a:latin typeface="Lucida Sans" panose="020B0602030504020204" pitchFamily="34" charset="0"/>
              </a:rPr>
              <a:t>0.79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>
                <a:solidFill>
                  <a:srgbClr val="0000FF"/>
                </a:solidFill>
                <a:latin typeface="Lucida Sans" panose="020B0602030504020204" pitchFamily="34" charset="0"/>
              </a:rPr>
              <a:t>cos(</a:t>
            </a:r>
            <a:r>
              <a:rPr lang="en-US" altLang="ru-RU" sz="2400" dirty="0" err="1">
                <a:solidFill>
                  <a:srgbClr val="0000FF"/>
                </a:solidFill>
                <a:latin typeface="Lucida Sans" panose="020B0602030504020204" pitchFamily="34" charset="0"/>
              </a:rPr>
              <a:t>PaP,WH</a:t>
            </a:r>
            <a:r>
              <a:rPr lang="en-US" altLang="ru-RU" sz="2400" dirty="0">
                <a:solidFill>
                  <a:srgbClr val="0000FF"/>
                </a:solidFill>
                <a:latin typeface="Lucida Sans" panose="020B0602030504020204" pitchFamily="34" charset="0"/>
              </a:rPr>
              <a:t>) </a:t>
            </a:r>
            <a:r>
              <a:rPr lang="en-US" altLang="ru-RU" sz="2400" dirty="0">
                <a:latin typeface="Lucida Sans" panose="020B0602030504020204" pitchFamily="34" charset="0"/>
              </a:rPr>
              <a:t>≈ </a:t>
            </a:r>
            <a:r>
              <a:rPr lang="en-US" altLang="ru-RU" sz="2400" dirty="0">
                <a:solidFill>
                  <a:srgbClr val="C00000"/>
                </a:solidFill>
                <a:latin typeface="Lucida Sans" panose="020B0602030504020204" pitchFamily="34" charset="0"/>
              </a:rPr>
              <a:t>0.69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579681" y="5515313"/>
            <a:ext cx="63045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ru-RU" altLang="ru-RU" sz="2400" dirty="0">
                <a:solidFill>
                  <a:srgbClr val="FF0000"/>
                </a:solidFill>
                <a:latin typeface="Lucida Sans" panose="020B0602030504020204" pitchFamily="34" charset="0"/>
              </a:rPr>
              <a:t>Почему у </a:t>
            </a:r>
            <a:r>
              <a:rPr lang="ru-RU" altLang="ru-RU" sz="2400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нас </a:t>
            </a:r>
            <a:r>
              <a:rPr lang="en-US" altLang="ru-RU" sz="2400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cos(</a:t>
            </a:r>
            <a:r>
              <a:rPr lang="en-US" altLang="ru-RU" sz="2400" dirty="0" err="1" smtClean="0">
                <a:solidFill>
                  <a:srgbClr val="FF0000"/>
                </a:solidFill>
                <a:latin typeface="Lucida Sans" panose="020B0602030504020204" pitchFamily="34" charset="0"/>
              </a:rPr>
              <a:t>SaS,PaP</a:t>
            </a:r>
            <a:r>
              <a:rPr lang="en-US" altLang="ru-RU" sz="2400" dirty="0">
                <a:solidFill>
                  <a:srgbClr val="FF0000"/>
                </a:solidFill>
                <a:latin typeface="Lucida Sans" panose="020B0602030504020204" pitchFamily="34" charset="0"/>
              </a:rPr>
              <a:t>) &gt; cos(</a:t>
            </a:r>
            <a:r>
              <a:rPr lang="en-US" altLang="ru-RU" sz="2400" dirty="0" err="1">
                <a:solidFill>
                  <a:srgbClr val="FF0000"/>
                </a:solidFill>
                <a:latin typeface="Lucida Sans" panose="020B0602030504020204" pitchFamily="34" charset="0"/>
              </a:rPr>
              <a:t>SaS,WH</a:t>
            </a:r>
            <a:r>
              <a:rPr lang="en-US" altLang="ru-RU" sz="2400" dirty="0">
                <a:solidFill>
                  <a:srgbClr val="FF0000"/>
                </a:solidFill>
                <a:latin typeface="Lucida Sans" panose="020B0602030504020204" pitchFamily="34" charset="0"/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373805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7305894" cy="432000"/>
          </a:xfrm>
        </p:spPr>
        <p:txBody>
          <a:bodyPr/>
          <a:lstStyle/>
          <a:p>
            <a:r>
              <a:rPr lang="ru-RU" b="1" dirty="0" smtClean="0"/>
              <a:t>Типовой алгоритм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42</a:t>
            </a:fld>
            <a:endParaRPr lang="ru-RU" noProof="0" dirty="0"/>
          </a:p>
        </p:txBody>
      </p:sp>
      <p:pic>
        <p:nvPicPr>
          <p:cNvPr id="7" name="Content Placeholder 8" descr="cosinescore.gif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28927" y="1173191"/>
            <a:ext cx="7718921" cy="4910973"/>
          </a:xfrm>
        </p:spPr>
      </p:pic>
    </p:spTree>
    <p:extLst>
      <p:ext uri="{BB962C8B-B14F-4D97-AF65-F5344CB8AC3E}">
        <p14:creationId xmlns:p14="http://schemas.microsoft.com/office/powerpoint/2010/main" val="2412079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644317" cy="432000"/>
          </a:xfrm>
        </p:spPr>
        <p:txBody>
          <a:bodyPr/>
          <a:lstStyle/>
          <a:p>
            <a:r>
              <a:rPr lang="ru-RU" b="1" dirty="0" smtClean="0"/>
              <a:t>Взвешивание </a:t>
            </a:r>
            <a:r>
              <a:rPr lang="ru-RU" b="1" dirty="0" err="1"/>
              <a:t>tf-idf</a:t>
            </a:r>
            <a:r>
              <a:rPr lang="ru-RU" b="1" dirty="0"/>
              <a:t> имеет множество вариантов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43</a:t>
            </a:fld>
            <a:endParaRPr lang="ru-RU" noProof="0" dirty="0"/>
          </a:p>
        </p:txBody>
      </p:sp>
      <p:pic>
        <p:nvPicPr>
          <p:cNvPr id="7" name="Content Placeholder 7" descr="table1.gif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54208" y="1206635"/>
            <a:ext cx="8648700" cy="2676525"/>
          </a:xfrm>
        </p:spPr>
      </p:pic>
    </p:spTree>
    <p:extLst>
      <p:ext uri="{BB962C8B-B14F-4D97-AF65-F5344CB8AC3E}">
        <p14:creationId xmlns:p14="http://schemas.microsoft.com/office/powerpoint/2010/main" val="14043677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10644317" cy="432000"/>
          </a:xfrm>
        </p:spPr>
        <p:txBody>
          <a:bodyPr/>
          <a:lstStyle/>
          <a:p>
            <a:r>
              <a:rPr lang="ru-RU" dirty="0"/>
              <a:t>Весовые коэффициенты могут отличаться в зависимости от запросов и документов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193738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Многие поисковые системы допускают разные значения весов для запросов и </a:t>
            </a:r>
            <a:r>
              <a:rPr lang="ru-RU" sz="2600" dirty="0" smtClean="0"/>
              <a:t>документов</a:t>
            </a:r>
          </a:p>
          <a:p>
            <a:pPr marL="0" indent="0">
              <a:buNone/>
            </a:pPr>
            <a:r>
              <a:rPr lang="ru-RU" sz="2600" dirty="0" smtClean="0"/>
              <a:t>Обозначим </a:t>
            </a:r>
            <a:r>
              <a:rPr lang="ru-RU" sz="2600" dirty="0"/>
              <a:t>комбинацию, используемую в </a:t>
            </a:r>
            <a:r>
              <a:rPr lang="ru-RU" sz="2600" dirty="0" smtClean="0"/>
              <a:t>при поиске, обозначением </a:t>
            </a:r>
            <a:r>
              <a:rPr lang="ru-RU" sz="2600" dirty="0" err="1"/>
              <a:t>ddd.qqq</a:t>
            </a:r>
            <a:r>
              <a:rPr lang="ru-RU" sz="2600" dirty="0"/>
              <a:t>, используя сокращения из предыдущей </a:t>
            </a:r>
            <a:r>
              <a:rPr lang="ru-RU" sz="2600" dirty="0" smtClean="0"/>
              <a:t>таблицы</a:t>
            </a:r>
          </a:p>
          <a:p>
            <a:pPr marL="0" indent="0">
              <a:buNone/>
            </a:pPr>
            <a:r>
              <a:rPr lang="ru-RU" sz="2600" dirty="0" smtClean="0"/>
              <a:t>Очень </a:t>
            </a:r>
            <a:r>
              <a:rPr lang="ru-RU" sz="2600" dirty="0"/>
              <a:t>стандартная схема взвешивания: </a:t>
            </a:r>
            <a:r>
              <a:rPr lang="ru-RU" sz="2600" dirty="0" err="1" smtClean="0"/>
              <a:t>lnc.ltc</a:t>
            </a:r>
            <a:endParaRPr lang="ru-RU" sz="2600" dirty="0" smtClean="0"/>
          </a:p>
          <a:p>
            <a:pPr marL="0" indent="0">
              <a:buNone/>
            </a:pPr>
            <a:r>
              <a:rPr lang="ru-RU" sz="2600" dirty="0" smtClean="0"/>
              <a:t>Документ</a:t>
            </a:r>
            <a:r>
              <a:rPr lang="ru-RU" sz="2600" dirty="0"/>
              <a:t>: логарифмический </a:t>
            </a:r>
            <a:r>
              <a:rPr lang="ru-RU" sz="2600" dirty="0" err="1"/>
              <a:t>tf</a:t>
            </a:r>
            <a:r>
              <a:rPr lang="ru-RU" sz="2600" dirty="0"/>
              <a:t> (l в качестве первого символа), без нормализации </a:t>
            </a:r>
            <a:r>
              <a:rPr lang="ru-RU" sz="2600" dirty="0" err="1"/>
              <a:t>idf</a:t>
            </a:r>
            <a:r>
              <a:rPr lang="ru-RU" sz="2600" dirty="0"/>
              <a:t> и </a:t>
            </a:r>
            <a:r>
              <a:rPr lang="ru-RU" sz="2600" dirty="0" smtClean="0"/>
              <a:t>нормализованный косинус</a:t>
            </a:r>
          </a:p>
          <a:p>
            <a:pPr marL="0" indent="0">
              <a:buNone/>
            </a:pPr>
            <a:r>
              <a:rPr lang="ru-RU" sz="2600" dirty="0" smtClean="0"/>
              <a:t>Запрос</a:t>
            </a:r>
            <a:r>
              <a:rPr lang="ru-RU" sz="2600" dirty="0"/>
              <a:t>: логарифмический </a:t>
            </a:r>
            <a:r>
              <a:rPr lang="ru-RU" sz="2600" dirty="0" err="1"/>
              <a:t>tf</a:t>
            </a:r>
            <a:r>
              <a:rPr lang="ru-RU" sz="2600" dirty="0"/>
              <a:t> (l в крайнем левом столбце), </a:t>
            </a:r>
            <a:r>
              <a:rPr lang="ru-RU" sz="2600" dirty="0" err="1"/>
              <a:t>idf</a:t>
            </a:r>
            <a:r>
              <a:rPr lang="ru-RU" sz="2600" dirty="0"/>
              <a:t> (t во втором столбце), </a:t>
            </a:r>
            <a:r>
              <a:rPr lang="ru-RU" sz="2600" dirty="0" smtClean="0"/>
              <a:t>и так далее…</a:t>
            </a:r>
            <a:endParaRPr lang="ru-RU" sz="26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44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488222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11668" cy="432000"/>
          </a:xfrm>
        </p:spPr>
        <p:txBody>
          <a:bodyPr/>
          <a:lstStyle/>
          <a:p>
            <a:r>
              <a:rPr lang="ru-RU" altLang="ru-RU" b="1" dirty="0" smtClean="0">
                <a:ea typeface="ＭＳ Ｐゴシック" panose="020B0600070205080204" pitchFamily="34" charset="-128"/>
              </a:rPr>
              <a:t>Пример </a:t>
            </a:r>
            <a:r>
              <a:rPr lang="en-US" altLang="ru-RU" b="1" dirty="0" err="1" smtClean="0">
                <a:ea typeface="ＭＳ Ｐゴシック" panose="020B0600070205080204" pitchFamily="34" charset="-128"/>
              </a:rPr>
              <a:t>tf-idf</a:t>
            </a:r>
            <a:r>
              <a:rPr lang="en-US" altLang="ru-RU" b="1" dirty="0" smtClean="0">
                <a:ea typeface="ＭＳ Ｐゴシック" panose="020B0600070205080204" pitchFamily="34" charset="-128"/>
              </a:rPr>
              <a:t>: </a:t>
            </a:r>
            <a:r>
              <a:rPr lang="en-US" altLang="ru-RU" b="1" dirty="0" err="1">
                <a:ea typeface="ＭＳ Ｐゴシック" panose="020B0600070205080204" pitchFamily="34" charset="-128"/>
              </a:rPr>
              <a:t>lnc.ltc</a:t>
            </a:r>
            <a:endParaRPr lang="ru-RU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45</a:t>
            </a:fld>
            <a:endParaRPr lang="ru-RU" noProof="0" dirty="0"/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527929"/>
              </p:ext>
            </p:extLst>
          </p:nvPr>
        </p:nvGraphicFramePr>
        <p:xfrm>
          <a:off x="1145875" y="1893498"/>
          <a:ext cx="9266208" cy="2765477"/>
        </p:xfrm>
        <a:graphic>
          <a:graphicData uri="http://schemas.openxmlformats.org/drawingml/2006/table">
            <a:tbl>
              <a:tblPr/>
              <a:tblGrid>
                <a:gridCol w="1323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9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86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00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0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140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86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8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00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Term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Query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Document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Prod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 Unicode MS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tf-raw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tf-wt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df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idf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wt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n’lize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tf-raw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tf-wt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wt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n’lize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cs typeface="Arial Unicode MS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3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auto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5000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2.3 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0.52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3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best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50000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3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car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 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10000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2.0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0.52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0.52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0.27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3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insurance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1000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3.0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3.0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0.78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2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1.3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0.68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 Unicode MS" charset="0"/>
                        </a:rPr>
                        <a:t>0.53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907875" y="979098"/>
            <a:ext cx="60537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dirty="0" smtClean="0">
                <a:latin typeface="Lucida Sans" panose="020B0602030504020204" pitchFamily="34" charset="0"/>
              </a:rPr>
              <a:t>Документ</a:t>
            </a:r>
            <a:r>
              <a:rPr lang="en-US" altLang="ru-RU" sz="2400" dirty="0" smtClean="0">
                <a:latin typeface="Lucida Sans" panose="020B0602030504020204" pitchFamily="34" charset="0"/>
              </a:rPr>
              <a:t>: </a:t>
            </a:r>
            <a:r>
              <a:rPr lang="en-US" altLang="ru-RU" sz="2400" i="1" dirty="0">
                <a:latin typeface="Lucida Sans" panose="020B0602030504020204" pitchFamily="34" charset="0"/>
              </a:rPr>
              <a:t>car insurance auto insurance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ru-RU" altLang="ru-RU" sz="2400" dirty="0" smtClean="0">
                <a:latin typeface="Lucida Sans" panose="020B0602030504020204" pitchFamily="34" charset="0"/>
              </a:rPr>
              <a:t>Запрос</a:t>
            </a:r>
            <a:r>
              <a:rPr lang="en-US" altLang="ru-RU" sz="2400" dirty="0" smtClean="0">
                <a:latin typeface="Lucida Sans" panose="020B0602030504020204" pitchFamily="34" charset="0"/>
              </a:rPr>
              <a:t>: </a:t>
            </a:r>
            <a:r>
              <a:rPr lang="en-US" altLang="ru-RU" sz="2400" i="1" dirty="0">
                <a:latin typeface="Lucida Sans" panose="020B0602030504020204" pitchFamily="34" charset="0"/>
              </a:rPr>
              <a:t>best car insurance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208713" y="4751943"/>
            <a:ext cx="67317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ru-RU" altLang="ru-RU" sz="2400" dirty="0" smtClean="0">
                <a:solidFill>
                  <a:srgbClr val="0000FF"/>
                </a:solidFill>
                <a:latin typeface="Lucida Sans" panose="020B0602030504020204" pitchFamily="34" charset="0"/>
              </a:rPr>
              <a:t>Вопрос: </a:t>
            </a:r>
            <a:r>
              <a:rPr lang="ru-RU" altLang="ru-RU" sz="2400" dirty="0">
                <a:solidFill>
                  <a:srgbClr val="0000FF"/>
                </a:solidFill>
                <a:latin typeface="Lucida Sans" panose="020B0602030504020204" pitchFamily="34" charset="0"/>
              </a:rPr>
              <a:t>чему равно N - количество документов?</a:t>
            </a:r>
            <a:endParaRPr lang="en-US" altLang="ru-RU" sz="2400" dirty="0">
              <a:solidFill>
                <a:srgbClr val="0000FF"/>
              </a:solidFill>
              <a:latin typeface="Lucida Sans" panose="020B0602030504020204" pitchFamily="34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274083" y="5924461"/>
            <a:ext cx="4595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ru-RU" sz="2400" dirty="0">
                <a:solidFill>
                  <a:srgbClr val="C00000"/>
                </a:solidFill>
                <a:latin typeface="Lucida Sans" panose="020B0602030504020204" pitchFamily="34" charset="0"/>
              </a:rPr>
              <a:t>Score = 0+0+0.27+0.53 = 0.8</a:t>
            </a: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3231850" y="5286947"/>
            <a:ext cx="4895850" cy="461963"/>
            <a:chOff x="2133600" y="5715000"/>
            <a:chExt cx="4895850" cy="461665"/>
          </a:xfrm>
        </p:grpSpPr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2133600" y="5715000"/>
              <a:ext cx="21018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ru-RU" sz="2400" dirty="0">
                  <a:latin typeface="Lucida Sans" panose="020B0602030504020204" pitchFamily="34" charset="0"/>
                </a:rPr>
                <a:t>Doc length =</a:t>
              </a:r>
            </a:p>
          </p:txBody>
        </p:sp>
        <p:graphicFrame>
          <p:nvGraphicFramePr>
            <p:cNvPr id="13" name="Object 2"/>
            <p:cNvGraphicFramePr>
              <a:graphicFrameLocks noChangeAspect="1"/>
            </p:cNvGraphicFramePr>
            <p:nvPr/>
          </p:nvGraphicFramePr>
          <p:xfrm>
            <a:off x="4070350" y="5729723"/>
            <a:ext cx="2959100" cy="405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2" name="Equation" r:id="rId3" imgW="1574800" imgH="215900" progId="Equation.3">
                    <p:embed/>
                  </p:oleObj>
                </mc:Choice>
                <mc:Fallback>
                  <p:oleObj name="Equation" r:id="rId3" imgW="1574800" imgH="215900" progId="Equation.3">
                    <p:embed/>
                    <p:pic>
                      <p:nvPicPr>
                        <p:cNvPr id="59497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0350" y="5729723"/>
                          <a:ext cx="2959100" cy="4057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9511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31999" y="432000"/>
            <a:ext cx="9695411" cy="432000"/>
          </a:xfrm>
        </p:spPr>
        <p:txBody>
          <a:bodyPr/>
          <a:lstStyle/>
          <a:p>
            <a:r>
              <a:rPr lang="ru-RU" b="1" dirty="0" smtClean="0"/>
              <a:t>Ранжирование </a:t>
            </a:r>
            <a:r>
              <a:rPr lang="ru-RU" b="1" dirty="0"/>
              <a:t>в векторном пространстве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31999" y="1055715"/>
            <a:ext cx="11031252" cy="5221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Представьте запрос в виде взвешенного вектора </a:t>
            </a:r>
            <a:r>
              <a:rPr lang="ru-RU" sz="2400" dirty="0" err="1" smtClean="0"/>
              <a:t>tf-idf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Представьте </a:t>
            </a:r>
            <a:r>
              <a:rPr lang="ru-RU" sz="2400" dirty="0"/>
              <a:t>каждый документ в виде взвешенного вектора </a:t>
            </a:r>
            <a:r>
              <a:rPr lang="ru-RU" sz="2400" dirty="0" err="1" smtClean="0"/>
              <a:t>tf-idf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Вычислите </a:t>
            </a:r>
            <a:r>
              <a:rPr lang="ru-RU" sz="2400" dirty="0"/>
              <a:t>показатель </a:t>
            </a:r>
            <a:r>
              <a:rPr lang="ru-RU" sz="2400" dirty="0" err="1"/>
              <a:t>косинусоидального</a:t>
            </a:r>
            <a:r>
              <a:rPr lang="ru-RU" sz="2400" dirty="0"/>
              <a:t> сходства для вектора запроса и каждого вектора </a:t>
            </a:r>
            <a:r>
              <a:rPr lang="ru-RU" sz="2400" dirty="0" smtClean="0"/>
              <a:t>документа</a:t>
            </a:r>
          </a:p>
          <a:p>
            <a:pPr marL="0" indent="0">
              <a:buNone/>
            </a:pPr>
            <a:r>
              <a:rPr lang="ru-RU" sz="2400" dirty="0" smtClean="0"/>
              <a:t>Ранжируйте </a:t>
            </a:r>
            <a:r>
              <a:rPr lang="ru-RU" sz="2400" dirty="0"/>
              <a:t>документы в соответствии с запросом по </a:t>
            </a:r>
            <a:r>
              <a:rPr lang="ru-RU" sz="2400" dirty="0" smtClean="0"/>
              <a:t>баллам</a:t>
            </a:r>
          </a:p>
          <a:p>
            <a:pPr marL="0" indent="0">
              <a:buNone/>
            </a:pPr>
            <a:r>
              <a:rPr lang="ru-RU" sz="2400" dirty="0" smtClean="0"/>
              <a:t>Верните </a:t>
            </a:r>
            <a:r>
              <a:rPr lang="ru-RU" sz="2400" dirty="0"/>
              <a:t>пользователю максимальное значение K (например, K = 10)</a:t>
            </a: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ru-RU" noProof="0" smtClean="0"/>
              <a:pPr rtl="0"/>
              <a:t>46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0911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">
            <a:extLst>
              <a:ext uri="{FF2B5EF4-FFF2-40B4-BE49-F238E27FC236}">
                <a16:creationId xmlns:a16="http://schemas.microsoft.com/office/drawing/2014/main" id="{C4330FBA-FEA8-B941-8864-B3DEDDE80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8" name="Надпись 37" descr="Акцент для блока заголовка">
            <a:extLst>
              <a:ext uri="{FF2B5EF4-FFF2-40B4-BE49-F238E27FC236}">
                <a16:creationId xmlns:a16="http://schemas.microsoft.com/office/drawing/2014/main" id="{B231FB9C-F234-41D0-A4CE-8C29A5F2F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54303" y="3842399"/>
            <a:ext cx="846997" cy="2200275"/>
          </a:xfrm>
          <a:custGeom>
            <a:avLst/>
            <a:gdLst>
              <a:gd name="connsiteX0" fmla="*/ 99480 w 846997"/>
              <a:gd name="connsiteY0" fmla="*/ 0 h 2200275"/>
              <a:gd name="connsiteX1" fmla="*/ 846997 w 846997"/>
              <a:gd name="connsiteY1" fmla="*/ 0 h 2200275"/>
              <a:gd name="connsiteX2" fmla="*/ 846997 w 846997"/>
              <a:gd name="connsiteY2" fmla="*/ 2200275 h 2200275"/>
              <a:gd name="connsiteX3" fmla="*/ 99480 w 846997"/>
              <a:gd name="connsiteY3" fmla="*/ 2200275 h 2200275"/>
              <a:gd name="connsiteX4" fmla="*/ 0 w 846997"/>
              <a:gd name="connsiteY4" fmla="*/ 2099942 h 2200275"/>
              <a:gd name="connsiteX5" fmla="*/ 0 w 846997"/>
              <a:gd name="connsiteY5" fmla="*/ 100333 h 2200275"/>
              <a:gd name="connsiteX6" fmla="*/ 99480 w 846997"/>
              <a:gd name="connsiteY6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997" h="2200275">
                <a:moveTo>
                  <a:pt x="99480" y="0"/>
                </a:moveTo>
                <a:lnTo>
                  <a:pt x="846997" y="0"/>
                </a:lnTo>
                <a:lnTo>
                  <a:pt x="846997" y="2200275"/>
                </a:lnTo>
                <a:lnTo>
                  <a:pt x="99480" y="2200275"/>
                </a:lnTo>
                <a:cubicBezTo>
                  <a:pt x="44539" y="2200275"/>
                  <a:pt x="0" y="2155354"/>
                  <a:pt x="0" y="2099942"/>
                </a:cubicBezTo>
                <a:lnTo>
                  <a:pt x="0" y="100333"/>
                </a:lnTo>
                <a:cubicBezTo>
                  <a:pt x="0" y="44921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35" name="Равнобедренный треугольник 34" descr="Тень для блока заголовка">
            <a:extLst>
              <a:ext uri="{FF2B5EF4-FFF2-40B4-BE49-F238E27FC236}">
                <a16:creationId xmlns:a16="http://schemas.microsoft.com/office/drawing/2014/main" id="{FE193317-B8BD-46CA-B0A6-8A7511B086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59065" y="5556894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2" name="Полилиния 5" descr="Сплошной контрастный блок">
            <a:extLst>
              <a:ext uri="{FF2B5EF4-FFF2-40B4-BE49-F238E27FC236}">
                <a16:creationId xmlns:a16="http://schemas.microsoft.com/office/drawing/2014/main" id="{85E0D4E1-E389-4671-B0E7-165A10A054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257349" y="2355010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33" name="Полилиния 5" descr="Пустой контрастный блок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dirty="0"/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7C11A64B-7EA5-442C-8405-73273A533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Спасибо за внимание!</a:t>
            </a:r>
          </a:p>
        </p:txBody>
      </p:sp>
      <p:pic>
        <p:nvPicPr>
          <p:cNvPr id="8" name="Графический объект 7" descr="Пользователь" title="Значок — имя докладчика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678512" y="3859066"/>
            <a:ext cx="218900" cy="2189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ru-RU" sz="1800" dirty="0" smtClean="0"/>
              <a:t>Сергей Ткаченко</a:t>
            </a:r>
            <a:endParaRPr lang="ru-RU" sz="1800" dirty="0"/>
          </a:p>
        </p:txBody>
      </p:sp>
      <p:pic>
        <p:nvPicPr>
          <p:cNvPr id="9" name="Графический объект 8" descr="Конверт" title="Значок — адрес электронной почты докладчика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678512" y="4253359"/>
            <a:ext cx="218900" cy="21890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4849" y="4246905"/>
            <a:ext cx="3521514" cy="288000"/>
          </a:xfrm>
        </p:spPr>
        <p:txBody>
          <a:bodyPr rtlCol="0"/>
          <a:lstStyle/>
          <a:p>
            <a:pPr rtl="0"/>
            <a:r>
              <a:rPr lang="en-US" sz="1800" dirty="0" err="1" smtClean="0"/>
              <a:t>SNTkachenko</a:t>
            </a:r>
            <a:r>
              <a:rPr lang="ru-RU" sz="1800" dirty="0" smtClean="0"/>
              <a:t>@</a:t>
            </a:r>
            <a:r>
              <a:rPr lang="en-US" sz="1800" dirty="0" err="1" smtClean="0"/>
              <a:t>kantiana</a:t>
            </a:r>
            <a:r>
              <a:rPr lang="ru-RU" sz="1800" dirty="0" smtClean="0"/>
              <a:t>.</a:t>
            </a:r>
            <a:r>
              <a:rPr lang="en-US" sz="1800" dirty="0" err="1" smtClean="0"/>
              <a:t>ru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552_TF16411253.potx" id="{484AC4F0-DFB1-44B1-A48A-4A4E5B9BAE55}" vid="{642D7752-446B-4E16-8C1E-EACC99EB30B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4F06F66-218D-4D1C-873A-158A1848B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8A50AA-654B-45CA-B6AD-FDA9E9535EF9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b0879af-3eba-417a-a55a-ffe6dcd6ca77"/>
    <ds:schemaRef ds:uri="6dc4bcd6-49db-4c07-9060-8acfc67cef9f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Геометрическая презентация</Template>
  <TotalTime>0</TotalTime>
  <Words>2258</Words>
  <Application>Microsoft Office PowerPoint</Application>
  <PresentationFormat>Широкоэкранный</PresentationFormat>
  <Paragraphs>432</Paragraphs>
  <Slides>47</Slides>
  <Notes>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4</vt:i4>
      </vt:variant>
      <vt:variant>
        <vt:lpstr>Заголовки слайдов</vt:lpstr>
      </vt:variant>
      <vt:variant>
        <vt:i4>47</vt:i4>
      </vt:variant>
    </vt:vector>
  </HeadingPairs>
  <TitlesOfParts>
    <vt:vector size="65" baseType="lpstr">
      <vt:lpstr>ＭＳ Ｐゴシック</vt:lpstr>
      <vt:lpstr>Arial</vt:lpstr>
      <vt:lpstr>Arial Unicode MS</vt:lpstr>
      <vt:lpstr>Calibri</vt:lpstr>
      <vt:lpstr>Calibri Light</vt:lpstr>
      <vt:lpstr>Corbel</vt:lpstr>
      <vt:lpstr>Courier New</vt:lpstr>
      <vt:lpstr>Lucida Sans</vt:lpstr>
      <vt:lpstr>Lucida Sans Unicode</vt:lpstr>
      <vt:lpstr>Palatino Linotype</vt:lpstr>
      <vt:lpstr>Symbol</vt:lpstr>
      <vt:lpstr>Times New Roman</vt:lpstr>
      <vt:lpstr>Wingdings</vt:lpstr>
      <vt:lpstr>Тема Office</vt:lpstr>
      <vt:lpstr>Microsoft Equation</vt:lpstr>
      <vt:lpstr>Worksheet</vt:lpstr>
      <vt:lpstr>Microsoft Equation 3.0</vt:lpstr>
      <vt:lpstr>Microsoft Excel 97 - 2004 Worksheet</vt:lpstr>
      <vt:lpstr>TF-IDF</vt:lpstr>
      <vt:lpstr>В предыдущей лекции…</vt:lpstr>
      <vt:lpstr>Презентация PowerPoint</vt:lpstr>
      <vt:lpstr>Ранжированный поиск</vt:lpstr>
      <vt:lpstr>Ранжированный поиск</vt:lpstr>
      <vt:lpstr>Проблема булевого поиска: Изобилие или голод (метафора)</vt:lpstr>
      <vt:lpstr>Модели ранжированного поиска</vt:lpstr>
      <vt:lpstr>Модели ранжированного поиска</vt:lpstr>
      <vt:lpstr>Ранжирование: Решение проблемы изобилия или голода</vt:lpstr>
      <vt:lpstr>Основы ранжированной выборки</vt:lpstr>
      <vt:lpstr>Баллы соответствия запроса и документа</vt:lpstr>
      <vt:lpstr>Первый вариант: Коэффициент Жаккара</vt:lpstr>
      <vt:lpstr>Примеры вычисления коэффициента Жаккара</vt:lpstr>
      <vt:lpstr>Проблемы с использованием коэффициента Жаккара</vt:lpstr>
      <vt:lpstr>Бинарная матрица инцидентности терм-документа</vt:lpstr>
      <vt:lpstr>Матрицы подсчета частоты терминов</vt:lpstr>
      <vt:lpstr>Модель мешка слов</vt:lpstr>
      <vt:lpstr>Частота термина TF</vt:lpstr>
      <vt:lpstr>Логарифмически взвешенная частота</vt:lpstr>
      <vt:lpstr>Document frequency (Частота документа)</vt:lpstr>
      <vt:lpstr>Document frequency (Частота документа)</vt:lpstr>
      <vt:lpstr>Обратная частота документа IDF</vt:lpstr>
      <vt:lpstr>Обратная частота документа IDF</vt:lpstr>
      <vt:lpstr>Обратная частота документа IDF</vt:lpstr>
      <vt:lpstr>Влияние показателя IDF на ранжирование</vt:lpstr>
      <vt:lpstr>tf-idf</vt:lpstr>
      <vt:lpstr>Оценка документа по запросу</vt:lpstr>
      <vt:lpstr>Бинарная → счетная → весовая матрица</vt:lpstr>
      <vt:lpstr>Документы в виде векторов</vt:lpstr>
      <vt:lpstr>Запросы в виде векторов</vt:lpstr>
      <vt:lpstr>Формализация близости векторного пространства</vt:lpstr>
      <vt:lpstr>Почему расстояние — плохая идея</vt:lpstr>
      <vt:lpstr>Используем угол вместо расстояния</vt:lpstr>
      <vt:lpstr>Переходим от углов к косинусам</vt:lpstr>
      <vt:lpstr>Переходим от углов к косинусам</vt:lpstr>
      <vt:lpstr>Нормализация длины</vt:lpstr>
      <vt:lpstr>Косинус (запрос, документ)</vt:lpstr>
      <vt:lpstr>Косинус для векторов, нормализованных по длине</vt:lpstr>
      <vt:lpstr>Пример косинусного сходства</vt:lpstr>
      <vt:lpstr>Косинусное сходство между 3 документами</vt:lpstr>
      <vt:lpstr>Косинусное сходство между 3 документами</vt:lpstr>
      <vt:lpstr>Типовой алгоритм</vt:lpstr>
      <vt:lpstr>Взвешивание tf-idf имеет множество вариантов</vt:lpstr>
      <vt:lpstr>Весовые коэффициенты могут отличаться в зависимости от запросов и документов</vt:lpstr>
      <vt:lpstr>Пример tf-idf: lnc.ltc</vt:lpstr>
      <vt:lpstr>Ранжирование в векторном пространстве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2025-08-26T15:19:12Z</dcterms:created>
  <dcterms:modified xsi:type="dcterms:W3CDTF">2026-01-27T12:20:43Z</dcterms:modified>
</cp:coreProperties>
</file>