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42"/>
  </p:notesMasterIdLst>
  <p:handoutMasterIdLst>
    <p:handoutMasterId r:id="rId43"/>
  </p:handoutMasterIdLst>
  <p:sldIdLst>
    <p:sldId id="282" r:id="rId4"/>
    <p:sldId id="299" r:id="rId5"/>
    <p:sldId id="400" r:id="rId6"/>
    <p:sldId id="437" r:id="rId7"/>
    <p:sldId id="401" r:id="rId8"/>
    <p:sldId id="421" r:id="rId9"/>
    <p:sldId id="303" r:id="rId10"/>
    <p:sldId id="423" r:id="rId11"/>
    <p:sldId id="363" r:id="rId12"/>
    <p:sldId id="365" r:id="rId13"/>
    <p:sldId id="366" r:id="rId14"/>
    <p:sldId id="438" r:id="rId15"/>
    <p:sldId id="368" r:id="rId16"/>
    <p:sldId id="370" r:id="rId17"/>
    <p:sldId id="373" r:id="rId18"/>
    <p:sldId id="376" r:id="rId19"/>
    <p:sldId id="378" r:id="rId20"/>
    <p:sldId id="379" r:id="rId21"/>
    <p:sldId id="380" r:id="rId22"/>
    <p:sldId id="427" r:id="rId23"/>
    <p:sldId id="377" r:id="rId24"/>
    <p:sldId id="385" r:id="rId25"/>
    <p:sldId id="387" r:id="rId26"/>
    <p:sldId id="439" r:id="rId27"/>
    <p:sldId id="430" r:id="rId28"/>
    <p:sldId id="440" r:id="rId29"/>
    <p:sldId id="441" r:id="rId30"/>
    <p:sldId id="431" r:id="rId31"/>
    <p:sldId id="443" r:id="rId32"/>
    <p:sldId id="442" r:id="rId33"/>
    <p:sldId id="402" r:id="rId34"/>
    <p:sldId id="444" r:id="rId35"/>
    <p:sldId id="433" r:id="rId36"/>
    <p:sldId id="445" r:id="rId37"/>
    <p:sldId id="434" r:id="rId38"/>
    <p:sldId id="404" r:id="rId39"/>
    <p:sldId id="435" r:id="rId40"/>
    <p:sldId id="296" r:id="rId41"/>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E25E649-3F16-4E02-A733-19D2CDBF48F0}">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31" autoAdjust="0"/>
  </p:normalViewPr>
  <p:slideViewPr>
    <p:cSldViewPr snapToGrid="0">
      <p:cViewPr varScale="1">
        <p:scale>
          <a:sx n="111" d="100"/>
          <a:sy n="111" d="100"/>
        </p:scale>
        <p:origin x="456" y="11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ableStyles" Target="tableStyles.xml"/><Relationship Id="rId68"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F8DD750-E9C8-498E-B02F-A465CB2BB798}" type="datetime1">
              <a:rPr lang="ru-RU" smtClean="0"/>
              <a:t>09.02.2026</a:t>
            </a:fld>
            <a:endParaRPr lang="ru-RU" dirty="0"/>
          </a:p>
        </p:txBody>
      </p:sp>
      <p:sp>
        <p:nvSpPr>
          <p:cNvPr id="4" name="Нижний колонтитул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ru-RU" smtClean="0"/>
              <a:t>‹#›</a:t>
            </a:fld>
            <a:endParaRPr lang="ru-RU"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7C6E7-B645-4B70-AC63-7A575D94CEB1}" type="datetime1">
              <a:rPr lang="ru-RU" smtClean="0"/>
              <a:pPr/>
              <a:t>09.02.2026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ru-RU" noProof="0" smtClean="0"/>
              <a:t>‹#›</a:t>
            </a:fld>
            <a:endParaRPr lang="ru-RU"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1</a:t>
            </a:fld>
            <a:endParaRPr lang="ru-RU" dirty="0"/>
          </a:p>
        </p:txBody>
      </p:sp>
    </p:spTree>
    <p:extLst>
      <p:ext uri="{BB962C8B-B14F-4D97-AF65-F5344CB8AC3E}">
        <p14:creationId xmlns:p14="http://schemas.microsoft.com/office/powerpoint/2010/main" val="1383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pPr rtl="0"/>
            <a:fld id="{8530193B-564F-4854-8A52-728F3FB19C85}" type="slidenum">
              <a:rPr lang="ru-RU" smtClean="0"/>
              <a:t>38</a:t>
            </a:fld>
            <a:endParaRPr lang="ru-RU" dirty="0"/>
          </a:p>
        </p:txBody>
      </p:sp>
    </p:spTree>
    <p:extLst>
      <p:ext uri="{BB962C8B-B14F-4D97-AF65-F5344CB8AC3E}">
        <p14:creationId xmlns:p14="http://schemas.microsoft.com/office/powerpoint/2010/main" val="285592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5" name="Подзаголовок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6" name="Номер слайда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7" name="Нижний колонтитул 6">
            <a:extLst>
              <a:ext uri="{FF2B5EF4-FFF2-40B4-BE49-F238E27FC236}">
                <a16:creationId xmlns:a16="http://schemas.microsoft.com/office/drawing/2014/main" id="{2ED798F6-1F12-46CE-9AFD-CC66555A191D}"/>
              </a:ext>
            </a:extLst>
          </p:cNvPr>
          <p:cNvSpPr>
            <a:spLocks noGrp="1"/>
          </p:cNvSpPr>
          <p:nvPr>
            <p:ph type="ftr" sz="quarter" idx="34"/>
          </p:nvPr>
        </p:nvSpPr>
        <p:spPr/>
        <p:txBody>
          <a:bodyPr rtlCol="0"/>
          <a:lstStyle/>
          <a:p>
            <a:pPr rtl="0"/>
            <a:r>
              <a:rPr lang="ru-RU" noProof="0" dirty="0"/>
              <a:t>Добавить нижний колонтитул</a:t>
            </a:r>
          </a:p>
        </p:txBody>
      </p:sp>
    </p:spTree>
    <p:extLst>
      <p:ext uri="{BB962C8B-B14F-4D97-AF65-F5344CB8AC3E}">
        <p14:creationId xmlns:p14="http://schemas.microsoft.com/office/powerpoint/2010/main" val="150585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Титульный слайд">
    <p:spTree>
      <p:nvGrpSpPr>
        <p:cNvPr id="1" name=""/>
        <p:cNvGrpSpPr/>
        <p:nvPr/>
      </p:nvGrpSpPr>
      <p:grpSpPr>
        <a:xfrm>
          <a:off x="0" y="0"/>
          <a:ext cx="0" cy="0"/>
          <a:chOff x="0" y="0"/>
          <a:chExt cx="0" cy="0"/>
        </a:xfrm>
      </p:grpSpPr>
      <p:sp>
        <p:nvSpPr>
          <p:cNvPr id="21" name="Рисунок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название презентации</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54517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2">
    <p:spTree>
      <p:nvGrpSpPr>
        <p:cNvPr id="1" name=""/>
        <p:cNvGrpSpPr/>
        <p:nvPr/>
      </p:nvGrpSpPr>
      <p:grpSpPr>
        <a:xfrm>
          <a:off x="0" y="0"/>
          <a:ext cx="0" cy="0"/>
          <a:chOff x="0" y="0"/>
          <a:chExt cx="0" cy="0"/>
        </a:xfrm>
      </p:grpSpPr>
      <p:sp>
        <p:nvSpPr>
          <p:cNvPr id="12" name="Рисунок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rtlCol="0">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Щелкните, чтобы изменить заголовок слайда-разделителя</a:t>
            </a:r>
          </a:p>
        </p:txBody>
      </p:sp>
      <p:sp>
        <p:nvSpPr>
          <p:cNvPr id="3" name="Подзаголовок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rtlCol="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smtClean="0"/>
              <a:t>Образец подзаголовка</a:t>
            </a:r>
            <a:endParaRPr lang="ru-RU" noProof="0" dirty="0"/>
          </a:p>
        </p:txBody>
      </p:sp>
      <p:sp>
        <p:nvSpPr>
          <p:cNvPr id="4" name="Нижний колонтитул 3">
            <a:extLst>
              <a:ext uri="{FF2B5EF4-FFF2-40B4-BE49-F238E27FC236}">
                <a16:creationId xmlns:a16="http://schemas.microsoft.com/office/drawing/2014/main" id="{734B1E83-6080-4D35-A216-8E5C399023B2}"/>
              </a:ext>
            </a:extLst>
          </p:cNvPr>
          <p:cNvSpPr>
            <a:spLocks noGrp="1"/>
          </p:cNvSpPr>
          <p:nvPr>
            <p:ph type="ftr" sz="quarter" idx="11"/>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62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1">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41629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Объект-фотография 3">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
        <p:nvSpPr>
          <p:cNvPr id="8" name="Рисунок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9" name="Рисунок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Tree>
    <p:extLst>
      <p:ext uri="{BB962C8B-B14F-4D97-AF65-F5344CB8AC3E}">
        <p14:creationId xmlns:p14="http://schemas.microsoft.com/office/powerpoint/2010/main" val="282955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10" name="Полилиния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1" name="Полилиния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3" name="Полилиния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4" name="Полилиния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15" name="Полилиния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noProof="0" dirty="0"/>
          </a:p>
        </p:txBody>
      </p:sp>
      <p:sp>
        <p:nvSpPr>
          <p:cNvPr id="2" name="Заголовок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Сравнение слева — заполнитель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2" name="Сравнение слева — заполнитель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rtlCol="0"/>
          <a:lstStyle>
            <a:lvl1pPr marL="0" indent="0">
              <a:buNone/>
              <a:defRPr sz="2400" b="1"/>
            </a:lvl1pPr>
          </a:lstStyle>
          <a:p>
            <a:pPr lvl="0" rtl="0"/>
            <a:r>
              <a:rPr lang="ru-RU" noProof="0" smtClean="0"/>
              <a:t>Образец текста</a:t>
            </a:r>
          </a:p>
        </p:txBody>
      </p:sp>
      <p:sp>
        <p:nvSpPr>
          <p:cNvPr id="8" name="Текст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Большое фото">
    <p:spTree>
      <p:nvGrpSpPr>
        <p:cNvPr id="1" name=""/>
        <p:cNvGrpSpPr/>
        <p:nvPr/>
      </p:nvGrpSpPr>
      <p:grpSpPr>
        <a:xfrm>
          <a:off x="0" y="0"/>
          <a:ext cx="0" cy="0"/>
          <a:chOff x="0" y="0"/>
          <a:chExt cx="0" cy="0"/>
        </a:xfrm>
      </p:grpSpPr>
      <p:sp>
        <p:nvSpPr>
          <p:cNvPr id="7" name="Рисунок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свое фото</a:t>
            </a:r>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2" name="Номер слайда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
        <p:nvSpPr>
          <p:cNvPr id="6" name="Заголовок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rtlCol="0" anchor="t"/>
          <a:lstStyle>
            <a:lvl1pPr algn="l">
              <a:lnSpc>
                <a:spcPct val="100000"/>
              </a:lnSpc>
              <a:defRPr sz="1800" b="0" spc="0">
                <a:solidFill>
                  <a:schemeClr val="bg1">
                    <a:lumMod val="95000"/>
                  </a:schemeClr>
                </a:solidFill>
                <a:latin typeface="+mn-lt"/>
              </a:defRPr>
            </a:lvl1pPr>
          </a:lstStyle>
          <a:p>
            <a:pPr rtl="0"/>
            <a:r>
              <a:rPr lang="ru-RU" noProof="0" dirty="0"/>
              <a:t>Введите подпись</a:t>
            </a:r>
          </a:p>
        </p:txBody>
      </p:sp>
    </p:spTree>
    <p:extLst>
      <p:ext uri="{BB962C8B-B14F-4D97-AF65-F5344CB8AC3E}">
        <p14:creationId xmlns:p14="http://schemas.microsoft.com/office/powerpoint/2010/main" val="198778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Слайд с благодарностью">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4" name="Прямоугольник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2" name="Рисунок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rtlCol="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rtlCol="0" anchor="t"/>
          <a:lstStyle>
            <a:lvl1pPr algn="l">
              <a:lnSpc>
                <a:spcPts val="4000"/>
              </a:lnSpc>
              <a:defRPr sz="3800" b="1" spc="-300">
                <a:solidFill>
                  <a:schemeClr val="bg1">
                    <a:lumMod val="95000"/>
                  </a:schemeClr>
                </a:solidFill>
              </a:defRPr>
            </a:lvl1pPr>
          </a:lstStyle>
          <a:p>
            <a:pPr rtl="0"/>
            <a:r>
              <a:rPr lang="ru-RU" noProof="0" dirty="0"/>
              <a:t>Спасибо за внимание!</a:t>
            </a:r>
          </a:p>
        </p:txBody>
      </p:sp>
      <p:sp>
        <p:nvSpPr>
          <p:cNvPr id="7" name="Текст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Полное имя</a:t>
            </a:r>
          </a:p>
        </p:txBody>
      </p:sp>
      <p:sp>
        <p:nvSpPr>
          <p:cNvPr id="8" name="Текст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Номер телефона</a:t>
            </a:r>
          </a:p>
        </p:txBody>
      </p:sp>
      <p:sp>
        <p:nvSpPr>
          <p:cNvPr id="9" name="Текст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Электронная почта или контакт в социальной сети</a:t>
            </a:r>
          </a:p>
        </p:txBody>
      </p:sp>
      <p:sp>
        <p:nvSpPr>
          <p:cNvPr id="10" name="Текст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rtlCol="0"/>
          <a:lstStyle>
            <a:lvl1pPr marL="0" indent="0">
              <a:buNone/>
              <a:defRPr sz="1400">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Веб-сайт компании</a:t>
            </a:r>
          </a:p>
        </p:txBody>
      </p:sp>
    </p:spTree>
    <p:extLst>
      <p:ext uri="{BB962C8B-B14F-4D97-AF65-F5344CB8AC3E}">
        <p14:creationId xmlns:p14="http://schemas.microsoft.com/office/powerpoint/2010/main" val="1632891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6" name="Текст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столб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9" name="Подзаголовок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1" name="Текст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столбцов">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3" name="Текст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5" name="Текст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17" name="Текст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3" name="Номер слайда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5" name="Прямоугольник: Скругленные углы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9" name="Прямоугольник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15" name="Прямоугольник 14">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ru-RU" noProof="0" dirty="0"/>
              <a:t>Щелкните, чтобы изменить заголовок</a:t>
            </a:r>
          </a:p>
        </p:txBody>
      </p:sp>
      <p:sp>
        <p:nvSpPr>
          <p:cNvPr id="3" name="Текст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Нижний колонтитул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1483"/>
            <a:ext cx="5484930" cy="20153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ru-RU" noProof="0" dirty="0"/>
              <a:t>Добавить нижний колонтитул</a:t>
            </a:r>
          </a:p>
        </p:txBody>
      </p:sp>
      <p:sp>
        <p:nvSpPr>
          <p:cNvPr id="6" name="Номер слайда 5">
            <a:extLst>
              <a:ext uri="{FF2B5EF4-FFF2-40B4-BE49-F238E27FC236}">
                <a16:creationId xmlns:a16="http://schemas.microsoft.com/office/drawing/2014/main" id="{5ECA3099-A94F-4C3E-BC29-780EDD38F722}"/>
              </a:ext>
            </a:extLst>
          </p:cNvPr>
          <p:cNvSpPr>
            <a:spLocks noGrp="1"/>
          </p:cNvSpPr>
          <p:nvPr>
            <p:ph type="sldNum" sz="quarter" idx="4"/>
          </p:nvPr>
        </p:nvSpPr>
        <p:spPr>
          <a:xfrm>
            <a:off x="11727656" y="6277243"/>
            <a:ext cx="464344" cy="400188"/>
          </a:xfrm>
          <a:prstGeom prst="roundRect">
            <a:avLst>
              <a:gd name="adj" fmla="val 9526"/>
            </a:avLst>
          </a:prstGeom>
          <a:gradFill>
            <a:gsLst>
              <a:gs pos="20000">
                <a:schemeClr val="tx1">
                  <a:lumMod val="75000"/>
                  <a:lumOff val="25000"/>
                </a:schemeClr>
              </a:gs>
              <a:gs pos="82000">
                <a:schemeClr val="tx1"/>
              </a:gs>
            </a:gsLst>
            <a:lin ang="3000000" scaled="0"/>
          </a:gradFill>
          <a:ln w="6350">
            <a:solidFill>
              <a:schemeClr val="accent1"/>
            </a:solidFill>
          </a:ln>
        </p:spPr>
        <p:txBody>
          <a:bodyPr vert="horz" lIns="0" tIns="0" rIns="0" bIns="0" rtlCol="0" anchor="ctr"/>
          <a:lstStyle>
            <a:lvl1pPr algn="ctr">
              <a:defRPr sz="1200" i="1">
                <a:solidFill>
                  <a:schemeClr val="bg1"/>
                </a:solidFill>
                <a:latin typeface="Times New Roman" panose="02020603050405020304" pitchFamily="18" charset="0"/>
                <a:cs typeface="Times New Roman" panose="02020603050405020304" pitchFamily="18" charset="0"/>
              </a:defRPr>
            </a:lvl1pPr>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54" r:id="rId1"/>
    <p:sldLayoutId id="2147483649" r:id="rId2"/>
    <p:sldLayoutId id="2147483662" r:id="rId3"/>
    <p:sldLayoutId id="2147483663" r:id="rId4"/>
    <p:sldLayoutId id="2147483658" r:id="rId5"/>
    <p:sldLayoutId id="2147483665" r:id="rId6"/>
    <p:sldLayoutId id="2147483666" r:id="rId7"/>
    <p:sldLayoutId id="2147483659" r:id="rId8"/>
    <p:sldLayoutId id="2147483660" r:id="rId9"/>
    <p:sldLayoutId id="2147483664" r:id="rId10"/>
    <p:sldLayoutId id="2147483650" r:id="rId11"/>
    <p:sldLayoutId id="2147483652" r:id="rId12"/>
    <p:sldLayoutId id="2147483656" r:id="rId13"/>
    <p:sldLayoutId id="2147483657" r:id="rId14"/>
    <p:sldLayoutId id="2147483655"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1.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1.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1.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Рисунок 6" descr="Изображение слайда">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25" name="Надпись 24" descr="Акцент слайда для поля заголовка">
            <a:extLst>
              <a:ext uri="{FF2B5EF4-FFF2-40B4-BE49-F238E27FC236}">
                <a16:creationId xmlns:a16="http://schemas.microsoft.com/office/drawing/2014/main" id="{7EF238CB-AB58-4787-8F9C-A1C16929A2FA}"/>
              </a:ext>
              <a:ext uri="{C183D7F6-B498-43B3-948B-1728B52AA6E4}">
                <adec:decorative xmlns:adec="http://schemas.microsoft.com/office/drawing/2017/decorative" xmlns="" val="1"/>
              </a:ext>
            </a:extLst>
          </p:cNvPr>
          <p:cNvSpPr txBox="1">
            <a:spLocks/>
          </p:cNvSpPr>
          <p:nvPr/>
        </p:nvSpPr>
        <p:spPr>
          <a:xfrm flipH="1">
            <a:off x="-1" y="3914775"/>
            <a:ext cx="1481849" cy="2200275"/>
          </a:xfrm>
          <a:custGeom>
            <a:avLst/>
            <a:gdLst>
              <a:gd name="connsiteX0" fmla="*/ 1494549 w 1494549"/>
              <a:gd name="connsiteY0" fmla="*/ 0 h 2200275"/>
              <a:gd name="connsiteX1" fmla="*/ 100333 w 1494549"/>
              <a:gd name="connsiteY1" fmla="*/ 0 h 2200275"/>
              <a:gd name="connsiteX2" fmla="*/ 0 w 1494549"/>
              <a:gd name="connsiteY2" fmla="*/ 100333 h 2200275"/>
              <a:gd name="connsiteX3" fmla="*/ 0 w 1494549"/>
              <a:gd name="connsiteY3" fmla="*/ 2099942 h 2200275"/>
              <a:gd name="connsiteX4" fmla="*/ 100333 w 1494549"/>
              <a:gd name="connsiteY4" fmla="*/ 2200275 h 2200275"/>
              <a:gd name="connsiteX5" fmla="*/ 1494549 w 1494549"/>
              <a:gd name="connsiteY5" fmla="*/ 2200275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4549" h="2200275">
                <a:moveTo>
                  <a:pt x="1494549" y="0"/>
                </a:moveTo>
                <a:lnTo>
                  <a:pt x="100333" y="0"/>
                </a:lnTo>
                <a:cubicBezTo>
                  <a:pt x="44921" y="0"/>
                  <a:pt x="0" y="44921"/>
                  <a:pt x="0" y="100333"/>
                </a:cubicBezTo>
                <a:lnTo>
                  <a:pt x="0" y="2099942"/>
                </a:lnTo>
                <a:cubicBezTo>
                  <a:pt x="0" y="2155354"/>
                  <a:pt x="44921" y="2200275"/>
                  <a:pt x="100333" y="2200275"/>
                </a:cubicBezTo>
                <a:lnTo>
                  <a:pt x="1494549" y="2200275"/>
                </a:ln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 name="Заголовок 2">
            <a:extLst>
              <a:ext uri="{FF2B5EF4-FFF2-40B4-BE49-F238E27FC236}">
                <a16:creationId xmlns:a16="http://schemas.microsoft.com/office/drawing/2014/main" id="{200B3D2B-613A-41BE-987D-E6A1324B456D}"/>
              </a:ext>
            </a:extLst>
          </p:cNvPr>
          <p:cNvSpPr>
            <a:spLocks noGrp="1"/>
          </p:cNvSpPr>
          <p:nvPr>
            <p:ph type="ctrTitle"/>
          </p:nvPr>
        </p:nvSpPr>
        <p:spPr>
          <a:xfrm>
            <a:off x="948293" y="3114635"/>
            <a:ext cx="4459766" cy="2514635"/>
          </a:xfrm>
          <a:gradFill>
            <a:gsLst>
              <a:gs pos="100000">
                <a:schemeClr val="tx1">
                  <a:lumMod val="95000"/>
                  <a:lumOff val="5000"/>
                </a:schemeClr>
              </a:gs>
              <a:gs pos="0">
                <a:schemeClr val="tx1">
                  <a:lumMod val="75000"/>
                  <a:lumOff val="25000"/>
                </a:schemeClr>
              </a:gs>
            </a:gsLst>
          </a:gradFill>
          <a:ln>
            <a:solidFill>
              <a:schemeClr val="bg1">
                <a:lumMod val="50000"/>
              </a:schemeClr>
            </a:solidFill>
          </a:ln>
        </p:spPr>
        <p:txBody>
          <a:bodyPr rtlCol="0"/>
          <a:lstStyle/>
          <a:p>
            <a:r>
              <a:rPr lang="ru-RU" dirty="0" smtClean="0"/>
              <a:t>Классификация текстов. Часть 2.</a:t>
            </a:r>
            <a:endParaRPr lang="ru-RU" sz="5000" dirty="0"/>
          </a:p>
        </p:txBody>
      </p:sp>
      <p:sp>
        <p:nvSpPr>
          <p:cNvPr id="4" name="Подзаголовок 3">
            <a:extLst>
              <a:ext uri="{FF2B5EF4-FFF2-40B4-BE49-F238E27FC236}">
                <a16:creationId xmlns:a16="http://schemas.microsoft.com/office/drawing/2014/main" id="{4772945D-CA91-4CFE-8EB7-941C7618C994}"/>
              </a:ext>
            </a:extLst>
          </p:cNvPr>
          <p:cNvSpPr>
            <a:spLocks noGrp="1"/>
          </p:cNvSpPr>
          <p:nvPr>
            <p:ph type="subTitle" idx="1"/>
          </p:nvPr>
        </p:nvSpPr>
        <p:spPr>
          <a:xfrm>
            <a:off x="1104420" y="4938518"/>
            <a:ext cx="4000500" cy="690752"/>
          </a:xfrm>
        </p:spPr>
        <p:txBody>
          <a:bodyPr rtlCol="0"/>
          <a:lstStyle/>
          <a:p>
            <a:r>
              <a:rPr lang="ru-RU" dirty="0" smtClean="0"/>
              <a:t>Основы обработки текстов</a:t>
            </a:r>
            <a:endParaRPr lang="ru-RU" dirty="0"/>
          </a:p>
        </p:txBody>
      </p:sp>
      <p:sp>
        <p:nvSpPr>
          <p:cNvPr id="20" name="Равнобедренный треугольник 19" descr="Тень на слайде для поля заголовка">
            <a:extLst>
              <a:ext uri="{FF2B5EF4-FFF2-40B4-BE49-F238E27FC236}">
                <a16:creationId xmlns:a16="http://schemas.microsoft.com/office/drawing/2014/main" id="{545D50A1-D634-4325-B06C-5450FDF7B818}"/>
              </a:ext>
              <a:ext uri="{C183D7F6-B498-43B3-948B-1728B52AA6E4}">
                <adec:decorative xmlns:adec="http://schemas.microsoft.com/office/drawing/2017/decorative" xmlns=""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Линейные классификаторы: какая гиперплоскость?</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a:t>
            </a:fld>
            <a:endParaRPr lang="ru-RU" noProof="0" dirty="0"/>
          </a:p>
        </p:txBody>
      </p:sp>
      <p:sp>
        <p:nvSpPr>
          <p:cNvPr id="4" name="Объект 3"/>
          <p:cNvSpPr>
            <a:spLocks noGrp="1"/>
          </p:cNvSpPr>
          <p:nvPr>
            <p:ph idx="1"/>
          </p:nvPr>
        </p:nvSpPr>
        <p:spPr>
          <a:xfrm>
            <a:off x="432000" y="1055716"/>
            <a:ext cx="8349691" cy="5135534"/>
          </a:xfrm>
        </p:spPr>
        <p:txBody>
          <a:bodyPr>
            <a:normAutofit fontScale="92500" lnSpcReduction="20000"/>
          </a:bodyPr>
          <a:lstStyle/>
          <a:p>
            <a:pPr marL="0" indent="0">
              <a:buNone/>
            </a:pPr>
            <a:r>
              <a:rPr lang="ru-RU" sz="3200" dirty="0" smtClean="0"/>
              <a:t>Существует </a:t>
            </a:r>
            <a:r>
              <a:rPr lang="ru-RU" sz="3200" dirty="0"/>
              <a:t>много возможных вариантов выбора </a:t>
            </a:r>
            <a:r>
              <a:rPr lang="ru-RU" sz="3200" dirty="0" smtClean="0"/>
              <a:t>коэффициентов </a:t>
            </a:r>
            <a:r>
              <a:rPr lang="en-US" altLang="ru-RU" sz="3200" i="1" dirty="0"/>
              <a:t>a, b, c</a:t>
            </a:r>
            <a:r>
              <a:rPr lang="ru-RU" sz="3200" dirty="0" smtClean="0"/>
              <a:t>. </a:t>
            </a:r>
          </a:p>
          <a:p>
            <a:pPr marL="0" indent="0">
              <a:buNone/>
            </a:pPr>
            <a:r>
              <a:rPr lang="ru-RU" sz="3200" dirty="0" smtClean="0"/>
              <a:t>Некоторые </a:t>
            </a:r>
            <a:r>
              <a:rPr lang="ru-RU" sz="3200" dirty="0"/>
              <a:t>методы находят разделяющую гиперплоскость, но не оптимальную (оптимальность определяется критерием ожидаемого качества).</a:t>
            </a:r>
          </a:p>
          <a:p>
            <a:pPr marL="0" indent="0">
              <a:buNone/>
            </a:pPr>
            <a:r>
              <a:rPr lang="ru-RU" sz="3200" dirty="0" smtClean="0"/>
              <a:t>Машина </a:t>
            </a:r>
            <a:r>
              <a:rPr lang="ru-RU" sz="3200" dirty="0"/>
              <a:t>опорных векторов (SVM) находит оптимальное решение:</a:t>
            </a:r>
          </a:p>
          <a:p>
            <a:pPr marL="0" indent="0">
              <a:buNone/>
            </a:pPr>
            <a:r>
              <a:rPr lang="ru-RU" sz="3200" dirty="0" smtClean="0"/>
              <a:t>Максимизирует </a:t>
            </a:r>
            <a:r>
              <a:rPr lang="ru-RU" sz="3200" dirty="0"/>
              <a:t>расстояние между гиперплоскостью и "проблемными точками", близкими к границе принятия решений</a:t>
            </a:r>
          </a:p>
          <a:p>
            <a:pPr marL="0" indent="0">
              <a:buNone/>
            </a:pPr>
            <a:r>
              <a:rPr lang="ru-RU" sz="3200" dirty="0"/>
              <a:t>Интуитивно понятно: если нет точек рядом с границей принятия решений, значит нет неопределенных классификационных решений.</a:t>
            </a:r>
          </a:p>
        </p:txBody>
      </p:sp>
      <p:pic>
        <p:nvPicPr>
          <p:cNvPr id="7" name="Picture 4" descr="prabhakarmanyhyperplan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346057" y="3334084"/>
            <a:ext cx="2667000" cy="2324100"/>
          </a:xfrm>
          <a:prstGeom prst="rect">
            <a:avLst/>
          </a:prstGeom>
          <a:noFill/>
        </p:spPr>
      </p:pic>
      <p:sp>
        <p:nvSpPr>
          <p:cNvPr id="8" name="Line 5"/>
          <p:cNvSpPr>
            <a:spLocks noChangeShapeType="1"/>
          </p:cNvSpPr>
          <p:nvPr/>
        </p:nvSpPr>
        <p:spPr bwMode="auto">
          <a:xfrm flipH="1" flipV="1">
            <a:off x="9184257" y="3334084"/>
            <a:ext cx="190500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9" name="Line 6"/>
          <p:cNvSpPr>
            <a:spLocks noChangeShapeType="1"/>
          </p:cNvSpPr>
          <p:nvPr/>
        </p:nvSpPr>
        <p:spPr bwMode="auto">
          <a:xfrm flipH="1">
            <a:off x="9946257" y="3410284"/>
            <a:ext cx="304800" cy="2209800"/>
          </a:xfrm>
          <a:prstGeom prst="line">
            <a:avLst/>
          </a:prstGeom>
          <a:noFill/>
          <a:ln w="9525">
            <a:solidFill>
              <a:srgbClr val="A50021"/>
            </a:solidFill>
            <a:miter lim="800000"/>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10" name="AutoShape 7"/>
          <p:cNvSpPr>
            <a:spLocks noChangeArrowheads="1"/>
          </p:cNvSpPr>
          <p:nvPr/>
        </p:nvSpPr>
        <p:spPr bwMode="auto">
          <a:xfrm>
            <a:off x="8727057" y="1276684"/>
            <a:ext cx="2438400" cy="1905000"/>
          </a:xfrm>
          <a:prstGeom prst="wedgeRectCallout">
            <a:avLst>
              <a:gd name="adj1" fmla="val 2213"/>
              <a:gd name="adj2" fmla="val 77171"/>
            </a:avLst>
          </a:prstGeom>
          <a:solidFill>
            <a:schemeClr val="accent2"/>
          </a:solidFill>
          <a:ln w="9525">
            <a:solidFill>
              <a:schemeClr val="tx1"/>
            </a:solidFill>
            <a:miter lim="800000"/>
            <a:headEnd/>
            <a:tailEnd/>
          </a:ln>
        </p:spPr>
        <p:txBody>
          <a:bodyPr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lgn="ctr" eaLnBrk="1" hangingPunct="1"/>
            <a:r>
              <a:rPr lang="ru-RU" altLang="ru-RU" sz="2000" dirty="0" smtClean="0"/>
              <a:t>Данная линия представляет собой границу принятия решения</a:t>
            </a:r>
            <a:r>
              <a:rPr lang="en-US" altLang="ru-RU" sz="2000" dirty="0" smtClean="0"/>
              <a:t>:</a:t>
            </a:r>
          </a:p>
          <a:p>
            <a:pPr algn="ctr" eaLnBrk="1" hangingPunct="1"/>
            <a:r>
              <a:rPr lang="en-US" altLang="ru-RU" i="1" dirty="0" smtClean="0"/>
              <a:t>a</a:t>
            </a:r>
            <a:r>
              <a:rPr lang="en-US" altLang="ru-RU" i="1" dirty="0" smtClean="0">
                <a:solidFill>
                  <a:srgbClr val="990033"/>
                </a:solidFill>
              </a:rPr>
              <a:t>x</a:t>
            </a:r>
            <a:r>
              <a:rPr lang="en-US" altLang="ru-RU" i="1" dirty="0" smtClean="0"/>
              <a:t> </a:t>
            </a:r>
            <a:r>
              <a:rPr lang="en-US" altLang="ru-RU" dirty="0" smtClean="0"/>
              <a:t>+ </a:t>
            </a:r>
            <a:r>
              <a:rPr lang="en-US" altLang="ru-RU" i="1" dirty="0" smtClean="0"/>
              <a:t>b</a:t>
            </a:r>
            <a:r>
              <a:rPr lang="en-US" altLang="ru-RU" i="1" dirty="0" smtClean="0">
                <a:solidFill>
                  <a:srgbClr val="990033"/>
                </a:solidFill>
              </a:rPr>
              <a:t>y</a:t>
            </a:r>
            <a:r>
              <a:rPr lang="en-US" altLang="ru-RU" i="1" dirty="0" smtClean="0"/>
              <a:t> </a:t>
            </a:r>
            <a:r>
              <a:rPr lang="en-US" altLang="ru-RU" dirty="0" smtClean="0">
                <a:latin typeface="MS Gothic" panose="020B0609070205080204" pitchFamily="49" charset="-128"/>
                <a:ea typeface="MS Gothic" panose="020B0609070205080204" pitchFamily="49" charset="-128"/>
              </a:rPr>
              <a:t>−</a:t>
            </a:r>
            <a:r>
              <a:rPr lang="en-US" altLang="ru-RU" i="1" dirty="0" smtClean="0"/>
              <a:t> c </a:t>
            </a:r>
            <a:r>
              <a:rPr lang="en-US" altLang="ru-RU" dirty="0" smtClean="0">
                <a:sym typeface="Symbol" panose="05050102010706020507" pitchFamily="18" charset="2"/>
              </a:rPr>
              <a:t>= 0</a:t>
            </a:r>
            <a:endParaRPr lang="en-US" altLang="ru-RU" dirty="0"/>
          </a:p>
        </p:txBody>
      </p:sp>
    </p:spTree>
    <p:extLst>
      <p:ext uri="{BB962C8B-B14F-4D97-AF65-F5344CB8AC3E}">
        <p14:creationId xmlns:p14="http://schemas.microsoft.com/office/powerpoint/2010/main" val="3674420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smtClean="0"/>
              <a:t>Подключаем интуицию</a:t>
            </a:r>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a:buNone/>
            </a:pPr>
            <a:r>
              <a:rPr lang="ru-RU" sz="3200" dirty="0"/>
              <a:t>Если вам нужно установить </a:t>
            </a:r>
            <a:r>
              <a:rPr lang="ru-RU" sz="3200" dirty="0" smtClean="0"/>
              <a:t>максимально широкий разделитель между </a:t>
            </a:r>
            <a:r>
              <a:rPr lang="ru-RU" sz="3200" dirty="0"/>
              <a:t>классами, у вас будет меньше </a:t>
            </a:r>
            <a:r>
              <a:rPr lang="ru-RU" sz="3200" dirty="0" smtClean="0"/>
              <a:t>вариантов выбора</a:t>
            </a:r>
            <a:r>
              <a:rPr lang="ru-RU" sz="3200" dirty="0"/>
              <a:t>, и, следовательно, производительность модели будет </a:t>
            </a:r>
            <a:r>
              <a:rPr lang="ru-RU" sz="3200" dirty="0" smtClean="0"/>
              <a:t>уменьшена.</a:t>
            </a:r>
            <a:endParaRPr lang="ru-RU" sz="3200" dirty="0"/>
          </a:p>
        </p:txBody>
      </p:sp>
      <p:grpSp>
        <p:nvGrpSpPr>
          <p:cNvPr id="3" name="Группа 2"/>
          <p:cNvGrpSpPr/>
          <p:nvPr/>
        </p:nvGrpSpPr>
        <p:grpSpPr>
          <a:xfrm>
            <a:off x="3407434" y="2695843"/>
            <a:ext cx="4648200" cy="3581400"/>
            <a:chOff x="3407434" y="2695843"/>
            <a:chExt cx="4648200" cy="3581400"/>
          </a:xfrm>
        </p:grpSpPr>
        <p:sp>
          <p:nvSpPr>
            <p:cNvPr id="6" name="Oval 3"/>
            <p:cNvSpPr>
              <a:spLocks noChangeArrowheads="1"/>
            </p:cNvSpPr>
            <p:nvPr/>
          </p:nvSpPr>
          <p:spPr bwMode="auto">
            <a:xfrm>
              <a:off x="3712234" y="38388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7" name="Oval 4"/>
            <p:cNvSpPr>
              <a:spLocks noChangeArrowheads="1"/>
            </p:cNvSpPr>
            <p:nvPr/>
          </p:nvSpPr>
          <p:spPr bwMode="auto">
            <a:xfrm>
              <a:off x="6379234" y="429604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8" name="Oval 5"/>
            <p:cNvSpPr>
              <a:spLocks noChangeArrowheads="1"/>
            </p:cNvSpPr>
            <p:nvPr/>
          </p:nvSpPr>
          <p:spPr bwMode="auto">
            <a:xfrm>
              <a:off x="3864634" y="43722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Oval 6"/>
            <p:cNvSpPr>
              <a:spLocks noChangeArrowheads="1"/>
            </p:cNvSpPr>
            <p:nvPr/>
          </p:nvSpPr>
          <p:spPr bwMode="auto">
            <a:xfrm>
              <a:off x="4017034" y="54390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Oval 7"/>
            <p:cNvSpPr>
              <a:spLocks noChangeArrowheads="1"/>
            </p:cNvSpPr>
            <p:nvPr/>
          </p:nvSpPr>
          <p:spPr bwMode="auto">
            <a:xfrm>
              <a:off x="4931434" y="38388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Oval 8"/>
            <p:cNvSpPr>
              <a:spLocks noChangeArrowheads="1"/>
            </p:cNvSpPr>
            <p:nvPr/>
          </p:nvSpPr>
          <p:spPr bwMode="auto">
            <a:xfrm>
              <a:off x="3407434" y="48294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Oval 9"/>
            <p:cNvSpPr>
              <a:spLocks noChangeArrowheads="1"/>
            </p:cNvSpPr>
            <p:nvPr/>
          </p:nvSpPr>
          <p:spPr bwMode="auto">
            <a:xfrm>
              <a:off x="4474234" y="46008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Oval 10"/>
            <p:cNvSpPr>
              <a:spLocks noChangeArrowheads="1"/>
            </p:cNvSpPr>
            <p:nvPr/>
          </p:nvSpPr>
          <p:spPr bwMode="auto">
            <a:xfrm>
              <a:off x="5160034" y="42198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Oval 11"/>
            <p:cNvSpPr>
              <a:spLocks noChangeArrowheads="1"/>
            </p:cNvSpPr>
            <p:nvPr/>
          </p:nvSpPr>
          <p:spPr bwMode="auto">
            <a:xfrm>
              <a:off x="4779034" y="5439043"/>
              <a:ext cx="152400" cy="152400"/>
            </a:xfrm>
            <a:prstGeom prst="ellipse">
              <a:avLst/>
            </a:prstGeom>
            <a:solidFill>
              <a:srgbClr val="990033"/>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Oval 12"/>
            <p:cNvSpPr>
              <a:spLocks noChangeArrowheads="1"/>
            </p:cNvSpPr>
            <p:nvPr/>
          </p:nvSpPr>
          <p:spPr bwMode="auto">
            <a:xfrm>
              <a:off x="6684034" y="490564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Oval 13"/>
            <p:cNvSpPr>
              <a:spLocks noChangeArrowheads="1"/>
            </p:cNvSpPr>
            <p:nvPr/>
          </p:nvSpPr>
          <p:spPr bwMode="auto">
            <a:xfrm>
              <a:off x="6836434" y="368644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Oval 14"/>
            <p:cNvSpPr>
              <a:spLocks noChangeArrowheads="1"/>
            </p:cNvSpPr>
            <p:nvPr/>
          </p:nvSpPr>
          <p:spPr bwMode="auto">
            <a:xfrm>
              <a:off x="7903234" y="383884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Oval 15"/>
            <p:cNvSpPr>
              <a:spLocks noChangeArrowheads="1"/>
            </p:cNvSpPr>
            <p:nvPr/>
          </p:nvSpPr>
          <p:spPr bwMode="auto">
            <a:xfrm>
              <a:off x="7141234" y="399124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Rectangle 21"/>
            <p:cNvSpPr>
              <a:spLocks noChangeArrowheads="1"/>
            </p:cNvSpPr>
            <p:nvPr/>
          </p:nvSpPr>
          <p:spPr bwMode="auto">
            <a:xfrm>
              <a:off x="5388634" y="2848243"/>
              <a:ext cx="914400" cy="3429000"/>
            </a:xfrm>
            <a:prstGeom prst="rect">
              <a:avLst/>
            </a:prstGeom>
            <a:solidFill>
              <a:srgbClr val="00A000"/>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Rectangle 22"/>
            <p:cNvSpPr>
              <a:spLocks noChangeArrowheads="1"/>
            </p:cNvSpPr>
            <p:nvPr/>
          </p:nvSpPr>
          <p:spPr bwMode="auto">
            <a:xfrm rot="1200000">
              <a:off x="5388634" y="2772043"/>
              <a:ext cx="914400" cy="3429000"/>
            </a:xfrm>
            <a:prstGeom prst="rect">
              <a:avLst/>
            </a:prstGeom>
            <a:solidFill>
              <a:srgbClr val="00A000"/>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Rectangle 23"/>
            <p:cNvSpPr>
              <a:spLocks noChangeArrowheads="1"/>
            </p:cNvSpPr>
            <p:nvPr/>
          </p:nvSpPr>
          <p:spPr bwMode="auto">
            <a:xfrm rot="20400000">
              <a:off x="5464834" y="2695843"/>
              <a:ext cx="914400" cy="3429000"/>
            </a:xfrm>
            <a:prstGeom prst="rect">
              <a:avLst/>
            </a:prstGeom>
            <a:solidFill>
              <a:srgbClr val="00A000"/>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spTree>
    <p:extLst>
      <p:ext uri="{BB962C8B-B14F-4D97-AF65-F5344CB8AC3E}">
        <p14:creationId xmlns:p14="http://schemas.microsoft.com/office/powerpoint/2010/main" val="34188341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Машина опорных векторов (</a:t>
            </a:r>
            <a:r>
              <a:rPr lang="en-US" b="1" dirty="0"/>
              <a:t>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a:t>
            </a:fld>
            <a:endParaRPr lang="ru-RU" noProof="0" dirty="0"/>
          </a:p>
        </p:txBody>
      </p:sp>
      <p:sp>
        <p:nvSpPr>
          <p:cNvPr id="4" name="Объект 3"/>
          <p:cNvSpPr>
            <a:spLocks noGrp="1"/>
          </p:cNvSpPr>
          <p:nvPr>
            <p:ph idx="1"/>
          </p:nvPr>
        </p:nvSpPr>
        <p:spPr>
          <a:xfrm>
            <a:off x="432000" y="1055716"/>
            <a:ext cx="8349691" cy="5135534"/>
          </a:xfrm>
        </p:spPr>
        <p:txBody>
          <a:bodyPr>
            <a:normAutofit lnSpcReduction="10000"/>
          </a:bodyPr>
          <a:lstStyle/>
          <a:p>
            <a:pPr marL="0" indent="0">
              <a:buNone/>
            </a:pPr>
            <a:r>
              <a:rPr lang="ru-RU" sz="3200" dirty="0"/>
              <a:t>SVM максимизирует </a:t>
            </a:r>
            <a:r>
              <a:rPr lang="ru-RU" sz="3200" dirty="0" smtClean="0"/>
              <a:t>зазор </a:t>
            </a:r>
            <a:r>
              <a:rPr lang="ru-RU" sz="3200" dirty="0"/>
              <a:t>вокруг разделяющей гиперплоскости</a:t>
            </a:r>
          </a:p>
          <a:p>
            <a:pPr marL="0" indent="0">
              <a:buNone/>
            </a:pPr>
            <a:r>
              <a:rPr lang="ru-RU" sz="3200" dirty="0" smtClean="0"/>
              <a:t>Решение </a:t>
            </a:r>
            <a:r>
              <a:rPr lang="ru-RU" sz="3200" dirty="0"/>
              <a:t>зависит исключительно от подмножества тренировочных образцов, называемых опорными векторами</a:t>
            </a:r>
          </a:p>
          <a:p>
            <a:pPr marL="0" indent="0">
              <a:buNone/>
            </a:pPr>
            <a:r>
              <a:rPr lang="ru-RU" sz="3200" dirty="0"/>
              <a:t>Решение SVM является задачей квадратичного программирования</a:t>
            </a:r>
          </a:p>
          <a:p>
            <a:pPr marL="0" indent="0">
              <a:buNone/>
            </a:pPr>
            <a:r>
              <a:rPr lang="ru-RU" sz="3200" dirty="0"/>
              <a:t>Считается одним из наиболее успешных методов классификации текста*</a:t>
            </a:r>
          </a:p>
          <a:p>
            <a:pPr marL="0" indent="0">
              <a:buNone/>
            </a:pPr>
            <a:r>
              <a:rPr lang="ru-RU" sz="3200" dirty="0"/>
              <a:t>(*Другие дискриминационные методы часто показывают схожие результаты.)</a:t>
            </a:r>
            <a:endParaRPr lang="ru-RU" sz="3200" dirty="0"/>
          </a:p>
        </p:txBody>
      </p:sp>
      <p:grpSp>
        <p:nvGrpSpPr>
          <p:cNvPr id="56" name="Группа 55"/>
          <p:cNvGrpSpPr/>
          <p:nvPr/>
        </p:nvGrpSpPr>
        <p:grpSpPr>
          <a:xfrm>
            <a:off x="8846937" y="932372"/>
            <a:ext cx="2991025" cy="4160178"/>
            <a:chOff x="8846937" y="932372"/>
            <a:chExt cx="2991025" cy="4160178"/>
          </a:xfrm>
        </p:grpSpPr>
        <p:sp>
          <p:nvSpPr>
            <p:cNvPr id="11" name="Oval 4"/>
            <p:cNvSpPr>
              <a:spLocks noChangeArrowheads="1"/>
            </p:cNvSpPr>
            <p:nvPr/>
          </p:nvSpPr>
          <p:spPr bwMode="auto">
            <a:xfrm>
              <a:off x="10370937" y="18086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Oval 5"/>
            <p:cNvSpPr>
              <a:spLocks noChangeArrowheads="1"/>
            </p:cNvSpPr>
            <p:nvPr/>
          </p:nvSpPr>
          <p:spPr bwMode="auto">
            <a:xfrm>
              <a:off x="10675737" y="21134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Oval 6"/>
            <p:cNvSpPr>
              <a:spLocks noChangeArrowheads="1"/>
            </p:cNvSpPr>
            <p:nvPr/>
          </p:nvSpPr>
          <p:spPr bwMode="auto">
            <a:xfrm>
              <a:off x="10523337" y="23420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Oval 7"/>
            <p:cNvSpPr>
              <a:spLocks noChangeArrowheads="1"/>
            </p:cNvSpPr>
            <p:nvPr/>
          </p:nvSpPr>
          <p:spPr bwMode="auto">
            <a:xfrm>
              <a:off x="10980537" y="24182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Oval 8"/>
            <p:cNvSpPr>
              <a:spLocks noChangeArrowheads="1"/>
            </p:cNvSpPr>
            <p:nvPr/>
          </p:nvSpPr>
          <p:spPr bwMode="auto">
            <a:xfrm>
              <a:off x="10751937" y="25706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Oval 9"/>
            <p:cNvSpPr>
              <a:spLocks noChangeArrowheads="1"/>
            </p:cNvSpPr>
            <p:nvPr/>
          </p:nvSpPr>
          <p:spPr bwMode="auto">
            <a:xfrm>
              <a:off x="10675737" y="18086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Oval 10"/>
            <p:cNvSpPr>
              <a:spLocks noChangeArrowheads="1"/>
            </p:cNvSpPr>
            <p:nvPr/>
          </p:nvSpPr>
          <p:spPr bwMode="auto">
            <a:xfrm>
              <a:off x="10066137" y="18848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Rectangle 11"/>
            <p:cNvSpPr>
              <a:spLocks noChangeArrowheads="1"/>
            </p:cNvSpPr>
            <p:nvPr/>
          </p:nvSpPr>
          <p:spPr bwMode="auto">
            <a:xfrm>
              <a:off x="9456537" y="28754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Rectangle 12"/>
            <p:cNvSpPr>
              <a:spLocks noChangeArrowheads="1"/>
            </p:cNvSpPr>
            <p:nvPr/>
          </p:nvSpPr>
          <p:spPr bwMode="auto">
            <a:xfrm>
              <a:off x="9608937" y="36374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Rectangle 13"/>
            <p:cNvSpPr>
              <a:spLocks noChangeArrowheads="1"/>
            </p:cNvSpPr>
            <p:nvPr/>
          </p:nvSpPr>
          <p:spPr bwMode="auto">
            <a:xfrm>
              <a:off x="9761337" y="31802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Rectangle 14"/>
            <p:cNvSpPr>
              <a:spLocks noChangeArrowheads="1"/>
            </p:cNvSpPr>
            <p:nvPr/>
          </p:nvSpPr>
          <p:spPr bwMode="auto">
            <a:xfrm>
              <a:off x="10066137" y="34850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Rectangle 15"/>
            <p:cNvSpPr>
              <a:spLocks noChangeArrowheads="1"/>
            </p:cNvSpPr>
            <p:nvPr/>
          </p:nvSpPr>
          <p:spPr bwMode="auto">
            <a:xfrm>
              <a:off x="9151737" y="30278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Rectangle 16"/>
            <p:cNvSpPr>
              <a:spLocks noChangeArrowheads="1"/>
            </p:cNvSpPr>
            <p:nvPr/>
          </p:nvSpPr>
          <p:spPr bwMode="auto">
            <a:xfrm>
              <a:off x="9456537" y="32564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Rectangle 17"/>
            <p:cNvSpPr>
              <a:spLocks noChangeArrowheads="1"/>
            </p:cNvSpPr>
            <p:nvPr/>
          </p:nvSpPr>
          <p:spPr bwMode="auto">
            <a:xfrm>
              <a:off x="9227937" y="34850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Oval 18"/>
            <p:cNvSpPr>
              <a:spLocks noChangeArrowheads="1"/>
            </p:cNvSpPr>
            <p:nvPr/>
          </p:nvSpPr>
          <p:spPr bwMode="auto">
            <a:xfrm>
              <a:off x="10828137" y="21896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Oval 19"/>
            <p:cNvSpPr>
              <a:spLocks noChangeArrowheads="1"/>
            </p:cNvSpPr>
            <p:nvPr/>
          </p:nvSpPr>
          <p:spPr bwMode="auto">
            <a:xfrm>
              <a:off x="10904337" y="20372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Oval 20"/>
            <p:cNvSpPr>
              <a:spLocks noChangeArrowheads="1"/>
            </p:cNvSpPr>
            <p:nvPr/>
          </p:nvSpPr>
          <p:spPr bwMode="auto">
            <a:xfrm>
              <a:off x="10104237" y="22658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Rectangle 21"/>
            <p:cNvSpPr>
              <a:spLocks noChangeArrowheads="1"/>
            </p:cNvSpPr>
            <p:nvPr/>
          </p:nvSpPr>
          <p:spPr bwMode="auto">
            <a:xfrm>
              <a:off x="9761337" y="28119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9" name="Rectangle 22"/>
            <p:cNvSpPr>
              <a:spLocks noChangeArrowheads="1"/>
            </p:cNvSpPr>
            <p:nvPr/>
          </p:nvSpPr>
          <p:spPr bwMode="auto">
            <a:xfrm>
              <a:off x="10066137" y="30278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0" name="Rectangle 23"/>
            <p:cNvSpPr>
              <a:spLocks noChangeArrowheads="1"/>
            </p:cNvSpPr>
            <p:nvPr/>
          </p:nvSpPr>
          <p:spPr bwMode="auto">
            <a:xfrm>
              <a:off x="9456537" y="25706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1" name="Oval 24"/>
            <p:cNvSpPr>
              <a:spLocks noChangeArrowheads="1"/>
            </p:cNvSpPr>
            <p:nvPr/>
          </p:nvSpPr>
          <p:spPr bwMode="auto">
            <a:xfrm>
              <a:off x="10459837" y="25325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2" name="Oval 25"/>
            <p:cNvSpPr>
              <a:spLocks noChangeArrowheads="1"/>
            </p:cNvSpPr>
            <p:nvPr/>
          </p:nvSpPr>
          <p:spPr bwMode="auto">
            <a:xfrm>
              <a:off x="10294737" y="21134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Line 26"/>
            <p:cNvSpPr>
              <a:spLocks noChangeShapeType="1"/>
            </p:cNvSpPr>
            <p:nvPr/>
          </p:nvSpPr>
          <p:spPr bwMode="auto">
            <a:xfrm>
              <a:off x="9075537" y="1884872"/>
              <a:ext cx="1981200" cy="1524000"/>
            </a:xfrm>
            <a:prstGeom prst="line">
              <a:avLst/>
            </a:prstGeom>
            <a:noFill/>
            <a:ln w="19050">
              <a:solidFill>
                <a:srgbClr val="990033"/>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grpSp>
          <p:nvGrpSpPr>
            <p:cNvPr id="34" name="Group 46"/>
            <p:cNvGrpSpPr>
              <a:grpSpLocks/>
            </p:cNvGrpSpPr>
            <p:nvPr/>
          </p:nvGrpSpPr>
          <p:grpSpPr bwMode="auto">
            <a:xfrm>
              <a:off x="8846937" y="932372"/>
              <a:ext cx="2991025" cy="3933907"/>
              <a:chOff x="5638800" y="1562100"/>
              <a:chExt cx="2991521" cy="3933751"/>
            </a:xfrm>
          </p:grpSpPr>
          <p:sp>
            <p:nvSpPr>
              <p:cNvPr id="35" name="Line 28"/>
              <p:cNvSpPr>
                <a:spLocks noChangeShapeType="1"/>
              </p:cNvSpPr>
              <p:nvPr/>
            </p:nvSpPr>
            <p:spPr bwMode="auto">
              <a:xfrm>
                <a:off x="6096000" y="2286000"/>
                <a:ext cx="1981200" cy="1524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36" name="Line 29"/>
              <p:cNvSpPr>
                <a:spLocks noChangeShapeType="1"/>
              </p:cNvSpPr>
              <p:nvPr/>
            </p:nvSpPr>
            <p:spPr bwMode="auto">
              <a:xfrm>
                <a:off x="5638800" y="2743200"/>
                <a:ext cx="1981200" cy="1524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37" name="Line 32"/>
              <p:cNvSpPr>
                <a:spLocks noChangeShapeType="1"/>
              </p:cNvSpPr>
              <p:nvPr/>
            </p:nvSpPr>
            <p:spPr bwMode="auto">
              <a:xfrm flipH="1">
                <a:off x="6400800" y="1970088"/>
                <a:ext cx="152400" cy="1192212"/>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a:p>
            </p:txBody>
          </p:sp>
          <p:sp>
            <p:nvSpPr>
              <p:cNvPr id="38" name="Line 33"/>
              <p:cNvSpPr>
                <a:spLocks noChangeShapeType="1"/>
              </p:cNvSpPr>
              <p:nvPr/>
            </p:nvSpPr>
            <p:spPr bwMode="auto">
              <a:xfrm>
                <a:off x="6705600" y="1970088"/>
                <a:ext cx="190500" cy="9255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a:p>
            </p:txBody>
          </p:sp>
          <p:sp>
            <p:nvSpPr>
              <p:cNvPr id="39" name="Line 35"/>
              <p:cNvSpPr>
                <a:spLocks noChangeShapeType="1"/>
              </p:cNvSpPr>
              <p:nvPr/>
            </p:nvSpPr>
            <p:spPr bwMode="auto">
              <a:xfrm flipV="1">
                <a:off x="7518400" y="3657600"/>
                <a:ext cx="361950" cy="522288"/>
              </a:xfrm>
              <a:prstGeom prst="line">
                <a:avLst/>
              </a:prstGeom>
              <a:noFill/>
              <a:ln w="1905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ru-RU"/>
              </a:p>
            </p:txBody>
          </p:sp>
          <p:sp>
            <p:nvSpPr>
              <p:cNvPr id="40" name="Text Box 31"/>
              <p:cNvSpPr txBox="1">
                <a:spLocks noChangeArrowheads="1"/>
              </p:cNvSpPr>
              <p:nvPr/>
            </p:nvSpPr>
            <p:spPr bwMode="auto">
              <a:xfrm>
                <a:off x="5775348" y="1562100"/>
                <a:ext cx="1829103" cy="400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sz="2000">
                    <a:latin typeface="Calibri" panose="020F0502020204030204" pitchFamily="34" charset="0"/>
                  </a:rPr>
                  <a:t>Support vectors</a:t>
                </a:r>
                <a:endParaRPr lang="en-US" altLang="ru-RU">
                  <a:latin typeface="Calibri" panose="020F0502020204030204" pitchFamily="34" charset="0"/>
                </a:endParaRPr>
              </a:p>
            </p:txBody>
          </p:sp>
          <p:sp>
            <p:nvSpPr>
              <p:cNvPr id="41" name="Text Box 36"/>
              <p:cNvSpPr txBox="1">
                <a:spLocks noChangeArrowheads="1"/>
              </p:cNvSpPr>
              <p:nvPr/>
            </p:nvSpPr>
            <p:spPr bwMode="auto">
              <a:xfrm>
                <a:off x="7348996" y="4787854"/>
                <a:ext cx="1281325" cy="70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sz="2000" dirty="0">
                    <a:latin typeface="Calibri" panose="020F0502020204030204" pitchFamily="34" charset="0"/>
                  </a:rPr>
                  <a:t>Maximizes</a:t>
                </a:r>
              </a:p>
              <a:p>
                <a:r>
                  <a:rPr lang="en-US" altLang="ru-RU" sz="2000" dirty="0">
                    <a:latin typeface="Calibri" panose="020F0502020204030204" pitchFamily="34" charset="0"/>
                  </a:rPr>
                  <a:t>margin</a:t>
                </a:r>
                <a:endParaRPr lang="en-US" altLang="ru-RU" dirty="0">
                  <a:latin typeface="Calibri" panose="020F0502020204030204" pitchFamily="34" charset="0"/>
                </a:endParaRPr>
              </a:p>
            </p:txBody>
          </p:sp>
          <p:sp>
            <p:nvSpPr>
              <p:cNvPr id="42" name="Freeform 37"/>
              <p:cNvSpPr>
                <a:spLocks/>
              </p:cNvSpPr>
              <p:nvPr/>
            </p:nvSpPr>
            <p:spPr bwMode="auto">
              <a:xfrm>
                <a:off x="7834333" y="3797300"/>
                <a:ext cx="141266" cy="1054073"/>
              </a:xfrm>
              <a:custGeom>
                <a:avLst/>
                <a:gdLst>
                  <a:gd name="T0" fmla="*/ 2147483647 w 110"/>
                  <a:gd name="T1" fmla="*/ 2147483647 h 397"/>
                  <a:gd name="T2" fmla="*/ 2147483647 w 110"/>
                  <a:gd name="T3" fmla="*/ 2147483647 h 397"/>
                  <a:gd name="T4" fmla="*/ 2147483647 w 110"/>
                  <a:gd name="T5" fmla="*/ 2147483647 h 397"/>
                  <a:gd name="T6" fmla="*/ 0 w 110"/>
                  <a:gd name="T7" fmla="*/ 0 h 397"/>
                  <a:gd name="T8" fmla="*/ 0 60000 65536"/>
                  <a:gd name="T9" fmla="*/ 0 60000 65536"/>
                  <a:gd name="T10" fmla="*/ 0 60000 65536"/>
                  <a:gd name="T11" fmla="*/ 0 60000 65536"/>
                  <a:gd name="T12" fmla="*/ 0 w 110"/>
                  <a:gd name="T13" fmla="*/ 0 h 397"/>
                  <a:gd name="T14" fmla="*/ 110 w 110"/>
                  <a:gd name="T15" fmla="*/ 397 h 397"/>
                </a:gdLst>
                <a:ahLst/>
                <a:cxnLst>
                  <a:cxn ang="T8">
                    <a:pos x="T0" y="T1"/>
                  </a:cxn>
                  <a:cxn ang="T9">
                    <a:pos x="T2" y="T3"/>
                  </a:cxn>
                  <a:cxn ang="T10">
                    <a:pos x="T4" y="T5"/>
                  </a:cxn>
                  <a:cxn ang="T11">
                    <a:pos x="T6" y="T7"/>
                  </a:cxn>
                </a:cxnLst>
                <a:rect l="T12" t="T13" r="T14" b="T15"/>
                <a:pathLst>
                  <a:path w="110" h="397">
                    <a:moveTo>
                      <a:pt x="24" y="397"/>
                    </a:moveTo>
                    <a:cubicBezTo>
                      <a:pt x="62" y="331"/>
                      <a:pt x="100" y="265"/>
                      <a:pt x="105" y="211"/>
                    </a:cubicBezTo>
                    <a:cubicBezTo>
                      <a:pt x="110" y="157"/>
                      <a:pt x="74" y="108"/>
                      <a:pt x="57" y="73"/>
                    </a:cubicBezTo>
                    <a:cubicBezTo>
                      <a:pt x="40" y="38"/>
                      <a:pt x="8" y="12"/>
                      <a:pt x="0" y="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ru-RU"/>
              </a:p>
            </p:txBody>
          </p:sp>
        </p:grpSp>
        <p:sp>
          <p:nvSpPr>
            <p:cNvPr id="43" name="Line 38"/>
            <p:cNvSpPr>
              <a:spLocks noChangeShapeType="1"/>
            </p:cNvSpPr>
            <p:nvPr/>
          </p:nvSpPr>
          <p:spPr bwMode="auto">
            <a:xfrm>
              <a:off x="9456537" y="1580072"/>
              <a:ext cx="1231900" cy="2044700"/>
            </a:xfrm>
            <a:prstGeom prst="line">
              <a:avLst/>
            </a:prstGeom>
            <a:noFill/>
            <a:ln w="19050">
              <a:solidFill>
                <a:srgbClr val="F79646"/>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44" name="Line 39"/>
            <p:cNvSpPr>
              <a:spLocks noChangeShapeType="1"/>
            </p:cNvSpPr>
            <p:nvPr/>
          </p:nvSpPr>
          <p:spPr bwMode="auto">
            <a:xfrm>
              <a:off x="8935837" y="2126172"/>
              <a:ext cx="2286000" cy="889000"/>
            </a:xfrm>
            <a:prstGeom prst="line">
              <a:avLst/>
            </a:prstGeom>
            <a:noFill/>
            <a:ln w="19050">
              <a:solidFill>
                <a:schemeClr val="accent6"/>
              </a:solidFill>
              <a:round/>
              <a:headEnd/>
              <a:tailEnd/>
            </a:ln>
          </p:spPr>
          <p:txBody>
            <a:bodyPr wrap="none" anchor="ctr"/>
            <a:lstStyle/>
            <a:p>
              <a:pPr>
                <a:defRPr/>
              </a:pPr>
              <a:endParaRPr lang="en-US">
                <a:latin typeface="Lucida Sans" charset="0"/>
                <a:ea typeface="Arial Unicode MS" charset="0"/>
                <a:cs typeface="Arial Unicode MS" charset="0"/>
              </a:endParaRPr>
            </a:p>
          </p:txBody>
        </p:sp>
        <p:sp>
          <p:nvSpPr>
            <p:cNvPr id="45" name="Oval 41"/>
            <p:cNvSpPr>
              <a:spLocks noChangeArrowheads="1"/>
            </p:cNvSpPr>
            <p:nvPr/>
          </p:nvSpPr>
          <p:spPr bwMode="auto">
            <a:xfrm>
              <a:off x="10104237" y="2265872"/>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6" name="Rectangle 42"/>
            <p:cNvSpPr>
              <a:spLocks noChangeArrowheads="1"/>
            </p:cNvSpPr>
            <p:nvPr/>
          </p:nvSpPr>
          <p:spPr bwMode="auto">
            <a:xfrm>
              <a:off x="9761337" y="2811972"/>
              <a:ext cx="152400" cy="152400"/>
            </a:xfrm>
            <a:prstGeom prst="rect">
              <a:avLst/>
            </a:prstGeom>
            <a:solidFill>
              <a:srgbClr val="C0504D"/>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7" name="Rectangle 43"/>
            <p:cNvSpPr>
              <a:spLocks noChangeArrowheads="1"/>
            </p:cNvSpPr>
            <p:nvPr/>
          </p:nvSpPr>
          <p:spPr bwMode="auto">
            <a:xfrm>
              <a:off x="10066137" y="3027872"/>
              <a:ext cx="152400" cy="152400"/>
            </a:xfrm>
            <a:prstGeom prst="rect">
              <a:avLst/>
            </a:prstGeom>
            <a:solidFill>
              <a:srgbClr val="C0504D"/>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8" name="Rectangle 44"/>
            <p:cNvSpPr>
              <a:spLocks noChangeArrowheads="1"/>
            </p:cNvSpPr>
            <p:nvPr/>
          </p:nvSpPr>
          <p:spPr bwMode="auto">
            <a:xfrm>
              <a:off x="9456537" y="2570672"/>
              <a:ext cx="152400" cy="152400"/>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9" name="Oval 45"/>
            <p:cNvSpPr>
              <a:spLocks noChangeArrowheads="1"/>
            </p:cNvSpPr>
            <p:nvPr/>
          </p:nvSpPr>
          <p:spPr bwMode="auto">
            <a:xfrm>
              <a:off x="10459837" y="2532572"/>
              <a:ext cx="152400" cy="152400"/>
            </a:xfrm>
            <a:prstGeom prst="ellipse">
              <a:avLst/>
            </a:prstGeom>
            <a:solidFill>
              <a:srgbClr val="437085"/>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nvGrpSpPr>
            <p:cNvPr id="50" name="Group 53"/>
            <p:cNvGrpSpPr>
              <a:grpSpLocks/>
            </p:cNvGrpSpPr>
            <p:nvPr/>
          </p:nvGrpSpPr>
          <p:grpSpPr bwMode="auto">
            <a:xfrm>
              <a:off x="9141869" y="1732472"/>
              <a:ext cx="1991068" cy="3360078"/>
              <a:chOff x="5933732" y="2362200"/>
              <a:chExt cx="1991068" cy="3359918"/>
            </a:xfrm>
          </p:grpSpPr>
          <p:sp>
            <p:nvSpPr>
              <p:cNvPr id="51" name="Line 38"/>
              <p:cNvSpPr>
                <a:spLocks noChangeShapeType="1"/>
              </p:cNvSpPr>
              <p:nvPr/>
            </p:nvSpPr>
            <p:spPr bwMode="auto">
              <a:xfrm>
                <a:off x="6096000" y="2362200"/>
                <a:ext cx="1231900" cy="2044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52" name="Line 38"/>
              <p:cNvSpPr>
                <a:spLocks noChangeShapeType="1"/>
              </p:cNvSpPr>
              <p:nvPr/>
            </p:nvSpPr>
            <p:spPr bwMode="auto">
              <a:xfrm>
                <a:off x="6692900" y="2514600"/>
                <a:ext cx="1231900" cy="2044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53" name="Line 35"/>
              <p:cNvSpPr>
                <a:spLocks noChangeShapeType="1"/>
              </p:cNvSpPr>
              <p:nvPr/>
            </p:nvSpPr>
            <p:spPr bwMode="auto">
              <a:xfrm flipV="1">
                <a:off x="7162800" y="3886200"/>
                <a:ext cx="381000" cy="228600"/>
              </a:xfrm>
              <a:prstGeom prst="line">
                <a:avLst/>
              </a:prstGeom>
              <a:noFill/>
              <a:ln w="1905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ru-RU"/>
              </a:p>
            </p:txBody>
          </p:sp>
          <p:sp>
            <p:nvSpPr>
              <p:cNvPr id="54" name="Text Box 36"/>
              <p:cNvSpPr txBox="1">
                <a:spLocks noChangeArrowheads="1"/>
              </p:cNvSpPr>
              <p:nvPr/>
            </p:nvSpPr>
            <p:spPr bwMode="auto">
              <a:xfrm>
                <a:off x="5933732" y="5014127"/>
                <a:ext cx="1184275" cy="707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sz="2000" dirty="0">
                    <a:latin typeface="Calibri" panose="020F0502020204030204" pitchFamily="34" charset="0"/>
                  </a:rPr>
                  <a:t>Narrower</a:t>
                </a:r>
              </a:p>
              <a:p>
                <a:r>
                  <a:rPr lang="en-US" altLang="ru-RU" sz="2000" dirty="0">
                    <a:latin typeface="Calibri" panose="020F0502020204030204" pitchFamily="34" charset="0"/>
                  </a:rPr>
                  <a:t>margin</a:t>
                </a:r>
                <a:endParaRPr lang="en-US" altLang="ru-RU" dirty="0">
                  <a:latin typeface="Calibri" panose="020F0502020204030204" pitchFamily="34" charset="0"/>
                </a:endParaRPr>
              </a:p>
            </p:txBody>
          </p:sp>
          <p:cxnSp>
            <p:nvCxnSpPr>
              <p:cNvPr id="55" name="Curved Connector 52"/>
              <p:cNvCxnSpPr>
                <a:cxnSpLocks noChangeShapeType="1"/>
                <a:stCxn id="54" idx="0"/>
              </p:cNvCxnSpPr>
              <p:nvPr/>
            </p:nvCxnSpPr>
            <p:spPr bwMode="auto">
              <a:xfrm rot="5400000" flipH="1" flipV="1">
                <a:off x="6428344" y="4161402"/>
                <a:ext cx="950252" cy="755199"/>
              </a:xfrm>
              <a:prstGeom prst="curvedConnector3">
                <a:avLst>
                  <a:gd name="adj1" fmla="val 50000"/>
                </a:avLst>
              </a:prstGeom>
              <a:noFill/>
              <a:ln w="25400">
                <a:solidFill>
                  <a:srgbClr val="00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102201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Максимальная граница (</a:t>
            </a:r>
            <a:r>
              <a:rPr lang="en-US" b="1" dirty="0"/>
              <a:t>Maximum Margin</a:t>
            </a:r>
            <a:r>
              <a:rPr lang="ru-RU" b="1" dirty="0" smtClean="0"/>
              <a:t>)</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5</a:t>
            </a:fld>
            <a:endParaRPr lang="ru-RU" noProof="0" dirty="0"/>
          </a:p>
        </p:txBody>
      </p:sp>
      <p:sp>
        <p:nvSpPr>
          <p:cNvPr id="4" name="Объект 3"/>
          <p:cNvSpPr>
            <a:spLocks noGrp="1"/>
          </p:cNvSpPr>
          <p:nvPr>
            <p:ph idx="1"/>
          </p:nvPr>
        </p:nvSpPr>
        <p:spPr>
          <a:xfrm>
            <a:off x="432000" y="1055716"/>
            <a:ext cx="11328000" cy="5135534"/>
          </a:xfrm>
        </p:spPr>
        <p:txBody>
          <a:bodyPr>
            <a:normAutofit fontScale="92500" lnSpcReduction="10000"/>
          </a:bodyPr>
          <a:lstStyle/>
          <a:p>
            <a:pPr marL="0" indent="0" fontAlgn="base">
              <a:buNone/>
            </a:pPr>
            <a:r>
              <a:rPr lang="ru-RU" sz="3000" dirty="0">
                <a:latin typeface="Times New Roman" panose="02020603050405020304" pitchFamily="18" charset="0"/>
                <a:cs typeface="Times New Roman" panose="02020603050405020304" pitchFamily="18" charset="0"/>
              </a:rPr>
              <a:t>Обозначения:</a:t>
            </a:r>
          </a:p>
          <a:p>
            <a:pPr marL="0" indent="0" fontAlgn="base">
              <a:buNone/>
            </a:pPr>
            <a:r>
              <a:rPr lang="ru-RU" sz="3200" b="1" dirty="0">
                <a:latin typeface="Times New Roman" panose="02020603050405020304" pitchFamily="18" charset="0"/>
                <a:cs typeface="Times New Roman" panose="02020603050405020304" pitchFamily="18" charset="0"/>
              </a:rPr>
              <a:t>w</a:t>
            </a:r>
            <a:r>
              <a:rPr lang="ru-RU" sz="3200" dirty="0">
                <a:latin typeface="Times New Roman" panose="02020603050405020304" pitchFamily="18" charset="0"/>
                <a:cs typeface="Times New Roman" panose="02020603050405020304" pitchFamily="18" charset="0"/>
              </a:rPr>
              <a:t>: вектор нормали решающей </a:t>
            </a:r>
            <a:r>
              <a:rPr lang="ru-RU" sz="3200" dirty="0" smtClean="0">
                <a:latin typeface="Times New Roman" panose="02020603050405020304" pitchFamily="18" charset="0"/>
                <a:cs typeface="Times New Roman" panose="02020603050405020304" pitchFamily="18" charset="0"/>
              </a:rPr>
              <a:t>гиперплоскости</a:t>
            </a:r>
            <a:endParaRPr lang="en-US" sz="3200" dirty="0" smtClean="0">
              <a:latin typeface="Times New Roman" panose="02020603050405020304" pitchFamily="18" charset="0"/>
              <a:cs typeface="Times New Roman" panose="02020603050405020304" pitchFamily="18" charset="0"/>
            </a:endParaRPr>
          </a:p>
          <a:p>
            <a:pPr marL="0" indent="0" fontAlgn="base">
              <a:buNone/>
            </a:pPr>
            <a:r>
              <a:rPr lang="en-US" sz="3200" b="1" dirty="0">
                <a:latin typeface="Times New Roman" panose="02020603050405020304" pitchFamily="18" charset="0"/>
                <a:cs typeface="Times New Roman" panose="02020603050405020304" pitchFamily="18" charset="0"/>
              </a:rPr>
              <a:t>x</a:t>
            </a:r>
            <a:r>
              <a:rPr lang="en-US" sz="3200" i="1"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a:t>
            </a:r>
            <a:r>
              <a:rPr lang="ru-RU" sz="3200" dirty="0">
                <a:latin typeface="Times New Roman" panose="02020603050405020304" pitchFamily="18" charset="0"/>
                <a:cs typeface="Times New Roman" panose="02020603050405020304" pitchFamily="18" charset="0"/>
              </a:rPr>
              <a:t>точка данных </a:t>
            </a:r>
            <a:r>
              <a:rPr lang="en-US" sz="3200" i="1" dirty="0" err="1" smtClean="0">
                <a:latin typeface="Times New Roman" panose="02020603050405020304" pitchFamily="18" charset="0"/>
                <a:cs typeface="Times New Roman" panose="02020603050405020304" pitchFamily="18" charset="0"/>
              </a:rPr>
              <a:t>i</a:t>
            </a:r>
            <a:endParaRPr lang="ru-RU" sz="3200" i="1" dirty="0" smtClean="0">
              <a:latin typeface="Times New Roman" panose="02020603050405020304" pitchFamily="18" charset="0"/>
              <a:cs typeface="Times New Roman" panose="02020603050405020304" pitchFamily="18" charset="0"/>
            </a:endParaRPr>
          </a:p>
          <a:p>
            <a:pPr marL="0" indent="0" fontAlgn="base">
              <a:buNone/>
            </a:pPr>
            <a:r>
              <a:rPr lang="ru-RU" sz="3200" i="1" dirty="0" err="1">
                <a:latin typeface="Times New Roman" panose="02020603050405020304" pitchFamily="18" charset="0"/>
                <a:cs typeface="Times New Roman" panose="02020603050405020304" pitchFamily="18" charset="0"/>
              </a:rPr>
              <a:t>y</a:t>
            </a:r>
            <a:r>
              <a:rPr lang="ru-RU" sz="3200" i="1" baseline="-25000" dirty="0" err="1">
                <a:latin typeface="Times New Roman" panose="02020603050405020304" pitchFamily="18" charset="0"/>
                <a:cs typeface="Times New Roman" panose="02020603050405020304" pitchFamily="18" charset="0"/>
              </a:rPr>
              <a:t>i</a:t>
            </a:r>
            <a:r>
              <a:rPr lang="ru-RU" sz="3200" dirty="0">
                <a:latin typeface="Times New Roman" panose="02020603050405020304" pitchFamily="18" charset="0"/>
                <a:cs typeface="Times New Roman" panose="02020603050405020304" pitchFamily="18" charset="0"/>
              </a:rPr>
              <a:t>​: класс точки данных </a:t>
            </a:r>
            <a:r>
              <a:rPr lang="ru-RU" sz="3200" i="1" dirty="0" smtClean="0">
                <a:latin typeface="Times New Roman" panose="02020603050405020304" pitchFamily="18" charset="0"/>
                <a:cs typeface="Times New Roman" panose="02020603050405020304" pitchFamily="18" charset="0"/>
              </a:rPr>
              <a:t>i</a:t>
            </a:r>
            <a:r>
              <a:rPr lang="ru-RU" sz="3200" dirty="0" smtClean="0">
                <a:latin typeface="Times New Roman" panose="02020603050405020304" pitchFamily="18" charset="0"/>
                <a:cs typeface="Times New Roman" panose="02020603050405020304" pitchFamily="18" charset="0"/>
              </a:rPr>
              <a:t> </a:t>
            </a:r>
            <a:r>
              <a:rPr lang="ru-RU" sz="3200" dirty="0">
                <a:latin typeface="Times New Roman" panose="02020603050405020304" pitchFamily="18" charset="0"/>
                <a:cs typeface="Times New Roman" panose="02020603050405020304" pitchFamily="18" charset="0"/>
              </a:rPr>
              <a:t>(+</a:t>
            </a:r>
            <a:r>
              <a:rPr lang="ru-RU" sz="3200" dirty="0" smtClean="0">
                <a:latin typeface="Times New Roman" panose="02020603050405020304" pitchFamily="18" charset="0"/>
                <a:cs typeface="Times New Roman" panose="02020603050405020304" pitchFamily="18" charset="0"/>
              </a:rPr>
              <a:t>1 </a:t>
            </a:r>
            <a:r>
              <a:rPr lang="ru-RU" sz="3200" dirty="0">
                <a:latin typeface="Times New Roman" panose="02020603050405020304" pitchFamily="18" charset="0"/>
                <a:cs typeface="Times New Roman" panose="02020603050405020304" pitchFamily="18" charset="0"/>
              </a:rPr>
              <a:t>или −</a:t>
            </a:r>
            <a:r>
              <a:rPr lang="ru-RU" sz="3200" dirty="0" smtClean="0">
                <a:latin typeface="Times New Roman" panose="02020603050405020304" pitchFamily="18" charset="0"/>
                <a:cs typeface="Times New Roman" panose="02020603050405020304" pitchFamily="18" charset="0"/>
              </a:rPr>
              <a:t>1)</a:t>
            </a:r>
          </a:p>
          <a:p>
            <a:pPr marL="0" indent="0" fontAlgn="base">
              <a:buNone/>
            </a:pPr>
            <a:r>
              <a:rPr lang="ru-RU" sz="3200" b="1" dirty="0" smtClean="0">
                <a:solidFill>
                  <a:srgbClr val="222222"/>
                </a:solidFill>
                <a:latin typeface="Times New Roman" panose="02020603050405020304" pitchFamily="18" charset="0"/>
                <a:cs typeface="Times New Roman" panose="02020603050405020304" pitchFamily="18" charset="0"/>
              </a:rPr>
              <a:t>Классификатор</a:t>
            </a:r>
            <a:r>
              <a:rPr lang="ru-RU" sz="3200" dirty="0">
                <a:latin typeface="Times New Roman" panose="02020603050405020304" pitchFamily="18" charset="0"/>
                <a:cs typeface="Times New Roman" panose="02020603050405020304" pitchFamily="18" charset="0"/>
              </a:rPr>
              <a:t>: </a:t>
            </a:r>
            <a:r>
              <a:rPr lang="en-US" altLang="ru-RU" sz="3200" dirty="0">
                <a:latin typeface="Times New Roman" panose="02020603050405020304" pitchFamily="18" charset="0"/>
                <a:cs typeface="Times New Roman" panose="02020603050405020304" pitchFamily="18" charset="0"/>
              </a:rPr>
              <a:t>f(</a:t>
            </a:r>
            <a:r>
              <a:rPr lang="en-US" altLang="ru-RU" sz="3200" b="1" dirty="0">
                <a:latin typeface="Times New Roman" panose="02020603050405020304" pitchFamily="18" charset="0"/>
                <a:cs typeface="Times New Roman" panose="02020603050405020304" pitchFamily="18" charset="0"/>
              </a:rPr>
              <a:t>x</a:t>
            </a:r>
            <a:r>
              <a:rPr lang="en-US" altLang="ru-RU" sz="3200" baseline="-25000" dirty="0">
                <a:latin typeface="Times New Roman" panose="02020603050405020304" pitchFamily="18" charset="0"/>
                <a:cs typeface="Times New Roman" panose="02020603050405020304" pitchFamily="18" charset="0"/>
              </a:rPr>
              <a:t>i</a:t>
            </a:r>
            <a:r>
              <a:rPr lang="en-US" altLang="ru-RU" sz="3200" dirty="0">
                <a:latin typeface="Times New Roman" panose="02020603050405020304" pitchFamily="18" charset="0"/>
                <a:cs typeface="Times New Roman" panose="02020603050405020304" pitchFamily="18" charset="0"/>
              </a:rPr>
              <a:t>) = </a:t>
            </a:r>
            <a:r>
              <a:rPr lang="en-US" altLang="ru-RU" sz="3200" baseline="-25000" dirty="0">
                <a:latin typeface="Times New Roman" panose="02020603050405020304" pitchFamily="18" charset="0"/>
                <a:cs typeface="Times New Roman" panose="02020603050405020304" pitchFamily="18" charset="0"/>
              </a:rPr>
              <a:t> </a:t>
            </a:r>
            <a:r>
              <a:rPr lang="en-US" altLang="ru-RU" sz="3200" dirty="0">
                <a:latin typeface="Times New Roman" panose="02020603050405020304" pitchFamily="18" charset="0"/>
                <a:cs typeface="Times New Roman" panose="02020603050405020304" pitchFamily="18" charset="0"/>
              </a:rPr>
              <a:t>sign(</a:t>
            </a:r>
            <a:r>
              <a:rPr lang="en-US" altLang="ru-RU" sz="3200" b="1" dirty="0" err="1">
                <a:latin typeface="Times New Roman" panose="02020603050405020304" pitchFamily="18" charset="0"/>
                <a:cs typeface="Times New Roman" panose="02020603050405020304" pitchFamily="18" charset="0"/>
              </a:rPr>
              <a:t>w</a:t>
            </a:r>
            <a:r>
              <a:rPr lang="en-US" altLang="ru-RU" sz="3200" baseline="30000" dirty="0" err="1">
                <a:latin typeface="Times New Roman" panose="02020603050405020304" pitchFamily="18" charset="0"/>
                <a:cs typeface="Times New Roman" panose="02020603050405020304" pitchFamily="18" charset="0"/>
              </a:rPr>
              <a:t>T</a:t>
            </a:r>
            <a:r>
              <a:rPr lang="en-US" altLang="ru-RU" sz="3200" b="1" dirty="0" err="1">
                <a:latin typeface="Times New Roman" panose="02020603050405020304" pitchFamily="18" charset="0"/>
                <a:cs typeface="Times New Roman" panose="02020603050405020304" pitchFamily="18" charset="0"/>
              </a:rPr>
              <a:t>x</a:t>
            </a:r>
            <a:r>
              <a:rPr lang="en-US" altLang="ru-RU" sz="3200" baseline="-25000" dirty="0" err="1">
                <a:latin typeface="Times New Roman" panose="02020603050405020304" pitchFamily="18" charset="0"/>
                <a:cs typeface="Times New Roman" panose="02020603050405020304" pitchFamily="18" charset="0"/>
              </a:rPr>
              <a:t>i</a:t>
            </a:r>
            <a:r>
              <a:rPr lang="en-US" altLang="ru-RU" sz="3200" dirty="0">
                <a:latin typeface="Times New Roman" panose="02020603050405020304" pitchFamily="18" charset="0"/>
                <a:cs typeface="Times New Roman" panose="02020603050405020304" pitchFamily="18" charset="0"/>
              </a:rPr>
              <a:t> + b)</a:t>
            </a:r>
            <a:endParaRPr lang="ru-RU" sz="3200" dirty="0" smtClean="0">
              <a:latin typeface="Times New Roman" panose="02020603050405020304" pitchFamily="18" charset="0"/>
              <a:cs typeface="Times New Roman" panose="02020603050405020304" pitchFamily="18" charset="0"/>
            </a:endParaRPr>
          </a:p>
          <a:p>
            <a:pPr marL="0" indent="0" fontAlgn="base">
              <a:buNone/>
            </a:pPr>
            <a:r>
              <a:rPr lang="ru-RU" altLang="ru-RU" sz="3200" dirty="0" smtClean="0">
                <a:latin typeface="Times New Roman" panose="02020603050405020304" pitchFamily="18" charset="0"/>
                <a:cs typeface="Times New Roman" panose="02020603050405020304" pitchFamily="18" charset="0"/>
              </a:rPr>
              <a:t>Функция границы</a:t>
            </a:r>
            <a:r>
              <a:rPr lang="en-US" altLang="ru-RU" sz="3200" dirty="0" smtClean="0">
                <a:latin typeface="Times New Roman" panose="02020603050405020304" pitchFamily="18" charset="0"/>
                <a:cs typeface="Times New Roman" panose="02020603050405020304" pitchFamily="18" charset="0"/>
              </a:rPr>
              <a:t> </a:t>
            </a:r>
            <a:r>
              <a:rPr lang="en-US" altLang="ru-RU" sz="3200" b="1" dirty="0">
                <a:latin typeface="Times New Roman" panose="02020603050405020304" pitchFamily="18" charset="0"/>
                <a:cs typeface="Times New Roman" panose="02020603050405020304" pitchFamily="18" charset="0"/>
              </a:rPr>
              <a:t>x</a:t>
            </a:r>
            <a:r>
              <a:rPr lang="en-US" altLang="ru-RU" sz="3200" i="1" baseline="-25000" dirty="0">
                <a:latin typeface="Times New Roman" panose="02020603050405020304" pitchFamily="18" charset="0"/>
                <a:cs typeface="Times New Roman" panose="02020603050405020304" pitchFamily="18" charset="0"/>
              </a:rPr>
              <a:t>i</a:t>
            </a:r>
            <a:r>
              <a:rPr lang="en-US" altLang="ru-RU" sz="3200" baseline="-25000" dirty="0">
                <a:latin typeface="Times New Roman" panose="02020603050405020304" pitchFamily="18" charset="0"/>
                <a:cs typeface="Times New Roman" panose="02020603050405020304" pitchFamily="18" charset="0"/>
              </a:rPr>
              <a:t> </a:t>
            </a:r>
            <a:r>
              <a:rPr lang="en-US" altLang="ru-RU" sz="3200" dirty="0" smtClean="0">
                <a:latin typeface="Times New Roman" panose="02020603050405020304" pitchFamily="18" charset="0"/>
                <a:cs typeface="Times New Roman" panose="02020603050405020304" pitchFamily="18" charset="0"/>
              </a:rPr>
              <a:t>:</a:t>
            </a:r>
            <a:r>
              <a:rPr lang="en-US" altLang="ru-RU" sz="3200" dirty="0">
                <a:latin typeface="Times New Roman" panose="02020603050405020304" pitchFamily="18" charset="0"/>
                <a:cs typeface="Times New Roman" panose="02020603050405020304" pitchFamily="18" charset="0"/>
              </a:rPr>
              <a:t>	</a:t>
            </a:r>
            <a:r>
              <a:rPr lang="en-US" altLang="ru-RU" sz="3200" dirty="0" smtClean="0">
                <a:latin typeface="Times New Roman" panose="02020603050405020304" pitchFamily="18" charset="0"/>
                <a:cs typeface="Times New Roman" panose="02020603050405020304" pitchFamily="18" charset="0"/>
              </a:rPr>
              <a:t> </a:t>
            </a:r>
            <a:r>
              <a:rPr lang="en-US" altLang="ru-RU" sz="3200" dirty="0" err="1" smtClean="0">
                <a:latin typeface="Times New Roman" panose="02020603050405020304" pitchFamily="18" charset="0"/>
                <a:cs typeface="Times New Roman" panose="02020603050405020304" pitchFamily="18" charset="0"/>
              </a:rPr>
              <a:t>y</a:t>
            </a:r>
            <a:r>
              <a:rPr lang="en-US" altLang="ru-RU" sz="3200" baseline="-25000" dirty="0" err="1" smtClean="0">
                <a:latin typeface="Times New Roman" panose="02020603050405020304" pitchFamily="18" charset="0"/>
                <a:cs typeface="Times New Roman" panose="02020603050405020304" pitchFamily="18" charset="0"/>
              </a:rPr>
              <a:t>i</a:t>
            </a:r>
            <a:r>
              <a:rPr lang="en-US" altLang="ru-RU" sz="3200" baseline="-25000" dirty="0" smtClean="0">
                <a:latin typeface="Times New Roman" panose="02020603050405020304" pitchFamily="18" charset="0"/>
                <a:cs typeface="Times New Roman" panose="02020603050405020304" pitchFamily="18" charset="0"/>
              </a:rPr>
              <a:t> </a:t>
            </a:r>
            <a:r>
              <a:rPr lang="en-US" altLang="ru-RU" sz="3200" dirty="0">
                <a:latin typeface="Times New Roman" panose="02020603050405020304" pitchFamily="18" charset="0"/>
                <a:cs typeface="Times New Roman" panose="02020603050405020304" pitchFamily="18" charset="0"/>
              </a:rPr>
              <a:t>(</a:t>
            </a:r>
            <a:r>
              <a:rPr lang="en-US" altLang="ru-RU" sz="3200" b="1" dirty="0" err="1">
                <a:latin typeface="Times New Roman" panose="02020603050405020304" pitchFamily="18" charset="0"/>
                <a:cs typeface="Times New Roman" panose="02020603050405020304" pitchFamily="18" charset="0"/>
              </a:rPr>
              <a:t>w</a:t>
            </a:r>
            <a:r>
              <a:rPr lang="en-US" altLang="ru-RU" sz="3200" baseline="30000" dirty="0" err="1">
                <a:latin typeface="Times New Roman" panose="02020603050405020304" pitchFamily="18" charset="0"/>
                <a:cs typeface="Times New Roman" panose="02020603050405020304" pitchFamily="18" charset="0"/>
              </a:rPr>
              <a:t>T</a:t>
            </a:r>
            <a:r>
              <a:rPr lang="en-US" altLang="ru-RU" sz="3200" b="1" dirty="0" err="1">
                <a:latin typeface="Times New Roman" panose="02020603050405020304" pitchFamily="18" charset="0"/>
                <a:cs typeface="Times New Roman" panose="02020603050405020304" pitchFamily="18" charset="0"/>
              </a:rPr>
              <a:t>x</a:t>
            </a:r>
            <a:r>
              <a:rPr lang="en-US" altLang="ru-RU" sz="3200" baseline="-25000" dirty="0" err="1">
                <a:latin typeface="Times New Roman" panose="02020603050405020304" pitchFamily="18" charset="0"/>
                <a:cs typeface="Times New Roman" panose="02020603050405020304" pitchFamily="18" charset="0"/>
              </a:rPr>
              <a:t>i</a:t>
            </a:r>
            <a:r>
              <a:rPr lang="en-US" altLang="ru-RU" sz="3200" dirty="0">
                <a:latin typeface="Times New Roman" panose="02020603050405020304" pitchFamily="18" charset="0"/>
                <a:cs typeface="Times New Roman" panose="02020603050405020304" pitchFamily="18" charset="0"/>
              </a:rPr>
              <a:t> + b</a:t>
            </a:r>
            <a:r>
              <a:rPr lang="en-US" altLang="ru-RU" sz="3200" dirty="0" smtClean="0">
                <a:latin typeface="Times New Roman" panose="02020603050405020304" pitchFamily="18" charset="0"/>
                <a:cs typeface="Times New Roman" panose="02020603050405020304" pitchFamily="18" charset="0"/>
              </a:rPr>
              <a:t>)</a:t>
            </a:r>
            <a:endParaRPr lang="ru-RU" altLang="ru-RU" sz="3200" dirty="0" smtClean="0">
              <a:latin typeface="Times New Roman" panose="02020603050405020304" pitchFamily="18" charset="0"/>
              <a:cs typeface="Times New Roman" panose="02020603050405020304" pitchFamily="18" charset="0"/>
            </a:endParaRPr>
          </a:p>
          <a:p>
            <a:pPr marL="0" indent="0" fontAlgn="base">
              <a:buNone/>
            </a:pPr>
            <a:r>
              <a:rPr lang="ru-RU" altLang="ru-RU" sz="3200" dirty="0">
                <a:latin typeface="Times New Roman" panose="02020603050405020304" pitchFamily="18" charset="0"/>
                <a:cs typeface="Times New Roman" panose="02020603050405020304" pitchFamily="18" charset="0"/>
              </a:rPr>
              <a:t>Функциональная граница набора данных в два раза превышает минимальную функциональную границу для любой </a:t>
            </a:r>
            <a:r>
              <a:rPr lang="ru-RU" altLang="ru-RU" sz="3200" dirty="0" smtClean="0">
                <a:latin typeface="Times New Roman" panose="02020603050405020304" pitchFamily="18" charset="0"/>
                <a:cs typeface="Times New Roman" panose="02020603050405020304" pitchFamily="18" charset="0"/>
              </a:rPr>
              <a:t>точки</a:t>
            </a:r>
          </a:p>
          <a:p>
            <a:pPr marL="0" indent="0" fontAlgn="base">
              <a:buNone/>
            </a:pPr>
            <a:r>
              <a:rPr lang="ru-RU" altLang="ru-RU" sz="3200" dirty="0" smtClean="0">
                <a:latin typeface="Times New Roman" panose="02020603050405020304" pitchFamily="18" charset="0"/>
                <a:cs typeface="Times New Roman" panose="02020603050405020304" pitchFamily="18" charset="0"/>
              </a:rPr>
              <a:t>Коэффициент </a:t>
            </a:r>
            <a:r>
              <a:rPr lang="ru-RU" altLang="ru-RU" sz="3200" dirty="0">
                <a:latin typeface="Times New Roman" panose="02020603050405020304" pitchFamily="18" charset="0"/>
                <a:cs typeface="Times New Roman" panose="02020603050405020304" pitchFamily="18" charset="0"/>
              </a:rPr>
              <a:t>2 определяется при измерении всей ширины границы</a:t>
            </a:r>
            <a:endParaRPr lang="en-US" altLang="ru-RU" sz="3200" dirty="0">
              <a:latin typeface="Times New Roman" panose="02020603050405020304" pitchFamily="18" charset="0"/>
              <a:cs typeface="Times New Roman" panose="02020603050405020304" pitchFamily="18" charset="0"/>
            </a:endParaRPr>
          </a:p>
          <a:p>
            <a:pPr marL="0" indent="0" fontAlgn="base">
              <a:buNone/>
            </a:pPr>
            <a:r>
              <a:rPr lang="ru-RU" sz="3000" dirty="0" smtClean="0">
                <a:latin typeface="Times New Roman" panose="02020603050405020304" pitchFamily="18" charset="0"/>
                <a:cs typeface="Times New Roman" panose="02020603050405020304" pitchFamily="18" charset="0"/>
              </a:rPr>
              <a:t>Проблема</a:t>
            </a:r>
            <a:r>
              <a:rPr lang="ru-RU" sz="3000" dirty="0">
                <a:latin typeface="Times New Roman" panose="02020603050405020304" pitchFamily="18" charset="0"/>
                <a:cs typeface="Times New Roman" panose="02020603050405020304" pitchFamily="18" charset="0"/>
              </a:rPr>
              <a:t>: мы можем увеличить эту </a:t>
            </a:r>
            <a:r>
              <a:rPr lang="ru-RU" sz="3000" dirty="0" smtClean="0">
                <a:latin typeface="Times New Roman" panose="02020603050405020304" pitchFamily="18" charset="0"/>
                <a:cs typeface="Times New Roman" panose="02020603050405020304" pitchFamily="18" charset="0"/>
              </a:rPr>
              <a:t>границу </a:t>
            </a:r>
            <a:r>
              <a:rPr lang="ru-RU" sz="3000" dirty="0">
                <a:latin typeface="Times New Roman" panose="02020603050405020304" pitchFamily="18" charset="0"/>
                <a:cs typeface="Times New Roman" panose="02020603050405020304" pitchFamily="18" charset="0"/>
              </a:rPr>
              <a:t>простым </a:t>
            </a:r>
            <a:r>
              <a:rPr lang="ru-RU" sz="3000" dirty="0" smtClean="0">
                <a:latin typeface="Times New Roman" panose="02020603050405020304" pitchFamily="18" charset="0"/>
                <a:cs typeface="Times New Roman" panose="02020603050405020304" pitchFamily="18" charset="0"/>
              </a:rPr>
              <a:t>масштабированием </a:t>
            </a:r>
            <a:r>
              <a:rPr lang="en-US" altLang="ru-RU" sz="3200" b="1" dirty="0">
                <a:latin typeface="Times New Roman" panose="02020603050405020304" pitchFamily="18" charset="0"/>
                <a:cs typeface="Times New Roman" panose="02020603050405020304" pitchFamily="18" charset="0"/>
              </a:rPr>
              <a:t>w</a:t>
            </a:r>
            <a:r>
              <a:rPr lang="en-US" altLang="ru-RU" sz="3200" dirty="0">
                <a:latin typeface="Times New Roman" panose="02020603050405020304" pitchFamily="18" charset="0"/>
                <a:cs typeface="Times New Roman" panose="02020603050405020304" pitchFamily="18" charset="0"/>
              </a:rPr>
              <a:t>, </a:t>
            </a:r>
            <a:r>
              <a:rPr lang="en-US" altLang="ru-RU" sz="3200" b="1" dirty="0">
                <a:latin typeface="Times New Roman" panose="02020603050405020304" pitchFamily="18" charset="0"/>
                <a:cs typeface="Times New Roman" panose="02020603050405020304" pitchFamily="18" charset="0"/>
              </a:rPr>
              <a:t>b</a:t>
            </a:r>
            <a:r>
              <a:rPr lang="en-US" altLang="ru-RU" sz="3200" dirty="0" smtClean="0">
                <a:latin typeface="Times New Roman" panose="02020603050405020304" pitchFamily="18" charset="0"/>
                <a:cs typeface="Times New Roman" panose="02020603050405020304" pitchFamily="18" charset="0"/>
              </a:rPr>
              <a:t>….</a:t>
            </a:r>
            <a:r>
              <a:rPr lang="ru-RU" sz="3000" dirty="0" smtClean="0">
                <a:latin typeface="Times New Roman" panose="02020603050405020304" pitchFamily="18" charset="0"/>
                <a:cs typeface="Times New Roman" panose="02020603050405020304" pitchFamily="18" charset="0"/>
              </a:rPr>
              <a:t> </a:t>
            </a:r>
            <a:endParaRPr lang="ru-RU"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35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Геометрия</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6</a:t>
            </a:fld>
            <a:endParaRPr lang="ru-RU" noProof="0" dirty="0"/>
          </a:p>
        </p:txBody>
      </p:sp>
      <p:sp>
        <p:nvSpPr>
          <p:cNvPr id="4" name="Объект 3"/>
          <p:cNvSpPr>
            <a:spLocks noGrp="1"/>
          </p:cNvSpPr>
          <p:nvPr>
            <p:ph idx="1"/>
          </p:nvPr>
        </p:nvSpPr>
        <p:spPr>
          <a:xfrm>
            <a:off x="432000" y="1055716"/>
            <a:ext cx="6519842" cy="5135534"/>
          </a:xfrm>
        </p:spPr>
        <p:txBody>
          <a:bodyPr>
            <a:normAutofit/>
          </a:bodyPr>
          <a:lstStyle/>
          <a:p>
            <a:pPr marL="0" indent="0" fontAlgn="base">
              <a:buNone/>
            </a:pPr>
            <a:r>
              <a:rPr lang="ru-RU" sz="3000" dirty="0"/>
              <a:t>Расстояние от примера до разделителя </a:t>
            </a:r>
            <a:r>
              <a:rPr lang="ru-RU" sz="3000" dirty="0" smtClean="0"/>
              <a:t>равно</a:t>
            </a:r>
          </a:p>
          <a:p>
            <a:pPr marL="0" indent="0" fontAlgn="base">
              <a:buNone/>
            </a:pPr>
            <a:endParaRPr lang="ru-RU" sz="3000" dirty="0"/>
          </a:p>
          <a:p>
            <a:pPr marL="0" indent="0" fontAlgn="base">
              <a:buNone/>
            </a:pPr>
            <a:r>
              <a:rPr lang="ru-RU" sz="3000" dirty="0"/>
              <a:t>Примеры, ближайшие к гиперплоскости, называются опорными векторами</a:t>
            </a:r>
            <a:r>
              <a:rPr lang="ru-RU" sz="3000" dirty="0" smtClean="0"/>
              <a:t>.</a:t>
            </a:r>
          </a:p>
          <a:p>
            <a:pPr marL="0" indent="0" fontAlgn="base">
              <a:buNone/>
            </a:pPr>
            <a:r>
              <a:rPr lang="ru-RU" sz="3000" dirty="0" smtClean="0"/>
              <a:t>Ширина разделительной полосы </a:t>
            </a:r>
            <a:r>
              <a:rPr lang="ru-RU" sz="3000" dirty="0"/>
              <a:t>— ширина разделения между опорными векторами классов. </a:t>
            </a:r>
            <a:endParaRPr lang="ru-RU" sz="3000" dirty="0"/>
          </a:p>
        </p:txBody>
      </p:sp>
      <p:graphicFrame>
        <p:nvGraphicFramePr>
          <p:cNvPr id="6" name="Object 2"/>
          <p:cNvGraphicFramePr>
            <a:graphicFrameLocks noChangeAspect="1"/>
          </p:cNvGraphicFramePr>
          <p:nvPr>
            <p:extLst>
              <p:ext uri="{D42A27DB-BD31-4B8C-83A1-F6EECF244321}">
                <p14:modId xmlns:p14="http://schemas.microsoft.com/office/powerpoint/2010/main" val="2119489903"/>
              </p:ext>
            </p:extLst>
          </p:nvPr>
        </p:nvGraphicFramePr>
        <p:xfrm>
          <a:off x="1974012" y="1565800"/>
          <a:ext cx="1358900" cy="730250"/>
        </p:xfrm>
        <a:graphic>
          <a:graphicData uri="http://schemas.openxmlformats.org/presentationml/2006/ole">
            <mc:AlternateContent xmlns:mc="http://schemas.openxmlformats.org/markup-compatibility/2006">
              <mc:Choice xmlns:v="urn:schemas-microsoft-com:vml" Requires="v">
                <p:oleObj spid="_x0000_s6177" name="Equation" r:id="rId3" imgW="876300" imgH="469900" progId="Equation.3">
                  <p:embed/>
                </p:oleObj>
              </mc:Choice>
              <mc:Fallback>
                <p:oleObj name="Equation" r:id="rId3" imgW="876300" imgH="469900" progId="Equation.3">
                  <p:embed/>
                  <p:pic>
                    <p:nvPicPr>
                      <p:cNvPr id="2870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12" y="1565800"/>
                        <a:ext cx="13589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 name="Группа 2"/>
          <p:cNvGrpSpPr/>
          <p:nvPr/>
        </p:nvGrpSpPr>
        <p:grpSpPr>
          <a:xfrm>
            <a:off x="6696404" y="2076076"/>
            <a:ext cx="4933950" cy="3429000"/>
            <a:chOff x="6124754" y="3318281"/>
            <a:chExt cx="4933950" cy="3429000"/>
          </a:xfrm>
        </p:grpSpPr>
        <p:sp>
          <p:nvSpPr>
            <p:cNvPr id="7" name="Line 4"/>
            <p:cNvSpPr>
              <a:spLocks noChangeShapeType="1"/>
            </p:cNvSpPr>
            <p:nvPr/>
          </p:nvSpPr>
          <p:spPr bwMode="auto">
            <a:xfrm flipV="1">
              <a:off x="7115354" y="3705631"/>
              <a:ext cx="0" cy="30416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 name="Line 5"/>
            <p:cNvSpPr>
              <a:spLocks noChangeShapeType="1"/>
            </p:cNvSpPr>
            <p:nvPr/>
          </p:nvSpPr>
          <p:spPr bwMode="auto">
            <a:xfrm flipV="1">
              <a:off x="6977242" y="6694894"/>
              <a:ext cx="408146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9" name="AutoShape 6"/>
            <p:cNvSpPr>
              <a:spLocks noChangeArrowheads="1"/>
            </p:cNvSpPr>
            <p:nvPr/>
          </p:nvSpPr>
          <p:spPr bwMode="auto">
            <a:xfrm>
              <a:off x="8151992" y="452478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AutoShape 7"/>
            <p:cNvSpPr>
              <a:spLocks noChangeArrowheads="1"/>
            </p:cNvSpPr>
            <p:nvPr/>
          </p:nvSpPr>
          <p:spPr bwMode="auto">
            <a:xfrm>
              <a:off x="7577317" y="48819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AutoShape 8"/>
            <p:cNvSpPr>
              <a:spLocks noChangeArrowheads="1"/>
            </p:cNvSpPr>
            <p:nvPr/>
          </p:nvSpPr>
          <p:spPr bwMode="auto">
            <a:xfrm>
              <a:off x="7729717" y="54280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AutoShape 9"/>
            <p:cNvSpPr>
              <a:spLocks noChangeArrowheads="1"/>
            </p:cNvSpPr>
            <p:nvPr/>
          </p:nvSpPr>
          <p:spPr bwMode="auto">
            <a:xfrm>
              <a:off x="7348717" y="58852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AutoShape 10"/>
            <p:cNvSpPr>
              <a:spLocks noChangeArrowheads="1"/>
            </p:cNvSpPr>
            <p:nvPr/>
          </p:nvSpPr>
          <p:spPr bwMode="auto">
            <a:xfrm>
              <a:off x="7882117" y="42850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AutoShape 11"/>
            <p:cNvSpPr>
              <a:spLocks noChangeArrowheads="1"/>
            </p:cNvSpPr>
            <p:nvPr/>
          </p:nvSpPr>
          <p:spPr bwMode="auto">
            <a:xfrm>
              <a:off x="7348717" y="51994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AutoShape 12"/>
            <p:cNvSpPr>
              <a:spLocks noChangeArrowheads="1"/>
            </p:cNvSpPr>
            <p:nvPr/>
          </p:nvSpPr>
          <p:spPr bwMode="auto">
            <a:xfrm>
              <a:off x="7501117" y="53518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AutoShape 13"/>
            <p:cNvSpPr>
              <a:spLocks noChangeArrowheads="1"/>
            </p:cNvSpPr>
            <p:nvPr/>
          </p:nvSpPr>
          <p:spPr bwMode="auto">
            <a:xfrm>
              <a:off x="8263117" y="49708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AutoShape 14"/>
            <p:cNvSpPr>
              <a:spLocks noChangeArrowheads="1"/>
            </p:cNvSpPr>
            <p:nvPr/>
          </p:nvSpPr>
          <p:spPr bwMode="auto">
            <a:xfrm>
              <a:off x="9164817" y="49581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AutoShape 15"/>
            <p:cNvSpPr>
              <a:spLocks noChangeArrowheads="1"/>
            </p:cNvSpPr>
            <p:nvPr/>
          </p:nvSpPr>
          <p:spPr bwMode="auto">
            <a:xfrm>
              <a:off x="8796517" y="58852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AutoShape 16"/>
            <p:cNvSpPr>
              <a:spLocks noChangeArrowheads="1"/>
            </p:cNvSpPr>
            <p:nvPr/>
          </p:nvSpPr>
          <p:spPr bwMode="auto">
            <a:xfrm>
              <a:off x="9787117" y="58852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AutoShape 17"/>
            <p:cNvSpPr>
              <a:spLocks noChangeArrowheads="1"/>
            </p:cNvSpPr>
            <p:nvPr/>
          </p:nvSpPr>
          <p:spPr bwMode="auto">
            <a:xfrm>
              <a:off x="8479017" y="64059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AutoShape 18"/>
            <p:cNvSpPr>
              <a:spLocks noChangeArrowheads="1"/>
            </p:cNvSpPr>
            <p:nvPr/>
          </p:nvSpPr>
          <p:spPr bwMode="auto">
            <a:xfrm>
              <a:off x="9101317" y="52756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AutoShape 19"/>
            <p:cNvSpPr>
              <a:spLocks noChangeArrowheads="1"/>
            </p:cNvSpPr>
            <p:nvPr/>
          </p:nvSpPr>
          <p:spPr bwMode="auto">
            <a:xfrm>
              <a:off x="8532992" y="576938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AutoShape 20"/>
            <p:cNvSpPr>
              <a:spLocks noChangeArrowheads="1"/>
            </p:cNvSpPr>
            <p:nvPr/>
          </p:nvSpPr>
          <p:spPr bwMode="auto">
            <a:xfrm>
              <a:off x="9177517" y="61138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AutoShape 21"/>
            <p:cNvSpPr>
              <a:spLocks noChangeArrowheads="1"/>
            </p:cNvSpPr>
            <p:nvPr/>
          </p:nvSpPr>
          <p:spPr bwMode="auto">
            <a:xfrm>
              <a:off x="9863317" y="5199469"/>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AutoShape 22"/>
            <p:cNvSpPr>
              <a:spLocks noChangeArrowheads="1"/>
            </p:cNvSpPr>
            <p:nvPr/>
          </p:nvSpPr>
          <p:spPr bwMode="auto">
            <a:xfrm>
              <a:off x="8348842" y="368658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AutoShape 23"/>
            <p:cNvSpPr>
              <a:spLocks noChangeArrowheads="1"/>
            </p:cNvSpPr>
            <p:nvPr/>
          </p:nvSpPr>
          <p:spPr bwMode="auto">
            <a:xfrm>
              <a:off x="8958442" y="376278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AutoShape 24"/>
            <p:cNvSpPr>
              <a:spLocks noChangeArrowheads="1"/>
            </p:cNvSpPr>
            <p:nvPr/>
          </p:nvSpPr>
          <p:spPr bwMode="auto">
            <a:xfrm>
              <a:off x="10025242" y="452478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Line 25"/>
            <p:cNvSpPr>
              <a:spLocks noChangeShapeType="1"/>
            </p:cNvSpPr>
            <p:nvPr/>
          </p:nvSpPr>
          <p:spPr bwMode="auto">
            <a:xfrm flipV="1">
              <a:off x="7577317" y="3686581"/>
              <a:ext cx="2143125" cy="288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29" name="Line 26"/>
            <p:cNvSpPr>
              <a:spLocks noChangeShapeType="1"/>
            </p:cNvSpPr>
            <p:nvPr/>
          </p:nvSpPr>
          <p:spPr bwMode="auto">
            <a:xfrm>
              <a:off x="8429804" y="3769131"/>
              <a:ext cx="762000" cy="6159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0" name="Line 27"/>
            <p:cNvSpPr>
              <a:spLocks noChangeShapeType="1"/>
            </p:cNvSpPr>
            <p:nvPr/>
          </p:nvSpPr>
          <p:spPr bwMode="auto">
            <a:xfrm flipH="1" flipV="1">
              <a:off x="8912404" y="4791481"/>
              <a:ext cx="254000" cy="1841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1" name="Text Box 29"/>
            <p:cNvSpPr txBox="1">
              <a:spLocks noChangeArrowheads="1"/>
            </p:cNvSpPr>
            <p:nvPr/>
          </p:nvSpPr>
          <p:spPr bwMode="auto">
            <a:xfrm>
              <a:off x="8534579" y="3905656"/>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i="1">
                  <a:latin typeface="Times New Roman" panose="02020603050405020304" pitchFamily="18" charset="0"/>
                </a:rPr>
                <a:t>r</a:t>
              </a:r>
            </a:p>
          </p:txBody>
        </p:sp>
        <p:sp>
          <p:nvSpPr>
            <p:cNvPr id="32" name="Oval 30"/>
            <p:cNvSpPr>
              <a:spLocks noChangeArrowheads="1"/>
            </p:cNvSpPr>
            <p:nvPr/>
          </p:nvSpPr>
          <p:spPr bwMode="auto">
            <a:xfrm>
              <a:off x="8188504" y="4905781"/>
              <a:ext cx="228600" cy="21907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Oval 31"/>
            <p:cNvSpPr>
              <a:spLocks noChangeArrowheads="1"/>
            </p:cNvSpPr>
            <p:nvPr/>
          </p:nvSpPr>
          <p:spPr bwMode="auto">
            <a:xfrm>
              <a:off x="8461554" y="5701119"/>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4" name="Oval 32"/>
            <p:cNvSpPr>
              <a:spLocks noChangeArrowheads="1"/>
            </p:cNvSpPr>
            <p:nvPr/>
          </p:nvSpPr>
          <p:spPr bwMode="auto">
            <a:xfrm>
              <a:off x="9094967" y="4888319"/>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Line 33"/>
            <p:cNvSpPr>
              <a:spLocks noChangeShapeType="1"/>
            </p:cNvSpPr>
            <p:nvPr/>
          </p:nvSpPr>
          <p:spPr bwMode="auto">
            <a:xfrm flipH="1" flipV="1">
              <a:off x="8288517" y="5605869"/>
              <a:ext cx="244475" cy="1746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6" name="Line 34"/>
            <p:cNvSpPr>
              <a:spLocks noChangeShapeType="1"/>
            </p:cNvSpPr>
            <p:nvPr/>
          </p:nvSpPr>
          <p:spPr bwMode="auto">
            <a:xfrm flipH="1" flipV="1">
              <a:off x="8340904" y="5043894"/>
              <a:ext cx="234950" cy="17938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7" name="Line 35"/>
            <p:cNvSpPr>
              <a:spLocks noChangeShapeType="1"/>
            </p:cNvSpPr>
            <p:nvPr/>
          </p:nvSpPr>
          <p:spPr bwMode="auto">
            <a:xfrm flipV="1">
              <a:off x="8015467" y="3867556"/>
              <a:ext cx="2009775" cy="26939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38" name="Line 36"/>
            <p:cNvSpPr>
              <a:spLocks noChangeShapeType="1"/>
            </p:cNvSpPr>
            <p:nvPr/>
          </p:nvSpPr>
          <p:spPr bwMode="auto">
            <a:xfrm flipV="1">
              <a:off x="7367767" y="3505606"/>
              <a:ext cx="2066925" cy="27701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39" name="Line 38"/>
            <p:cNvSpPr>
              <a:spLocks noChangeShapeType="1"/>
            </p:cNvSpPr>
            <p:nvPr/>
          </p:nvSpPr>
          <p:spPr bwMode="auto">
            <a:xfrm>
              <a:off x="9382304" y="3572281"/>
              <a:ext cx="552450" cy="419100"/>
            </a:xfrm>
            <a:prstGeom prst="line">
              <a:avLst/>
            </a:prstGeom>
            <a:noFill/>
            <a:ln w="19050">
              <a:solidFill>
                <a:srgbClr val="339966"/>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40" name="Text Box 40"/>
            <p:cNvSpPr txBox="1">
              <a:spLocks noChangeArrowheads="1"/>
            </p:cNvSpPr>
            <p:nvPr/>
          </p:nvSpPr>
          <p:spPr bwMode="auto">
            <a:xfrm>
              <a:off x="8182154" y="3318281"/>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i="1"/>
                <a:t>x</a:t>
              </a:r>
            </a:p>
          </p:txBody>
        </p:sp>
        <p:sp>
          <p:nvSpPr>
            <p:cNvPr id="41" name="Text Box 41"/>
            <p:cNvSpPr txBox="1">
              <a:spLocks noChangeArrowheads="1"/>
            </p:cNvSpPr>
            <p:nvPr/>
          </p:nvSpPr>
          <p:spPr bwMode="auto">
            <a:xfrm>
              <a:off x="9233079" y="4196169"/>
              <a:ext cx="39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i="1"/>
                <a:t>x</a:t>
              </a:r>
              <a:r>
                <a:rPr lang="en-US" altLang="ru-RU" i="1">
                  <a:cs typeface="Arial" panose="020B0604020202020204" pitchFamily="34" charset="0"/>
                </a:rPr>
                <a:t>′</a:t>
              </a:r>
              <a:endParaRPr lang="en-US" altLang="ru-RU"/>
            </a:p>
          </p:txBody>
        </p:sp>
        <p:sp>
          <p:nvSpPr>
            <p:cNvPr id="42" name="Line 26"/>
            <p:cNvSpPr>
              <a:spLocks noChangeShapeType="1"/>
            </p:cNvSpPr>
            <p:nvPr/>
          </p:nvSpPr>
          <p:spPr bwMode="auto">
            <a:xfrm>
              <a:off x="6353354" y="6061481"/>
              <a:ext cx="762000" cy="615950"/>
            </a:xfrm>
            <a:prstGeom prst="line">
              <a:avLst/>
            </a:prstGeom>
            <a:noFill/>
            <a:ln w="19050">
              <a:solidFill>
                <a:schemeClr val="tx1"/>
              </a:solidFill>
              <a:round/>
              <a:headEnd type="triangle" w="lg" len="med"/>
              <a:tailEnd/>
            </a:ln>
            <a:extLst>
              <a:ext uri="{909E8E84-426E-40DD-AFC4-6F175D3DCCD1}">
                <a14:hiddenFill xmlns:a14="http://schemas.microsoft.com/office/drawing/2010/main">
                  <a:noFill/>
                </a14:hiddenFill>
              </a:ext>
            </a:extLst>
          </p:spPr>
          <p:txBody>
            <a:bodyPr/>
            <a:lstStyle/>
            <a:p>
              <a:endParaRPr lang="ru-RU"/>
            </a:p>
          </p:txBody>
        </p:sp>
        <p:sp>
          <p:nvSpPr>
            <p:cNvPr id="43" name="TextBox 43"/>
            <p:cNvSpPr txBox="1">
              <a:spLocks noChangeArrowheads="1"/>
            </p:cNvSpPr>
            <p:nvPr/>
          </p:nvSpPr>
          <p:spPr bwMode="auto">
            <a:xfrm>
              <a:off x="6124754" y="6213881"/>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1800" b="1"/>
                <a:t>w</a:t>
              </a:r>
            </a:p>
          </p:txBody>
        </p:sp>
      </p:grpSp>
    </p:spTree>
    <p:extLst>
      <p:ext uri="{BB962C8B-B14F-4D97-AF65-F5344CB8AC3E}">
        <p14:creationId xmlns:p14="http://schemas.microsoft.com/office/powerpoint/2010/main" val="702271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Линейные SVM </a:t>
            </a:r>
            <a:r>
              <a:rPr lang="ru-RU" b="1" dirty="0" smtClean="0"/>
              <a:t>(</a:t>
            </a:r>
            <a:r>
              <a:rPr lang="ru-RU" b="1" dirty="0"/>
              <a:t>разделимый случай)</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7</a:t>
            </a:fld>
            <a:endParaRPr lang="ru-RU" noProof="0" dirty="0"/>
          </a:p>
        </p:txBody>
      </p:sp>
      <p:sp>
        <p:nvSpPr>
          <p:cNvPr id="4" name="Объект 3"/>
          <p:cNvSpPr>
            <a:spLocks noGrp="1"/>
          </p:cNvSpPr>
          <p:nvPr>
            <p:ph idx="1"/>
          </p:nvPr>
        </p:nvSpPr>
        <p:spPr>
          <a:xfrm>
            <a:off x="432000" y="1055716"/>
            <a:ext cx="11328000" cy="5135534"/>
          </a:xfrm>
        </p:spPr>
        <p:txBody>
          <a:bodyPr>
            <a:normAutofit lnSpcReduction="10000"/>
          </a:bodyPr>
          <a:lstStyle/>
          <a:p>
            <a:pPr marL="0" indent="0" fontAlgn="base">
              <a:buNone/>
            </a:pPr>
            <a:r>
              <a:rPr lang="ru-RU" sz="3200" dirty="0"/>
              <a:t>Предположим, что </a:t>
            </a:r>
            <a:r>
              <a:rPr lang="ru-RU" sz="3200" dirty="0" smtClean="0"/>
              <a:t>функционально граница для </a:t>
            </a:r>
            <a:r>
              <a:rPr lang="ru-RU" sz="3200" dirty="0"/>
              <a:t>каждого элемента данных </a:t>
            </a:r>
            <a:r>
              <a:rPr lang="ru-RU" sz="3200" dirty="0" smtClean="0"/>
              <a:t>не меньше 1, </a:t>
            </a:r>
            <a:r>
              <a:rPr lang="ru-RU" sz="3200" dirty="0"/>
              <a:t>тогда для обучающего набора {(</a:t>
            </a:r>
            <a:r>
              <a:rPr lang="ru-RU" sz="3200" dirty="0" err="1" smtClean="0"/>
              <a:t>x</a:t>
            </a:r>
            <a:r>
              <a:rPr lang="ru-RU" sz="3200" baseline="-25000" dirty="0" err="1" smtClean="0"/>
              <a:t>i</a:t>
            </a:r>
            <a:r>
              <a:rPr lang="ru-RU" sz="3200" dirty="0" err="1" smtClean="0"/>
              <a:t>,y</a:t>
            </a:r>
            <a:r>
              <a:rPr lang="ru-RU" sz="3200" baseline="-25000" dirty="0" err="1" smtClean="0"/>
              <a:t>i</a:t>
            </a:r>
            <a:r>
              <a:rPr lang="ru-RU" sz="3200" dirty="0"/>
              <a:t>)} выполняются следующие два </a:t>
            </a:r>
            <a:r>
              <a:rPr lang="ru-RU" sz="3200" dirty="0" smtClean="0"/>
              <a:t>ограничения:</a:t>
            </a:r>
          </a:p>
          <a:p>
            <a:pPr marL="0" indent="0" fontAlgn="base">
              <a:buNone/>
            </a:pPr>
            <a:endParaRPr lang="ru-RU" sz="3200" dirty="0"/>
          </a:p>
          <a:p>
            <a:pPr marL="0" indent="0" fontAlgn="base">
              <a:buNone/>
            </a:pPr>
            <a:endParaRPr lang="ru-RU" sz="3200" dirty="0" smtClean="0"/>
          </a:p>
          <a:p>
            <a:pPr marL="0" indent="0" fontAlgn="base">
              <a:buNone/>
            </a:pPr>
            <a:r>
              <a:rPr lang="ru-RU" sz="3200" dirty="0" smtClean="0"/>
              <a:t>Для </a:t>
            </a:r>
            <a:r>
              <a:rPr lang="ru-RU" sz="3200" dirty="0"/>
              <a:t>опорных векторов неравенство превращается в </a:t>
            </a:r>
            <a:r>
              <a:rPr lang="ru-RU" sz="3200" dirty="0" smtClean="0"/>
              <a:t>равенство</a:t>
            </a:r>
          </a:p>
          <a:p>
            <a:pPr marL="0" indent="0" fontAlgn="base">
              <a:buNone/>
            </a:pPr>
            <a:r>
              <a:rPr lang="ru-RU" sz="3200" dirty="0" smtClean="0"/>
              <a:t>Тогда</a:t>
            </a:r>
            <a:r>
              <a:rPr lang="ru-RU" sz="3200" dirty="0"/>
              <a:t>, поскольку расстояние каждого примера от гиперплоскости </a:t>
            </a:r>
            <a:r>
              <a:rPr lang="ru-RU" sz="3200" dirty="0" smtClean="0"/>
              <a:t>равно</a:t>
            </a:r>
          </a:p>
          <a:p>
            <a:pPr marL="0" indent="0" fontAlgn="base">
              <a:buNone/>
            </a:pPr>
            <a:endParaRPr lang="ru-RU" sz="3200" dirty="0"/>
          </a:p>
          <a:p>
            <a:pPr marL="0" indent="0" fontAlgn="base">
              <a:buNone/>
            </a:pPr>
            <a:r>
              <a:rPr lang="ru-RU" sz="3200" dirty="0" smtClean="0"/>
              <a:t>Ширина границы будет:</a:t>
            </a:r>
          </a:p>
          <a:p>
            <a:pPr marL="0" indent="0" fontAlgn="base">
              <a:buNone/>
            </a:pPr>
            <a:endParaRPr lang="ru-RU" sz="3200" dirty="0"/>
          </a:p>
        </p:txBody>
      </p:sp>
      <p:sp>
        <p:nvSpPr>
          <p:cNvPr id="6" name="Text Box 4"/>
          <p:cNvSpPr txBox="1">
            <a:spLocks noChangeArrowheads="1"/>
          </p:cNvSpPr>
          <p:nvPr/>
        </p:nvSpPr>
        <p:spPr bwMode="auto">
          <a:xfrm>
            <a:off x="4462373" y="2299689"/>
            <a:ext cx="381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b="1" dirty="0" err="1">
                <a:latin typeface="Times New Roman" panose="02020603050405020304" pitchFamily="18" charset="0"/>
              </a:rPr>
              <a:t>w</a:t>
            </a:r>
            <a:r>
              <a:rPr lang="en-US" altLang="ru-RU" b="1" baseline="30000" dirty="0" err="1">
                <a:latin typeface="Times New Roman" panose="02020603050405020304" pitchFamily="18" charset="0"/>
              </a:rPr>
              <a:t>T</a:t>
            </a:r>
            <a:r>
              <a:rPr lang="en-US" altLang="ru-RU" b="1" dirty="0" err="1">
                <a:latin typeface="Times New Roman" panose="02020603050405020304" pitchFamily="18" charset="0"/>
              </a:rPr>
              <a:t>x</a:t>
            </a:r>
            <a:r>
              <a:rPr lang="en-US" altLang="ru-RU" b="1" baseline="-25000" dirty="0" err="1">
                <a:latin typeface="Times New Roman" panose="02020603050405020304" pitchFamily="18" charset="0"/>
              </a:rPr>
              <a:t>i</a:t>
            </a:r>
            <a:r>
              <a:rPr lang="en-US" altLang="ru-RU" b="1" dirty="0">
                <a:latin typeface="Times New Roman" panose="02020603050405020304" pitchFamily="18" charset="0"/>
              </a:rPr>
              <a:t> </a:t>
            </a:r>
            <a:r>
              <a:rPr lang="en-US" altLang="ru-RU" dirty="0">
                <a:latin typeface="Times New Roman" panose="02020603050405020304" pitchFamily="18" charset="0"/>
              </a:rPr>
              <a:t>+ </a:t>
            </a:r>
            <a:r>
              <a:rPr lang="en-US" altLang="ru-RU" i="1" dirty="0">
                <a:latin typeface="Times New Roman" panose="02020603050405020304" pitchFamily="18" charset="0"/>
              </a:rPr>
              <a:t>b</a:t>
            </a:r>
            <a:r>
              <a:rPr lang="en-US" altLang="ru-RU" b="1" dirty="0">
                <a:latin typeface="Times New Roman" panose="02020603050405020304" pitchFamily="18" charset="0"/>
              </a:rPr>
              <a:t> </a:t>
            </a:r>
            <a:r>
              <a:rPr lang="en-US" altLang="ru-RU" b="1"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1    if </a:t>
            </a:r>
            <a:r>
              <a:rPr lang="en-US" altLang="ru-RU" i="1" dirty="0" err="1">
                <a:latin typeface="Times New Roman" panose="02020603050405020304" pitchFamily="18" charset="0"/>
                <a:cs typeface="Times New Roman" panose="02020603050405020304" pitchFamily="18" charset="0"/>
              </a:rPr>
              <a:t>y</a:t>
            </a:r>
            <a:r>
              <a:rPr lang="en-US" altLang="ru-RU" i="1" baseline="-25000" dirty="0" err="1">
                <a:latin typeface="Times New Roman" panose="02020603050405020304" pitchFamily="18" charset="0"/>
                <a:cs typeface="Times New Roman" panose="02020603050405020304" pitchFamily="18" charset="0"/>
              </a:rPr>
              <a:t>i</a:t>
            </a:r>
            <a:r>
              <a:rPr lang="en-US" altLang="ru-RU" baseline="-25000"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 1</a:t>
            </a:r>
          </a:p>
          <a:p>
            <a:pPr eaLnBrk="1" hangingPunct="1">
              <a:spcBef>
                <a:spcPct val="50000"/>
              </a:spcBef>
            </a:pPr>
            <a:r>
              <a:rPr lang="en-US" altLang="ru-RU" b="1" dirty="0" err="1">
                <a:latin typeface="Times New Roman" panose="02020603050405020304" pitchFamily="18" charset="0"/>
              </a:rPr>
              <a:t>w</a:t>
            </a:r>
            <a:r>
              <a:rPr lang="en-US" altLang="ru-RU" b="1" baseline="30000" dirty="0" err="1">
                <a:latin typeface="Times New Roman" panose="02020603050405020304" pitchFamily="18" charset="0"/>
              </a:rPr>
              <a:t>T</a:t>
            </a:r>
            <a:r>
              <a:rPr lang="en-US" altLang="ru-RU" b="1" dirty="0" err="1">
                <a:latin typeface="Times New Roman" panose="02020603050405020304" pitchFamily="18" charset="0"/>
              </a:rPr>
              <a:t>x</a:t>
            </a:r>
            <a:r>
              <a:rPr lang="en-US" altLang="ru-RU" b="1" baseline="-25000" dirty="0" err="1">
                <a:latin typeface="Times New Roman" panose="02020603050405020304" pitchFamily="18" charset="0"/>
              </a:rPr>
              <a:t>i</a:t>
            </a:r>
            <a:r>
              <a:rPr lang="en-US" altLang="ru-RU" b="1" dirty="0">
                <a:latin typeface="Times New Roman" panose="02020603050405020304" pitchFamily="18" charset="0"/>
              </a:rPr>
              <a:t> </a:t>
            </a:r>
            <a:r>
              <a:rPr lang="en-US" altLang="ru-RU" dirty="0">
                <a:latin typeface="Times New Roman" panose="02020603050405020304" pitchFamily="18" charset="0"/>
              </a:rPr>
              <a:t>+ </a:t>
            </a:r>
            <a:r>
              <a:rPr lang="en-US" altLang="ru-RU" i="1" dirty="0">
                <a:latin typeface="Times New Roman" panose="02020603050405020304" pitchFamily="18" charset="0"/>
              </a:rPr>
              <a:t>b</a:t>
            </a:r>
            <a:r>
              <a:rPr lang="en-US" altLang="ru-RU" b="1" dirty="0">
                <a:latin typeface="Times New Roman" panose="02020603050405020304" pitchFamily="18" charset="0"/>
                <a:cs typeface="Times New Roman" panose="02020603050405020304" pitchFamily="18" charset="0"/>
              </a:rPr>
              <a:t> ≤ −</a:t>
            </a:r>
            <a:r>
              <a:rPr lang="en-US" altLang="ru-RU" dirty="0">
                <a:latin typeface="Times New Roman" panose="02020603050405020304" pitchFamily="18" charset="0"/>
                <a:cs typeface="Times New Roman" panose="02020603050405020304" pitchFamily="18" charset="0"/>
              </a:rPr>
              <a:t>1   if </a:t>
            </a:r>
            <a:r>
              <a:rPr lang="en-US" altLang="ru-RU" i="1" dirty="0" err="1">
                <a:latin typeface="Times New Roman" panose="02020603050405020304" pitchFamily="18" charset="0"/>
                <a:cs typeface="Times New Roman" panose="02020603050405020304" pitchFamily="18" charset="0"/>
              </a:rPr>
              <a:t>y</a:t>
            </a:r>
            <a:r>
              <a:rPr lang="en-US" altLang="ru-RU" i="1" baseline="-25000" dirty="0" err="1">
                <a:latin typeface="Times New Roman" panose="02020603050405020304" pitchFamily="18" charset="0"/>
                <a:cs typeface="Times New Roman" panose="02020603050405020304" pitchFamily="18" charset="0"/>
              </a:rPr>
              <a:t>i</a:t>
            </a:r>
            <a:r>
              <a:rPr lang="en-US" altLang="ru-RU" baseline="-25000"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 −1</a:t>
            </a:r>
            <a:endParaRPr lang="en-US" altLang="ru-RU" b="1" dirty="0">
              <a:latin typeface="Times New Roman" panose="02020603050405020304" pitchFamily="18" charset="0"/>
              <a:cs typeface="Times New Roman" panose="02020603050405020304" pitchFamily="18" charset="0"/>
            </a:endParaRPr>
          </a:p>
        </p:txBody>
      </p:sp>
      <p:graphicFrame>
        <p:nvGraphicFramePr>
          <p:cNvPr id="7" name="Object 3"/>
          <p:cNvGraphicFramePr>
            <a:graphicFrameLocks noChangeAspect="1"/>
          </p:cNvGraphicFramePr>
          <p:nvPr>
            <p:extLst>
              <p:ext uri="{D42A27DB-BD31-4B8C-83A1-F6EECF244321}">
                <p14:modId xmlns:p14="http://schemas.microsoft.com/office/powerpoint/2010/main" val="224965211"/>
              </p:ext>
            </p:extLst>
          </p:nvPr>
        </p:nvGraphicFramePr>
        <p:xfrm>
          <a:off x="5415756" y="4388344"/>
          <a:ext cx="1360488" cy="730250"/>
        </p:xfrm>
        <a:graphic>
          <a:graphicData uri="http://schemas.openxmlformats.org/presentationml/2006/ole">
            <mc:AlternateContent xmlns:mc="http://schemas.openxmlformats.org/markup-compatibility/2006">
              <mc:Choice xmlns:v="urn:schemas-microsoft-com:vml" Requires="v">
                <p:oleObj spid="_x0000_s7228" name="Equation" r:id="rId3" imgW="876300" imgH="469900" progId="Equation.3">
                  <p:embed/>
                </p:oleObj>
              </mc:Choice>
              <mc:Fallback>
                <p:oleObj name="Equation" r:id="rId3" imgW="876300" imgH="469900" progId="Equation.3">
                  <p:embed/>
                  <p:pic>
                    <p:nvPicPr>
                      <p:cNvPr id="307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5756" y="4388344"/>
                        <a:ext cx="1360488"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2"/>
          <p:cNvGraphicFramePr>
            <a:graphicFrameLocks noChangeAspect="1"/>
          </p:cNvGraphicFramePr>
          <p:nvPr>
            <p:extLst>
              <p:ext uri="{D42A27DB-BD31-4B8C-83A1-F6EECF244321}">
                <p14:modId xmlns:p14="http://schemas.microsoft.com/office/powerpoint/2010/main" val="2784532449"/>
              </p:ext>
            </p:extLst>
          </p:nvPr>
        </p:nvGraphicFramePr>
        <p:xfrm>
          <a:off x="5559335" y="5309640"/>
          <a:ext cx="808038" cy="690563"/>
        </p:xfrm>
        <a:graphic>
          <a:graphicData uri="http://schemas.openxmlformats.org/presentationml/2006/ole">
            <mc:AlternateContent xmlns:mc="http://schemas.openxmlformats.org/markup-compatibility/2006">
              <mc:Choice xmlns:v="urn:schemas-microsoft-com:vml" Requires="v">
                <p:oleObj spid="_x0000_s7229" name="Equation" r:id="rId5" imgW="520700" imgH="444500" progId="Equation.3">
                  <p:embed/>
                </p:oleObj>
              </mc:Choice>
              <mc:Fallback>
                <p:oleObj name="Equation" r:id="rId5" imgW="520700" imgH="444500" progId="Equation.3">
                  <p:embed/>
                  <p:pic>
                    <p:nvPicPr>
                      <p:cNvPr id="30725"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9335" y="5309640"/>
                        <a:ext cx="80803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7880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Linear Support Vector Machine (SVM)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8</a:t>
            </a:fld>
            <a:endParaRPr lang="ru-RU" noProof="0" dirty="0"/>
          </a:p>
        </p:txBody>
      </p:sp>
      <p:sp>
        <p:nvSpPr>
          <p:cNvPr id="6" name="Rectangle 3"/>
          <p:cNvSpPr>
            <a:spLocks noGrp="1" noChangeArrowheads="1"/>
          </p:cNvSpPr>
          <p:nvPr>
            <p:ph type="body" idx="1"/>
          </p:nvPr>
        </p:nvSpPr>
        <p:spPr>
          <a:xfrm>
            <a:off x="1498391" y="1368725"/>
            <a:ext cx="7053262" cy="4343400"/>
          </a:xfrm>
          <a:noFill/>
        </p:spPr>
        <p:txBody>
          <a:bodyPr/>
          <a:lstStyle/>
          <a:p>
            <a:pPr marL="469900" indent="-469900" eaLnBrk="1" hangingPunct="1">
              <a:lnSpc>
                <a:spcPct val="90000"/>
              </a:lnSpc>
            </a:pPr>
            <a:endParaRPr lang="en-US" altLang="ru-RU" sz="1900" dirty="0" smtClean="0"/>
          </a:p>
          <a:p>
            <a:pPr marL="469900" indent="-469900" eaLnBrk="1" hangingPunct="1">
              <a:lnSpc>
                <a:spcPct val="90000"/>
              </a:lnSpc>
              <a:buFont typeface="Wingdings" panose="05000000000000000000" pitchFamily="2" charset="2"/>
              <a:buNone/>
            </a:pPr>
            <a:endParaRPr lang="en-US" altLang="ru-RU" sz="1900" dirty="0" smtClean="0"/>
          </a:p>
          <a:p>
            <a:pPr marL="469900" indent="-469900" eaLnBrk="1" hangingPunct="1">
              <a:lnSpc>
                <a:spcPct val="90000"/>
              </a:lnSpc>
            </a:pPr>
            <a:r>
              <a:rPr lang="ru-RU" altLang="ru-RU" sz="1900" b="1" dirty="0" smtClean="0">
                <a:solidFill>
                  <a:schemeClr val="folHlink"/>
                </a:solidFill>
              </a:rPr>
              <a:t>Гиперплоскость</a:t>
            </a:r>
            <a:endParaRPr lang="en-US" altLang="ru-RU" sz="1900" dirty="0" smtClean="0">
              <a:solidFill>
                <a:schemeClr val="folHlink"/>
              </a:solidFill>
            </a:endParaRPr>
          </a:p>
          <a:p>
            <a:pPr marL="469900" indent="-469900" eaLnBrk="1" hangingPunct="1">
              <a:lnSpc>
                <a:spcPct val="90000"/>
              </a:lnSpc>
              <a:buFont typeface="Wingdings" panose="05000000000000000000" pitchFamily="2" charset="2"/>
              <a:buNone/>
            </a:pPr>
            <a:r>
              <a:rPr lang="en-US" altLang="ru-RU" sz="1900" dirty="0" smtClean="0"/>
              <a:t>        </a:t>
            </a:r>
            <a:r>
              <a:rPr lang="en-US" altLang="ru-RU" sz="1900" b="1" dirty="0" err="1" smtClean="0"/>
              <a:t>w</a:t>
            </a:r>
            <a:r>
              <a:rPr lang="en-US" altLang="ru-RU" sz="1900" baseline="30000" dirty="0" err="1" smtClean="0"/>
              <a:t>T</a:t>
            </a:r>
            <a:r>
              <a:rPr lang="en-US" altLang="ru-RU" sz="1900" dirty="0" smtClean="0"/>
              <a:t> </a:t>
            </a:r>
            <a:r>
              <a:rPr lang="en-US" altLang="ru-RU" sz="1900" b="1" dirty="0" smtClean="0"/>
              <a:t>x</a:t>
            </a:r>
            <a:r>
              <a:rPr lang="en-US" altLang="ru-RU" sz="1900" dirty="0" smtClean="0"/>
              <a:t> + b = 0</a:t>
            </a:r>
          </a:p>
          <a:p>
            <a:pPr marL="469900" indent="-469900" eaLnBrk="1" hangingPunct="1">
              <a:lnSpc>
                <a:spcPct val="90000"/>
              </a:lnSpc>
              <a:buFont typeface="Wingdings" panose="05000000000000000000" pitchFamily="2" charset="2"/>
              <a:buNone/>
            </a:pPr>
            <a:endParaRPr lang="en-US" altLang="ru-RU" sz="1900" dirty="0" smtClean="0"/>
          </a:p>
          <a:p>
            <a:pPr marL="469900" indent="-469900"/>
            <a:r>
              <a:rPr lang="ru-RU" altLang="ru-RU" sz="1900" b="1" dirty="0">
                <a:solidFill>
                  <a:schemeClr val="folHlink"/>
                </a:solidFill>
              </a:rPr>
              <a:t>Дополнительное ограничение масштаба </a:t>
            </a:r>
            <a:r>
              <a:rPr lang="en-US" altLang="ru-RU" sz="1900" dirty="0" smtClean="0"/>
              <a:t>:</a:t>
            </a:r>
            <a:endParaRPr lang="en-US" altLang="ru-RU" sz="1900" dirty="0" smtClean="0"/>
          </a:p>
          <a:p>
            <a:pPr marL="469900" indent="-469900" eaLnBrk="1" hangingPunct="1">
              <a:lnSpc>
                <a:spcPct val="90000"/>
              </a:lnSpc>
              <a:buFont typeface="Wingdings" panose="05000000000000000000" pitchFamily="2" charset="2"/>
              <a:buNone/>
            </a:pPr>
            <a:r>
              <a:rPr lang="en-US" altLang="ru-RU" sz="1900" dirty="0" smtClean="0"/>
              <a:t>        </a:t>
            </a:r>
            <a:r>
              <a:rPr lang="en-US" altLang="ru-RU" sz="1900" b="1" dirty="0" smtClean="0">
                <a:solidFill>
                  <a:schemeClr val="hlink"/>
                </a:solidFill>
              </a:rPr>
              <a:t>min</a:t>
            </a:r>
            <a:r>
              <a:rPr lang="en-US" altLang="ru-RU" sz="1900" b="1" baseline="-25000" dirty="0" smtClean="0">
                <a:solidFill>
                  <a:schemeClr val="hlink"/>
                </a:solidFill>
              </a:rPr>
              <a:t>i=1,…,n</a:t>
            </a:r>
            <a:r>
              <a:rPr lang="en-US" altLang="ru-RU" sz="1900" b="1" dirty="0" smtClean="0">
                <a:solidFill>
                  <a:schemeClr val="hlink"/>
                </a:solidFill>
              </a:rPr>
              <a:t> |</a:t>
            </a:r>
            <a:r>
              <a:rPr lang="en-US" altLang="ru-RU" sz="1900" b="1" dirty="0" err="1" smtClean="0">
                <a:solidFill>
                  <a:schemeClr val="hlink"/>
                </a:solidFill>
              </a:rPr>
              <a:t>w</a:t>
            </a:r>
            <a:r>
              <a:rPr lang="en-US" altLang="ru-RU" sz="1900" b="1" baseline="30000" dirty="0" err="1" smtClean="0">
                <a:solidFill>
                  <a:schemeClr val="hlink"/>
                </a:solidFill>
              </a:rPr>
              <a:t>T</a:t>
            </a:r>
            <a:r>
              <a:rPr lang="en-US" altLang="ru-RU" sz="1900" b="1" dirty="0" err="1" smtClean="0">
                <a:solidFill>
                  <a:schemeClr val="hlink"/>
                </a:solidFill>
              </a:rPr>
              <a:t>x</a:t>
            </a:r>
            <a:r>
              <a:rPr lang="en-US" altLang="ru-RU" sz="1900" b="1" baseline="-25000" dirty="0" err="1" smtClean="0">
                <a:solidFill>
                  <a:schemeClr val="hlink"/>
                </a:solidFill>
              </a:rPr>
              <a:t>i</a:t>
            </a:r>
            <a:r>
              <a:rPr lang="en-US" altLang="ru-RU" sz="1900" b="1" dirty="0" smtClean="0">
                <a:solidFill>
                  <a:schemeClr val="hlink"/>
                </a:solidFill>
              </a:rPr>
              <a:t> + b| = 1</a:t>
            </a:r>
          </a:p>
          <a:p>
            <a:pPr marL="469900" indent="-469900" eaLnBrk="1" hangingPunct="1">
              <a:lnSpc>
                <a:spcPct val="90000"/>
              </a:lnSpc>
              <a:buFont typeface="Wingdings" panose="05000000000000000000" pitchFamily="2" charset="2"/>
              <a:buNone/>
            </a:pPr>
            <a:endParaRPr lang="en-US" altLang="ru-RU" sz="1900" dirty="0" smtClean="0"/>
          </a:p>
          <a:p>
            <a:pPr marL="469900" indent="-469900" eaLnBrk="1" hangingPunct="1">
              <a:lnSpc>
                <a:spcPct val="90000"/>
              </a:lnSpc>
            </a:pPr>
            <a:r>
              <a:rPr lang="ru-RU" altLang="ru-RU" sz="1900" dirty="0" smtClean="0"/>
              <a:t>Это подразумевает</a:t>
            </a:r>
            <a:r>
              <a:rPr lang="en-US" altLang="ru-RU" sz="1900" dirty="0" smtClean="0"/>
              <a:t>:</a:t>
            </a:r>
            <a:endParaRPr lang="en-US" altLang="ru-RU" sz="1900" dirty="0" smtClean="0"/>
          </a:p>
          <a:p>
            <a:pPr marL="469900" indent="-469900" eaLnBrk="1" hangingPunct="1">
              <a:lnSpc>
                <a:spcPct val="90000"/>
              </a:lnSpc>
              <a:buFont typeface="Wingdings" panose="05000000000000000000" pitchFamily="2" charset="2"/>
              <a:buNone/>
            </a:pPr>
            <a:r>
              <a:rPr lang="en-US" altLang="ru-RU" sz="1900" dirty="0" smtClean="0"/>
              <a:t>        </a:t>
            </a:r>
            <a:r>
              <a:rPr lang="en-US" altLang="ru-RU" sz="1900" dirty="0" err="1" smtClean="0"/>
              <a:t>w</a:t>
            </a:r>
            <a:r>
              <a:rPr lang="en-US" altLang="ru-RU" sz="1900" baseline="30000" dirty="0" err="1" smtClean="0"/>
              <a:t>T</a:t>
            </a:r>
            <a:r>
              <a:rPr lang="en-US" altLang="ru-RU" sz="1900" dirty="0" smtClean="0"/>
              <a:t>(</a:t>
            </a:r>
            <a:r>
              <a:rPr lang="en-US" altLang="ru-RU" sz="1900" dirty="0" err="1" smtClean="0"/>
              <a:t>x</a:t>
            </a:r>
            <a:r>
              <a:rPr lang="en-US" altLang="ru-RU" sz="1900" baseline="-25000" dirty="0" err="1" smtClean="0"/>
              <a:t>a</a:t>
            </a:r>
            <a:r>
              <a:rPr lang="en-US" altLang="ru-RU" sz="1900" dirty="0" smtClean="0"/>
              <a:t>–</a:t>
            </a:r>
            <a:r>
              <a:rPr lang="en-US" altLang="ru-RU" sz="1900" dirty="0" err="1" smtClean="0"/>
              <a:t>x</a:t>
            </a:r>
            <a:r>
              <a:rPr lang="en-US" altLang="ru-RU" sz="1900" baseline="-25000" dirty="0" err="1" smtClean="0"/>
              <a:t>b</a:t>
            </a:r>
            <a:r>
              <a:rPr lang="en-US" altLang="ru-RU" sz="1900" dirty="0" smtClean="0"/>
              <a:t>) = 2</a:t>
            </a:r>
          </a:p>
          <a:p>
            <a:pPr marL="469900" indent="-469900" eaLnBrk="1" hangingPunct="1">
              <a:lnSpc>
                <a:spcPct val="90000"/>
              </a:lnSpc>
              <a:buFont typeface="Wingdings" panose="05000000000000000000" pitchFamily="2" charset="2"/>
              <a:buNone/>
            </a:pPr>
            <a:r>
              <a:rPr lang="en-US" altLang="ru-RU" sz="1900" dirty="0" smtClean="0"/>
              <a:t> 	</a:t>
            </a:r>
            <a:r>
              <a:rPr lang="el-GR" altLang="ru-RU" sz="1800" b="1" i="1" dirty="0" smtClean="0">
                <a:solidFill>
                  <a:srgbClr val="00A000"/>
                </a:solidFill>
                <a:cs typeface="Times New Roman" panose="02020603050405020304" pitchFamily="18" charset="0"/>
              </a:rPr>
              <a:t>ρ</a:t>
            </a:r>
            <a:r>
              <a:rPr lang="en-US" altLang="ru-RU" sz="1900" dirty="0" smtClean="0"/>
              <a:t> = </a:t>
            </a:r>
            <a:r>
              <a:rPr lang="en-US" altLang="ru-RU" sz="2000" dirty="0" smtClean="0"/>
              <a:t>‖</a:t>
            </a:r>
            <a:r>
              <a:rPr lang="en-US" altLang="ru-RU" sz="1900" dirty="0" err="1" smtClean="0"/>
              <a:t>x</a:t>
            </a:r>
            <a:r>
              <a:rPr lang="en-US" altLang="ru-RU" sz="1900" baseline="-25000" dirty="0" err="1" smtClean="0"/>
              <a:t>a</a:t>
            </a:r>
            <a:r>
              <a:rPr lang="en-US" altLang="ru-RU" sz="1900" dirty="0" smtClean="0"/>
              <a:t>–x</a:t>
            </a:r>
            <a:r>
              <a:rPr lang="en-US" altLang="ru-RU" sz="1900" baseline="-25000" dirty="0" smtClean="0"/>
              <a:t>b</a:t>
            </a:r>
            <a:r>
              <a:rPr lang="en-US" altLang="ru-RU" sz="2000" dirty="0" smtClean="0"/>
              <a:t>‖</a:t>
            </a:r>
            <a:r>
              <a:rPr lang="en-US" altLang="ru-RU" sz="1900" baseline="-25000" dirty="0" smtClean="0"/>
              <a:t>2</a:t>
            </a:r>
            <a:r>
              <a:rPr lang="en-US" altLang="ru-RU" sz="1900" dirty="0" smtClean="0"/>
              <a:t> = </a:t>
            </a:r>
            <a:r>
              <a:rPr lang="en-US" altLang="ru-RU" sz="1900" b="1" dirty="0" smtClean="0">
                <a:solidFill>
                  <a:schemeClr val="hlink"/>
                </a:solidFill>
              </a:rPr>
              <a:t>2/</a:t>
            </a:r>
            <a:r>
              <a:rPr lang="en-US" altLang="ru-RU" sz="2000" dirty="0" smtClean="0">
                <a:solidFill>
                  <a:srgbClr val="0000FF"/>
                </a:solidFill>
              </a:rPr>
              <a:t>‖</a:t>
            </a:r>
            <a:r>
              <a:rPr lang="en-US" altLang="ru-RU" sz="1900" b="1" dirty="0" smtClean="0">
                <a:solidFill>
                  <a:schemeClr val="hlink"/>
                </a:solidFill>
              </a:rPr>
              <a:t>w</a:t>
            </a:r>
            <a:r>
              <a:rPr lang="en-US" altLang="ru-RU" sz="1800" dirty="0" smtClean="0">
                <a:solidFill>
                  <a:srgbClr val="0000FF"/>
                </a:solidFill>
              </a:rPr>
              <a:t>‖</a:t>
            </a:r>
            <a:r>
              <a:rPr lang="en-US" altLang="ru-RU" sz="1900" b="1" baseline="-25000" dirty="0" smtClean="0">
                <a:solidFill>
                  <a:schemeClr val="hlink"/>
                </a:solidFill>
              </a:rPr>
              <a:t>2</a:t>
            </a:r>
          </a:p>
        </p:txBody>
      </p:sp>
      <p:sp>
        <p:nvSpPr>
          <p:cNvPr id="7" name="Oval 4"/>
          <p:cNvSpPr>
            <a:spLocks noChangeArrowheads="1"/>
          </p:cNvSpPr>
          <p:nvPr/>
        </p:nvSpPr>
        <p:spPr bwMode="auto">
          <a:xfrm>
            <a:off x="6113253" y="19021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8" name="Oval 5"/>
          <p:cNvSpPr>
            <a:spLocks noChangeArrowheads="1"/>
          </p:cNvSpPr>
          <p:nvPr/>
        </p:nvSpPr>
        <p:spPr bwMode="auto">
          <a:xfrm>
            <a:off x="5960853" y="28927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Oval 6"/>
          <p:cNvSpPr>
            <a:spLocks noChangeArrowheads="1"/>
          </p:cNvSpPr>
          <p:nvPr/>
        </p:nvSpPr>
        <p:spPr bwMode="auto">
          <a:xfrm>
            <a:off x="6341853" y="25879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Oval 7"/>
          <p:cNvSpPr>
            <a:spLocks noChangeArrowheads="1"/>
          </p:cNvSpPr>
          <p:nvPr/>
        </p:nvSpPr>
        <p:spPr bwMode="auto">
          <a:xfrm>
            <a:off x="5960853" y="31213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Oval 8"/>
          <p:cNvSpPr>
            <a:spLocks noChangeArrowheads="1"/>
          </p:cNvSpPr>
          <p:nvPr/>
        </p:nvSpPr>
        <p:spPr bwMode="auto">
          <a:xfrm>
            <a:off x="6265653" y="32737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Oval 9"/>
          <p:cNvSpPr>
            <a:spLocks noChangeArrowheads="1"/>
          </p:cNvSpPr>
          <p:nvPr/>
        </p:nvSpPr>
        <p:spPr bwMode="auto">
          <a:xfrm>
            <a:off x="6570453" y="31213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Oval 10"/>
          <p:cNvSpPr>
            <a:spLocks noChangeArrowheads="1"/>
          </p:cNvSpPr>
          <p:nvPr/>
        </p:nvSpPr>
        <p:spPr bwMode="auto">
          <a:xfrm>
            <a:off x="6875253" y="33499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Oval 11"/>
          <p:cNvSpPr>
            <a:spLocks noChangeArrowheads="1"/>
          </p:cNvSpPr>
          <p:nvPr/>
        </p:nvSpPr>
        <p:spPr bwMode="auto">
          <a:xfrm>
            <a:off x="7637253" y="17497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Oval 12"/>
          <p:cNvSpPr>
            <a:spLocks noChangeArrowheads="1"/>
          </p:cNvSpPr>
          <p:nvPr/>
        </p:nvSpPr>
        <p:spPr bwMode="auto">
          <a:xfrm>
            <a:off x="8246853" y="19021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Oval 13"/>
          <p:cNvSpPr>
            <a:spLocks noChangeArrowheads="1"/>
          </p:cNvSpPr>
          <p:nvPr/>
        </p:nvSpPr>
        <p:spPr bwMode="auto">
          <a:xfrm>
            <a:off x="8551653" y="23593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Oval 14"/>
          <p:cNvSpPr>
            <a:spLocks noChangeArrowheads="1"/>
          </p:cNvSpPr>
          <p:nvPr/>
        </p:nvSpPr>
        <p:spPr bwMode="auto">
          <a:xfrm>
            <a:off x="7484853" y="22069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Oval 15"/>
          <p:cNvSpPr>
            <a:spLocks noChangeArrowheads="1"/>
          </p:cNvSpPr>
          <p:nvPr/>
        </p:nvSpPr>
        <p:spPr bwMode="auto">
          <a:xfrm>
            <a:off x="8856453" y="26641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Oval 16"/>
          <p:cNvSpPr>
            <a:spLocks noChangeArrowheads="1"/>
          </p:cNvSpPr>
          <p:nvPr/>
        </p:nvSpPr>
        <p:spPr bwMode="auto">
          <a:xfrm>
            <a:off x="9085053" y="28165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Oval 17"/>
          <p:cNvSpPr>
            <a:spLocks noChangeArrowheads="1"/>
          </p:cNvSpPr>
          <p:nvPr/>
        </p:nvSpPr>
        <p:spPr bwMode="auto">
          <a:xfrm>
            <a:off x="8627853" y="30451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Oval 18"/>
          <p:cNvSpPr>
            <a:spLocks noChangeArrowheads="1"/>
          </p:cNvSpPr>
          <p:nvPr/>
        </p:nvSpPr>
        <p:spPr bwMode="auto">
          <a:xfrm>
            <a:off x="9237453" y="28165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Oval 19"/>
          <p:cNvSpPr>
            <a:spLocks noChangeArrowheads="1"/>
          </p:cNvSpPr>
          <p:nvPr/>
        </p:nvSpPr>
        <p:spPr bwMode="auto">
          <a:xfrm>
            <a:off x="9313653" y="34261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Oval 20"/>
          <p:cNvSpPr>
            <a:spLocks noChangeArrowheads="1"/>
          </p:cNvSpPr>
          <p:nvPr/>
        </p:nvSpPr>
        <p:spPr bwMode="auto">
          <a:xfrm>
            <a:off x="8551653" y="35785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Oval 21"/>
          <p:cNvSpPr>
            <a:spLocks noChangeArrowheads="1"/>
          </p:cNvSpPr>
          <p:nvPr/>
        </p:nvSpPr>
        <p:spPr bwMode="auto">
          <a:xfrm>
            <a:off x="6265653" y="30451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Oval 22"/>
          <p:cNvSpPr>
            <a:spLocks noChangeArrowheads="1"/>
          </p:cNvSpPr>
          <p:nvPr/>
        </p:nvSpPr>
        <p:spPr bwMode="auto">
          <a:xfrm>
            <a:off x="5960853" y="23593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Oval 23"/>
          <p:cNvSpPr>
            <a:spLocks noChangeArrowheads="1"/>
          </p:cNvSpPr>
          <p:nvPr/>
        </p:nvSpPr>
        <p:spPr bwMode="auto">
          <a:xfrm>
            <a:off x="6875253" y="25117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Oval 24"/>
          <p:cNvSpPr>
            <a:spLocks noChangeArrowheads="1"/>
          </p:cNvSpPr>
          <p:nvPr/>
        </p:nvSpPr>
        <p:spPr bwMode="auto">
          <a:xfrm>
            <a:off x="7561053" y="34261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Oval 25"/>
          <p:cNvSpPr>
            <a:spLocks noChangeArrowheads="1"/>
          </p:cNvSpPr>
          <p:nvPr/>
        </p:nvSpPr>
        <p:spPr bwMode="auto">
          <a:xfrm>
            <a:off x="6646653" y="28927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9" name="Oval 26"/>
          <p:cNvSpPr>
            <a:spLocks noChangeArrowheads="1"/>
          </p:cNvSpPr>
          <p:nvPr/>
        </p:nvSpPr>
        <p:spPr bwMode="auto">
          <a:xfrm>
            <a:off x="6570453" y="35023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0" name="Oval 27"/>
          <p:cNvSpPr>
            <a:spLocks noChangeArrowheads="1"/>
          </p:cNvSpPr>
          <p:nvPr/>
        </p:nvSpPr>
        <p:spPr bwMode="auto">
          <a:xfrm>
            <a:off x="8246853" y="25879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1" name="Oval 28"/>
          <p:cNvSpPr>
            <a:spLocks noChangeArrowheads="1"/>
          </p:cNvSpPr>
          <p:nvPr/>
        </p:nvSpPr>
        <p:spPr bwMode="auto">
          <a:xfrm>
            <a:off x="8704053" y="24355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2" name="Oval 29"/>
          <p:cNvSpPr>
            <a:spLocks noChangeArrowheads="1"/>
          </p:cNvSpPr>
          <p:nvPr/>
        </p:nvSpPr>
        <p:spPr bwMode="auto">
          <a:xfrm>
            <a:off x="8475453" y="28165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Oval 30"/>
          <p:cNvSpPr>
            <a:spLocks noChangeArrowheads="1"/>
          </p:cNvSpPr>
          <p:nvPr/>
        </p:nvSpPr>
        <p:spPr bwMode="auto">
          <a:xfrm>
            <a:off x="9008853" y="27403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4" name="Oval 31"/>
          <p:cNvSpPr>
            <a:spLocks noChangeArrowheads="1"/>
          </p:cNvSpPr>
          <p:nvPr/>
        </p:nvSpPr>
        <p:spPr bwMode="auto">
          <a:xfrm>
            <a:off x="9161253" y="2892725"/>
            <a:ext cx="152400" cy="1524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Line 32"/>
          <p:cNvSpPr>
            <a:spLocks noChangeShapeType="1"/>
          </p:cNvSpPr>
          <p:nvPr/>
        </p:nvSpPr>
        <p:spPr bwMode="auto">
          <a:xfrm rot="921216">
            <a:off x="6132303" y="1800525"/>
            <a:ext cx="2820988" cy="20208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36" name="Line 33"/>
          <p:cNvSpPr>
            <a:spLocks noChangeShapeType="1"/>
          </p:cNvSpPr>
          <p:nvPr/>
        </p:nvSpPr>
        <p:spPr bwMode="auto">
          <a:xfrm rot="921216">
            <a:off x="5884653" y="1978325"/>
            <a:ext cx="2725738" cy="19923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7" name="Line 34"/>
          <p:cNvSpPr>
            <a:spLocks noChangeShapeType="1"/>
          </p:cNvSpPr>
          <p:nvPr/>
        </p:nvSpPr>
        <p:spPr bwMode="auto">
          <a:xfrm rot="921216">
            <a:off x="6494253" y="1673525"/>
            <a:ext cx="2725738" cy="19923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8" name="Text Box 35"/>
          <p:cNvSpPr txBox="1">
            <a:spLocks noChangeArrowheads="1"/>
          </p:cNvSpPr>
          <p:nvPr/>
        </p:nvSpPr>
        <p:spPr bwMode="auto">
          <a:xfrm>
            <a:off x="8018253" y="4721525"/>
            <a:ext cx="177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1800" b="1">
                <a:latin typeface="Verdana" panose="020B0604030504040204" pitchFamily="34" charset="0"/>
                <a:cs typeface="Arial" panose="020B0604020202020204" pitchFamily="34" charset="0"/>
              </a:rPr>
              <a:t>w</a:t>
            </a:r>
            <a:r>
              <a:rPr lang="en-US" altLang="ru-RU" sz="1800" b="1" baseline="30000">
                <a:latin typeface="Verdana" panose="020B0604030504040204" pitchFamily="34" charset="0"/>
                <a:cs typeface="Arial" panose="020B0604020202020204" pitchFamily="34" charset="0"/>
              </a:rPr>
              <a:t>T</a:t>
            </a:r>
            <a:r>
              <a:rPr lang="en-US" altLang="ru-RU" sz="1800" b="1">
                <a:latin typeface="Verdana" panose="020B0604030504040204" pitchFamily="34" charset="0"/>
                <a:cs typeface="Arial" panose="020B0604020202020204" pitchFamily="34" charset="0"/>
              </a:rPr>
              <a:t> x + b = 0</a:t>
            </a:r>
          </a:p>
        </p:txBody>
      </p:sp>
      <p:sp>
        <p:nvSpPr>
          <p:cNvPr id="39" name="Line 36"/>
          <p:cNvSpPr>
            <a:spLocks noChangeShapeType="1"/>
          </p:cNvSpPr>
          <p:nvPr/>
        </p:nvSpPr>
        <p:spPr bwMode="auto">
          <a:xfrm flipH="1">
            <a:off x="7561053" y="1521125"/>
            <a:ext cx="990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40" name="Text Box 37"/>
          <p:cNvSpPr txBox="1">
            <a:spLocks noChangeArrowheads="1"/>
          </p:cNvSpPr>
          <p:nvPr/>
        </p:nvSpPr>
        <p:spPr bwMode="auto">
          <a:xfrm>
            <a:off x="7773778" y="1171875"/>
            <a:ext cx="1798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1800" b="1">
                <a:latin typeface="Verdana" panose="020B0604030504040204" pitchFamily="34" charset="0"/>
                <a:cs typeface="Arial" panose="020B0604020202020204" pitchFamily="34" charset="0"/>
              </a:rPr>
              <a:t>w</a:t>
            </a:r>
            <a:r>
              <a:rPr lang="en-US" altLang="ru-RU" sz="1800" b="1" baseline="30000">
                <a:latin typeface="Verdana" panose="020B0604030504040204" pitchFamily="34" charset="0"/>
                <a:cs typeface="Arial" panose="020B0604020202020204" pitchFamily="34" charset="0"/>
              </a:rPr>
              <a:t>T</a:t>
            </a:r>
            <a:r>
              <a:rPr lang="en-US" altLang="ru-RU" sz="1800" b="1">
                <a:latin typeface="Verdana" panose="020B0604030504040204" pitchFamily="34" charset="0"/>
                <a:cs typeface="Arial" panose="020B0604020202020204" pitchFamily="34" charset="0"/>
              </a:rPr>
              <a:t>x</a:t>
            </a:r>
            <a:r>
              <a:rPr lang="en-US" altLang="ru-RU" sz="1800" b="1" baseline="-25000">
                <a:latin typeface="Verdana" panose="020B0604030504040204" pitchFamily="34" charset="0"/>
                <a:cs typeface="Arial" panose="020B0604020202020204" pitchFamily="34" charset="0"/>
              </a:rPr>
              <a:t>a</a:t>
            </a:r>
            <a:r>
              <a:rPr lang="en-US" altLang="ru-RU" sz="1800" b="1">
                <a:latin typeface="Verdana" panose="020B0604030504040204" pitchFamily="34" charset="0"/>
                <a:cs typeface="Arial" panose="020B0604020202020204" pitchFamily="34" charset="0"/>
              </a:rPr>
              <a:t> + b = 1</a:t>
            </a:r>
          </a:p>
        </p:txBody>
      </p:sp>
      <p:sp>
        <p:nvSpPr>
          <p:cNvPr id="41" name="Text Box 38"/>
          <p:cNvSpPr txBox="1">
            <a:spLocks noChangeArrowheads="1"/>
          </p:cNvSpPr>
          <p:nvPr/>
        </p:nvSpPr>
        <p:spPr bwMode="auto">
          <a:xfrm>
            <a:off x="4208253" y="1840213"/>
            <a:ext cx="19129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1800" b="1">
                <a:latin typeface="Verdana" panose="020B0604030504040204" pitchFamily="34" charset="0"/>
                <a:cs typeface="Arial" panose="020B0604020202020204" pitchFamily="34" charset="0"/>
              </a:rPr>
              <a:t>w</a:t>
            </a:r>
            <a:r>
              <a:rPr lang="en-US" altLang="ru-RU" sz="1800" b="1" baseline="30000">
                <a:latin typeface="Verdana" panose="020B0604030504040204" pitchFamily="34" charset="0"/>
                <a:cs typeface="Arial" panose="020B0604020202020204" pitchFamily="34" charset="0"/>
              </a:rPr>
              <a:t>T</a:t>
            </a:r>
            <a:r>
              <a:rPr lang="en-US" altLang="ru-RU" sz="1800" b="1">
                <a:latin typeface="Verdana" panose="020B0604030504040204" pitchFamily="34" charset="0"/>
                <a:cs typeface="Arial" panose="020B0604020202020204" pitchFamily="34" charset="0"/>
              </a:rPr>
              <a:t>x</a:t>
            </a:r>
            <a:r>
              <a:rPr lang="en-US" altLang="ru-RU" sz="1800" b="1" baseline="-25000">
                <a:latin typeface="Verdana" panose="020B0604030504040204" pitchFamily="34" charset="0"/>
                <a:cs typeface="Arial" panose="020B0604020202020204" pitchFamily="34" charset="0"/>
              </a:rPr>
              <a:t>b</a:t>
            </a:r>
            <a:r>
              <a:rPr lang="en-US" altLang="ru-RU" sz="1800" b="1">
                <a:latin typeface="Verdana" panose="020B0604030504040204" pitchFamily="34" charset="0"/>
                <a:cs typeface="Arial" panose="020B0604020202020204" pitchFamily="34" charset="0"/>
              </a:rPr>
              <a:t> + b = -1</a:t>
            </a:r>
          </a:p>
        </p:txBody>
      </p:sp>
      <p:sp>
        <p:nvSpPr>
          <p:cNvPr id="42" name="Line 39"/>
          <p:cNvSpPr>
            <a:spLocks noChangeShapeType="1"/>
          </p:cNvSpPr>
          <p:nvPr/>
        </p:nvSpPr>
        <p:spPr bwMode="auto">
          <a:xfrm>
            <a:off x="5579853" y="2130725"/>
            <a:ext cx="1219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43" name="Line 40"/>
          <p:cNvSpPr>
            <a:spLocks noChangeShapeType="1"/>
          </p:cNvSpPr>
          <p:nvPr/>
        </p:nvSpPr>
        <p:spPr bwMode="auto">
          <a:xfrm flipV="1">
            <a:off x="6341853" y="1402063"/>
            <a:ext cx="457200" cy="423862"/>
          </a:xfrm>
          <a:prstGeom prst="line">
            <a:avLst/>
          </a:prstGeom>
          <a:noFill/>
          <a:ln w="60325">
            <a:solidFill>
              <a:srgbClr val="FF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44" name="Text Box 41"/>
          <p:cNvSpPr txBox="1">
            <a:spLocks noChangeArrowheads="1"/>
          </p:cNvSpPr>
          <p:nvPr/>
        </p:nvSpPr>
        <p:spPr bwMode="auto">
          <a:xfrm>
            <a:off x="6021178" y="1222675"/>
            <a:ext cx="36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l-GR" altLang="ru-RU" b="1" i="1">
                <a:solidFill>
                  <a:srgbClr val="00A000"/>
                </a:solidFill>
              </a:rPr>
              <a:t>ρ</a:t>
            </a:r>
            <a:endParaRPr lang="en-US" altLang="ru-RU" b="1" i="1">
              <a:solidFill>
                <a:srgbClr val="00A000"/>
              </a:solidFill>
            </a:endParaRPr>
          </a:p>
        </p:txBody>
      </p:sp>
      <p:cxnSp>
        <p:nvCxnSpPr>
          <p:cNvPr id="45" name="Straight Arrow Connector 43"/>
          <p:cNvCxnSpPr>
            <a:cxnSpLocks noChangeShapeType="1"/>
            <a:stCxn id="38" idx="0"/>
          </p:cNvCxnSpPr>
          <p:nvPr/>
        </p:nvCxnSpPr>
        <p:spPr bwMode="auto">
          <a:xfrm rot="16200000" flipV="1">
            <a:off x="8500060" y="4315918"/>
            <a:ext cx="533400" cy="277813"/>
          </a:xfrm>
          <a:prstGeom prst="straightConnector1">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4146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ox(in)">
                                      <p:cBhvr>
                                        <p:cTn id="7" dur="500"/>
                                        <p:tgtEl>
                                          <p:spTgt spid="3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box(in)">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box(in)">
                                      <p:cBhvr>
                                        <p:cTn id="15" dur="500"/>
                                        <p:tgtEl>
                                          <p:spTgt spid="36"/>
                                        </p:tgtEl>
                                      </p:cBhvr>
                                    </p:animEffect>
                                  </p:childTnLst>
                                </p:cTn>
                              </p:par>
                              <p:par>
                                <p:cTn id="16" presetID="4" presetClass="entr" presetSubtype="16"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box(in)">
                                      <p:cBhvr>
                                        <p:cTn id="18" dur="500"/>
                                        <p:tgtEl>
                                          <p:spTgt spid="42"/>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box(in)">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ox(in)">
                                      <p:cBhvr>
                                        <p:cTn id="26" dur="500"/>
                                        <p:tgtEl>
                                          <p:spTgt spid="37"/>
                                        </p:tgtEl>
                                      </p:cBhvr>
                                    </p:animEffect>
                                  </p:childTnLst>
                                </p:cTn>
                              </p:par>
                              <p:par>
                                <p:cTn id="27" presetID="4" presetClass="entr" presetSubtype="16"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box(in)">
                                      <p:cBhvr>
                                        <p:cTn id="29" dur="500"/>
                                        <p:tgtEl>
                                          <p:spTgt spid="39"/>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box(in)">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box(in)">
                                      <p:cBhvr>
                                        <p:cTn id="37" dur="500"/>
                                        <p:tgtEl>
                                          <p:spTgt spid="44"/>
                                        </p:tgtEl>
                                      </p:cBhvr>
                                    </p:animEffect>
                                  </p:childTnLst>
                                </p:cTn>
                              </p:par>
                              <p:par>
                                <p:cTn id="38" presetID="4" presetClass="entr" presetSubtype="16" fill="hold"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box(in)">
                                      <p:cBhvr>
                                        <p:cTn id="4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1" grpId="0"/>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Пример</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9</a:t>
            </a:fld>
            <a:endParaRPr lang="ru-RU" noProof="0" dirty="0"/>
          </a:p>
        </p:txBody>
      </p:sp>
      <p:sp>
        <p:nvSpPr>
          <p:cNvPr id="4" name="Объект 3"/>
          <p:cNvSpPr>
            <a:spLocks noGrp="1"/>
          </p:cNvSpPr>
          <p:nvPr>
            <p:ph idx="1"/>
          </p:nvPr>
        </p:nvSpPr>
        <p:spPr>
          <a:xfrm>
            <a:off x="6409426" y="1055716"/>
            <a:ext cx="5350573" cy="5135534"/>
          </a:xfrm>
        </p:spPr>
        <p:txBody>
          <a:bodyPr>
            <a:normAutofit fontScale="92500" lnSpcReduction="10000"/>
          </a:bodyPr>
          <a:lstStyle/>
          <a:p>
            <a:pPr marL="0" indent="0" fontAlgn="base">
              <a:buNone/>
            </a:pPr>
            <a:r>
              <a:rPr lang="ru-RU" sz="3200" dirty="0"/>
              <a:t>Весовой вектор </a:t>
            </a:r>
            <a:r>
              <a:rPr lang="ru-RU" sz="3200" dirty="0" smtClean="0"/>
              <a:t>Максимальной полосы параллелен </a:t>
            </a:r>
            <a:r>
              <a:rPr lang="ru-RU" sz="3200" dirty="0"/>
              <a:t>прямой от (1, 1) до (2, 3). </a:t>
            </a:r>
            <a:endParaRPr lang="ru-RU" sz="3200" dirty="0" smtClean="0"/>
          </a:p>
          <a:p>
            <a:pPr marL="0" indent="0" fontAlgn="base">
              <a:buNone/>
            </a:pPr>
            <a:r>
              <a:rPr lang="ru-RU" sz="3200" dirty="0" smtClean="0"/>
              <a:t>Таким </a:t>
            </a:r>
            <a:r>
              <a:rPr lang="ru-RU" sz="3200" dirty="0"/>
              <a:t>образом, весовой вектор равен (1, 2</a:t>
            </a:r>
            <a:r>
              <a:rPr lang="ru-RU" sz="3200" dirty="0" smtClean="0"/>
              <a:t>).</a:t>
            </a:r>
          </a:p>
          <a:p>
            <a:pPr marL="0" indent="0" fontAlgn="base">
              <a:buNone/>
            </a:pPr>
            <a:r>
              <a:rPr lang="ru-RU" sz="3200" dirty="0" smtClean="0"/>
              <a:t>Граница </a:t>
            </a:r>
            <a:r>
              <a:rPr lang="ru-RU" sz="3200" dirty="0"/>
              <a:t>принятия решения является </a:t>
            </a:r>
            <a:r>
              <a:rPr lang="ru-RU" sz="3200" dirty="0" smtClean="0"/>
              <a:t>нормальной </a:t>
            </a:r>
            <a:r>
              <a:rPr lang="ru-RU" sz="3200" dirty="0"/>
              <a:t>к ней на </a:t>
            </a:r>
            <a:r>
              <a:rPr lang="ru-RU" sz="3200" dirty="0" smtClean="0"/>
              <a:t>середине </a:t>
            </a:r>
            <a:r>
              <a:rPr lang="ru-RU" sz="3200" dirty="0"/>
              <a:t>между ними</a:t>
            </a:r>
            <a:r>
              <a:rPr lang="ru-RU" sz="3200" dirty="0" smtClean="0"/>
              <a:t>.</a:t>
            </a:r>
          </a:p>
          <a:p>
            <a:pPr marL="0" indent="0" fontAlgn="base">
              <a:buNone/>
            </a:pPr>
            <a:r>
              <a:rPr lang="ru-RU" sz="3200" dirty="0" smtClean="0"/>
              <a:t>Она </a:t>
            </a:r>
            <a:r>
              <a:rPr lang="ru-RU" sz="3200" dirty="0"/>
              <a:t>проходит через (1.5, 2</a:t>
            </a:r>
            <a:r>
              <a:rPr lang="ru-RU" sz="3200" dirty="0" smtClean="0"/>
              <a:t>)</a:t>
            </a:r>
          </a:p>
          <a:p>
            <a:pPr marL="0" indent="0" fontAlgn="base">
              <a:buNone/>
            </a:pPr>
            <a:r>
              <a:rPr lang="ru-RU" sz="3200" dirty="0" smtClean="0"/>
              <a:t>Таким </a:t>
            </a:r>
            <a:r>
              <a:rPr lang="ru-RU" sz="3200" dirty="0"/>
              <a:t>образом, y = x</a:t>
            </a:r>
            <a:r>
              <a:rPr lang="ru-RU" sz="3200" baseline="-25000" dirty="0"/>
              <a:t>1</a:t>
            </a:r>
            <a:r>
              <a:rPr lang="ru-RU" sz="3200" dirty="0"/>
              <a:t> +2x</a:t>
            </a:r>
            <a:r>
              <a:rPr lang="ru-RU" sz="3200" baseline="-25000" dirty="0"/>
              <a:t>2</a:t>
            </a:r>
            <a:r>
              <a:rPr lang="ru-RU" sz="3200" dirty="0"/>
              <a:t> − </a:t>
            </a:r>
            <a:r>
              <a:rPr lang="ru-RU" sz="3200" dirty="0" smtClean="0"/>
              <a:t>5,5</a:t>
            </a:r>
          </a:p>
          <a:p>
            <a:pPr marL="0" indent="0" fontAlgn="base">
              <a:buNone/>
            </a:pPr>
            <a:r>
              <a:rPr lang="ru-RU" sz="3200" dirty="0" smtClean="0"/>
              <a:t>Ширина полосы равна </a:t>
            </a:r>
            <a:r>
              <a:rPr lang="ru-RU" sz="3200" dirty="0"/>
              <a:t>√5</a:t>
            </a:r>
            <a:endParaRPr lang="ru-RU" sz="3200" dirty="0"/>
          </a:p>
        </p:txBody>
      </p:sp>
      <p:grpSp>
        <p:nvGrpSpPr>
          <p:cNvPr id="3" name="Группа 2"/>
          <p:cNvGrpSpPr/>
          <p:nvPr/>
        </p:nvGrpSpPr>
        <p:grpSpPr>
          <a:xfrm>
            <a:off x="248339" y="834237"/>
            <a:ext cx="5627687" cy="5051425"/>
            <a:chOff x="248339" y="834237"/>
            <a:chExt cx="5627687" cy="5051425"/>
          </a:xfrm>
        </p:grpSpPr>
        <p:pic>
          <p:nvPicPr>
            <p:cNvPr id="9"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4426" y="1931199"/>
              <a:ext cx="40386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a:spLocks noChangeArrowheads="1"/>
            </p:cNvSpPr>
            <p:nvPr/>
          </p:nvSpPr>
          <p:spPr bwMode="auto">
            <a:xfrm rot="2700000">
              <a:off x="463445" y="2355856"/>
              <a:ext cx="5051425" cy="2008187"/>
            </a:xfrm>
            <a:prstGeom prst="rect">
              <a:avLst/>
            </a:prstGeom>
            <a:solidFill>
              <a:schemeClr val="accent1">
                <a:alpha val="50195"/>
              </a:schemeClr>
            </a:solidFill>
            <a:ln w="9525">
              <a:solidFill>
                <a:srgbClr val="406E84"/>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1" name="Rectangle 6"/>
            <p:cNvSpPr>
              <a:spLocks noChangeArrowheads="1"/>
            </p:cNvSpPr>
            <p:nvPr/>
          </p:nvSpPr>
          <p:spPr bwMode="auto">
            <a:xfrm rot="1800000">
              <a:off x="248339" y="2221712"/>
              <a:ext cx="5049837" cy="2006600"/>
            </a:xfrm>
            <a:prstGeom prst="rect">
              <a:avLst/>
            </a:prstGeom>
            <a:solidFill>
              <a:schemeClr val="accent1">
                <a:alpha val="50195"/>
              </a:schemeClr>
            </a:solidFill>
            <a:ln w="9525">
              <a:solidFill>
                <a:srgbClr val="406E84"/>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2" name="Left Arrow 7"/>
            <p:cNvSpPr>
              <a:spLocks noChangeArrowheads="1"/>
            </p:cNvSpPr>
            <p:nvPr/>
          </p:nvSpPr>
          <p:spPr bwMode="auto">
            <a:xfrm>
              <a:off x="3513826" y="1931199"/>
              <a:ext cx="2362200" cy="762000"/>
            </a:xfrm>
            <a:prstGeom prst="leftArrow">
              <a:avLst>
                <a:gd name="adj1" fmla="val 50000"/>
                <a:gd name="adj2" fmla="val 50002"/>
              </a:avLst>
            </a:prstGeom>
            <a:solidFill>
              <a:schemeClr val="accent2"/>
            </a:solidFill>
            <a:ln w="9525">
              <a:solidFill>
                <a:srgbClr val="406E84"/>
              </a:solidFill>
              <a:miter lim="800000"/>
              <a:headEnd/>
              <a:tailEnd/>
            </a:ln>
            <a:effectLst>
              <a:outerShdw blurRad="40000" dist="23000" dir="5400000" rotWithShape="0">
                <a:srgbClr val="808080">
                  <a:alpha val="34999"/>
                </a:srgbClr>
              </a:outerShdw>
            </a:effectLst>
          </p:spPr>
          <p:txBody>
            <a:bodyPr anchor="ctr"/>
            <a:lstStyle/>
            <a:p>
              <a:pPr algn="ctr">
                <a:defRPr/>
              </a:pPr>
              <a:r>
                <a:rPr lang="en-US" dirty="0">
                  <a:solidFill>
                    <a:schemeClr val="lt1"/>
                  </a:solidFill>
                  <a:latin typeface="+mn-lt"/>
                  <a:ea typeface="+mn-ea"/>
                </a:rPr>
                <a:t>Extra margin</a:t>
              </a:r>
            </a:p>
          </p:txBody>
        </p:sp>
      </p:grpSp>
    </p:spTree>
    <p:extLst>
      <p:ext uri="{BB962C8B-B14F-4D97-AF65-F5344CB8AC3E}">
        <p14:creationId xmlns:p14="http://schemas.microsoft.com/office/powerpoint/2010/main" val="25057397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Linear Support Vector Machine (SVM)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10</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a:t>Тогда мы можем сформулировать задачу квадратичной </a:t>
            </a:r>
            <a:r>
              <a:rPr lang="ru-RU" sz="3000" dirty="0" smtClean="0"/>
              <a:t>оптимизации</a:t>
            </a:r>
          </a:p>
          <a:p>
            <a:pPr marL="0" indent="0" fontAlgn="base">
              <a:buNone/>
            </a:pPr>
            <a:endParaRPr lang="ru-RU" sz="3000" dirty="0"/>
          </a:p>
          <a:p>
            <a:pPr marL="0" indent="0" fontAlgn="base">
              <a:buNone/>
            </a:pPr>
            <a:endParaRPr lang="ru-RU" sz="3000" dirty="0" smtClean="0"/>
          </a:p>
          <a:p>
            <a:pPr marL="0" indent="0" fontAlgn="base">
              <a:buNone/>
            </a:pPr>
            <a:endParaRPr lang="ru-RU" sz="3000" dirty="0"/>
          </a:p>
          <a:p>
            <a:pPr marL="0" indent="0" fontAlgn="base">
              <a:buNone/>
            </a:pPr>
            <a:endParaRPr lang="ru-RU" sz="3000" dirty="0" smtClean="0"/>
          </a:p>
          <a:p>
            <a:pPr marL="0" indent="0" fontAlgn="base">
              <a:buNone/>
            </a:pPr>
            <a:r>
              <a:rPr lang="ru-RU" sz="3000" dirty="0"/>
              <a:t>Альтернативная формулировка (лучшая</a:t>
            </a:r>
            <a:r>
              <a:rPr lang="ru-RU" sz="3000" dirty="0" smtClean="0"/>
              <a:t>):</a:t>
            </a:r>
            <a:endParaRPr lang="ru-RU" sz="3000" dirty="0"/>
          </a:p>
        </p:txBody>
      </p:sp>
      <p:sp>
        <p:nvSpPr>
          <p:cNvPr id="7" name="Text Box 4"/>
          <p:cNvSpPr txBox="1">
            <a:spLocks noChangeArrowheads="1"/>
          </p:cNvSpPr>
          <p:nvPr/>
        </p:nvSpPr>
        <p:spPr bwMode="auto">
          <a:xfrm>
            <a:off x="3089335" y="1684039"/>
            <a:ext cx="5886450" cy="1671637"/>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a:latin typeface="Times New Roman" panose="02020603050405020304" pitchFamily="18" charset="0"/>
              </a:rPr>
              <a:t>Find </a:t>
            </a:r>
            <a:r>
              <a:rPr lang="en-US" altLang="ru-RU" b="1">
                <a:latin typeface="Times New Roman" panose="02020603050405020304" pitchFamily="18" charset="0"/>
              </a:rPr>
              <a:t>w</a:t>
            </a:r>
            <a:r>
              <a:rPr lang="en-US" altLang="ru-RU">
                <a:latin typeface="Times New Roman" panose="02020603050405020304" pitchFamily="18" charset="0"/>
              </a:rPr>
              <a:t> and </a:t>
            </a:r>
            <a:r>
              <a:rPr lang="en-US" altLang="ru-RU" i="1">
                <a:latin typeface="Times New Roman" panose="02020603050405020304" pitchFamily="18" charset="0"/>
              </a:rPr>
              <a:t>b</a:t>
            </a:r>
            <a:r>
              <a:rPr lang="en-US" altLang="ru-RU">
                <a:latin typeface="Times New Roman" panose="02020603050405020304" pitchFamily="18" charset="0"/>
              </a:rPr>
              <a:t> such that</a:t>
            </a:r>
          </a:p>
          <a:p>
            <a:pPr eaLnBrk="1" hangingPunct="1">
              <a:spcBef>
                <a:spcPct val="50000"/>
              </a:spcBef>
            </a:pPr>
            <a:r>
              <a:rPr lang="en-US" altLang="ru-RU">
                <a:latin typeface="Times New Roman" panose="02020603050405020304" pitchFamily="18" charset="0"/>
              </a:rPr>
              <a:t>                is maximized; and for all </a:t>
            </a:r>
            <a:r>
              <a:rPr lang="en-US" altLang="ru-RU" sz="2800">
                <a:latin typeface="Times New Roman" panose="02020603050405020304" pitchFamily="18" charset="0"/>
              </a:rPr>
              <a:t>{</a:t>
            </a:r>
            <a:r>
              <a:rPr lang="en-US" altLang="ru-RU">
                <a:latin typeface="Times New Roman" panose="02020603050405020304" pitchFamily="18" charset="0"/>
              </a:rPr>
              <a:t>(</a:t>
            </a:r>
            <a:r>
              <a:rPr lang="en-US" altLang="ru-RU" sz="2800" b="1">
                <a:latin typeface="Times New Roman" panose="02020603050405020304" pitchFamily="18" charset="0"/>
              </a:rPr>
              <a:t>x</a:t>
            </a:r>
            <a:r>
              <a:rPr lang="en-US" altLang="ru-RU" sz="2800" b="1" baseline="-25000">
                <a:latin typeface="Times New Roman" panose="02020603050405020304" pitchFamily="18" charset="0"/>
              </a:rPr>
              <a:t>i</a:t>
            </a:r>
            <a:r>
              <a:rPr lang="en-US" altLang="ru-RU" sz="2800" b="1">
                <a:latin typeface="Times New Roman" panose="02020603050405020304" pitchFamily="18" charset="0"/>
              </a:rPr>
              <a:t> </a:t>
            </a:r>
            <a:r>
              <a:rPr lang="en-US" altLang="ru-RU" sz="2800">
                <a:latin typeface="Times New Roman" panose="02020603050405020304" pitchFamily="18" charset="0"/>
              </a:rPr>
              <a:t>, </a:t>
            </a:r>
            <a:r>
              <a:rPr lang="en-US" altLang="ru-RU" sz="2800" i="1">
                <a:latin typeface="Times New Roman" panose="02020603050405020304" pitchFamily="18" charset="0"/>
              </a:rPr>
              <a:t>y</a:t>
            </a:r>
            <a:r>
              <a:rPr lang="en-US" altLang="ru-RU" sz="2800" i="1" baseline="-25000">
                <a:latin typeface="Times New Roman" panose="02020603050405020304" pitchFamily="18" charset="0"/>
              </a:rPr>
              <a:t>i</a:t>
            </a:r>
            <a:r>
              <a:rPr lang="en-US" altLang="ru-RU" sz="2800">
                <a:latin typeface="Times New Roman" panose="02020603050405020304" pitchFamily="18" charset="0"/>
              </a:rPr>
              <a:t>)}</a:t>
            </a:r>
            <a:endParaRPr lang="en-US" altLang="ru-RU">
              <a:latin typeface="Times New Roman" panose="02020603050405020304" pitchFamily="18" charset="0"/>
            </a:endParaRPr>
          </a:p>
          <a:p>
            <a:pPr eaLnBrk="1" hangingPunct="1">
              <a:spcBef>
                <a:spcPct val="50000"/>
              </a:spcBef>
            </a:pPr>
            <a:r>
              <a:rPr lang="en-US" altLang="ru-RU" b="1">
                <a:latin typeface="Times New Roman" panose="02020603050405020304" pitchFamily="18" charset="0"/>
              </a:rPr>
              <a:t>w</a:t>
            </a:r>
            <a:r>
              <a:rPr lang="en-US" altLang="ru-RU" b="1" baseline="30000">
                <a:latin typeface="Times New Roman" panose="02020603050405020304" pitchFamily="18" charset="0"/>
              </a:rPr>
              <a:t>T</a:t>
            </a:r>
            <a:r>
              <a:rPr lang="en-US" altLang="ru-RU" b="1">
                <a:latin typeface="Times New Roman" panose="02020603050405020304" pitchFamily="18" charset="0"/>
              </a:rPr>
              <a:t>x</a:t>
            </a:r>
            <a:r>
              <a:rPr lang="en-US" altLang="ru-RU" b="1" baseline="-25000">
                <a:latin typeface="Times New Roman" panose="02020603050405020304" pitchFamily="18" charset="0"/>
              </a:rPr>
              <a:t>i</a:t>
            </a:r>
            <a:r>
              <a:rPr lang="en-US" altLang="ru-RU" b="1">
                <a:latin typeface="Times New Roman" panose="02020603050405020304" pitchFamily="18" charset="0"/>
              </a:rPr>
              <a:t> </a:t>
            </a:r>
            <a:r>
              <a:rPr lang="en-US" altLang="ru-RU">
                <a:latin typeface="Times New Roman" panose="02020603050405020304" pitchFamily="18" charset="0"/>
              </a:rPr>
              <a:t>+ </a:t>
            </a:r>
            <a:r>
              <a:rPr lang="en-US" altLang="ru-RU" i="1">
                <a:latin typeface="Times New Roman" panose="02020603050405020304" pitchFamily="18" charset="0"/>
              </a:rPr>
              <a:t>b</a:t>
            </a:r>
            <a:r>
              <a:rPr lang="en-US" altLang="ru-RU" b="1">
                <a:latin typeface="Times New Roman" panose="02020603050405020304" pitchFamily="18" charset="0"/>
              </a:rPr>
              <a:t> </a:t>
            </a:r>
            <a:r>
              <a:rPr lang="en-US" altLang="ru-RU" b="1">
                <a:latin typeface="Times New Roman" panose="02020603050405020304" pitchFamily="18" charset="0"/>
                <a:cs typeface="Times New Roman" panose="02020603050405020304" pitchFamily="18" charset="0"/>
              </a:rPr>
              <a:t>≥ </a:t>
            </a:r>
            <a:r>
              <a:rPr lang="en-US" altLang="ru-RU">
                <a:latin typeface="Times New Roman" panose="02020603050405020304" pitchFamily="18" charset="0"/>
                <a:cs typeface="Times New Roman" panose="02020603050405020304" pitchFamily="18" charset="0"/>
              </a:rPr>
              <a:t>1 if </a:t>
            </a:r>
            <a:r>
              <a:rPr lang="en-US" altLang="ru-RU" i="1">
                <a:latin typeface="Times New Roman" panose="02020603050405020304" pitchFamily="18" charset="0"/>
              </a:rPr>
              <a:t>y</a:t>
            </a:r>
            <a:r>
              <a:rPr lang="en-US" altLang="ru-RU" i="1" baseline="-25000">
                <a:latin typeface="Times New Roman" panose="02020603050405020304" pitchFamily="18" charset="0"/>
              </a:rPr>
              <a:t>i</a:t>
            </a:r>
            <a:r>
              <a:rPr lang="en-US" altLang="ru-RU">
                <a:latin typeface="Times New Roman" panose="02020603050405020304" pitchFamily="18" charset="0"/>
              </a:rPr>
              <a:t>=1;   </a:t>
            </a:r>
            <a:r>
              <a:rPr lang="en-US" altLang="ru-RU" b="1">
                <a:latin typeface="Times New Roman" panose="02020603050405020304" pitchFamily="18" charset="0"/>
              </a:rPr>
              <a:t>w</a:t>
            </a:r>
            <a:r>
              <a:rPr lang="en-US" altLang="ru-RU" b="1" baseline="30000">
                <a:latin typeface="Times New Roman" panose="02020603050405020304" pitchFamily="18" charset="0"/>
              </a:rPr>
              <a:t>T</a:t>
            </a:r>
            <a:r>
              <a:rPr lang="en-US" altLang="ru-RU" b="1">
                <a:latin typeface="Times New Roman" panose="02020603050405020304" pitchFamily="18" charset="0"/>
              </a:rPr>
              <a:t>x</a:t>
            </a:r>
            <a:r>
              <a:rPr lang="en-US" altLang="ru-RU" b="1" baseline="-25000">
                <a:latin typeface="Times New Roman" panose="02020603050405020304" pitchFamily="18" charset="0"/>
              </a:rPr>
              <a:t>i</a:t>
            </a:r>
            <a:r>
              <a:rPr lang="en-US" altLang="ru-RU" b="1">
                <a:latin typeface="Times New Roman" panose="02020603050405020304" pitchFamily="18" charset="0"/>
              </a:rPr>
              <a:t> </a:t>
            </a:r>
            <a:r>
              <a:rPr lang="en-US" altLang="ru-RU">
                <a:latin typeface="Times New Roman" panose="02020603050405020304" pitchFamily="18" charset="0"/>
              </a:rPr>
              <a:t>+ </a:t>
            </a:r>
            <a:r>
              <a:rPr lang="en-US" altLang="ru-RU" i="1">
                <a:latin typeface="Times New Roman" panose="02020603050405020304" pitchFamily="18" charset="0"/>
              </a:rPr>
              <a:t>b</a:t>
            </a:r>
            <a:r>
              <a:rPr lang="en-US" altLang="ru-RU" b="1">
                <a:latin typeface="Times New Roman" panose="02020603050405020304" pitchFamily="18" charset="0"/>
                <a:cs typeface="Times New Roman" panose="02020603050405020304" pitchFamily="18" charset="0"/>
              </a:rPr>
              <a:t> ≤ -</a:t>
            </a:r>
            <a:r>
              <a:rPr lang="en-US" altLang="ru-RU">
                <a:latin typeface="Times New Roman" panose="02020603050405020304" pitchFamily="18" charset="0"/>
                <a:cs typeface="Times New Roman" panose="02020603050405020304" pitchFamily="18" charset="0"/>
              </a:rPr>
              <a:t>1   if </a:t>
            </a:r>
            <a:r>
              <a:rPr lang="en-US" altLang="ru-RU" i="1">
                <a:latin typeface="Times New Roman" panose="02020603050405020304" pitchFamily="18" charset="0"/>
                <a:cs typeface="Times New Roman" panose="02020603050405020304" pitchFamily="18" charset="0"/>
              </a:rPr>
              <a:t>y</a:t>
            </a:r>
            <a:r>
              <a:rPr lang="en-US" altLang="ru-RU" i="1" baseline="-25000">
                <a:latin typeface="Times New Roman" panose="02020603050405020304" pitchFamily="18" charset="0"/>
                <a:cs typeface="Times New Roman" panose="02020603050405020304" pitchFamily="18" charset="0"/>
              </a:rPr>
              <a:t>i</a:t>
            </a:r>
            <a:r>
              <a:rPr lang="en-US" altLang="ru-RU" baseline="-25000">
                <a:latin typeface="Times New Roman" panose="02020603050405020304" pitchFamily="18" charset="0"/>
                <a:cs typeface="Times New Roman" panose="02020603050405020304" pitchFamily="18" charset="0"/>
              </a:rPr>
              <a:t> </a:t>
            </a:r>
            <a:r>
              <a:rPr lang="en-US" altLang="ru-RU">
                <a:latin typeface="Times New Roman" panose="02020603050405020304" pitchFamily="18" charset="0"/>
                <a:cs typeface="Times New Roman" panose="02020603050405020304" pitchFamily="18" charset="0"/>
              </a:rPr>
              <a:t>= -1</a:t>
            </a:r>
          </a:p>
        </p:txBody>
      </p:sp>
      <p:graphicFrame>
        <p:nvGraphicFramePr>
          <p:cNvPr id="8" name="Object 2"/>
          <p:cNvGraphicFramePr>
            <a:graphicFrameLocks noChangeAspect="1"/>
          </p:cNvGraphicFramePr>
          <p:nvPr>
            <p:extLst>
              <p:ext uri="{D42A27DB-BD31-4B8C-83A1-F6EECF244321}">
                <p14:modId xmlns:p14="http://schemas.microsoft.com/office/powerpoint/2010/main" val="550005795"/>
              </p:ext>
            </p:extLst>
          </p:nvPr>
        </p:nvGraphicFramePr>
        <p:xfrm>
          <a:off x="3248085" y="2249189"/>
          <a:ext cx="808038" cy="690562"/>
        </p:xfrm>
        <a:graphic>
          <a:graphicData uri="http://schemas.openxmlformats.org/presentationml/2006/ole">
            <mc:AlternateContent xmlns:mc="http://schemas.openxmlformats.org/markup-compatibility/2006">
              <mc:Choice xmlns:v="urn:schemas-microsoft-com:vml" Requires="v">
                <p:oleObj spid="_x0000_s10272" name="Equation" r:id="rId3" imgW="520700" imgH="444500" progId="Equation.3">
                  <p:embed/>
                </p:oleObj>
              </mc:Choice>
              <mc:Fallback>
                <p:oleObj name="Equation" r:id="rId3" imgW="520700" imgH="444500" progId="Equation.3">
                  <p:embed/>
                  <p:pic>
                    <p:nvPicPr>
                      <p:cNvPr id="3277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8085" y="2249189"/>
                        <a:ext cx="808038" cy="69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 name="Text Box 6"/>
          <p:cNvSpPr txBox="1">
            <a:spLocks noChangeArrowheads="1"/>
          </p:cNvSpPr>
          <p:nvPr/>
        </p:nvSpPr>
        <p:spPr bwMode="auto">
          <a:xfrm>
            <a:off x="2703572" y="4361103"/>
            <a:ext cx="6657975" cy="1671637"/>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dirty="0">
                <a:latin typeface="Times New Roman" panose="02020603050405020304" pitchFamily="18" charset="0"/>
              </a:rPr>
              <a:t>Find </a:t>
            </a:r>
            <a:r>
              <a:rPr lang="en-US" altLang="ru-RU" b="1" dirty="0">
                <a:latin typeface="Times New Roman" panose="02020603050405020304" pitchFamily="18" charset="0"/>
              </a:rPr>
              <a:t>w</a:t>
            </a:r>
            <a:r>
              <a:rPr lang="en-US" altLang="ru-RU" dirty="0">
                <a:latin typeface="Times New Roman" panose="02020603050405020304" pitchFamily="18" charset="0"/>
              </a:rPr>
              <a:t> and </a:t>
            </a:r>
            <a:r>
              <a:rPr lang="en-US" altLang="ru-RU" i="1" dirty="0">
                <a:latin typeface="Times New Roman" panose="02020603050405020304" pitchFamily="18" charset="0"/>
              </a:rPr>
              <a:t>b</a:t>
            </a:r>
            <a:r>
              <a:rPr lang="en-US" altLang="ru-RU" dirty="0">
                <a:latin typeface="Times New Roman" panose="02020603050405020304" pitchFamily="18" charset="0"/>
              </a:rPr>
              <a:t> such that</a:t>
            </a:r>
          </a:p>
          <a:p>
            <a:pPr eaLnBrk="1" hangingPunct="1">
              <a:spcBef>
                <a:spcPct val="50000"/>
              </a:spcBef>
            </a:pPr>
            <a:r>
              <a:rPr lang="el-GR" altLang="ru-RU" b="1" dirty="0">
                <a:latin typeface="Times New Roman" panose="02020603050405020304" pitchFamily="18" charset="0"/>
                <a:cs typeface="Times New Roman" panose="02020603050405020304" pitchFamily="18" charset="0"/>
              </a:rPr>
              <a:t>Φ</a:t>
            </a:r>
            <a:r>
              <a:rPr lang="en-US" altLang="ru-RU" dirty="0">
                <a:latin typeface="Times New Roman" panose="02020603050405020304" pitchFamily="18" charset="0"/>
                <a:cs typeface="Times New Roman" panose="02020603050405020304" pitchFamily="18" charset="0"/>
              </a:rPr>
              <a:t>(</a:t>
            </a:r>
            <a:r>
              <a:rPr lang="en-US" altLang="ru-RU" b="1" dirty="0">
                <a:latin typeface="Times New Roman" panose="02020603050405020304" pitchFamily="18" charset="0"/>
                <a:cs typeface="Times New Roman" panose="02020603050405020304" pitchFamily="18" charset="0"/>
              </a:rPr>
              <a:t>w</a:t>
            </a:r>
            <a:r>
              <a:rPr lang="en-US" altLang="ru-RU" dirty="0">
                <a:latin typeface="Times New Roman" panose="02020603050405020304" pitchFamily="18" charset="0"/>
                <a:cs typeface="Times New Roman" panose="02020603050405020304" pitchFamily="18" charset="0"/>
              </a:rPr>
              <a:t>)</a:t>
            </a:r>
            <a:r>
              <a:rPr lang="en-US" altLang="ru-RU" b="1" dirty="0">
                <a:latin typeface="Times New Roman" panose="02020603050405020304" pitchFamily="18" charset="0"/>
                <a:cs typeface="Times New Roman" panose="02020603050405020304" pitchFamily="18" charset="0"/>
              </a:rPr>
              <a:t> =½ </a:t>
            </a:r>
            <a:r>
              <a:rPr lang="en-US" altLang="ru-RU" b="1" dirty="0" err="1">
                <a:latin typeface="Times New Roman" panose="02020603050405020304" pitchFamily="18" charset="0"/>
              </a:rPr>
              <a:t>w</a:t>
            </a:r>
            <a:r>
              <a:rPr lang="en-US" altLang="ru-RU" baseline="30000" dirty="0" err="1">
                <a:latin typeface="Times New Roman" panose="02020603050405020304" pitchFamily="18" charset="0"/>
              </a:rPr>
              <a:t>T</a:t>
            </a:r>
            <a:r>
              <a:rPr lang="en-US" altLang="ru-RU" b="1" dirty="0" err="1">
                <a:latin typeface="Times New Roman" panose="02020603050405020304" pitchFamily="18" charset="0"/>
              </a:rPr>
              <a:t>w</a:t>
            </a:r>
            <a:r>
              <a:rPr lang="en-US" altLang="ru-RU" dirty="0">
                <a:latin typeface="Times New Roman" panose="02020603050405020304" pitchFamily="18" charset="0"/>
              </a:rPr>
              <a:t>  is minimized; </a:t>
            </a:r>
          </a:p>
          <a:p>
            <a:pPr eaLnBrk="1" hangingPunct="1">
              <a:spcBef>
                <a:spcPct val="50000"/>
              </a:spcBef>
            </a:pPr>
            <a:r>
              <a:rPr lang="en-US" altLang="ru-RU" dirty="0">
                <a:latin typeface="Times New Roman" panose="02020603050405020304" pitchFamily="18" charset="0"/>
              </a:rPr>
              <a:t>and for all </a:t>
            </a:r>
            <a:r>
              <a:rPr lang="en-US" altLang="ru-RU" sz="2800" dirty="0">
                <a:latin typeface="Times New Roman" panose="02020603050405020304" pitchFamily="18" charset="0"/>
              </a:rPr>
              <a:t>{</a:t>
            </a:r>
            <a:r>
              <a:rPr lang="en-US" altLang="ru-RU" dirty="0">
                <a:latin typeface="Times New Roman" panose="02020603050405020304" pitchFamily="18" charset="0"/>
              </a:rPr>
              <a:t>(</a:t>
            </a:r>
            <a:r>
              <a:rPr lang="en-US" altLang="ru-RU" sz="2800" b="1" dirty="0">
                <a:latin typeface="Times New Roman" panose="02020603050405020304" pitchFamily="18" charset="0"/>
              </a:rPr>
              <a:t>x</a:t>
            </a:r>
            <a:r>
              <a:rPr lang="en-US" altLang="ru-RU" sz="2800" b="1" baseline="-25000" dirty="0">
                <a:latin typeface="Times New Roman" panose="02020603050405020304" pitchFamily="18" charset="0"/>
              </a:rPr>
              <a:t>i</a:t>
            </a:r>
            <a:r>
              <a:rPr lang="en-US" altLang="ru-RU" sz="2800" b="1" dirty="0">
                <a:latin typeface="Times New Roman" panose="02020603050405020304" pitchFamily="18" charset="0"/>
              </a:rPr>
              <a:t> </a:t>
            </a:r>
            <a:r>
              <a:rPr lang="en-US" altLang="ru-RU" sz="2800" dirty="0">
                <a:latin typeface="Times New Roman" panose="02020603050405020304" pitchFamily="18" charset="0"/>
              </a:rPr>
              <a:t>,</a:t>
            </a:r>
            <a:r>
              <a:rPr lang="en-US" altLang="ru-RU" sz="2800" i="1" dirty="0" err="1">
                <a:latin typeface="Times New Roman" panose="02020603050405020304" pitchFamily="18" charset="0"/>
              </a:rPr>
              <a:t>y</a:t>
            </a:r>
            <a:r>
              <a:rPr lang="en-US" altLang="ru-RU" sz="2800" i="1" baseline="-25000" dirty="0" err="1">
                <a:latin typeface="Times New Roman" panose="02020603050405020304" pitchFamily="18" charset="0"/>
              </a:rPr>
              <a:t>i</a:t>
            </a:r>
            <a:r>
              <a:rPr lang="en-US" altLang="ru-RU" sz="2800" dirty="0">
                <a:latin typeface="Times New Roman" panose="02020603050405020304" pitchFamily="18" charset="0"/>
              </a:rPr>
              <a:t>)}</a:t>
            </a:r>
            <a:r>
              <a:rPr lang="en-US" altLang="ru-RU" dirty="0">
                <a:latin typeface="Times New Roman" panose="02020603050405020304" pitchFamily="18" charset="0"/>
              </a:rPr>
              <a:t>:    </a:t>
            </a:r>
            <a:r>
              <a:rPr lang="en-US" altLang="ru-RU" i="1" dirty="0" err="1">
                <a:latin typeface="Times New Roman" panose="02020603050405020304" pitchFamily="18" charset="0"/>
              </a:rPr>
              <a:t>y</a:t>
            </a:r>
            <a:r>
              <a:rPr lang="en-US" altLang="ru-RU" i="1" baseline="-25000" dirty="0" err="1">
                <a:latin typeface="Times New Roman" panose="02020603050405020304" pitchFamily="18" charset="0"/>
              </a:rPr>
              <a:t>i</a:t>
            </a:r>
            <a:r>
              <a:rPr lang="en-US" altLang="ru-RU" dirty="0">
                <a:latin typeface="Times New Roman" panose="02020603050405020304" pitchFamily="18" charset="0"/>
              </a:rPr>
              <a:t> (</a:t>
            </a:r>
            <a:r>
              <a:rPr lang="en-US" altLang="ru-RU" b="1" dirty="0" err="1">
                <a:latin typeface="Times New Roman" panose="02020603050405020304" pitchFamily="18" charset="0"/>
              </a:rPr>
              <a:t>w</a:t>
            </a:r>
            <a:r>
              <a:rPr lang="en-US" altLang="ru-RU" b="1" baseline="30000" dirty="0" err="1">
                <a:latin typeface="Times New Roman" panose="02020603050405020304" pitchFamily="18" charset="0"/>
              </a:rPr>
              <a:t>T</a:t>
            </a:r>
            <a:r>
              <a:rPr lang="en-US" altLang="ru-RU" b="1" dirty="0" err="1">
                <a:latin typeface="Times New Roman" panose="02020603050405020304" pitchFamily="18" charset="0"/>
              </a:rPr>
              <a:t>x</a:t>
            </a:r>
            <a:r>
              <a:rPr lang="en-US" altLang="ru-RU" b="1" baseline="-25000" dirty="0" err="1">
                <a:latin typeface="Times New Roman" panose="02020603050405020304" pitchFamily="18" charset="0"/>
              </a:rPr>
              <a:t>i</a:t>
            </a:r>
            <a:r>
              <a:rPr lang="en-US" altLang="ru-RU" b="1" dirty="0">
                <a:latin typeface="Times New Roman" panose="02020603050405020304" pitchFamily="18" charset="0"/>
              </a:rPr>
              <a:t> </a:t>
            </a:r>
            <a:r>
              <a:rPr lang="en-US" altLang="ru-RU" dirty="0">
                <a:latin typeface="Times New Roman" panose="02020603050405020304" pitchFamily="18" charset="0"/>
              </a:rPr>
              <a:t>+ </a:t>
            </a:r>
            <a:r>
              <a:rPr lang="en-US" altLang="ru-RU" i="1" dirty="0">
                <a:latin typeface="Times New Roman" panose="02020603050405020304" pitchFamily="18" charset="0"/>
              </a:rPr>
              <a:t>b</a:t>
            </a:r>
            <a:r>
              <a:rPr lang="en-US" altLang="ru-RU" dirty="0">
                <a:latin typeface="Times New Roman" panose="02020603050405020304" pitchFamily="18" charset="0"/>
              </a:rPr>
              <a:t>)</a:t>
            </a:r>
            <a:r>
              <a:rPr lang="en-US" altLang="ru-RU" b="1" dirty="0">
                <a:latin typeface="Times New Roman" panose="02020603050405020304" pitchFamily="18" charset="0"/>
              </a:rPr>
              <a:t> </a:t>
            </a:r>
            <a:r>
              <a:rPr lang="en-US" altLang="ru-RU" b="1" dirty="0">
                <a:latin typeface="Times New Roman" panose="02020603050405020304" pitchFamily="18" charset="0"/>
                <a:cs typeface="Times New Roman" panose="02020603050405020304" pitchFamily="18" charset="0"/>
              </a:rPr>
              <a:t>≥ </a:t>
            </a:r>
            <a:r>
              <a:rPr lang="en-US" altLang="ru-RU"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63766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Решение </a:t>
            </a:r>
            <a:r>
              <a:rPr lang="ru-RU" b="1" dirty="0" smtClean="0"/>
              <a:t>задачи </a:t>
            </a:r>
            <a:r>
              <a:rPr lang="ru-RU" b="1" dirty="0"/>
              <a:t>оптимизации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11</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2800" dirty="0"/>
              <a:t>Задача теперь сводится к оптимизации квадратичной функции с линейными ограничениями. Это хорошо известная проблема математического программирования, существуют многочисленные (сложные) алгоритмы для </a:t>
            </a:r>
            <a:r>
              <a:rPr lang="ru-RU" sz="2800" dirty="0" smtClean="0"/>
              <a:t>ее </a:t>
            </a:r>
            <a:r>
              <a:rPr lang="ru-RU" sz="2800" dirty="0"/>
              <a:t>решения, многие специально разработаны для SVM.</a:t>
            </a:r>
          </a:p>
          <a:p>
            <a:pPr marL="0" indent="0" fontAlgn="base">
              <a:buNone/>
            </a:pPr>
            <a:r>
              <a:rPr lang="ru-RU" sz="2800" dirty="0" smtClean="0"/>
              <a:t>Решение </a:t>
            </a:r>
            <a:r>
              <a:rPr lang="ru-RU" sz="2800" dirty="0"/>
              <a:t>включает построение двойственной задачи, где каждому ограничению основной задачи соответствует множитель Лагранжа </a:t>
            </a:r>
            <a:r>
              <a:rPr lang="ru-RU" sz="2800" dirty="0" smtClean="0"/>
              <a:t>α</a:t>
            </a:r>
            <a:r>
              <a:rPr lang="ru-RU" sz="2800" baseline="-25000" dirty="0" smtClean="0"/>
              <a:t>i</a:t>
            </a:r>
            <a:r>
              <a:rPr lang="ru-RU" sz="2800" dirty="0" smtClean="0"/>
              <a:t>.</a:t>
            </a:r>
          </a:p>
          <a:p>
            <a:pPr marL="0" indent="0" fontAlgn="base">
              <a:buNone/>
            </a:pPr>
            <a:endParaRPr lang="ru-RU" sz="3200" dirty="0" smtClean="0"/>
          </a:p>
          <a:p>
            <a:pPr marL="0" indent="0" fontAlgn="base">
              <a:buNone/>
            </a:pPr>
            <a:endParaRPr lang="ru-RU" sz="3200" dirty="0"/>
          </a:p>
        </p:txBody>
      </p:sp>
      <p:sp>
        <p:nvSpPr>
          <p:cNvPr id="6" name="Text Box 5"/>
          <p:cNvSpPr txBox="1">
            <a:spLocks noChangeArrowheads="1"/>
          </p:cNvSpPr>
          <p:nvPr/>
        </p:nvSpPr>
        <p:spPr bwMode="auto">
          <a:xfrm>
            <a:off x="2543355" y="4048259"/>
            <a:ext cx="6540260" cy="144655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a:latin typeface="Times New Roman" panose="02020603050405020304" pitchFamily="18" charset="0"/>
              </a:rPr>
              <a:t>Find </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1</a:t>
            </a:r>
            <a:r>
              <a:rPr lang="en-US" altLang="ru-RU" sz="2000" i="1">
                <a:latin typeface="Times New Roman" panose="02020603050405020304" pitchFamily="18" charset="0"/>
                <a:cs typeface="Times New Roman" panose="02020603050405020304" pitchFamily="18" charset="0"/>
              </a:rPr>
              <a:t>…</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N</a:t>
            </a:r>
            <a:r>
              <a:rPr lang="en-US" altLang="ru-RU" sz="2000" baseline="-25000">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rPr>
              <a:t>such that</a:t>
            </a:r>
          </a:p>
          <a:p>
            <a:pPr eaLnBrk="1" hangingPunct="1"/>
            <a:r>
              <a:rPr lang="en-US" altLang="ru-RU" sz="2000" b="1">
                <a:latin typeface="Times New Roman" panose="02020603050405020304" pitchFamily="18" charset="0"/>
                <a:cs typeface="Times New Roman" panose="02020603050405020304" pitchFamily="18" charset="0"/>
              </a:rPr>
              <a:t>Q</a:t>
            </a:r>
            <a:r>
              <a:rPr lang="en-US" altLang="ru-RU" sz="2000">
                <a:latin typeface="Times New Roman" panose="02020603050405020304" pitchFamily="18" charset="0"/>
                <a:cs typeface="Times New Roman" panose="02020603050405020304" pitchFamily="18" charset="0"/>
              </a:rPr>
              <a:t>(</a:t>
            </a:r>
            <a:r>
              <a:rPr lang="el-GR" altLang="ru-RU" b="1">
                <a:latin typeface="Times New Roman" panose="02020603050405020304" pitchFamily="18" charset="0"/>
              </a:rPr>
              <a:t>α</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 =</a:t>
            </a:r>
            <a:r>
              <a:rPr lang="el-GR" altLang="ru-RU">
                <a:latin typeface="Times New Roman" panose="02020603050405020304" pitchFamily="18" charset="0"/>
                <a:cs typeface="Times New Roman" panose="02020603050405020304" pitchFamily="18" charset="0"/>
              </a:rPr>
              <a:t>Σ</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baseline="-25000">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½</a:t>
            </a:r>
            <a:r>
              <a:rPr lang="el-GR" altLang="ru-RU">
                <a:latin typeface="Times New Roman" panose="02020603050405020304" pitchFamily="18" charset="0"/>
              </a:rPr>
              <a:t>ΣΣ</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j</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j</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j</a:t>
            </a:r>
            <a:r>
              <a:rPr lang="en-US" altLang="ru-RU" sz="2000" b="1">
                <a:latin typeface="Times New Roman" panose="02020603050405020304" pitchFamily="18" charset="0"/>
              </a:rPr>
              <a:t> </a:t>
            </a:r>
            <a:r>
              <a:rPr lang="en-US" altLang="ru-RU" sz="2000">
                <a:latin typeface="Times New Roman" panose="02020603050405020304" pitchFamily="18" charset="0"/>
              </a:rPr>
              <a:t>is maximized and </a:t>
            </a:r>
          </a:p>
          <a:p>
            <a:pPr eaLnBrk="1" hangingPunct="1"/>
            <a:r>
              <a:rPr lang="en-US" altLang="ru-RU" sz="2000">
                <a:latin typeface="Times New Roman" panose="02020603050405020304" pitchFamily="18" charset="0"/>
              </a:rPr>
              <a:t>(1)</a:t>
            </a:r>
            <a:r>
              <a:rPr lang="en-US" altLang="ru-RU">
                <a:latin typeface="Times New Roman" panose="02020603050405020304" pitchFamily="18" charset="0"/>
              </a:rPr>
              <a:t>  </a:t>
            </a:r>
            <a:r>
              <a:rPr lang="el-GR" altLang="ru-RU">
                <a:latin typeface="Times New Roman" panose="02020603050405020304" pitchFamily="18" charset="0"/>
              </a:rPr>
              <a:t>Σ</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i</a:t>
            </a:r>
            <a:r>
              <a:rPr lang="en-US" altLang="ru-RU" sz="2000" baseline="-25000">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 0</a:t>
            </a:r>
            <a:endParaRPr lang="en-US" altLang="ru-RU" sz="2000">
              <a:latin typeface="Times New Roman" panose="02020603050405020304" pitchFamily="18" charset="0"/>
            </a:endParaRPr>
          </a:p>
          <a:p>
            <a:pPr eaLnBrk="1" hangingPunct="1"/>
            <a:r>
              <a:rPr lang="en-US" altLang="ru-RU" sz="2000">
                <a:latin typeface="Times New Roman" panose="02020603050405020304" pitchFamily="18" charset="0"/>
              </a:rPr>
              <a:t>(2) </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b="1">
                <a:latin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0 for all </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endParaRPr lang="en-US" altLang="ru-RU" sz="20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56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Решение </a:t>
            </a:r>
            <a:r>
              <a:rPr lang="ru-RU" b="1" dirty="0" smtClean="0"/>
              <a:t>задачи </a:t>
            </a:r>
            <a:r>
              <a:rPr lang="ru-RU" b="1" dirty="0"/>
              <a:t>оптимизации</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12</a:t>
            </a:fld>
            <a:endParaRPr lang="ru-RU" noProof="0" dirty="0"/>
          </a:p>
        </p:txBody>
      </p:sp>
      <p:sp>
        <p:nvSpPr>
          <p:cNvPr id="4" name="Объект 3"/>
          <p:cNvSpPr>
            <a:spLocks noGrp="1"/>
          </p:cNvSpPr>
          <p:nvPr>
            <p:ph idx="1"/>
          </p:nvPr>
        </p:nvSpPr>
        <p:spPr>
          <a:xfrm>
            <a:off x="432000" y="1055716"/>
            <a:ext cx="11328000" cy="5135534"/>
          </a:xfrm>
        </p:spPr>
        <p:txBody>
          <a:bodyPr>
            <a:normAutofit fontScale="92500" lnSpcReduction="10000"/>
          </a:bodyPr>
          <a:lstStyle/>
          <a:p>
            <a:pPr marL="0" indent="0" fontAlgn="base">
              <a:buNone/>
            </a:pPr>
            <a:r>
              <a:rPr lang="ru-RU" sz="3200" dirty="0"/>
              <a:t>Решение имеет </a:t>
            </a:r>
            <a:r>
              <a:rPr lang="ru-RU" sz="3200" dirty="0" smtClean="0"/>
              <a:t>вид:</a:t>
            </a:r>
          </a:p>
          <a:p>
            <a:pPr marL="0" indent="0" fontAlgn="base">
              <a:buNone/>
            </a:pPr>
            <a:endParaRPr lang="ru-RU" sz="3200" dirty="0" smtClean="0"/>
          </a:p>
          <a:p>
            <a:pPr marL="0" indent="0" fontAlgn="base">
              <a:buNone/>
            </a:pPr>
            <a:endParaRPr lang="ru-RU" sz="3200" dirty="0" smtClean="0"/>
          </a:p>
          <a:p>
            <a:pPr marL="0" indent="0" fontAlgn="base">
              <a:buNone/>
            </a:pPr>
            <a:r>
              <a:rPr lang="ru-RU" sz="3200" dirty="0" smtClean="0"/>
              <a:t>Каждый </a:t>
            </a:r>
            <a:r>
              <a:rPr lang="ru-RU" sz="3200" dirty="0"/>
              <a:t>ненулевой </a:t>
            </a:r>
            <a:r>
              <a:rPr lang="ru-RU" sz="3200" dirty="0" smtClean="0"/>
              <a:t>α</a:t>
            </a:r>
            <a:r>
              <a:rPr lang="ru-RU" sz="3200" baseline="-25000" dirty="0" smtClean="0"/>
              <a:t>i</a:t>
            </a:r>
            <a:r>
              <a:rPr lang="ru-RU" sz="3200" dirty="0" smtClean="0"/>
              <a:t> показывает, </a:t>
            </a:r>
            <a:r>
              <a:rPr lang="ru-RU" sz="3200" dirty="0"/>
              <a:t>что соответствующий </a:t>
            </a:r>
            <a:r>
              <a:rPr lang="ru-RU" sz="3200" dirty="0" err="1" smtClean="0"/>
              <a:t>x</a:t>
            </a:r>
            <a:r>
              <a:rPr lang="ru-RU" sz="3200" baseline="-25000" dirty="0" err="1" smtClean="0"/>
              <a:t>i</a:t>
            </a:r>
            <a:r>
              <a:rPr lang="ru-RU" sz="3200" dirty="0" smtClean="0"/>
              <a:t> является </a:t>
            </a:r>
            <a:r>
              <a:rPr lang="ru-RU" sz="3200" dirty="0"/>
              <a:t>опорным вектором.</a:t>
            </a:r>
          </a:p>
          <a:p>
            <a:pPr marL="0" indent="0" fontAlgn="base">
              <a:buNone/>
            </a:pPr>
            <a:r>
              <a:rPr lang="ru-RU" sz="3200" dirty="0" smtClean="0"/>
              <a:t>Функция </a:t>
            </a:r>
            <a:r>
              <a:rPr lang="ru-RU" sz="3200" dirty="0"/>
              <a:t>классификации принимает вид</a:t>
            </a:r>
            <a:r>
              <a:rPr lang="ru-RU" sz="3200" dirty="0" smtClean="0"/>
              <a:t>:</a:t>
            </a:r>
          </a:p>
          <a:p>
            <a:pPr marL="0" indent="0" fontAlgn="base">
              <a:buNone/>
            </a:pPr>
            <a:endParaRPr lang="ru-RU" sz="3200" dirty="0"/>
          </a:p>
          <a:p>
            <a:pPr marL="0" indent="0" fontAlgn="base">
              <a:buNone/>
            </a:pPr>
            <a:r>
              <a:rPr lang="ru-RU" sz="3200" dirty="0"/>
              <a:t>Обратите внимание, что она зависит от скалярного произведения тестируемой точки </a:t>
            </a:r>
            <a:r>
              <a:rPr lang="ru-RU" sz="3200" dirty="0" smtClean="0"/>
              <a:t>x </a:t>
            </a:r>
            <a:r>
              <a:rPr lang="ru-RU" sz="3200" dirty="0"/>
              <a:t>и опорных векторов </a:t>
            </a:r>
            <a:r>
              <a:rPr lang="ru-RU" sz="3200" dirty="0" err="1" smtClean="0"/>
              <a:t>x</a:t>
            </a:r>
            <a:r>
              <a:rPr lang="ru-RU" sz="3200" baseline="-25000" dirty="0" err="1" smtClean="0"/>
              <a:t>i</a:t>
            </a:r>
            <a:r>
              <a:rPr lang="ru-RU" sz="3200" dirty="0" smtClean="0"/>
              <a:t>.</a:t>
            </a:r>
          </a:p>
          <a:p>
            <a:pPr marL="0" indent="0" fontAlgn="base">
              <a:buNone/>
            </a:pPr>
            <a:r>
              <a:rPr lang="ru-RU" sz="3200" dirty="0"/>
              <a:t>Также имейте в виду, что решение задачи оптимизации включало в себя вычисление </a:t>
            </a:r>
            <a:r>
              <a:rPr lang="ru-RU" sz="3200" dirty="0" smtClean="0"/>
              <a:t>всех </a:t>
            </a:r>
            <a:r>
              <a:rPr lang="ru-RU" sz="3200" dirty="0" err="1" smtClean="0"/>
              <a:t>x</a:t>
            </a:r>
            <a:r>
              <a:rPr lang="ru-RU" sz="3200" baseline="-25000" dirty="0" err="1" smtClean="0"/>
              <a:t>i</a:t>
            </a:r>
            <a:r>
              <a:rPr lang="ru-RU" sz="3200" baseline="30000" dirty="0" err="1" smtClean="0"/>
              <a:t>T</a:t>
            </a:r>
            <a:r>
              <a:rPr lang="ru-RU" sz="3200" dirty="0" err="1" smtClean="0"/>
              <a:t>x</a:t>
            </a:r>
            <a:r>
              <a:rPr lang="ru-RU" sz="3200" baseline="-25000" dirty="0" err="1" smtClean="0"/>
              <a:t>j</a:t>
            </a:r>
            <a:r>
              <a:rPr lang="ru-RU" sz="3200" dirty="0" smtClean="0"/>
              <a:t> </a:t>
            </a:r>
            <a:r>
              <a:rPr lang="ru-RU" sz="3200" dirty="0"/>
              <a:t>между всеми парами точек </a:t>
            </a:r>
            <a:r>
              <a:rPr lang="ru-RU" sz="3200" dirty="0" smtClean="0"/>
              <a:t>обучения.</a:t>
            </a:r>
          </a:p>
          <a:p>
            <a:pPr marL="0" indent="0" fontAlgn="base">
              <a:buNone/>
            </a:pPr>
            <a:endParaRPr lang="ru-RU" sz="3200" dirty="0"/>
          </a:p>
        </p:txBody>
      </p:sp>
      <p:sp>
        <p:nvSpPr>
          <p:cNvPr id="7" name="Text Box 4"/>
          <p:cNvSpPr txBox="1">
            <a:spLocks noChangeArrowheads="1"/>
          </p:cNvSpPr>
          <p:nvPr/>
        </p:nvSpPr>
        <p:spPr bwMode="auto">
          <a:xfrm>
            <a:off x="2535806" y="1622305"/>
            <a:ext cx="6438900" cy="4826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b="1">
                <a:latin typeface="Times New Roman" panose="02020603050405020304" pitchFamily="18" charset="0"/>
                <a:cs typeface="Times New Roman" panose="02020603050405020304" pitchFamily="18" charset="0"/>
              </a:rPr>
              <a:t>w</a:t>
            </a:r>
            <a:r>
              <a:rPr lang="en-US" altLang="ru-RU" sz="2000">
                <a:latin typeface="Times New Roman" panose="02020603050405020304" pitchFamily="18" charset="0"/>
                <a:cs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 =</a:t>
            </a:r>
            <a:r>
              <a:rPr lang="el-GR" altLang="ru-RU">
                <a:latin typeface="Times New Roman" panose="02020603050405020304" pitchFamily="18" charset="0"/>
                <a:cs typeface="Times New Roman" panose="02020603050405020304" pitchFamily="18" charset="0"/>
              </a:rPr>
              <a:t>Σ</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i</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             </a:t>
            </a:r>
            <a:r>
              <a:rPr lang="en-US" altLang="ru-RU" sz="2000" i="1">
                <a:latin typeface="Times New Roman" panose="02020603050405020304" pitchFamily="18" charset="0"/>
              </a:rPr>
              <a:t>b</a:t>
            </a:r>
            <a:r>
              <a:rPr lang="en-US" altLang="ru-RU" sz="2000">
                <a:latin typeface="Times New Roman" panose="02020603050405020304" pitchFamily="18" charset="0"/>
              </a:rPr>
              <a:t>= </a:t>
            </a:r>
            <a:r>
              <a:rPr lang="en-US" altLang="ru-RU" sz="2000" i="1">
                <a:latin typeface="Times New Roman" panose="02020603050405020304" pitchFamily="18" charset="0"/>
              </a:rPr>
              <a:t>y</a:t>
            </a:r>
            <a:r>
              <a:rPr lang="en-US" altLang="ru-RU" sz="2000" i="1" baseline="-25000">
                <a:latin typeface="Times New Roman" panose="02020603050405020304" pitchFamily="18" charset="0"/>
              </a:rPr>
              <a:t>k</a:t>
            </a:r>
            <a:r>
              <a:rPr lang="en-US" altLang="ru-RU" sz="2000">
                <a:latin typeface="Times New Roman" panose="02020603050405020304" pitchFamily="18" charset="0"/>
              </a:rPr>
              <a:t>- </a:t>
            </a:r>
            <a:r>
              <a:rPr lang="en-US" altLang="ru-RU" sz="2000" b="1">
                <a:latin typeface="Times New Roman" panose="02020603050405020304" pitchFamily="18" charset="0"/>
              </a:rPr>
              <a:t>w</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k</a:t>
            </a:r>
            <a:r>
              <a:rPr lang="en-US" altLang="ru-RU" sz="2000" b="1">
                <a:latin typeface="Times New Roman" panose="02020603050405020304" pitchFamily="18" charset="0"/>
              </a:rPr>
              <a:t> </a:t>
            </a:r>
            <a:r>
              <a:rPr lang="en-US" altLang="ru-RU" sz="2000">
                <a:latin typeface="Times New Roman" panose="02020603050405020304" pitchFamily="18" charset="0"/>
              </a:rPr>
              <a:t>for any </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k</a:t>
            </a:r>
            <a:r>
              <a:rPr lang="en-US" altLang="ru-RU" sz="2000" b="1">
                <a:latin typeface="Times New Roman" panose="02020603050405020304" pitchFamily="18" charset="0"/>
              </a:rPr>
              <a:t> </a:t>
            </a:r>
            <a:r>
              <a:rPr lang="en-US" altLang="ru-RU" sz="2000">
                <a:latin typeface="Times New Roman" panose="02020603050405020304" pitchFamily="18" charset="0"/>
              </a:rPr>
              <a:t>such that </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k</a:t>
            </a:r>
            <a:r>
              <a:rPr lang="en-US" altLang="ru-RU" sz="2000" i="1">
                <a:latin typeface="Times New Roman" panose="02020603050405020304" pitchFamily="18" charset="0"/>
                <a:cs typeface="Times New Roman" panose="02020603050405020304" pitchFamily="18" charset="0"/>
                <a:sym typeface="Symbol" panose="05050102010706020507" pitchFamily="18" charset="2"/>
              </a:rPr>
              <a:t> </a:t>
            </a:r>
            <a:r>
              <a:rPr lang="en-US" altLang="ru-RU" sz="2000">
                <a:latin typeface="Times New Roman" panose="02020603050405020304" pitchFamily="18" charset="0"/>
                <a:cs typeface="Times New Roman" panose="02020603050405020304" pitchFamily="18" charset="0"/>
                <a:sym typeface="Symbol" panose="05050102010706020507" pitchFamily="18" charset="2"/>
              </a:rPr>
              <a:t>0</a:t>
            </a:r>
            <a:endParaRPr lang="en-US" altLang="ru-RU" sz="2000">
              <a:latin typeface="Times New Roman" panose="02020603050405020304" pitchFamily="18" charset="0"/>
            </a:endParaRPr>
          </a:p>
        </p:txBody>
      </p:sp>
      <p:sp>
        <p:nvSpPr>
          <p:cNvPr id="8" name="Text Box 5"/>
          <p:cNvSpPr txBox="1">
            <a:spLocks noChangeArrowheads="1"/>
          </p:cNvSpPr>
          <p:nvPr/>
        </p:nvSpPr>
        <p:spPr bwMode="auto">
          <a:xfrm>
            <a:off x="4691332" y="3809820"/>
            <a:ext cx="2343150" cy="4826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i="1">
                <a:latin typeface="Times New Roman" panose="02020603050405020304" pitchFamily="18" charset="0"/>
              </a:rPr>
              <a:t>f</a:t>
            </a:r>
            <a:r>
              <a:rPr lang="en-US" altLang="ru-RU" sz="2000">
                <a:latin typeface="Times New Roman" panose="02020603050405020304" pitchFamily="18" charset="0"/>
              </a:rPr>
              <a:t>(</a:t>
            </a:r>
            <a:r>
              <a:rPr lang="en-US" altLang="ru-RU" sz="2000" b="1">
                <a:latin typeface="Times New Roman" panose="02020603050405020304" pitchFamily="18" charset="0"/>
              </a:rPr>
              <a:t>x</a:t>
            </a:r>
            <a:r>
              <a:rPr lang="en-US" altLang="ru-RU" sz="2000">
                <a:latin typeface="Times New Roman" panose="02020603050405020304" pitchFamily="18" charset="0"/>
              </a:rPr>
              <a:t>) = </a:t>
            </a:r>
            <a:r>
              <a:rPr lang="el-GR" altLang="ru-RU">
                <a:latin typeface="Times New Roman" panose="02020603050405020304" pitchFamily="18" charset="0"/>
                <a:cs typeface="Times New Roman" panose="02020603050405020304" pitchFamily="18" charset="0"/>
              </a:rPr>
              <a:t>Σ</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i</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 + </a:t>
            </a:r>
            <a:r>
              <a:rPr lang="en-US" altLang="ru-RU" sz="2000" i="1">
                <a:latin typeface="Times New Roman" panose="02020603050405020304" pitchFamily="18" charset="0"/>
              </a:rPr>
              <a:t>b</a:t>
            </a:r>
          </a:p>
        </p:txBody>
      </p:sp>
    </p:spTree>
    <p:extLst>
      <p:ext uri="{BB962C8B-B14F-4D97-AF65-F5344CB8AC3E}">
        <p14:creationId xmlns:p14="http://schemas.microsoft.com/office/powerpoint/2010/main" val="3526641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«Смягчаем» классификацию</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13</a:t>
            </a:fld>
            <a:endParaRPr lang="ru-RU" noProof="0" dirty="0"/>
          </a:p>
        </p:txBody>
      </p:sp>
      <p:sp>
        <p:nvSpPr>
          <p:cNvPr id="4" name="Объект 3"/>
          <p:cNvSpPr>
            <a:spLocks noGrp="1"/>
          </p:cNvSpPr>
          <p:nvPr>
            <p:ph idx="1"/>
          </p:nvPr>
        </p:nvSpPr>
        <p:spPr>
          <a:xfrm>
            <a:off x="432000" y="1055716"/>
            <a:ext cx="7176498" cy="5135534"/>
          </a:xfrm>
        </p:spPr>
        <p:txBody>
          <a:bodyPr>
            <a:normAutofit fontScale="92500" lnSpcReduction="20000"/>
          </a:bodyPr>
          <a:lstStyle/>
          <a:p>
            <a:pPr marL="0" indent="0" fontAlgn="base">
              <a:buNone/>
            </a:pPr>
            <a:r>
              <a:rPr lang="ru-RU" sz="3000" dirty="0"/>
              <a:t>Если тренировочные данные не являются линейно разделимыми, вводятся переменные рассогласования/дополнительные </a:t>
            </a:r>
            <a:r>
              <a:rPr lang="ru-RU" sz="3000" dirty="0" smtClean="0"/>
              <a:t>переменные (</a:t>
            </a:r>
            <a:r>
              <a:rPr lang="en-US" altLang="ru-RU" sz="3200" i="1" dirty="0"/>
              <a:t>slack variables</a:t>
            </a:r>
            <a:r>
              <a:rPr lang="ru-RU" sz="3000" dirty="0" smtClean="0"/>
              <a:t>) </a:t>
            </a:r>
            <a:r>
              <a:rPr lang="ru-RU" sz="3000" dirty="0" err="1" smtClean="0"/>
              <a:t>ξ</a:t>
            </a:r>
            <a:r>
              <a:rPr lang="ru-RU" sz="3000" baseline="-25000" dirty="0" err="1" smtClean="0"/>
              <a:t>i</a:t>
            </a:r>
            <a:r>
              <a:rPr lang="ru-RU" sz="3000" dirty="0" smtClean="0"/>
              <a:t> </a:t>
            </a:r>
            <a:r>
              <a:rPr lang="ru-RU" sz="3000" dirty="0"/>
              <a:t>, позволяющие допустить неправильную классификацию трудных или зашумленных примеров.</a:t>
            </a:r>
          </a:p>
          <a:p>
            <a:pPr marL="0" indent="0" fontAlgn="base">
              <a:buNone/>
            </a:pPr>
            <a:r>
              <a:rPr lang="ru-RU" sz="3000" dirty="0" smtClean="0"/>
              <a:t>Разрешим модели ошибаться </a:t>
            </a:r>
          </a:p>
          <a:p>
            <a:pPr marL="0" indent="0" fontAlgn="base">
              <a:buNone/>
            </a:pPr>
            <a:r>
              <a:rPr lang="ru-RU" sz="3000" dirty="0" smtClean="0"/>
              <a:t>Позволим </a:t>
            </a:r>
            <a:r>
              <a:rPr lang="ru-RU" sz="3000" dirty="0"/>
              <a:t>некоторым точкам быть перемещенными туда, где им самое место, за определенную </a:t>
            </a:r>
            <a:r>
              <a:rPr lang="ru-RU" sz="3000" dirty="0" smtClean="0"/>
              <a:t>«плату».</a:t>
            </a:r>
            <a:endParaRPr lang="ru-RU" sz="3000" dirty="0"/>
          </a:p>
          <a:p>
            <a:pPr marL="0" indent="0" fontAlgn="base">
              <a:buNone/>
            </a:pPr>
            <a:r>
              <a:rPr lang="ru-RU" sz="3000" dirty="0"/>
              <a:t>Тем не менее, </a:t>
            </a:r>
            <a:r>
              <a:rPr lang="ru-RU" sz="3000" dirty="0" smtClean="0"/>
              <a:t>постараемся </a:t>
            </a:r>
            <a:r>
              <a:rPr lang="ru-RU" sz="3000" dirty="0"/>
              <a:t>свести к минимуму ошибки в обучающем наборе и разместить гиперплоскость “далеко” от каждого класса (с большим запасом).</a:t>
            </a:r>
            <a:endParaRPr lang="ru-RU" sz="3000" dirty="0"/>
          </a:p>
        </p:txBody>
      </p:sp>
      <p:grpSp>
        <p:nvGrpSpPr>
          <p:cNvPr id="3" name="Группа 2"/>
          <p:cNvGrpSpPr/>
          <p:nvPr/>
        </p:nvGrpSpPr>
        <p:grpSpPr>
          <a:xfrm>
            <a:off x="7678538" y="1696708"/>
            <a:ext cx="4081462" cy="3305175"/>
            <a:chOff x="7678538" y="1696708"/>
            <a:chExt cx="4081462" cy="3305175"/>
          </a:xfrm>
        </p:grpSpPr>
        <p:sp>
          <p:nvSpPr>
            <p:cNvPr id="6" name="Line 4"/>
            <p:cNvSpPr>
              <a:spLocks noChangeShapeType="1"/>
            </p:cNvSpPr>
            <p:nvPr/>
          </p:nvSpPr>
          <p:spPr bwMode="auto">
            <a:xfrm flipV="1">
              <a:off x="7813475" y="1960233"/>
              <a:ext cx="0" cy="30416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 name="Line 5"/>
            <p:cNvSpPr>
              <a:spLocks noChangeShapeType="1"/>
            </p:cNvSpPr>
            <p:nvPr/>
          </p:nvSpPr>
          <p:spPr bwMode="auto">
            <a:xfrm flipV="1">
              <a:off x="7678538" y="4885996"/>
              <a:ext cx="408146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 name="AutoShape 6"/>
            <p:cNvSpPr>
              <a:spLocks noChangeArrowheads="1"/>
            </p:cNvSpPr>
            <p:nvPr/>
          </p:nvSpPr>
          <p:spPr bwMode="auto">
            <a:xfrm>
              <a:off x="8853288" y="271588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AutoShape 7"/>
            <p:cNvSpPr>
              <a:spLocks noChangeArrowheads="1"/>
            </p:cNvSpPr>
            <p:nvPr/>
          </p:nvSpPr>
          <p:spPr bwMode="auto">
            <a:xfrm>
              <a:off x="8278613" y="30730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AutoShape 8"/>
            <p:cNvSpPr>
              <a:spLocks noChangeArrowheads="1"/>
            </p:cNvSpPr>
            <p:nvPr/>
          </p:nvSpPr>
          <p:spPr bwMode="auto">
            <a:xfrm>
              <a:off x="8431013" y="36191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AutoShape 9"/>
            <p:cNvSpPr>
              <a:spLocks noChangeArrowheads="1"/>
            </p:cNvSpPr>
            <p:nvPr/>
          </p:nvSpPr>
          <p:spPr bwMode="auto">
            <a:xfrm>
              <a:off x="8050013" y="40763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AutoShape 10"/>
            <p:cNvSpPr>
              <a:spLocks noChangeArrowheads="1"/>
            </p:cNvSpPr>
            <p:nvPr/>
          </p:nvSpPr>
          <p:spPr bwMode="auto">
            <a:xfrm>
              <a:off x="8583413" y="24761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AutoShape 11"/>
            <p:cNvSpPr>
              <a:spLocks noChangeArrowheads="1"/>
            </p:cNvSpPr>
            <p:nvPr/>
          </p:nvSpPr>
          <p:spPr bwMode="auto">
            <a:xfrm>
              <a:off x="8050013" y="33905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AutoShape 12"/>
            <p:cNvSpPr>
              <a:spLocks noChangeArrowheads="1"/>
            </p:cNvSpPr>
            <p:nvPr/>
          </p:nvSpPr>
          <p:spPr bwMode="auto">
            <a:xfrm>
              <a:off x="8202413" y="35429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AutoShape 13"/>
            <p:cNvSpPr>
              <a:spLocks noChangeArrowheads="1"/>
            </p:cNvSpPr>
            <p:nvPr/>
          </p:nvSpPr>
          <p:spPr bwMode="auto">
            <a:xfrm>
              <a:off x="8964413" y="316197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AutoShape 14"/>
            <p:cNvSpPr>
              <a:spLocks noChangeArrowheads="1"/>
            </p:cNvSpPr>
            <p:nvPr/>
          </p:nvSpPr>
          <p:spPr bwMode="auto">
            <a:xfrm>
              <a:off x="9866113" y="31492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AutoShape 15"/>
            <p:cNvSpPr>
              <a:spLocks noChangeArrowheads="1"/>
            </p:cNvSpPr>
            <p:nvPr/>
          </p:nvSpPr>
          <p:spPr bwMode="auto">
            <a:xfrm>
              <a:off x="9497813" y="40763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AutoShape 16"/>
            <p:cNvSpPr>
              <a:spLocks noChangeArrowheads="1"/>
            </p:cNvSpPr>
            <p:nvPr/>
          </p:nvSpPr>
          <p:spPr bwMode="auto">
            <a:xfrm>
              <a:off x="10488413" y="40763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AutoShape 17"/>
            <p:cNvSpPr>
              <a:spLocks noChangeArrowheads="1"/>
            </p:cNvSpPr>
            <p:nvPr/>
          </p:nvSpPr>
          <p:spPr bwMode="auto">
            <a:xfrm>
              <a:off x="9180313" y="45970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AutoShape 18"/>
            <p:cNvSpPr>
              <a:spLocks noChangeArrowheads="1"/>
            </p:cNvSpPr>
            <p:nvPr/>
          </p:nvSpPr>
          <p:spPr bwMode="auto">
            <a:xfrm>
              <a:off x="9802613" y="34667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AutoShape 19"/>
            <p:cNvSpPr>
              <a:spLocks noChangeArrowheads="1"/>
            </p:cNvSpPr>
            <p:nvPr/>
          </p:nvSpPr>
          <p:spPr bwMode="auto">
            <a:xfrm>
              <a:off x="9234288" y="396048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AutoShape 20"/>
            <p:cNvSpPr>
              <a:spLocks noChangeArrowheads="1"/>
            </p:cNvSpPr>
            <p:nvPr/>
          </p:nvSpPr>
          <p:spPr bwMode="auto">
            <a:xfrm>
              <a:off x="9878813" y="43049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AutoShape 21"/>
            <p:cNvSpPr>
              <a:spLocks noChangeArrowheads="1"/>
            </p:cNvSpPr>
            <p:nvPr/>
          </p:nvSpPr>
          <p:spPr bwMode="auto">
            <a:xfrm>
              <a:off x="10564613" y="3390571"/>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AutoShape 22"/>
            <p:cNvSpPr>
              <a:spLocks noChangeArrowheads="1"/>
            </p:cNvSpPr>
            <p:nvPr/>
          </p:nvSpPr>
          <p:spPr bwMode="auto">
            <a:xfrm>
              <a:off x="9050138" y="187768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AutoShape 23"/>
            <p:cNvSpPr>
              <a:spLocks noChangeArrowheads="1"/>
            </p:cNvSpPr>
            <p:nvPr/>
          </p:nvSpPr>
          <p:spPr bwMode="auto">
            <a:xfrm>
              <a:off x="9659738" y="195388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AutoShape 24"/>
            <p:cNvSpPr>
              <a:spLocks noChangeArrowheads="1"/>
            </p:cNvSpPr>
            <p:nvPr/>
          </p:nvSpPr>
          <p:spPr bwMode="auto">
            <a:xfrm>
              <a:off x="10726538" y="271588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AutoShape 25"/>
            <p:cNvSpPr>
              <a:spLocks noChangeArrowheads="1"/>
            </p:cNvSpPr>
            <p:nvPr/>
          </p:nvSpPr>
          <p:spPr bwMode="auto">
            <a:xfrm>
              <a:off x="8538963" y="316038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AutoShape 26"/>
            <p:cNvSpPr>
              <a:spLocks noChangeArrowheads="1"/>
            </p:cNvSpPr>
            <p:nvPr/>
          </p:nvSpPr>
          <p:spPr bwMode="auto">
            <a:xfrm>
              <a:off x="8259563" y="386682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9" name="AutoShape 27"/>
            <p:cNvSpPr>
              <a:spLocks noChangeArrowheads="1"/>
            </p:cNvSpPr>
            <p:nvPr/>
          </p:nvSpPr>
          <p:spPr bwMode="auto">
            <a:xfrm>
              <a:off x="9713713" y="382872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0" name="Line 28"/>
            <p:cNvSpPr>
              <a:spLocks noChangeShapeType="1"/>
            </p:cNvSpPr>
            <p:nvPr/>
          </p:nvSpPr>
          <p:spPr bwMode="auto">
            <a:xfrm flipV="1">
              <a:off x="8278613" y="1877683"/>
              <a:ext cx="2143125" cy="288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31" name="Line 29"/>
            <p:cNvSpPr>
              <a:spLocks noChangeShapeType="1"/>
            </p:cNvSpPr>
            <p:nvPr/>
          </p:nvSpPr>
          <p:spPr bwMode="auto">
            <a:xfrm flipH="1" flipV="1">
              <a:off x="9613700" y="2982583"/>
              <a:ext cx="254000" cy="1841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2" name="Oval 30"/>
            <p:cNvSpPr>
              <a:spLocks noChangeArrowheads="1"/>
            </p:cNvSpPr>
            <p:nvPr/>
          </p:nvSpPr>
          <p:spPr bwMode="auto">
            <a:xfrm>
              <a:off x="8889800" y="3096883"/>
              <a:ext cx="228600" cy="21907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Oval 31"/>
            <p:cNvSpPr>
              <a:spLocks noChangeArrowheads="1"/>
            </p:cNvSpPr>
            <p:nvPr/>
          </p:nvSpPr>
          <p:spPr bwMode="auto">
            <a:xfrm>
              <a:off x="9162850" y="3892221"/>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4" name="Oval 32"/>
            <p:cNvSpPr>
              <a:spLocks noChangeArrowheads="1"/>
            </p:cNvSpPr>
            <p:nvPr/>
          </p:nvSpPr>
          <p:spPr bwMode="auto">
            <a:xfrm>
              <a:off x="9796263" y="3079421"/>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Line 33"/>
            <p:cNvSpPr>
              <a:spLocks noChangeShapeType="1"/>
            </p:cNvSpPr>
            <p:nvPr/>
          </p:nvSpPr>
          <p:spPr bwMode="auto">
            <a:xfrm flipH="1" flipV="1">
              <a:off x="8989813" y="3796971"/>
              <a:ext cx="244475" cy="1746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6" name="Line 34"/>
            <p:cNvSpPr>
              <a:spLocks noChangeShapeType="1"/>
            </p:cNvSpPr>
            <p:nvPr/>
          </p:nvSpPr>
          <p:spPr bwMode="auto">
            <a:xfrm flipH="1" flipV="1">
              <a:off x="9042200" y="3234996"/>
              <a:ext cx="234950" cy="1793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37" name="Line 35"/>
            <p:cNvSpPr>
              <a:spLocks noChangeShapeType="1"/>
            </p:cNvSpPr>
            <p:nvPr/>
          </p:nvSpPr>
          <p:spPr bwMode="auto">
            <a:xfrm flipV="1">
              <a:off x="8716763" y="2058658"/>
              <a:ext cx="2009775" cy="26939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38" name="Line 36"/>
            <p:cNvSpPr>
              <a:spLocks noChangeShapeType="1"/>
            </p:cNvSpPr>
            <p:nvPr/>
          </p:nvSpPr>
          <p:spPr bwMode="auto">
            <a:xfrm flipV="1">
              <a:off x="8069063" y="1696708"/>
              <a:ext cx="2066925" cy="27701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39" name="Line 37"/>
            <p:cNvSpPr>
              <a:spLocks noChangeShapeType="1"/>
            </p:cNvSpPr>
            <p:nvPr/>
          </p:nvSpPr>
          <p:spPr bwMode="auto">
            <a:xfrm flipH="1" flipV="1">
              <a:off x="8940600" y="3325483"/>
              <a:ext cx="774700" cy="520700"/>
            </a:xfrm>
            <a:prstGeom prst="line">
              <a:avLst/>
            </a:prstGeom>
            <a:noFill/>
            <a:ln w="19050">
              <a:solidFill>
                <a:srgbClr val="FF0000"/>
              </a:solidFill>
              <a:round/>
              <a:headEnd/>
              <a:tailEnd type="stealth" w="med" len="med"/>
            </a:ln>
            <a:extLst>
              <a:ext uri="{909E8E84-426E-40DD-AFC4-6F175D3DCCD1}">
                <a14:hiddenFill xmlns:a14="http://schemas.microsoft.com/office/drawing/2010/main">
                  <a:noFill/>
                </a14:hiddenFill>
              </a:ext>
            </a:extLst>
          </p:spPr>
          <p:txBody>
            <a:bodyPr/>
            <a:lstStyle/>
            <a:p>
              <a:endParaRPr lang="ru-RU"/>
            </a:p>
          </p:txBody>
        </p:sp>
        <p:sp>
          <p:nvSpPr>
            <p:cNvPr id="40" name="Line 38"/>
            <p:cNvSpPr>
              <a:spLocks noChangeShapeType="1"/>
            </p:cNvSpPr>
            <p:nvPr/>
          </p:nvSpPr>
          <p:spPr bwMode="auto">
            <a:xfrm>
              <a:off x="8619925" y="3236583"/>
              <a:ext cx="777875" cy="546100"/>
            </a:xfrm>
            <a:prstGeom prst="line">
              <a:avLst/>
            </a:prstGeom>
            <a:noFill/>
            <a:ln w="19050">
              <a:solidFill>
                <a:schemeClr val="tx2">
                  <a:lumMod val="60000"/>
                  <a:lumOff val="40000"/>
                </a:schemeClr>
              </a:solidFill>
              <a:round/>
              <a:headEnd/>
              <a:tailEnd type="stealth"/>
            </a:ln>
          </p:spPr>
          <p:txBody>
            <a:bodyPr/>
            <a:lstStyle/>
            <a:p>
              <a:pPr>
                <a:defRPr/>
              </a:pPr>
              <a:endParaRPr lang="en-US">
                <a:latin typeface="Lucida Sans" charset="0"/>
                <a:ea typeface="Arial Unicode MS" charset="0"/>
                <a:cs typeface="Arial Unicode MS" charset="0"/>
              </a:endParaRPr>
            </a:p>
          </p:txBody>
        </p:sp>
        <p:sp>
          <p:nvSpPr>
            <p:cNvPr id="41" name="Text Box 39"/>
            <p:cNvSpPr txBox="1">
              <a:spLocks noChangeArrowheads="1"/>
            </p:cNvSpPr>
            <p:nvPr/>
          </p:nvSpPr>
          <p:spPr bwMode="auto">
            <a:xfrm>
              <a:off x="9426375" y="3620758"/>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l-GR" altLang="ru-RU" sz="2000" i="1">
                  <a:latin typeface="Times New Roman" panose="02020603050405020304" pitchFamily="18" charset="0"/>
                  <a:cs typeface="Times New Roman" panose="02020603050405020304" pitchFamily="18" charset="0"/>
                </a:rPr>
                <a:t>ξ</a:t>
              </a:r>
              <a:r>
                <a:rPr lang="en-US" altLang="ru-RU" sz="2000" i="1" baseline="-25000">
                  <a:latin typeface="Times New Roman" panose="02020603050405020304" pitchFamily="18" charset="0"/>
                  <a:cs typeface="Times New Roman" panose="02020603050405020304" pitchFamily="18" charset="0"/>
                </a:rPr>
                <a:t>j</a:t>
              </a:r>
            </a:p>
          </p:txBody>
        </p:sp>
        <p:sp>
          <p:nvSpPr>
            <p:cNvPr id="42" name="Text Box 40"/>
            <p:cNvSpPr txBox="1">
              <a:spLocks noChangeArrowheads="1"/>
            </p:cNvSpPr>
            <p:nvPr/>
          </p:nvSpPr>
          <p:spPr bwMode="auto">
            <a:xfrm>
              <a:off x="8540550" y="3239758"/>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l-GR" altLang="ru-RU" sz="2000" i="1">
                  <a:latin typeface="Times New Roman" panose="02020603050405020304" pitchFamily="18" charset="0"/>
                  <a:cs typeface="Times New Roman" panose="02020603050405020304" pitchFamily="18" charset="0"/>
                </a:rPr>
                <a:t>ξ</a:t>
              </a:r>
              <a:r>
                <a:rPr lang="en-US" altLang="ru-RU" sz="2000" i="1" baseline="-25000">
                  <a:latin typeface="Times New Roman" panose="02020603050405020304" pitchFamily="18" charset="0"/>
                  <a:cs typeface="Times New Roman" panose="02020603050405020304" pitchFamily="18" charset="0"/>
                </a:rPr>
                <a:t>i</a:t>
              </a:r>
            </a:p>
          </p:txBody>
        </p:sp>
      </p:grpSp>
    </p:spTree>
    <p:extLst>
      <p:ext uri="{BB962C8B-B14F-4D97-AF65-F5344CB8AC3E}">
        <p14:creationId xmlns:p14="http://schemas.microsoft.com/office/powerpoint/2010/main" val="23188651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en-US" b="1" dirty="0"/>
              <a:t>Soft Margin Classification </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smtClean="0"/>
              <a:t>Прежняя формула:</a:t>
            </a:r>
          </a:p>
          <a:p>
            <a:pPr marL="0" indent="0" fontAlgn="base">
              <a:buNone/>
            </a:pPr>
            <a:endParaRPr lang="ru-RU" sz="3000" dirty="0"/>
          </a:p>
          <a:p>
            <a:pPr marL="0" indent="0" fontAlgn="base">
              <a:buNone/>
            </a:pPr>
            <a:endParaRPr lang="ru-RU" sz="3000" dirty="0" smtClean="0"/>
          </a:p>
          <a:p>
            <a:pPr marL="0" indent="0" fontAlgn="base">
              <a:buNone/>
            </a:pPr>
            <a:r>
              <a:rPr lang="ru-RU" sz="3000" dirty="0"/>
              <a:t>Обновленная </a:t>
            </a:r>
            <a:r>
              <a:rPr lang="ru-RU" sz="3000" dirty="0" smtClean="0"/>
              <a:t>(переменные рассогласования):</a:t>
            </a:r>
            <a:endParaRPr lang="ru-RU" sz="3000" dirty="0" smtClean="0"/>
          </a:p>
          <a:p>
            <a:pPr marL="0" indent="0" fontAlgn="base">
              <a:buNone/>
            </a:pPr>
            <a:endParaRPr lang="ru-RU" sz="3000" dirty="0" smtClean="0"/>
          </a:p>
          <a:p>
            <a:pPr marL="0" indent="0" fontAlgn="base">
              <a:buNone/>
            </a:pPr>
            <a:endParaRPr lang="ru-RU" sz="3000" dirty="0"/>
          </a:p>
          <a:p>
            <a:pPr marL="0" indent="0" fontAlgn="base">
              <a:buNone/>
            </a:pPr>
            <a:endParaRPr lang="ru-RU" sz="3000" dirty="0" smtClean="0"/>
          </a:p>
          <a:p>
            <a:pPr marL="0" indent="0" fontAlgn="base">
              <a:buNone/>
            </a:pPr>
            <a:r>
              <a:rPr lang="ru-RU" sz="3200" dirty="0"/>
              <a:t>Параметр C можно рассматривать как способ управления </a:t>
            </a:r>
            <a:r>
              <a:rPr lang="ru-RU" sz="3200" dirty="0" smtClean="0"/>
              <a:t>переобучением.</a:t>
            </a:r>
            <a:endParaRPr lang="ru-RU" sz="3000" dirty="0" smtClean="0"/>
          </a:p>
          <a:p>
            <a:pPr marL="0" indent="0" fontAlgn="base">
              <a:buNone/>
            </a:pPr>
            <a:endParaRPr lang="ru-RU" sz="3000" dirty="0"/>
          </a:p>
        </p:txBody>
      </p:sp>
      <p:sp>
        <p:nvSpPr>
          <p:cNvPr id="6" name="Text Box 4"/>
          <p:cNvSpPr txBox="1">
            <a:spLocks noChangeArrowheads="1"/>
          </p:cNvSpPr>
          <p:nvPr/>
        </p:nvSpPr>
        <p:spPr bwMode="auto">
          <a:xfrm>
            <a:off x="2310801" y="1579113"/>
            <a:ext cx="6438900" cy="10922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a:latin typeface="Times New Roman" panose="02020603050405020304" pitchFamily="18" charset="0"/>
              </a:rPr>
              <a:t>Find </a:t>
            </a:r>
            <a:r>
              <a:rPr lang="en-US" altLang="ru-RU" sz="2000" b="1">
                <a:latin typeface="Times New Roman" panose="02020603050405020304" pitchFamily="18" charset="0"/>
              </a:rPr>
              <a:t>w</a:t>
            </a:r>
            <a:r>
              <a:rPr lang="en-US" altLang="ru-RU" sz="2000">
                <a:latin typeface="Times New Roman" panose="02020603050405020304" pitchFamily="18" charset="0"/>
              </a:rPr>
              <a:t> and </a:t>
            </a:r>
            <a:r>
              <a:rPr lang="en-US" altLang="ru-RU" sz="2000" i="1">
                <a:latin typeface="Times New Roman" panose="02020603050405020304" pitchFamily="18" charset="0"/>
              </a:rPr>
              <a:t>b</a:t>
            </a:r>
            <a:r>
              <a:rPr lang="en-US" altLang="ru-RU" sz="2000">
                <a:latin typeface="Times New Roman" panose="02020603050405020304" pitchFamily="18" charset="0"/>
              </a:rPr>
              <a:t> such that</a:t>
            </a:r>
          </a:p>
          <a:p>
            <a:pPr eaLnBrk="1" hangingPunct="1"/>
            <a:r>
              <a:rPr lang="el-GR" altLang="ru-RU" sz="2000" b="1">
                <a:latin typeface="Times New Roman" panose="02020603050405020304" pitchFamily="18" charset="0"/>
                <a:cs typeface="Times New Roman" panose="02020603050405020304" pitchFamily="18" charset="0"/>
              </a:rPr>
              <a:t>Φ</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w</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 =½ </a:t>
            </a:r>
            <a:r>
              <a:rPr lang="en-US" altLang="ru-RU" sz="2000" b="1">
                <a:latin typeface="Times New Roman" panose="02020603050405020304" pitchFamily="18" charset="0"/>
              </a:rPr>
              <a:t>w</a:t>
            </a:r>
            <a:r>
              <a:rPr lang="en-US" altLang="ru-RU" sz="2000" baseline="30000">
                <a:latin typeface="Times New Roman" panose="02020603050405020304" pitchFamily="18" charset="0"/>
              </a:rPr>
              <a:t>T</a:t>
            </a:r>
            <a:r>
              <a:rPr lang="en-US" altLang="ru-RU" sz="2000" b="1">
                <a:latin typeface="Times New Roman" panose="02020603050405020304" pitchFamily="18" charset="0"/>
              </a:rPr>
              <a:t>w</a:t>
            </a:r>
            <a:r>
              <a:rPr lang="en-US" altLang="ru-RU" sz="2000">
                <a:latin typeface="Times New Roman" panose="02020603050405020304" pitchFamily="18" charset="0"/>
              </a:rPr>
              <a:t>  is minimized and for all </a:t>
            </a:r>
            <a:r>
              <a:rPr lang="en-US" altLang="ru-RU">
                <a:latin typeface="Times New Roman" panose="02020603050405020304" pitchFamily="18" charset="0"/>
              </a:rPr>
              <a:t>{</a:t>
            </a:r>
            <a:r>
              <a:rPr lang="en-US" altLang="ru-RU" sz="2000">
                <a:latin typeface="Times New Roman" panose="02020603050405020304" pitchFamily="18" charset="0"/>
              </a:rPr>
              <a:t>(</a:t>
            </a:r>
            <a:r>
              <a:rPr lang="en-US" altLang="ru-RU" b="1">
                <a:latin typeface="Times New Roman" panose="02020603050405020304" pitchFamily="18" charset="0"/>
              </a:rPr>
              <a:t>x</a:t>
            </a:r>
            <a:r>
              <a:rPr lang="en-US" altLang="ru-RU" b="1" baseline="-25000">
                <a:latin typeface="Times New Roman" panose="02020603050405020304" pitchFamily="18" charset="0"/>
              </a:rPr>
              <a:t>i</a:t>
            </a:r>
            <a:r>
              <a:rPr lang="en-US" altLang="ru-RU" b="1">
                <a:latin typeface="Times New Roman" panose="02020603050405020304" pitchFamily="18" charset="0"/>
              </a:rPr>
              <a:t> </a:t>
            </a:r>
            <a:r>
              <a:rPr lang="en-US" altLang="ru-RU">
                <a:latin typeface="Times New Roman" panose="02020603050405020304" pitchFamily="18" charset="0"/>
              </a:rPr>
              <a:t>,</a:t>
            </a:r>
            <a:r>
              <a:rPr lang="en-US" altLang="ru-RU" i="1">
                <a:latin typeface="Times New Roman" panose="02020603050405020304" pitchFamily="18" charset="0"/>
              </a:rPr>
              <a:t>y</a:t>
            </a:r>
            <a:r>
              <a:rPr lang="en-US" altLang="ru-RU" i="1" baseline="-25000">
                <a:latin typeface="Times New Roman" panose="02020603050405020304" pitchFamily="18" charset="0"/>
              </a:rPr>
              <a:t>i</a:t>
            </a:r>
            <a:r>
              <a:rPr lang="en-US" altLang="ru-RU">
                <a:latin typeface="Times New Roman" panose="02020603050405020304" pitchFamily="18" charset="0"/>
              </a:rPr>
              <a:t>)}</a:t>
            </a:r>
            <a:endParaRPr lang="en-US" altLang="ru-RU" sz="2000">
              <a:latin typeface="Times New Roman" panose="02020603050405020304" pitchFamily="18" charset="0"/>
            </a:endParaRPr>
          </a:p>
          <a:p>
            <a:pPr eaLnBrk="1" hangingPunct="1"/>
            <a:r>
              <a:rPr lang="en-US" altLang="ru-RU" sz="2000" i="1">
                <a:latin typeface="Times New Roman" panose="02020603050405020304" pitchFamily="18" charset="0"/>
              </a:rPr>
              <a:t>y</a:t>
            </a:r>
            <a:r>
              <a:rPr lang="en-US" altLang="ru-RU" sz="2000" i="1" baseline="-25000">
                <a:latin typeface="Times New Roman" panose="02020603050405020304" pitchFamily="18" charset="0"/>
              </a:rPr>
              <a:t>i</a:t>
            </a:r>
            <a:r>
              <a:rPr lang="en-US" altLang="ru-RU" sz="2000">
                <a:latin typeface="Times New Roman" panose="02020603050405020304" pitchFamily="18" charset="0"/>
              </a:rPr>
              <a:t> (</a:t>
            </a:r>
            <a:r>
              <a:rPr lang="en-US" altLang="ru-RU" sz="2000" b="1">
                <a:latin typeface="Times New Roman" panose="02020603050405020304" pitchFamily="18" charset="0"/>
              </a:rPr>
              <a:t>w</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a:t>
            </a:r>
            <a:r>
              <a:rPr lang="en-US" altLang="ru-RU" sz="2000" b="1">
                <a:latin typeface="Times New Roman" panose="02020603050405020304" pitchFamily="18" charset="0"/>
              </a:rPr>
              <a:t> </a:t>
            </a:r>
            <a:r>
              <a:rPr lang="en-US" altLang="ru-RU" sz="2000">
                <a:latin typeface="Times New Roman" panose="02020603050405020304" pitchFamily="18" charset="0"/>
              </a:rPr>
              <a:t>+ b)</a:t>
            </a:r>
            <a:r>
              <a:rPr lang="en-US" altLang="ru-RU" sz="2000" b="1">
                <a:latin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1</a:t>
            </a:r>
          </a:p>
        </p:txBody>
      </p:sp>
      <p:sp>
        <p:nvSpPr>
          <p:cNvPr id="7" name="Text Box 5"/>
          <p:cNvSpPr txBox="1">
            <a:spLocks noChangeArrowheads="1"/>
          </p:cNvSpPr>
          <p:nvPr/>
        </p:nvSpPr>
        <p:spPr bwMode="auto">
          <a:xfrm>
            <a:off x="2402458" y="3268452"/>
            <a:ext cx="6438900" cy="10922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a:latin typeface="Times New Roman" panose="02020603050405020304" pitchFamily="18" charset="0"/>
              </a:rPr>
              <a:t>Find </a:t>
            </a:r>
            <a:r>
              <a:rPr lang="en-US" altLang="ru-RU" sz="2000" b="1">
                <a:latin typeface="Times New Roman" panose="02020603050405020304" pitchFamily="18" charset="0"/>
              </a:rPr>
              <a:t>w</a:t>
            </a:r>
            <a:r>
              <a:rPr lang="en-US" altLang="ru-RU" sz="2000">
                <a:latin typeface="Times New Roman" panose="02020603050405020304" pitchFamily="18" charset="0"/>
              </a:rPr>
              <a:t> and </a:t>
            </a:r>
            <a:r>
              <a:rPr lang="en-US" altLang="ru-RU" sz="2000" i="1">
                <a:latin typeface="Times New Roman" panose="02020603050405020304" pitchFamily="18" charset="0"/>
              </a:rPr>
              <a:t>b</a:t>
            </a:r>
            <a:r>
              <a:rPr lang="en-US" altLang="ru-RU" sz="2000">
                <a:latin typeface="Times New Roman" panose="02020603050405020304" pitchFamily="18" charset="0"/>
              </a:rPr>
              <a:t> such that</a:t>
            </a:r>
          </a:p>
          <a:p>
            <a:pPr eaLnBrk="1" hangingPunct="1"/>
            <a:r>
              <a:rPr lang="el-GR" altLang="ru-RU" sz="2000" b="1">
                <a:latin typeface="Times New Roman" panose="02020603050405020304" pitchFamily="18" charset="0"/>
                <a:cs typeface="Times New Roman" panose="02020603050405020304" pitchFamily="18" charset="0"/>
              </a:rPr>
              <a:t>Φ</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w</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 =½ </a:t>
            </a:r>
            <a:r>
              <a:rPr lang="en-US" altLang="ru-RU" sz="2000" b="1">
                <a:latin typeface="Times New Roman" panose="02020603050405020304" pitchFamily="18" charset="0"/>
              </a:rPr>
              <a:t>w</a:t>
            </a:r>
            <a:r>
              <a:rPr lang="en-US" altLang="ru-RU" sz="2000" baseline="30000">
                <a:latin typeface="Times New Roman" panose="02020603050405020304" pitchFamily="18" charset="0"/>
              </a:rPr>
              <a:t>T</a:t>
            </a:r>
            <a:r>
              <a:rPr lang="en-US" altLang="ru-RU" sz="2000" b="1">
                <a:latin typeface="Times New Roman" panose="02020603050405020304" pitchFamily="18" charset="0"/>
              </a:rPr>
              <a:t>w</a:t>
            </a:r>
            <a:r>
              <a:rPr lang="en-US" altLang="ru-RU" sz="2000">
                <a:latin typeface="Times New Roman" panose="02020603050405020304" pitchFamily="18" charset="0"/>
              </a:rPr>
              <a:t> + </a:t>
            </a:r>
            <a:r>
              <a:rPr lang="en-US" altLang="ru-RU" sz="2000" i="1">
                <a:latin typeface="Times New Roman" panose="02020603050405020304" pitchFamily="18" charset="0"/>
              </a:rPr>
              <a:t>C</a:t>
            </a:r>
            <a:r>
              <a:rPr lang="el-GR" altLang="ru-RU">
                <a:latin typeface="Times New Roman" panose="02020603050405020304" pitchFamily="18" charset="0"/>
              </a:rPr>
              <a:t>Σ</a:t>
            </a:r>
            <a:r>
              <a:rPr lang="el-GR" altLang="ru-RU" sz="2000" i="1">
                <a:latin typeface="Times New Roman" panose="02020603050405020304" pitchFamily="18" charset="0"/>
              </a:rPr>
              <a:t>ξ</a:t>
            </a:r>
            <a:r>
              <a:rPr lang="en-US" altLang="ru-RU" sz="2000" i="1" baseline="-25000">
                <a:latin typeface="Times New Roman" panose="02020603050405020304" pitchFamily="18" charset="0"/>
              </a:rPr>
              <a:t>i</a:t>
            </a:r>
            <a:r>
              <a:rPr lang="en-US" altLang="ru-RU" sz="2000">
                <a:latin typeface="Times New Roman" panose="02020603050405020304" pitchFamily="18" charset="0"/>
              </a:rPr>
              <a:t>     is minimized and for all </a:t>
            </a:r>
            <a:r>
              <a:rPr lang="en-US" altLang="ru-RU">
                <a:latin typeface="Times New Roman" panose="02020603050405020304" pitchFamily="18" charset="0"/>
              </a:rPr>
              <a:t>{</a:t>
            </a:r>
            <a:r>
              <a:rPr lang="en-US" altLang="ru-RU" sz="2000">
                <a:latin typeface="Times New Roman" panose="02020603050405020304" pitchFamily="18" charset="0"/>
              </a:rPr>
              <a:t>(</a:t>
            </a:r>
            <a:r>
              <a:rPr lang="en-US" altLang="ru-RU" b="1">
                <a:latin typeface="Times New Roman" panose="02020603050405020304" pitchFamily="18" charset="0"/>
              </a:rPr>
              <a:t>x</a:t>
            </a:r>
            <a:r>
              <a:rPr lang="en-US" altLang="ru-RU" b="1" baseline="-25000">
                <a:latin typeface="Times New Roman" panose="02020603050405020304" pitchFamily="18" charset="0"/>
              </a:rPr>
              <a:t>i</a:t>
            </a:r>
            <a:r>
              <a:rPr lang="en-US" altLang="ru-RU" b="1">
                <a:latin typeface="Times New Roman" panose="02020603050405020304" pitchFamily="18" charset="0"/>
              </a:rPr>
              <a:t> </a:t>
            </a:r>
            <a:r>
              <a:rPr lang="en-US" altLang="ru-RU">
                <a:latin typeface="Times New Roman" panose="02020603050405020304" pitchFamily="18" charset="0"/>
              </a:rPr>
              <a:t>,</a:t>
            </a:r>
            <a:r>
              <a:rPr lang="en-US" altLang="ru-RU" i="1">
                <a:latin typeface="Times New Roman" panose="02020603050405020304" pitchFamily="18" charset="0"/>
              </a:rPr>
              <a:t>y</a:t>
            </a:r>
            <a:r>
              <a:rPr lang="en-US" altLang="ru-RU" i="1" baseline="-25000">
                <a:latin typeface="Times New Roman" panose="02020603050405020304" pitchFamily="18" charset="0"/>
              </a:rPr>
              <a:t>i</a:t>
            </a:r>
            <a:r>
              <a:rPr lang="en-US" altLang="ru-RU">
                <a:latin typeface="Times New Roman" panose="02020603050405020304" pitchFamily="18" charset="0"/>
              </a:rPr>
              <a:t>)}</a:t>
            </a:r>
            <a:endParaRPr lang="en-US" altLang="ru-RU" sz="2000">
              <a:latin typeface="Times New Roman" panose="02020603050405020304" pitchFamily="18" charset="0"/>
            </a:endParaRPr>
          </a:p>
          <a:p>
            <a:pPr eaLnBrk="1" hangingPunct="1"/>
            <a:r>
              <a:rPr lang="en-US" altLang="ru-RU" sz="2000" i="1">
                <a:latin typeface="Times New Roman" panose="02020603050405020304" pitchFamily="18" charset="0"/>
              </a:rPr>
              <a:t>y</a:t>
            </a:r>
            <a:r>
              <a:rPr lang="en-US" altLang="ru-RU" sz="2000" i="1" baseline="-25000">
                <a:latin typeface="Times New Roman" panose="02020603050405020304" pitchFamily="18" charset="0"/>
              </a:rPr>
              <a:t>i</a:t>
            </a:r>
            <a:r>
              <a:rPr lang="en-US" altLang="ru-RU" sz="2000" i="1">
                <a:latin typeface="Times New Roman" panose="02020603050405020304" pitchFamily="18" charset="0"/>
              </a:rPr>
              <a:t> </a:t>
            </a:r>
            <a:r>
              <a:rPr lang="en-US" altLang="ru-RU" sz="2000">
                <a:latin typeface="Times New Roman" panose="02020603050405020304" pitchFamily="18" charset="0"/>
              </a:rPr>
              <a:t>(</a:t>
            </a:r>
            <a:r>
              <a:rPr lang="en-US" altLang="ru-RU" sz="2000" b="1">
                <a:latin typeface="Times New Roman" panose="02020603050405020304" pitchFamily="18" charset="0"/>
              </a:rPr>
              <a:t>w</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a:t>
            </a:r>
            <a:r>
              <a:rPr lang="en-US" altLang="ru-RU" sz="2000" b="1">
                <a:latin typeface="Times New Roman" panose="02020603050405020304" pitchFamily="18" charset="0"/>
              </a:rPr>
              <a:t> </a:t>
            </a:r>
            <a:r>
              <a:rPr lang="en-US" altLang="ru-RU" sz="2000">
                <a:latin typeface="Times New Roman" panose="02020603050405020304" pitchFamily="18" charset="0"/>
              </a:rPr>
              <a:t>+ </a:t>
            </a:r>
            <a:r>
              <a:rPr lang="en-US" altLang="ru-RU" sz="2000" i="1">
                <a:latin typeface="Times New Roman" panose="02020603050405020304" pitchFamily="18" charset="0"/>
              </a:rPr>
              <a:t>b</a:t>
            </a:r>
            <a:r>
              <a:rPr lang="en-US" altLang="ru-RU" sz="2000">
                <a:latin typeface="Times New Roman" panose="02020603050405020304" pitchFamily="18" charset="0"/>
              </a:rPr>
              <a:t>)</a:t>
            </a:r>
            <a:r>
              <a:rPr lang="en-US" altLang="ru-RU" sz="2000" b="1">
                <a:latin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1- </a:t>
            </a:r>
            <a:r>
              <a:rPr lang="el-GR" altLang="ru-RU" sz="2000" i="1">
                <a:latin typeface="Times New Roman" panose="02020603050405020304" pitchFamily="18" charset="0"/>
                <a:cs typeface="Times New Roman" panose="02020603050405020304" pitchFamily="18" charset="0"/>
              </a:rPr>
              <a:t>ξ</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    and    </a:t>
            </a:r>
            <a:r>
              <a:rPr lang="el-GR" altLang="ru-RU" sz="2000" i="1">
                <a:latin typeface="Times New Roman" panose="02020603050405020304" pitchFamily="18" charset="0"/>
                <a:cs typeface="Times New Roman" panose="02020603050405020304" pitchFamily="18" charset="0"/>
              </a:rPr>
              <a:t>ξ</a:t>
            </a:r>
            <a:r>
              <a:rPr lang="en-US" altLang="ru-RU" sz="2000" i="1" baseline="-25000">
                <a:latin typeface="Times New Roman" panose="02020603050405020304" pitchFamily="18" charset="0"/>
                <a:cs typeface="Times New Roman" panose="02020603050405020304" pitchFamily="18" charset="0"/>
              </a:rPr>
              <a:t>i</a:t>
            </a:r>
            <a:r>
              <a:rPr lang="en-US" altLang="ru-RU" sz="2000" baseline="-25000">
                <a:latin typeface="Times New Roman" panose="02020603050405020304" pitchFamily="18" charset="0"/>
                <a:cs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 </a:t>
            </a:r>
            <a:r>
              <a:rPr lang="en-US" altLang="ru-RU" sz="2000">
                <a:latin typeface="Times New Roman" panose="02020603050405020304" pitchFamily="18" charset="0"/>
                <a:cs typeface="Times New Roman" panose="02020603050405020304" pitchFamily="18" charset="0"/>
              </a:rPr>
              <a:t>0 for all </a:t>
            </a:r>
            <a:r>
              <a:rPr lang="en-US" altLang="ru-RU" sz="2000" i="1">
                <a:latin typeface="Times New Roman" panose="02020603050405020304" pitchFamily="18" charset="0"/>
                <a:cs typeface="Times New Roman" panose="02020603050405020304" pitchFamily="18" charset="0"/>
              </a:rPr>
              <a:t>i</a:t>
            </a:r>
          </a:p>
        </p:txBody>
      </p:sp>
    </p:spTree>
    <p:extLst>
      <p:ext uri="{BB962C8B-B14F-4D97-AF65-F5344CB8AC3E}">
        <p14:creationId xmlns:p14="http://schemas.microsoft.com/office/powerpoint/2010/main" val="825300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Классификация алгоритмом </a:t>
            </a:r>
            <a:r>
              <a:rPr lang="en-US" b="1" dirty="0" smtClean="0"/>
              <a:t>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15</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a:t>Получив новую точку x, мы можем оценить ее проекцию на нормаль к </a:t>
            </a:r>
            <a:r>
              <a:rPr lang="ru-RU" sz="3000" dirty="0" smtClean="0"/>
              <a:t>гиперплоскости т</a:t>
            </a:r>
            <a:r>
              <a:rPr lang="en-US" altLang="ru-RU" sz="3200" dirty="0" smtClean="0">
                <a:sym typeface="Symbol" panose="05050102010706020507" pitchFamily="18" charset="2"/>
              </a:rPr>
              <a:t>.</a:t>
            </a:r>
            <a:r>
              <a:rPr lang="ru-RU" altLang="ru-RU" sz="3200" dirty="0" smtClean="0">
                <a:sym typeface="Symbol" panose="05050102010706020507" pitchFamily="18" charset="2"/>
              </a:rPr>
              <a:t>е</a:t>
            </a:r>
            <a:r>
              <a:rPr lang="en-US" altLang="ru-RU" sz="3200" dirty="0" smtClean="0">
                <a:sym typeface="Symbol" panose="05050102010706020507" pitchFamily="18" charset="2"/>
              </a:rPr>
              <a:t>., </a:t>
            </a:r>
            <a:r>
              <a:rPr lang="ru-RU" altLang="ru-RU" sz="3200" dirty="0" smtClean="0">
                <a:sym typeface="Symbol" panose="05050102010706020507" pitchFamily="18" charset="2"/>
              </a:rPr>
              <a:t>рассчитать</a:t>
            </a:r>
            <a:r>
              <a:rPr lang="en-US" altLang="ru-RU" sz="3200" dirty="0" smtClean="0">
                <a:sym typeface="Symbol" panose="05050102010706020507" pitchFamily="18" charset="2"/>
              </a:rPr>
              <a:t>: </a:t>
            </a:r>
            <a:r>
              <a:rPr lang="en-US" altLang="ru-RU" sz="3200" b="1" dirty="0" err="1">
                <a:sym typeface="Symbol" panose="05050102010706020507" pitchFamily="18" charset="2"/>
              </a:rPr>
              <a:t>w</a:t>
            </a:r>
            <a:r>
              <a:rPr lang="en-US" altLang="ru-RU" sz="3200" b="1" baseline="30000" dirty="0" err="1">
                <a:sym typeface="Symbol" panose="05050102010706020507" pitchFamily="18" charset="2"/>
              </a:rPr>
              <a:t>T</a:t>
            </a:r>
            <a:r>
              <a:rPr lang="en-US" altLang="ru-RU" sz="3200" b="1" dirty="0" err="1">
                <a:sym typeface="Symbol" panose="05050102010706020507" pitchFamily="18" charset="2"/>
              </a:rPr>
              <a:t>x</a:t>
            </a:r>
            <a:r>
              <a:rPr lang="en-US" altLang="ru-RU" sz="3200" dirty="0">
                <a:sym typeface="Symbol" panose="05050102010706020507" pitchFamily="18" charset="2"/>
              </a:rPr>
              <a:t> + </a:t>
            </a:r>
            <a:r>
              <a:rPr lang="en-US" altLang="ru-RU" sz="3200" i="1" dirty="0">
                <a:sym typeface="Symbol" panose="05050102010706020507" pitchFamily="18" charset="2"/>
              </a:rPr>
              <a:t>b</a:t>
            </a:r>
            <a:r>
              <a:rPr lang="en-US" altLang="ru-RU" sz="3200" dirty="0">
                <a:sym typeface="Symbol" panose="05050102010706020507" pitchFamily="18" charset="2"/>
              </a:rPr>
              <a:t> </a:t>
            </a:r>
            <a:r>
              <a:rPr lang="en-US" altLang="ru-RU" sz="3200" dirty="0"/>
              <a:t>= </a:t>
            </a:r>
            <a:r>
              <a:rPr lang="el-GR" altLang="ru-RU" sz="3200" dirty="0"/>
              <a:t>Σ</a:t>
            </a:r>
            <a:r>
              <a:rPr lang="el-GR" altLang="ru-RU" sz="3200" i="1" dirty="0"/>
              <a:t>α</a:t>
            </a:r>
            <a:r>
              <a:rPr lang="en-US" altLang="ru-RU" sz="3200" i="1" baseline="-25000" dirty="0" err="1"/>
              <a:t>i</a:t>
            </a:r>
            <a:r>
              <a:rPr lang="en-US" altLang="ru-RU" sz="3200" i="1" dirty="0" err="1"/>
              <a:t>y</a:t>
            </a:r>
            <a:r>
              <a:rPr lang="en-US" altLang="ru-RU" sz="3200" i="1" baseline="-25000" dirty="0" err="1"/>
              <a:t>i</a:t>
            </a:r>
            <a:r>
              <a:rPr lang="en-US" altLang="ru-RU" sz="3200" b="1" dirty="0" err="1"/>
              <a:t>x</a:t>
            </a:r>
            <a:r>
              <a:rPr lang="en-US" altLang="ru-RU" sz="3200" b="1" baseline="-25000" dirty="0" err="1"/>
              <a:t>i</a:t>
            </a:r>
            <a:r>
              <a:rPr lang="en-US" altLang="ru-RU" sz="3200" b="1" baseline="30000" dirty="0" err="1"/>
              <a:t>T</a:t>
            </a:r>
            <a:r>
              <a:rPr lang="en-US" altLang="ru-RU" sz="3200" b="1" dirty="0" err="1"/>
              <a:t>x</a:t>
            </a:r>
            <a:r>
              <a:rPr lang="en-US" altLang="ru-RU" sz="3200" b="1" dirty="0"/>
              <a:t> + </a:t>
            </a:r>
            <a:r>
              <a:rPr lang="en-US" altLang="ru-RU" sz="3200" i="1" dirty="0" smtClean="0"/>
              <a:t>b</a:t>
            </a:r>
            <a:r>
              <a:rPr lang="ru-RU" altLang="ru-RU" sz="3200" i="1" dirty="0" smtClean="0"/>
              <a:t>.</a:t>
            </a:r>
          </a:p>
          <a:p>
            <a:pPr marL="0" indent="0" fontAlgn="base">
              <a:buNone/>
            </a:pPr>
            <a:r>
              <a:rPr lang="ru-RU" altLang="ru-RU" sz="3200" i="1" dirty="0"/>
              <a:t>Определите класс на основе того, является ли &lt; или &gt; </a:t>
            </a:r>
            <a:r>
              <a:rPr lang="ru-RU" altLang="ru-RU" sz="3200" i="1" dirty="0" smtClean="0"/>
              <a:t>0</a:t>
            </a:r>
          </a:p>
          <a:p>
            <a:pPr marL="0" indent="0" fontAlgn="base">
              <a:buNone/>
            </a:pPr>
            <a:endParaRPr lang="ru-RU" altLang="ru-RU" sz="3200" i="1" dirty="0"/>
          </a:p>
          <a:p>
            <a:pPr marL="0" indent="0" fontAlgn="base">
              <a:buNone/>
            </a:pPr>
            <a:endParaRPr lang="en-US" altLang="ru-RU" sz="3200" i="1" dirty="0"/>
          </a:p>
          <a:p>
            <a:pPr marL="0" indent="0" fontAlgn="base">
              <a:buNone/>
            </a:pPr>
            <a:endParaRPr lang="ru-RU" sz="3000" dirty="0" smtClean="0"/>
          </a:p>
          <a:p>
            <a:pPr marL="0" indent="0" fontAlgn="base">
              <a:buNone/>
            </a:pPr>
            <a:endParaRPr lang="ru-RU" sz="3000" dirty="0"/>
          </a:p>
        </p:txBody>
      </p:sp>
      <p:grpSp>
        <p:nvGrpSpPr>
          <p:cNvPr id="3" name="Группа 2"/>
          <p:cNvGrpSpPr/>
          <p:nvPr/>
        </p:nvGrpSpPr>
        <p:grpSpPr>
          <a:xfrm>
            <a:off x="6970144" y="3050876"/>
            <a:ext cx="4202113" cy="2243138"/>
            <a:chOff x="6970144" y="3050876"/>
            <a:chExt cx="4202113" cy="2243138"/>
          </a:xfrm>
        </p:grpSpPr>
        <p:grpSp>
          <p:nvGrpSpPr>
            <p:cNvPr id="6" name="Group 4"/>
            <p:cNvGrpSpPr>
              <a:grpSpLocks/>
            </p:cNvGrpSpPr>
            <p:nvPr/>
          </p:nvGrpSpPr>
          <p:grpSpPr bwMode="auto">
            <a:xfrm>
              <a:off x="8798944" y="3203276"/>
              <a:ext cx="1981200" cy="1981200"/>
              <a:chOff x="3744" y="1536"/>
              <a:chExt cx="1248" cy="1248"/>
            </a:xfrm>
          </p:grpSpPr>
          <p:sp>
            <p:nvSpPr>
              <p:cNvPr id="7" name="Oval 5"/>
              <p:cNvSpPr>
                <a:spLocks noChangeArrowheads="1"/>
              </p:cNvSpPr>
              <p:nvPr/>
            </p:nvSpPr>
            <p:spPr bwMode="auto">
              <a:xfrm>
                <a:off x="4512"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8" name="Oval 6"/>
              <p:cNvSpPr>
                <a:spLocks noChangeArrowheads="1"/>
              </p:cNvSpPr>
              <p:nvPr/>
            </p:nvSpPr>
            <p:spPr bwMode="auto">
              <a:xfrm>
                <a:off x="4704"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Oval 7"/>
              <p:cNvSpPr>
                <a:spLocks noChangeArrowheads="1"/>
              </p:cNvSpPr>
              <p:nvPr/>
            </p:nvSpPr>
            <p:spPr bwMode="auto">
              <a:xfrm>
                <a:off x="4608" y="1872"/>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Oval 8"/>
              <p:cNvSpPr>
                <a:spLocks noChangeArrowheads="1"/>
              </p:cNvSpPr>
              <p:nvPr/>
            </p:nvSpPr>
            <p:spPr bwMode="auto">
              <a:xfrm>
                <a:off x="4896" y="1920"/>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Oval 9"/>
              <p:cNvSpPr>
                <a:spLocks noChangeArrowheads="1"/>
              </p:cNvSpPr>
              <p:nvPr/>
            </p:nvSpPr>
            <p:spPr bwMode="auto">
              <a:xfrm>
                <a:off x="4752" y="201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Oval 10"/>
              <p:cNvSpPr>
                <a:spLocks noChangeArrowheads="1"/>
              </p:cNvSpPr>
              <p:nvPr/>
            </p:nvSpPr>
            <p:spPr bwMode="auto">
              <a:xfrm>
                <a:off x="4704"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Oval 11"/>
              <p:cNvSpPr>
                <a:spLocks noChangeArrowheads="1"/>
              </p:cNvSpPr>
              <p:nvPr/>
            </p:nvSpPr>
            <p:spPr bwMode="auto">
              <a:xfrm>
                <a:off x="4320" y="1584"/>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Rectangle 12"/>
              <p:cNvSpPr>
                <a:spLocks noChangeArrowheads="1"/>
              </p:cNvSpPr>
              <p:nvPr/>
            </p:nvSpPr>
            <p:spPr bwMode="auto">
              <a:xfrm>
                <a:off x="3936" y="2208"/>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Rectangle 13"/>
              <p:cNvSpPr>
                <a:spLocks noChangeArrowheads="1"/>
              </p:cNvSpPr>
              <p:nvPr/>
            </p:nvSpPr>
            <p:spPr bwMode="auto">
              <a:xfrm>
                <a:off x="4032" y="2688"/>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Rectangle 14"/>
              <p:cNvSpPr>
                <a:spLocks noChangeArrowheads="1"/>
              </p:cNvSpPr>
              <p:nvPr/>
            </p:nvSpPr>
            <p:spPr bwMode="auto">
              <a:xfrm>
                <a:off x="4128" y="2400"/>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Rectangle 15"/>
              <p:cNvSpPr>
                <a:spLocks noChangeArrowheads="1"/>
              </p:cNvSpPr>
              <p:nvPr/>
            </p:nvSpPr>
            <p:spPr bwMode="auto">
              <a:xfrm>
                <a:off x="4320" y="2592"/>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Rectangle 16"/>
              <p:cNvSpPr>
                <a:spLocks noChangeArrowheads="1"/>
              </p:cNvSpPr>
              <p:nvPr/>
            </p:nvSpPr>
            <p:spPr bwMode="auto">
              <a:xfrm>
                <a:off x="3744" y="2304"/>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Rectangle 17"/>
              <p:cNvSpPr>
                <a:spLocks noChangeArrowheads="1"/>
              </p:cNvSpPr>
              <p:nvPr/>
            </p:nvSpPr>
            <p:spPr bwMode="auto">
              <a:xfrm>
                <a:off x="3936" y="2448"/>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Rectangle 18"/>
              <p:cNvSpPr>
                <a:spLocks noChangeArrowheads="1"/>
              </p:cNvSpPr>
              <p:nvPr/>
            </p:nvSpPr>
            <p:spPr bwMode="auto">
              <a:xfrm>
                <a:off x="3792" y="2592"/>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Oval 19"/>
              <p:cNvSpPr>
                <a:spLocks noChangeArrowheads="1"/>
              </p:cNvSpPr>
              <p:nvPr/>
            </p:nvSpPr>
            <p:spPr bwMode="auto">
              <a:xfrm>
                <a:off x="4800" y="177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Oval 20"/>
              <p:cNvSpPr>
                <a:spLocks noChangeArrowheads="1"/>
              </p:cNvSpPr>
              <p:nvPr/>
            </p:nvSpPr>
            <p:spPr bwMode="auto">
              <a:xfrm>
                <a:off x="4848" y="1680"/>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Oval 21"/>
              <p:cNvSpPr>
                <a:spLocks noChangeArrowheads="1"/>
              </p:cNvSpPr>
              <p:nvPr/>
            </p:nvSpPr>
            <p:spPr bwMode="auto">
              <a:xfrm>
                <a:off x="4344" y="1824"/>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Rectangle 22"/>
              <p:cNvSpPr>
                <a:spLocks noChangeArrowheads="1"/>
              </p:cNvSpPr>
              <p:nvPr/>
            </p:nvSpPr>
            <p:spPr bwMode="auto">
              <a:xfrm>
                <a:off x="4128" y="2168"/>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Rectangle 23"/>
              <p:cNvSpPr>
                <a:spLocks noChangeArrowheads="1"/>
              </p:cNvSpPr>
              <p:nvPr/>
            </p:nvSpPr>
            <p:spPr bwMode="auto">
              <a:xfrm>
                <a:off x="4320" y="2304"/>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Rectangle 24"/>
              <p:cNvSpPr>
                <a:spLocks noChangeArrowheads="1"/>
              </p:cNvSpPr>
              <p:nvPr/>
            </p:nvSpPr>
            <p:spPr bwMode="auto">
              <a:xfrm>
                <a:off x="3936" y="2016"/>
                <a:ext cx="96" cy="9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Oval 25"/>
              <p:cNvSpPr>
                <a:spLocks noChangeArrowheads="1"/>
              </p:cNvSpPr>
              <p:nvPr/>
            </p:nvSpPr>
            <p:spPr bwMode="auto">
              <a:xfrm>
                <a:off x="4568" y="1992"/>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Oval 26"/>
              <p:cNvSpPr>
                <a:spLocks noChangeArrowheads="1"/>
              </p:cNvSpPr>
              <p:nvPr/>
            </p:nvSpPr>
            <p:spPr bwMode="auto">
              <a:xfrm>
                <a:off x="4464"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sp>
          <p:nvSpPr>
            <p:cNvPr id="29" name="Line 27"/>
            <p:cNvSpPr>
              <a:spLocks noChangeShapeType="1"/>
            </p:cNvSpPr>
            <p:nvPr/>
          </p:nvSpPr>
          <p:spPr bwMode="auto">
            <a:xfrm>
              <a:off x="8722744" y="3279476"/>
              <a:ext cx="1981200" cy="152400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grpSp>
          <p:nvGrpSpPr>
            <p:cNvPr id="30" name="Group 28"/>
            <p:cNvGrpSpPr>
              <a:grpSpLocks/>
            </p:cNvGrpSpPr>
            <p:nvPr/>
          </p:nvGrpSpPr>
          <p:grpSpPr bwMode="auto">
            <a:xfrm>
              <a:off x="8494144" y="3050876"/>
              <a:ext cx="2438400" cy="1981200"/>
              <a:chOff x="3552" y="1440"/>
              <a:chExt cx="1536" cy="1248"/>
            </a:xfrm>
          </p:grpSpPr>
          <p:sp>
            <p:nvSpPr>
              <p:cNvPr id="31" name="Line 29"/>
              <p:cNvSpPr>
                <a:spLocks noChangeShapeType="1"/>
              </p:cNvSpPr>
              <p:nvPr/>
            </p:nvSpPr>
            <p:spPr bwMode="auto">
              <a:xfrm>
                <a:off x="3840" y="1440"/>
                <a:ext cx="1248"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sp>
            <p:nvSpPr>
              <p:cNvPr id="32" name="Line 30"/>
              <p:cNvSpPr>
                <a:spLocks noChangeShapeType="1"/>
              </p:cNvSpPr>
              <p:nvPr/>
            </p:nvSpPr>
            <p:spPr bwMode="auto">
              <a:xfrm>
                <a:off x="3552" y="1728"/>
                <a:ext cx="1248"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ru-RU"/>
              </a:p>
            </p:txBody>
          </p:sp>
        </p:grpSp>
        <p:grpSp>
          <p:nvGrpSpPr>
            <p:cNvPr id="33" name="Group 31"/>
            <p:cNvGrpSpPr>
              <a:grpSpLocks/>
            </p:cNvGrpSpPr>
            <p:nvPr/>
          </p:nvGrpSpPr>
          <p:grpSpPr bwMode="auto">
            <a:xfrm>
              <a:off x="9103744" y="3660476"/>
              <a:ext cx="1155700" cy="914400"/>
              <a:chOff x="3936" y="1824"/>
              <a:chExt cx="728" cy="576"/>
            </a:xfrm>
          </p:grpSpPr>
          <p:sp>
            <p:nvSpPr>
              <p:cNvPr id="34" name="Oval 32"/>
              <p:cNvSpPr>
                <a:spLocks noChangeArrowheads="1"/>
              </p:cNvSpPr>
              <p:nvPr/>
            </p:nvSpPr>
            <p:spPr bwMode="auto">
              <a:xfrm>
                <a:off x="4344" y="1824"/>
                <a:ext cx="96" cy="96"/>
              </a:xfrm>
              <a:prstGeom prst="ellipse">
                <a:avLst/>
              </a:prstGeom>
              <a:solidFill>
                <a:schemeClr val="hlink"/>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Rectangle 33"/>
              <p:cNvSpPr>
                <a:spLocks noChangeArrowheads="1"/>
              </p:cNvSpPr>
              <p:nvPr/>
            </p:nvSpPr>
            <p:spPr bwMode="auto">
              <a:xfrm>
                <a:off x="4128" y="2168"/>
                <a:ext cx="96" cy="96"/>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6" name="Rectangle 34"/>
              <p:cNvSpPr>
                <a:spLocks noChangeArrowheads="1"/>
              </p:cNvSpPr>
              <p:nvPr/>
            </p:nvSpPr>
            <p:spPr bwMode="auto">
              <a:xfrm>
                <a:off x="4320" y="2304"/>
                <a:ext cx="96" cy="96"/>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7" name="Rectangle 35"/>
              <p:cNvSpPr>
                <a:spLocks noChangeArrowheads="1"/>
              </p:cNvSpPr>
              <p:nvPr/>
            </p:nvSpPr>
            <p:spPr bwMode="auto">
              <a:xfrm>
                <a:off x="3936" y="2016"/>
                <a:ext cx="96" cy="96"/>
              </a:xfrm>
              <a:prstGeom prst="rect">
                <a:avLst/>
              </a:prstGeom>
              <a:solidFill>
                <a:schemeClr val="hlink"/>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8" name="Oval 36"/>
              <p:cNvSpPr>
                <a:spLocks noChangeArrowheads="1"/>
              </p:cNvSpPr>
              <p:nvPr/>
            </p:nvSpPr>
            <p:spPr bwMode="auto">
              <a:xfrm>
                <a:off x="4568" y="1992"/>
                <a:ext cx="96" cy="96"/>
              </a:xfrm>
              <a:prstGeom prst="ellipse">
                <a:avLst/>
              </a:prstGeom>
              <a:solidFill>
                <a:schemeClr val="hlink"/>
              </a:solidFill>
              <a:ln w="9525">
                <a:solidFill>
                  <a:schemeClr val="tx1"/>
                </a:solidFill>
                <a:round/>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sp>
          <p:nvSpPr>
            <p:cNvPr id="39" name="AutoShape 37"/>
            <p:cNvSpPr>
              <a:spLocks noChangeArrowheads="1"/>
            </p:cNvSpPr>
            <p:nvPr/>
          </p:nvSpPr>
          <p:spPr bwMode="auto">
            <a:xfrm>
              <a:off x="9027544" y="3660476"/>
              <a:ext cx="228600" cy="228600"/>
            </a:xfrm>
            <a:prstGeom prst="diamond">
              <a:avLst/>
            </a:prstGeom>
            <a:solidFill>
              <a:schemeClr val="tx1"/>
            </a:solidFill>
            <a:ln w="9525">
              <a:solidFill>
                <a:schemeClr val="tx1"/>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0" name="Text Box 38"/>
            <p:cNvSpPr txBox="1">
              <a:spLocks noChangeArrowheads="1"/>
            </p:cNvSpPr>
            <p:nvPr/>
          </p:nvSpPr>
          <p:spPr bwMode="auto">
            <a:xfrm>
              <a:off x="10383269" y="4893964"/>
              <a:ext cx="414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spcBef>
                  <a:spcPct val="20000"/>
                </a:spcBef>
              </a:pPr>
              <a:r>
                <a:rPr lang="en-US" altLang="ru-RU" sz="2000">
                  <a:latin typeface="Rockwell" panose="02060603020205020403" pitchFamily="18" charset="0"/>
                </a:rPr>
                <a:t>-1</a:t>
              </a:r>
              <a:endParaRPr lang="en-US" altLang="ru-RU" sz="1400">
                <a:latin typeface="Rockwell" panose="02060603020205020403" pitchFamily="18" charset="0"/>
              </a:endParaRPr>
            </a:p>
          </p:txBody>
        </p:sp>
        <p:sp>
          <p:nvSpPr>
            <p:cNvPr id="41" name="Text Box 39"/>
            <p:cNvSpPr txBox="1">
              <a:spLocks noChangeArrowheads="1"/>
            </p:cNvSpPr>
            <p:nvPr/>
          </p:nvSpPr>
          <p:spPr bwMode="auto">
            <a:xfrm>
              <a:off x="10621394" y="4711401"/>
              <a:ext cx="322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spcBef>
                  <a:spcPct val="20000"/>
                </a:spcBef>
              </a:pPr>
              <a:r>
                <a:rPr lang="en-US" altLang="ru-RU" sz="2000">
                  <a:latin typeface="Rockwell" panose="02060603020205020403" pitchFamily="18" charset="0"/>
                </a:rPr>
                <a:t>0</a:t>
              </a:r>
              <a:endParaRPr lang="en-US" altLang="ru-RU" sz="1400">
                <a:latin typeface="Rockwell" panose="02060603020205020403" pitchFamily="18" charset="0"/>
              </a:endParaRPr>
            </a:p>
          </p:txBody>
        </p:sp>
        <p:sp>
          <p:nvSpPr>
            <p:cNvPr id="42" name="Text Box 40"/>
            <p:cNvSpPr txBox="1">
              <a:spLocks noChangeArrowheads="1"/>
            </p:cNvSpPr>
            <p:nvPr/>
          </p:nvSpPr>
          <p:spPr bwMode="auto">
            <a:xfrm>
              <a:off x="10849994" y="4498676"/>
              <a:ext cx="322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spcBef>
                  <a:spcPct val="20000"/>
                </a:spcBef>
              </a:pPr>
              <a:r>
                <a:rPr lang="en-US" altLang="ru-RU" sz="2000">
                  <a:latin typeface="Rockwell" panose="02060603020205020403" pitchFamily="18" charset="0"/>
                </a:rPr>
                <a:t>1</a:t>
              </a:r>
              <a:endParaRPr lang="en-US" altLang="ru-RU" sz="1400">
                <a:latin typeface="Rockwell" panose="02060603020205020403" pitchFamily="18" charset="0"/>
              </a:endParaRPr>
            </a:p>
          </p:txBody>
        </p:sp>
        <p:sp>
          <p:nvSpPr>
            <p:cNvPr id="43" name="Line 41"/>
            <p:cNvSpPr>
              <a:spLocks noChangeShapeType="1"/>
            </p:cNvSpPr>
            <p:nvPr/>
          </p:nvSpPr>
          <p:spPr bwMode="auto">
            <a:xfrm>
              <a:off x="6970144" y="3508076"/>
              <a:ext cx="1981200" cy="2286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ru-RU"/>
            </a:p>
          </p:txBody>
        </p:sp>
      </p:grpSp>
    </p:spTree>
    <p:extLst>
      <p:ext uri="{BB962C8B-B14F-4D97-AF65-F5344CB8AC3E}">
        <p14:creationId xmlns:p14="http://schemas.microsoft.com/office/powerpoint/2010/main" val="6028481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Резюме по линейному </a:t>
            </a:r>
            <a:r>
              <a:rPr lang="en-US" b="1" dirty="0" smtClean="0"/>
              <a:t>SVM</a:t>
            </a:r>
            <a:endParaRPr lang="en-US"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16</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2800" dirty="0"/>
              <a:t>Классификатор представляет собой разделяющую гиперплоскость</a:t>
            </a:r>
            <a:r>
              <a:rPr lang="ru-RU" sz="2800" dirty="0" smtClean="0"/>
              <a:t>.</a:t>
            </a:r>
          </a:p>
          <a:p>
            <a:pPr marL="0" indent="0" fontAlgn="base">
              <a:buNone/>
            </a:pPr>
            <a:r>
              <a:rPr lang="ru-RU" sz="2800" dirty="0" smtClean="0"/>
              <a:t>Наиболее </a:t>
            </a:r>
            <a:r>
              <a:rPr lang="ru-RU" sz="2800" dirty="0"/>
              <a:t>“важными” точками обучения являются опорные векторы; они определяют гиперплоскость</a:t>
            </a:r>
            <a:r>
              <a:rPr lang="ru-RU" sz="2800" dirty="0" smtClean="0"/>
              <a:t>.</a:t>
            </a:r>
          </a:p>
          <a:p>
            <a:pPr marL="0" indent="0" fontAlgn="base">
              <a:buNone/>
            </a:pPr>
            <a:r>
              <a:rPr lang="ru-RU" sz="2800" dirty="0" smtClean="0"/>
              <a:t>Алгоритмы </a:t>
            </a:r>
            <a:r>
              <a:rPr lang="ru-RU" sz="2800" dirty="0"/>
              <a:t>квадратичной оптимизации могут определить, какие точки обучения </a:t>
            </a:r>
            <a:r>
              <a:rPr lang="ru-RU" sz="2800" dirty="0" err="1"/>
              <a:t>x</a:t>
            </a:r>
            <a:r>
              <a:rPr lang="ru-RU" sz="2800" baseline="-25000" dirty="0" err="1"/>
              <a:t>i</a:t>
            </a:r>
            <a:r>
              <a:rPr lang="ru-RU" sz="2800" dirty="0"/>
              <a:t> являются опорными векторами с ненулевыми множителями Лагранжа </a:t>
            </a:r>
            <a:r>
              <a:rPr lang="ru-RU" sz="2800" dirty="0" smtClean="0">
                <a:sym typeface="Symbol" panose="05050102010706020507" pitchFamily="18" charset="2"/>
              </a:rPr>
              <a:t></a:t>
            </a:r>
            <a:r>
              <a:rPr lang="ru-RU" sz="2800" baseline="-25000" dirty="0" smtClean="0"/>
              <a:t>i</a:t>
            </a:r>
            <a:r>
              <a:rPr lang="ru-RU" sz="2800" dirty="0"/>
              <a:t>. </a:t>
            </a:r>
            <a:endParaRPr lang="ru-RU" sz="2800" dirty="0" smtClean="0"/>
          </a:p>
          <a:p>
            <a:pPr marL="0" indent="0" fontAlgn="base">
              <a:buNone/>
            </a:pPr>
            <a:r>
              <a:rPr lang="ru-RU" sz="2800" dirty="0" smtClean="0"/>
              <a:t>Как </a:t>
            </a:r>
            <a:r>
              <a:rPr lang="ru-RU" sz="2800" dirty="0"/>
              <a:t>в двойной постановке задачи, так и в решении обучающие точки </a:t>
            </a:r>
            <a:r>
              <a:rPr lang="ru-RU" sz="2800" dirty="0" smtClean="0"/>
              <a:t>участвуют только во внутренних расчетах:</a:t>
            </a:r>
          </a:p>
          <a:p>
            <a:pPr marL="0" indent="0" fontAlgn="base">
              <a:buNone/>
            </a:pPr>
            <a:endParaRPr lang="ru-RU" sz="3200" dirty="0"/>
          </a:p>
          <a:p>
            <a:pPr marL="0" indent="0" fontAlgn="base">
              <a:buNone/>
            </a:pPr>
            <a:endParaRPr lang="ru-RU" sz="3200" dirty="0"/>
          </a:p>
        </p:txBody>
      </p:sp>
      <p:grpSp>
        <p:nvGrpSpPr>
          <p:cNvPr id="11" name="Группа 10"/>
          <p:cNvGrpSpPr/>
          <p:nvPr/>
        </p:nvGrpSpPr>
        <p:grpSpPr>
          <a:xfrm>
            <a:off x="1964666" y="4605068"/>
            <a:ext cx="6915150" cy="1193800"/>
            <a:chOff x="1964666" y="4605068"/>
            <a:chExt cx="6915150" cy="1193800"/>
          </a:xfrm>
        </p:grpSpPr>
        <p:sp>
          <p:nvSpPr>
            <p:cNvPr id="7" name="Text Box 4"/>
            <p:cNvSpPr txBox="1">
              <a:spLocks noChangeArrowheads="1"/>
            </p:cNvSpPr>
            <p:nvPr/>
          </p:nvSpPr>
          <p:spPr bwMode="auto">
            <a:xfrm>
              <a:off x="1964666" y="4643168"/>
              <a:ext cx="4152900" cy="11557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1600">
                  <a:latin typeface="Times New Roman" panose="02020603050405020304" pitchFamily="18" charset="0"/>
                </a:rPr>
                <a:t>Find </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1</a:t>
              </a:r>
              <a:r>
                <a:rPr lang="en-US" altLang="ru-RU" sz="1600" i="1">
                  <a:latin typeface="Times New Roman" panose="02020603050405020304" pitchFamily="18" charset="0"/>
                  <a:cs typeface="Times New Roman" panose="02020603050405020304" pitchFamily="18" charset="0"/>
                </a:rPr>
                <a:t>…</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N</a:t>
              </a:r>
              <a:r>
                <a:rPr lang="en-US" altLang="ru-RU" sz="1600" baseline="-25000">
                  <a:latin typeface="Times New Roman" panose="02020603050405020304" pitchFamily="18" charset="0"/>
                  <a:cs typeface="Times New Roman" panose="02020603050405020304" pitchFamily="18" charset="0"/>
                </a:rPr>
                <a:t> </a:t>
              </a:r>
              <a:r>
                <a:rPr lang="en-US" altLang="ru-RU" sz="1600">
                  <a:latin typeface="Times New Roman" panose="02020603050405020304" pitchFamily="18" charset="0"/>
                </a:rPr>
                <a:t>such that</a:t>
              </a:r>
            </a:p>
            <a:p>
              <a:pPr eaLnBrk="1" hangingPunct="1"/>
              <a:r>
                <a:rPr lang="en-US" altLang="ru-RU" sz="1600" b="1">
                  <a:latin typeface="Times New Roman" panose="02020603050405020304" pitchFamily="18" charset="0"/>
                  <a:cs typeface="Times New Roman" panose="02020603050405020304" pitchFamily="18" charset="0"/>
                </a:rPr>
                <a:t>Q</a:t>
              </a:r>
              <a:r>
                <a:rPr lang="en-US" altLang="ru-RU" sz="1600">
                  <a:latin typeface="Times New Roman" panose="02020603050405020304" pitchFamily="18" charset="0"/>
                  <a:cs typeface="Times New Roman" panose="02020603050405020304" pitchFamily="18" charset="0"/>
                </a:rPr>
                <a:t>(</a:t>
              </a:r>
              <a:r>
                <a:rPr lang="el-GR" altLang="ru-RU" sz="1800" b="1">
                  <a:latin typeface="Times New Roman" panose="02020603050405020304" pitchFamily="18" charset="0"/>
                </a:rPr>
                <a:t>α</a:t>
              </a:r>
              <a:r>
                <a:rPr lang="en-US" altLang="ru-RU" sz="1600">
                  <a:latin typeface="Times New Roman" panose="02020603050405020304" pitchFamily="18" charset="0"/>
                  <a:cs typeface="Times New Roman" panose="02020603050405020304" pitchFamily="18" charset="0"/>
                </a:rPr>
                <a:t>)</a:t>
              </a:r>
              <a:r>
                <a:rPr lang="en-US" altLang="ru-RU" sz="1600" b="1">
                  <a:latin typeface="Times New Roman" panose="02020603050405020304" pitchFamily="18" charset="0"/>
                  <a:cs typeface="Times New Roman" panose="02020603050405020304" pitchFamily="18" charset="0"/>
                </a:rPr>
                <a:t> =</a:t>
              </a:r>
              <a:r>
                <a:rPr lang="el-GR" altLang="ru-RU" sz="1800">
                  <a:latin typeface="Times New Roman" panose="02020603050405020304" pitchFamily="18" charset="0"/>
                  <a:cs typeface="Times New Roman" panose="02020603050405020304" pitchFamily="18" charset="0"/>
                </a:rPr>
                <a:t>Σ</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i</a:t>
              </a:r>
              <a:r>
                <a:rPr lang="en-US" altLang="ru-RU" sz="1600" baseline="-25000">
                  <a:latin typeface="Times New Roman" panose="02020603050405020304" pitchFamily="18" charset="0"/>
                  <a:cs typeface="Times New Roman" panose="02020603050405020304" pitchFamily="18" charset="0"/>
                </a:rPr>
                <a:t>  </a:t>
              </a:r>
              <a:r>
                <a:rPr lang="en-US" altLang="ru-RU" sz="1600">
                  <a:latin typeface="Times New Roman" panose="02020603050405020304" pitchFamily="18" charset="0"/>
                  <a:cs typeface="Times New Roman" panose="02020603050405020304" pitchFamily="18" charset="0"/>
                </a:rPr>
                <a:t>- </a:t>
              </a:r>
              <a:r>
                <a:rPr lang="en-US" altLang="ru-RU" sz="1600" b="1">
                  <a:latin typeface="Times New Roman" panose="02020603050405020304" pitchFamily="18" charset="0"/>
                  <a:cs typeface="Times New Roman" panose="02020603050405020304" pitchFamily="18" charset="0"/>
                </a:rPr>
                <a:t>½</a:t>
              </a:r>
              <a:r>
                <a:rPr lang="el-GR" altLang="ru-RU" sz="1800">
                  <a:latin typeface="Times New Roman" panose="02020603050405020304" pitchFamily="18" charset="0"/>
                </a:rPr>
                <a:t>ΣΣ</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i</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j</a:t>
              </a:r>
              <a:r>
                <a:rPr lang="en-US" altLang="ru-RU" sz="1600" i="1">
                  <a:latin typeface="Times New Roman" panose="02020603050405020304" pitchFamily="18" charset="0"/>
                  <a:cs typeface="Times New Roman" panose="02020603050405020304" pitchFamily="18" charset="0"/>
                </a:rPr>
                <a:t>y</a:t>
              </a:r>
              <a:r>
                <a:rPr lang="en-US" altLang="ru-RU" sz="1600" i="1" baseline="-25000">
                  <a:latin typeface="Times New Roman" panose="02020603050405020304" pitchFamily="18" charset="0"/>
                  <a:cs typeface="Times New Roman" panose="02020603050405020304" pitchFamily="18" charset="0"/>
                </a:rPr>
                <a:t>i</a:t>
              </a:r>
              <a:r>
                <a:rPr lang="en-US" altLang="ru-RU" sz="1600" i="1">
                  <a:latin typeface="Times New Roman" panose="02020603050405020304" pitchFamily="18" charset="0"/>
                  <a:cs typeface="Times New Roman" panose="02020603050405020304" pitchFamily="18" charset="0"/>
                </a:rPr>
                <a:t>y</a:t>
              </a:r>
              <a:r>
                <a:rPr lang="en-US" altLang="ru-RU" sz="1600" i="1" baseline="-25000">
                  <a:latin typeface="Times New Roman" panose="02020603050405020304" pitchFamily="18" charset="0"/>
                  <a:cs typeface="Times New Roman" panose="02020603050405020304" pitchFamily="18" charset="0"/>
                </a:rPr>
                <a:t>j</a:t>
              </a:r>
              <a:r>
                <a:rPr lang="en-US" altLang="ru-RU" sz="1600" b="1">
                  <a:latin typeface="Times New Roman" panose="02020603050405020304" pitchFamily="18" charset="0"/>
                </a:rPr>
                <a:t>x</a:t>
              </a:r>
              <a:r>
                <a:rPr lang="en-US" altLang="ru-RU" sz="1600" b="1" baseline="-25000">
                  <a:latin typeface="Times New Roman" panose="02020603050405020304" pitchFamily="18" charset="0"/>
                </a:rPr>
                <a:t>i</a:t>
              </a:r>
              <a:r>
                <a:rPr lang="en-US" altLang="ru-RU" sz="1600" b="1" baseline="30000">
                  <a:latin typeface="Times New Roman" panose="02020603050405020304" pitchFamily="18" charset="0"/>
                </a:rPr>
                <a:t>T</a:t>
              </a:r>
              <a:r>
                <a:rPr lang="en-US" altLang="ru-RU" sz="1600" b="1">
                  <a:latin typeface="Times New Roman" panose="02020603050405020304" pitchFamily="18" charset="0"/>
                </a:rPr>
                <a:t>x</a:t>
              </a:r>
              <a:r>
                <a:rPr lang="en-US" altLang="ru-RU" sz="1600" b="1" baseline="-25000">
                  <a:latin typeface="Times New Roman" panose="02020603050405020304" pitchFamily="18" charset="0"/>
                </a:rPr>
                <a:t>j</a:t>
              </a:r>
              <a:r>
                <a:rPr lang="en-US" altLang="ru-RU" sz="1600" b="1">
                  <a:latin typeface="Times New Roman" panose="02020603050405020304" pitchFamily="18" charset="0"/>
                </a:rPr>
                <a:t> </a:t>
              </a:r>
              <a:r>
                <a:rPr lang="en-US" altLang="ru-RU" sz="1600">
                  <a:latin typeface="Times New Roman" panose="02020603050405020304" pitchFamily="18" charset="0"/>
                </a:rPr>
                <a:t>is maximized and </a:t>
              </a:r>
            </a:p>
            <a:p>
              <a:pPr eaLnBrk="1" hangingPunct="1"/>
              <a:r>
                <a:rPr lang="en-US" altLang="ru-RU" sz="1600">
                  <a:latin typeface="Times New Roman" panose="02020603050405020304" pitchFamily="18" charset="0"/>
                </a:rPr>
                <a:t>(1)</a:t>
              </a:r>
              <a:r>
                <a:rPr lang="en-US" altLang="ru-RU" sz="1800">
                  <a:latin typeface="Times New Roman" panose="02020603050405020304" pitchFamily="18" charset="0"/>
                </a:rPr>
                <a:t>  </a:t>
              </a:r>
              <a:r>
                <a:rPr lang="el-GR" altLang="ru-RU" sz="1800">
                  <a:latin typeface="Times New Roman" panose="02020603050405020304" pitchFamily="18" charset="0"/>
                </a:rPr>
                <a:t>Σ</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i</a:t>
              </a:r>
              <a:r>
                <a:rPr lang="en-US" altLang="ru-RU" sz="1600" i="1">
                  <a:latin typeface="Times New Roman" panose="02020603050405020304" pitchFamily="18" charset="0"/>
                  <a:cs typeface="Times New Roman" panose="02020603050405020304" pitchFamily="18" charset="0"/>
                </a:rPr>
                <a:t>y</a:t>
              </a:r>
              <a:r>
                <a:rPr lang="en-US" altLang="ru-RU" sz="1600" i="1" baseline="-25000">
                  <a:latin typeface="Times New Roman" panose="02020603050405020304" pitchFamily="18" charset="0"/>
                  <a:cs typeface="Times New Roman" panose="02020603050405020304" pitchFamily="18" charset="0"/>
                </a:rPr>
                <a:t>i</a:t>
              </a:r>
              <a:r>
                <a:rPr lang="en-US" altLang="ru-RU" sz="1600" baseline="-25000">
                  <a:latin typeface="Times New Roman" panose="02020603050405020304" pitchFamily="18" charset="0"/>
                  <a:cs typeface="Times New Roman" panose="02020603050405020304" pitchFamily="18" charset="0"/>
                </a:rPr>
                <a:t> </a:t>
              </a:r>
              <a:r>
                <a:rPr lang="en-US" altLang="ru-RU" sz="1600">
                  <a:latin typeface="Times New Roman" panose="02020603050405020304" pitchFamily="18" charset="0"/>
                  <a:cs typeface="Times New Roman" panose="02020603050405020304" pitchFamily="18" charset="0"/>
                </a:rPr>
                <a:t>= 0</a:t>
              </a:r>
              <a:endParaRPr lang="en-US" altLang="ru-RU" sz="1600">
                <a:latin typeface="Times New Roman" panose="02020603050405020304" pitchFamily="18" charset="0"/>
              </a:endParaRPr>
            </a:p>
            <a:p>
              <a:pPr eaLnBrk="1" hangingPunct="1"/>
              <a:r>
                <a:rPr lang="en-US" altLang="ru-RU" sz="1600">
                  <a:latin typeface="Times New Roman" panose="02020603050405020304" pitchFamily="18" charset="0"/>
                </a:rPr>
                <a:t>(2)  0 </a:t>
              </a:r>
              <a:r>
                <a:rPr lang="en-US" altLang="ru-RU" sz="1600" b="1">
                  <a:latin typeface="Times New Roman" panose="02020603050405020304" pitchFamily="18" charset="0"/>
                  <a:cs typeface="Times New Roman" panose="02020603050405020304" pitchFamily="18" charset="0"/>
                </a:rPr>
                <a:t>≤</a:t>
              </a:r>
              <a:r>
                <a:rPr lang="en-US" altLang="ru-RU" sz="1600">
                  <a:latin typeface="Times New Roman" panose="02020603050405020304" pitchFamily="18" charset="0"/>
                </a:rPr>
                <a:t> </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i</a:t>
              </a:r>
              <a:r>
                <a:rPr lang="en-US" altLang="ru-RU" sz="1600" baseline="-25000">
                  <a:latin typeface="Times New Roman" panose="02020603050405020304" pitchFamily="18" charset="0"/>
                  <a:cs typeface="Times New Roman" panose="02020603050405020304" pitchFamily="18" charset="0"/>
                </a:rPr>
                <a:t> </a:t>
              </a:r>
              <a:r>
                <a:rPr lang="en-US" altLang="ru-RU" sz="1600" b="1">
                  <a:latin typeface="Times New Roman" panose="02020603050405020304" pitchFamily="18" charset="0"/>
                  <a:cs typeface="Times New Roman" panose="02020603050405020304" pitchFamily="18" charset="0"/>
                </a:rPr>
                <a:t>≤ </a:t>
              </a:r>
              <a:r>
                <a:rPr lang="en-US" altLang="ru-RU" sz="1600" i="1">
                  <a:latin typeface="Times New Roman" panose="02020603050405020304" pitchFamily="18" charset="0"/>
                  <a:cs typeface="Times New Roman" panose="02020603050405020304" pitchFamily="18" charset="0"/>
                </a:rPr>
                <a:t>C</a:t>
              </a:r>
              <a:r>
                <a:rPr lang="en-US" altLang="ru-RU" sz="1600">
                  <a:latin typeface="Times New Roman" panose="02020603050405020304" pitchFamily="18" charset="0"/>
                  <a:cs typeface="Times New Roman" panose="02020603050405020304" pitchFamily="18" charset="0"/>
                </a:rPr>
                <a:t> for all </a:t>
              </a:r>
              <a:r>
                <a:rPr lang="el-GR" altLang="ru-RU" sz="1600" i="1">
                  <a:latin typeface="Times New Roman" panose="02020603050405020304" pitchFamily="18" charset="0"/>
                  <a:cs typeface="Times New Roman" panose="02020603050405020304" pitchFamily="18" charset="0"/>
                </a:rPr>
                <a:t>α</a:t>
              </a:r>
              <a:r>
                <a:rPr lang="en-US" altLang="ru-RU" sz="1600" i="1" baseline="-25000">
                  <a:latin typeface="Times New Roman" panose="02020603050405020304" pitchFamily="18" charset="0"/>
                  <a:cs typeface="Times New Roman" panose="02020603050405020304" pitchFamily="18" charset="0"/>
                </a:rPr>
                <a:t>i</a:t>
              </a:r>
            </a:p>
          </p:txBody>
        </p:sp>
        <p:sp>
          <p:nvSpPr>
            <p:cNvPr id="8" name="AutoShape 5"/>
            <p:cNvSpPr>
              <a:spLocks noChangeArrowheads="1"/>
            </p:cNvSpPr>
            <p:nvPr/>
          </p:nvSpPr>
          <p:spPr bwMode="auto">
            <a:xfrm>
              <a:off x="4069691" y="4957493"/>
              <a:ext cx="419100" cy="323850"/>
            </a:xfrm>
            <a:prstGeom prst="roundRect">
              <a:avLst>
                <a:gd name="adj" fmla="val 16667"/>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Text Box 6"/>
            <p:cNvSpPr txBox="1">
              <a:spLocks noChangeArrowheads="1"/>
            </p:cNvSpPr>
            <p:nvPr/>
          </p:nvSpPr>
          <p:spPr bwMode="auto">
            <a:xfrm>
              <a:off x="6536666" y="4605068"/>
              <a:ext cx="2343150" cy="482600"/>
            </a:xfrm>
            <a:prstGeom prst="rect">
              <a:avLst/>
            </a:prstGeom>
            <a:noFill/>
            <a:ln w="254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i="1">
                  <a:latin typeface="Times New Roman" panose="02020603050405020304" pitchFamily="18" charset="0"/>
                </a:rPr>
                <a:t>f</a:t>
              </a:r>
              <a:r>
                <a:rPr lang="en-US" altLang="ru-RU" sz="2000">
                  <a:latin typeface="Times New Roman" panose="02020603050405020304" pitchFamily="18" charset="0"/>
                </a:rPr>
                <a:t>(</a:t>
              </a:r>
              <a:r>
                <a:rPr lang="en-US" altLang="ru-RU" sz="2000" b="1">
                  <a:latin typeface="Times New Roman" panose="02020603050405020304" pitchFamily="18" charset="0"/>
                </a:rPr>
                <a:t>x</a:t>
              </a:r>
              <a:r>
                <a:rPr lang="en-US" altLang="ru-RU" sz="2000">
                  <a:latin typeface="Times New Roman" panose="02020603050405020304" pitchFamily="18" charset="0"/>
                </a:rPr>
                <a:t>) = </a:t>
              </a:r>
              <a:r>
                <a:rPr lang="el-GR" altLang="ru-RU">
                  <a:latin typeface="Times New Roman" panose="02020603050405020304" pitchFamily="18" charset="0"/>
                  <a:cs typeface="Times New Roman" panose="02020603050405020304" pitchFamily="18" charset="0"/>
                </a:rPr>
                <a:t>Σ</a:t>
              </a:r>
              <a:r>
                <a:rPr lang="el-GR" altLang="ru-RU" sz="2000" i="1">
                  <a:latin typeface="Times New Roman" panose="02020603050405020304" pitchFamily="18" charset="0"/>
                  <a:cs typeface="Times New Roman" panose="02020603050405020304" pitchFamily="18" charset="0"/>
                </a:rPr>
                <a:t>α</a:t>
              </a:r>
              <a:r>
                <a:rPr lang="en-US" altLang="ru-RU" sz="2000" i="1" baseline="-25000">
                  <a:latin typeface="Times New Roman" panose="02020603050405020304" pitchFamily="18" charset="0"/>
                  <a:cs typeface="Times New Roman" panose="02020603050405020304" pitchFamily="18" charset="0"/>
                </a:rPr>
                <a:t>i</a:t>
              </a:r>
              <a:r>
                <a:rPr lang="en-US" altLang="ru-RU" sz="2000" i="1">
                  <a:latin typeface="Times New Roman" panose="02020603050405020304" pitchFamily="18" charset="0"/>
                  <a:cs typeface="Times New Roman" panose="02020603050405020304" pitchFamily="18" charset="0"/>
                </a:rPr>
                <a:t>y</a:t>
              </a:r>
              <a:r>
                <a:rPr lang="en-US" altLang="ru-RU" sz="2000" i="1" baseline="-25000">
                  <a:latin typeface="Times New Roman" panose="02020603050405020304" pitchFamily="18" charset="0"/>
                  <a:cs typeface="Times New Roman" panose="02020603050405020304" pitchFamily="18" charset="0"/>
                </a:rPr>
                <a:t>i</a:t>
              </a:r>
              <a:r>
                <a:rPr lang="en-US" altLang="ru-RU" sz="2000" b="1">
                  <a:latin typeface="Times New Roman" panose="02020603050405020304" pitchFamily="18" charset="0"/>
                </a:rPr>
                <a:t>x</a:t>
              </a:r>
              <a:r>
                <a:rPr lang="en-US" altLang="ru-RU" sz="2000" b="1" baseline="-25000">
                  <a:latin typeface="Times New Roman" panose="02020603050405020304" pitchFamily="18" charset="0"/>
                </a:rPr>
                <a:t>i</a:t>
              </a:r>
              <a:r>
                <a:rPr lang="en-US" altLang="ru-RU" sz="2000" b="1" baseline="30000">
                  <a:latin typeface="Times New Roman" panose="02020603050405020304" pitchFamily="18" charset="0"/>
                </a:rPr>
                <a:t>T</a:t>
              </a:r>
              <a:r>
                <a:rPr lang="en-US" altLang="ru-RU" sz="2000" b="1">
                  <a:latin typeface="Times New Roman" panose="02020603050405020304" pitchFamily="18" charset="0"/>
                </a:rPr>
                <a:t>x + </a:t>
              </a:r>
              <a:r>
                <a:rPr lang="en-US" altLang="ru-RU" sz="2000" i="1">
                  <a:latin typeface="Times New Roman" panose="02020603050405020304" pitchFamily="18" charset="0"/>
                </a:rPr>
                <a:t>b</a:t>
              </a:r>
            </a:p>
          </p:txBody>
        </p:sp>
        <p:sp>
          <p:nvSpPr>
            <p:cNvPr id="10" name="AutoShape 7"/>
            <p:cNvSpPr>
              <a:spLocks noChangeArrowheads="1"/>
            </p:cNvSpPr>
            <p:nvPr/>
          </p:nvSpPr>
          <p:spPr bwMode="auto">
            <a:xfrm>
              <a:off x="7803491" y="4719368"/>
              <a:ext cx="438150" cy="323850"/>
            </a:xfrm>
            <a:prstGeom prst="roundRect">
              <a:avLst>
                <a:gd name="adj" fmla="val 16667"/>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spTree>
    <p:extLst>
      <p:ext uri="{BB962C8B-B14F-4D97-AF65-F5344CB8AC3E}">
        <p14:creationId xmlns:p14="http://schemas.microsoft.com/office/powerpoint/2010/main" val="2016609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Нелинейный </a:t>
            </a:r>
            <a:r>
              <a:rPr lang="en-US" b="1" dirty="0" smtClean="0"/>
              <a:t>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lvl="1" indent="0" fontAlgn="base">
              <a:buNone/>
            </a:pPr>
            <a:r>
              <a:rPr lang="ru-RU" sz="2800" dirty="0"/>
              <a:t>Наборы данных, которые являются линейно разделяемыми (с некоторым шумом), отлично </a:t>
            </a:r>
            <a:r>
              <a:rPr lang="ru-RU" sz="2800" dirty="0" smtClean="0"/>
              <a:t>разделяются</a:t>
            </a:r>
          </a:p>
          <a:p>
            <a:pPr marL="0" lvl="1" indent="0" fontAlgn="base">
              <a:buNone/>
            </a:pPr>
            <a:endParaRPr lang="ru-RU" sz="2800" dirty="0"/>
          </a:p>
          <a:p>
            <a:pPr marL="0" lvl="1" indent="0" fontAlgn="base">
              <a:buNone/>
            </a:pPr>
            <a:endParaRPr lang="ru-RU" sz="2800" dirty="0" smtClean="0"/>
          </a:p>
          <a:p>
            <a:pPr marL="0" lvl="1" indent="0" fontAlgn="base">
              <a:buNone/>
            </a:pPr>
            <a:r>
              <a:rPr lang="ru-RU" sz="2800" dirty="0"/>
              <a:t>Что делать, если данные слишком сложно разделить линейно</a:t>
            </a:r>
            <a:r>
              <a:rPr lang="ru-RU" sz="2800" dirty="0" smtClean="0"/>
              <a:t>?</a:t>
            </a:r>
          </a:p>
          <a:p>
            <a:pPr marL="0" lvl="1" indent="0" fontAlgn="base">
              <a:buNone/>
            </a:pPr>
            <a:endParaRPr lang="ru-RU" sz="2800" dirty="0"/>
          </a:p>
          <a:p>
            <a:pPr marL="0" lvl="1" indent="0" fontAlgn="base">
              <a:buNone/>
            </a:pPr>
            <a:endParaRPr lang="ru-RU" sz="2800" dirty="0" smtClean="0"/>
          </a:p>
          <a:p>
            <a:pPr marL="0" lvl="1" indent="0" fontAlgn="base">
              <a:buNone/>
            </a:pPr>
            <a:r>
              <a:rPr lang="ru-RU" sz="2800" dirty="0"/>
              <a:t>Идея: отображение данных в пространство более высокой размерности, где тренировочный набор становится разделимым</a:t>
            </a:r>
            <a:endParaRPr lang="ru-RU" sz="2800" dirty="0"/>
          </a:p>
        </p:txBody>
      </p:sp>
      <p:grpSp>
        <p:nvGrpSpPr>
          <p:cNvPr id="59" name="Группа 58"/>
          <p:cNvGrpSpPr/>
          <p:nvPr/>
        </p:nvGrpSpPr>
        <p:grpSpPr>
          <a:xfrm>
            <a:off x="3634596" y="3434030"/>
            <a:ext cx="4286250" cy="423863"/>
            <a:chOff x="3634596" y="3434030"/>
            <a:chExt cx="4286250" cy="423863"/>
          </a:xfrm>
        </p:grpSpPr>
        <p:sp>
          <p:nvSpPr>
            <p:cNvPr id="22" name="Line 21"/>
            <p:cNvSpPr>
              <a:spLocks noChangeShapeType="1"/>
            </p:cNvSpPr>
            <p:nvPr/>
          </p:nvSpPr>
          <p:spPr bwMode="auto">
            <a:xfrm>
              <a:off x="3634596" y="3491180"/>
              <a:ext cx="3962400"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23" name="AutoShape 22"/>
            <p:cNvSpPr>
              <a:spLocks noChangeArrowheads="1"/>
            </p:cNvSpPr>
            <p:nvPr/>
          </p:nvSpPr>
          <p:spPr bwMode="auto">
            <a:xfrm>
              <a:off x="4077509" y="345149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Line 23"/>
            <p:cNvSpPr>
              <a:spLocks noChangeShapeType="1"/>
            </p:cNvSpPr>
            <p:nvPr/>
          </p:nvSpPr>
          <p:spPr bwMode="auto">
            <a:xfrm>
              <a:off x="5444346" y="3434030"/>
              <a:ext cx="0" cy="1143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25" name="Text Box 24"/>
            <p:cNvSpPr txBox="1">
              <a:spLocks noChangeArrowheads="1"/>
            </p:cNvSpPr>
            <p:nvPr/>
          </p:nvSpPr>
          <p:spPr bwMode="auto">
            <a:xfrm>
              <a:off x="5301471" y="3491180"/>
              <a:ext cx="34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a:latin typeface="Times New Roman" panose="02020603050405020304" pitchFamily="18" charset="0"/>
                </a:rPr>
                <a:t>0</a:t>
              </a:r>
            </a:p>
          </p:txBody>
        </p:sp>
        <p:sp>
          <p:nvSpPr>
            <p:cNvPr id="26" name="AutoShape 25"/>
            <p:cNvSpPr>
              <a:spLocks noChangeArrowheads="1"/>
            </p:cNvSpPr>
            <p:nvPr/>
          </p:nvSpPr>
          <p:spPr bwMode="auto">
            <a:xfrm>
              <a:off x="4439459" y="3441968"/>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AutoShape 26"/>
            <p:cNvSpPr>
              <a:spLocks noChangeArrowheads="1"/>
            </p:cNvSpPr>
            <p:nvPr/>
          </p:nvSpPr>
          <p:spPr bwMode="auto">
            <a:xfrm>
              <a:off x="4915709" y="345149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AutoShape 27"/>
            <p:cNvSpPr>
              <a:spLocks noChangeArrowheads="1"/>
            </p:cNvSpPr>
            <p:nvPr/>
          </p:nvSpPr>
          <p:spPr bwMode="auto">
            <a:xfrm>
              <a:off x="5125259" y="345149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9" name="AutoShape 28"/>
            <p:cNvSpPr>
              <a:spLocks noChangeArrowheads="1"/>
            </p:cNvSpPr>
            <p:nvPr/>
          </p:nvSpPr>
          <p:spPr bwMode="auto">
            <a:xfrm>
              <a:off x="5982509" y="345149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0" name="AutoShape 29"/>
            <p:cNvSpPr>
              <a:spLocks noChangeArrowheads="1"/>
            </p:cNvSpPr>
            <p:nvPr/>
          </p:nvSpPr>
          <p:spPr bwMode="auto">
            <a:xfrm>
              <a:off x="6211109" y="345149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1" name="AutoShape 30"/>
            <p:cNvSpPr>
              <a:spLocks noChangeArrowheads="1"/>
            </p:cNvSpPr>
            <p:nvPr/>
          </p:nvSpPr>
          <p:spPr bwMode="auto">
            <a:xfrm>
              <a:off x="5849159" y="345149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2" name="AutoShape 31"/>
            <p:cNvSpPr>
              <a:spLocks noChangeArrowheads="1"/>
            </p:cNvSpPr>
            <p:nvPr/>
          </p:nvSpPr>
          <p:spPr bwMode="auto">
            <a:xfrm>
              <a:off x="6592109" y="345149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AutoShape 32"/>
            <p:cNvSpPr>
              <a:spLocks noChangeArrowheads="1"/>
            </p:cNvSpPr>
            <p:nvPr/>
          </p:nvSpPr>
          <p:spPr bwMode="auto">
            <a:xfrm>
              <a:off x="6820709" y="345149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4" name="AutoShape 33"/>
            <p:cNvSpPr>
              <a:spLocks noChangeArrowheads="1"/>
            </p:cNvSpPr>
            <p:nvPr/>
          </p:nvSpPr>
          <p:spPr bwMode="auto">
            <a:xfrm>
              <a:off x="7316009" y="3441968"/>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Text Box 34"/>
            <p:cNvSpPr txBox="1">
              <a:spLocks noChangeArrowheads="1"/>
            </p:cNvSpPr>
            <p:nvPr/>
          </p:nvSpPr>
          <p:spPr bwMode="auto">
            <a:xfrm>
              <a:off x="7463646" y="343403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i="1">
                  <a:latin typeface="Times New Roman" panose="02020603050405020304" pitchFamily="18" charset="0"/>
                </a:rPr>
                <a:t>x</a:t>
              </a:r>
              <a:endParaRPr lang="en-US" altLang="ru-RU" sz="1800" i="1" baseline="30000">
                <a:latin typeface="Times New Roman" panose="02020603050405020304" pitchFamily="18" charset="0"/>
              </a:endParaRPr>
            </a:p>
          </p:txBody>
        </p:sp>
      </p:grpSp>
      <p:grpSp>
        <p:nvGrpSpPr>
          <p:cNvPr id="60" name="Группа 59"/>
          <p:cNvGrpSpPr/>
          <p:nvPr/>
        </p:nvGrpSpPr>
        <p:grpSpPr>
          <a:xfrm>
            <a:off x="3634596" y="1786205"/>
            <a:ext cx="4324350" cy="642938"/>
            <a:chOff x="3634596" y="1786205"/>
            <a:chExt cx="4324350" cy="642938"/>
          </a:xfrm>
        </p:grpSpPr>
        <p:sp>
          <p:nvSpPr>
            <p:cNvPr id="36" name="Line 36"/>
            <p:cNvSpPr>
              <a:spLocks noChangeShapeType="1"/>
            </p:cNvSpPr>
            <p:nvPr/>
          </p:nvSpPr>
          <p:spPr bwMode="auto">
            <a:xfrm>
              <a:off x="3634596" y="2062430"/>
              <a:ext cx="3962400"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37" name="AutoShape 37"/>
            <p:cNvSpPr>
              <a:spLocks noChangeArrowheads="1"/>
            </p:cNvSpPr>
            <p:nvPr/>
          </p:nvSpPr>
          <p:spPr bwMode="auto">
            <a:xfrm>
              <a:off x="4077509" y="202274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8" name="Line 38"/>
            <p:cNvSpPr>
              <a:spLocks noChangeShapeType="1"/>
            </p:cNvSpPr>
            <p:nvPr/>
          </p:nvSpPr>
          <p:spPr bwMode="auto">
            <a:xfrm>
              <a:off x="5444346" y="2005280"/>
              <a:ext cx="0" cy="1143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39" name="Text Box 39"/>
            <p:cNvSpPr txBox="1">
              <a:spLocks noChangeArrowheads="1"/>
            </p:cNvSpPr>
            <p:nvPr/>
          </p:nvSpPr>
          <p:spPr bwMode="auto">
            <a:xfrm>
              <a:off x="5301471" y="2062430"/>
              <a:ext cx="34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a:latin typeface="Times New Roman" panose="02020603050405020304" pitchFamily="18" charset="0"/>
                </a:rPr>
                <a:t>0</a:t>
              </a:r>
            </a:p>
          </p:txBody>
        </p:sp>
        <p:sp>
          <p:nvSpPr>
            <p:cNvPr id="40" name="AutoShape 40"/>
            <p:cNvSpPr>
              <a:spLocks noChangeArrowheads="1"/>
            </p:cNvSpPr>
            <p:nvPr/>
          </p:nvSpPr>
          <p:spPr bwMode="auto">
            <a:xfrm>
              <a:off x="4439459" y="2013218"/>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1" name="AutoShape 41"/>
            <p:cNvSpPr>
              <a:spLocks noChangeArrowheads="1"/>
            </p:cNvSpPr>
            <p:nvPr/>
          </p:nvSpPr>
          <p:spPr bwMode="auto">
            <a:xfrm>
              <a:off x="4915709" y="202274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2" name="AutoShape 42"/>
            <p:cNvSpPr>
              <a:spLocks noChangeArrowheads="1"/>
            </p:cNvSpPr>
            <p:nvPr/>
          </p:nvSpPr>
          <p:spPr bwMode="auto">
            <a:xfrm>
              <a:off x="5125259" y="2022743"/>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3" name="AutoShape 43"/>
            <p:cNvSpPr>
              <a:spLocks noChangeArrowheads="1"/>
            </p:cNvSpPr>
            <p:nvPr/>
          </p:nvSpPr>
          <p:spPr bwMode="auto">
            <a:xfrm>
              <a:off x="5982509" y="202274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4" name="AutoShape 44"/>
            <p:cNvSpPr>
              <a:spLocks noChangeArrowheads="1"/>
            </p:cNvSpPr>
            <p:nvPr/>
          </p:nvSpPr>
          <p:spPr bwMode="auto">
            <a:xfrm>
              <a:off x="6211109" y="202274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5" name="AutoShape 45"/>
            <p:cNvSpPr>
              <a:spLocks noChangeArrowheads="1"/>
            </p:cNvSpPr>
            <p:nvPr/>
          </p:nvSpPr>
          <p:spPr bwMode="auto">
            <a:xfrm>
              <a:off x="5849159" y="2022743"/>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6" name="Line 46"/>
            <p:cNvSpPr>
              <a:spLocks noChangeShapeType="1"/>
            </p:cNvSpPr>
            <p:nvPr/>
          </p:nvSpPr>
          <p:spPr bwMode="auto">
            <a:xfrm>
              <a:off x="5558646" y="1814780"/>
              <a:ext cx="0" cy="5524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47" name="Oval 47"/>
            <p:cNvSpPr>
              <a:spLocks noChangeArrowheads="1"/>
            </p:cNvSpPr>
            <p:nvPr/>
          </p:nvSpPr>
          <p:spPr bwMode="auto">
            <a:xfrm>
              <a:off x="5776134" y="1959243"/>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8" name="Oval 48"/>
            <p:cNvSpPr>
              <a:spLocks noChangeArrowheads="1"/>
            </p:cNvSpPr>
            <p:nvPr/>
          </p:nvSpPr>
          <p:spPr bwMode="auto">
            <a:xfrm>
              <a:off x="5061759" y="1949718"/>
              <a:ext cx="228600" cy="21907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9" name="Line 49"/>
            <p:cNvSpPr>
              <a:spLocks noChangeShapeType="1"/>
            </p:cNvSpPr>
            <p:nvPr/>
          </p:nvSpPr>
          <p:spPr bwMode="auto">
            <a:xfrm flipH="1" flipV="1">
              <a:off x="5887259" y="1786205"/>
              <a:ext cx="9525" cy="5984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0" name="Line 50"/>
            <p:cNvSpPr>
              <a:spLocks noChangeShapeType="1"/>
            </p:cNvSpPr>
            <p:nvPr/>
          </p:nvSpPr>
          <p:spPr bwMode="auto">
            <a:xfrm flipH="1" flipV="1">
              <a:off x="5172884" y="1786205"/>
              <a:ext cx="9525" cy="5984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1" name="Text Box 51"/>
            <p:cNvSpPr txBox="1">
              <a:spLocks noChangeArrowheads="1"/>
            </p:cNvSpPr>
            <p:nvPr/>
          </p:nvSpPr>
          <p:spPr bwMode="auto">
            <a:xfrm>
              <a:off x="7501746" y="198623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i="1">
                  <a:latin typeface="Times New Roman" panose="02020603050405020304" pitchFamily="18" charset="0"/>
                </a:rPr>
                <a:t>x</a:t>
              </a:r>
              <a:endParaRPr lang="en-US" altLang="ru-RU" sz="1800" i="1" baseline="30000">
                <a:latin typeface="Times New Roman" panose="02020603050405020304" pitchFamily="18" charset="0"/>
              </a:endParaRPr>
            </a:p>
          </p:txBody>
        </p:sp>
      </p:grpSp>
      <p:grpSp>
        <p:nvGrpSpPr>
          <p:cNvPr id="58" name="Группа 57"/>
          <p:cNvGrpSpPr/>
          <p:nvPr/>
        </p:nvGrpSpPr>
        <p:grpSpPr>
          <a:xfrm>
            <a:off x="3794934" y="4822507"/>
            <a:ext cx="4352925" cy="1966913"/>
            <a:chOff x="3794934" y="4822507"/>
            <a:chExt cx="4352925" cy="1966913"/>
          </a:xfrm>
        </p:grpSpPr>
        <p:sp>
          <p:nvSpPr>
            <p:cNvPr id="6" name="Line 4"/>
            <p:cNvSpPr>
              <a:spLocks noChangeShapeType="1"/>
            </p:cNvSpPr>
            <p:nvPr/>
          </p:nvSpPr>
          <p:spPr bwMode="auto">
            <a:xfrm>
              <a:off x="3794934" y="6451282"/>
              <a:ext cx="3962400"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 name="AutoShape 5"/>
            <p:cNvSpPr>
              <a:spLocks noChangeArrowheads="1"/>
            </p:cNvSpPr>
            <p:nvPr/>
          </p:nvSpPr>
          <p:spPr bwMode="auto">
            <a:xfrm>
              <a:off x="4294997" y="5430520"/>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8" name="Line 6"/>
            <p:cNvSpPr>
              <a:spLocks noChangeShapeType="1"/>
            </p:cNvSpPr>
            <p:nvPr/>
          </p:nvSpPr>
          <p:spPr bwMode="auto">
            <a:xfrm>
              <a:off x="5604684" y="6394132"/>
              <a:ext cx="0" cy="1143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9" name="Text Box 7"/>
            <p:cNvSpPr txBox="1">
              <a:spLocks noChangeArrowheads="1"/>
            </p:cNvSpPr>
            <p:nvPr/>
          </p:nvSpPr>
          <p:spPr bwMode="auto">
            <a:xfrm>
              <a:off x="5461809" y="6422707"/>
              <a:ext cx="342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a:latin typeface="Times New Roman" panose="02020603050405020304" pitchFamily="18" charset="0"/>
                </a:rPr>
                <a:t>0</a:t>
              </a:r>
            </a:p>
          </p:txBody>
        </p:sp>
        <p:sp>
          <p:nvSpPr>
            <p:cNvPr id="10" name="AutoShape 8"/>
            <p:cNvSpPr>
              <a:spLocks noChangeArrowheads="1"/>
            </p:cNvSpPr>
            <p:nvPr/>
          </p:nvSpPr>
          <p:spPr bwMode="auto">
            <a:xfrm>
              <a:off x="4618847" y="5906770"/>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AutoShape 9"/>
            <p:cNvSpPr>
              <a:spLocks noChangeArrowheads="1"/>
            </p:cNvSpPr>
            <p:nvPr/>
          </p:nvSpPr>
          <p:spPr bwMode="auto">
            <a:xfrm>
              <a:off x="5076047" y="6221095"/>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AutoShape 10"/>
            <p:cNvSpPr>
              <a:spLocks noChangeArrowheads="1"/>
            </p:cNvSpPr>
            <p:nvPr/>
          </p:nvSpPr>
          <p:spPr bwMode="auto">
            <a:xfrm>
              <a:off x="5304647" y="6316345"/>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AutoShape 11"/>
            <p:cNvSpPr>
              <a:spLocks noChangeArrowheads="1"/>
            </p:cNvSpPr>
            <p:nvPr/>
          </p:nvSpPr>
          <p:spPr bwMode="auto">
            <a:xfrm>
              <a:off x="6142847" y="6230620"/>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AutoShape 12"/>
            <p:cNvSpPr>
              <a:spLocks noChangeArrowheads="1"/>
            </p:cNvSpPr>
            <p:nvPr/>
          </p:nvSpPr>
          <p:spPr bwMode="auto">
            <a:xfrm>
              <a:off x="6371447" y="6049645"/>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AutoShape 13"/>
            <p:cNvSpPr>
              <a:spLocks noChangeArrowheads="1"/>
            </p:cNvSpPr>
            <p:nvPr/>
          </p:nvSpPr>
          <p:spPr bwMode="auto">
            <a:xfrm>
              <a:off x="5952347" y="6297295"/>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AutoShape 14"/>
            <p:cNvSpPr>
              <a:spLocks noChangeArrowheads="1"/>
            </p:cNvSpPr>
            <p:nvPr/>
          </p:nvSpPr>
          <p:spPr bwMode="auto">
            <a:xfrm>
              <a:off x="6752447" y="5725795"/>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AutoShape 15"/>
            <p:cNvSpPr>
              <a:spLocks noChangeArrowheads="1"/>
            </p:cNvSpPr>
            <p:nvPr/>
          </p:nvSpPr>
          <p:spPr bwMode="auto">
            <a:xfrm>
              <a:off x="7038197" y="5420995"/>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AutoShape 16"/>
            <p:cNvSpPr>
              <a:spLocks noChangeArrowheads="1"/>
            </p:cNvSpPr>
            <p:nvPr/>
          </p:nvSpPr>
          <p:spPr bwMode="auto">
            <a:xfrm>
              <a:off x="7457297" y="4897120"/>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Line 17"/>
            <p:cNvSpPr>
              <a:spLocks noChangeShapeType="1"/>
            </p:cNvSpPr>
            <p:nvPr/>
          </p:nvSpPr>
          <p:spPr bwMode="auto">
            <a:xfrm flipV="1">
              <a:off x="5604684" y="5003482"/>
              <a:ext cx="0" cy="148590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20" name="Text Box 18"/>
            <p:cNvSpPr txBox="1">
              <a:spLocks noChangeArrowheads="1"/>
            </p:cNvSpPr>
            <p:nvPr/>
          </p:nvSpPr>
          <p:spPr bwMode="auto">
            <a:xfrm>
              <a:off x="5604684" y="482250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i="1">
                  <a:latin typeface="Times New Roman" panose="02020603050405020304" pitchFamily="18" charset="0"/>
                </a:rPr>
                <a:t>x</a:t>
              </a:r>
              <a:r>
                <a:rPr lang="en-US" altLang="ru-RU" sz="1800" i="1" baseline="30000">
                  <a:latin typeface="Times New Roman" panose="02020603050405020304" pitchFamily="18" charset="0"/>
                </a:rPr>
                <a:t>2</a:t>
              </a:r>
            </a:p>
          </p:txBody>
        </p:sp>
        <p:sp>
          <p:nvSpPr>
            <p:cNvPr id="21" name="Text Box 19"/>
            <p:cNvSpPr txBox="1">
              <a:spLocks noChangeArrowheads="1"/>
            </p:cNvSpPr>
            <p:nvPr/>
          </p:nvSpPr>
          <p:spPr bwMode="auto">
            <a:xfrm>
              <a:off x="7690659" y="6356032"/>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sz="1800" i="1">
                  <a:latin typeface="Times New Roman" panose="02020603050405020304" pitchFamily="18" charset="0"/>
                </a:rPr>
                <a:t>x</a:t>
              </a:r>
              <a:endParaRPr lang="en-US" altLang="ru-RU" sz="1800" i="1" baseline="30000">
                <a:latin typeface="Times New Roman" panose="02020603050405020304" pitchFamily="18" charset="0"/>
              </a:endParaRPr>
            </a:p>
          </p:txBody>
        </p:sp>
        <p:sp>
          <p:nvSpPr>
            <p:cNvPr id="52" name="Line 52"/>
            <p:cNvSpPr>
              <a:spLocks noChangeShapeType="1"/>
            </p:cNvSpPr>
            <p:nvPr/>
          </p:nvSpPr>
          <p:spPr bwMode="auto">
            <a:xfrm flipV="1">
              <a:off x="4966509" y="5308282"/>
              <a:ext cx="3181350" cy="1295400"/>
            </a:xfrm>
            <a:prstGeom prst="line">
              <a:avLst/>
            </a:prstGeom>
            <a:noFill/>
            <a:ln w="22225">
              <a:solidFill>
                <a:schemeClr val="tx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53" name="Line 53"/>
            <p:cNvSpPr>
              <a:spLocks noChangeShapeType="1"/>
            </p:cNvSpPr>
            <p:nvPr/>
          </p:nvSpPr>
          <p:spPr bwMode="auto">
            <a:xfrm flipV="1">
              <a:off x="4961747" y="5232082"/>
              <a:ext cx="3114675" cy="12842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4" name="Line 54"/>
            <p:cNvSpPr>
              <a:spLocks noChangeShapeType="1"/>
            </p:cNvSpPr>
            <p:nvPr/>
          </p:nvSpPr>
          <p:spPr bwMode="auto">
            <a:xfrm flipV="1">
              <a:off x="5076047" y="5403532"/>
              <a:ext cx="3057525" cy="1246188"/>
            </a:xfrm>
            <a:prstGeom prst="line">
              <a:avLst/>
            </a:prstGeom>
            <a:noFill/>
            <a:ln w="19050" cap="rnd">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5" name="Oval 55"/>
            <p:cNvSpPr>
              <a:spLocks noChangeArrowheads="1"/>
            </p:cNvSpPr>
            <p:nvPr/>
          </p:nvSpPr>
          <p:spPr bwMode="auto">
            <a:xfrm>
              <a:off x="6688947" y="5662295"/>
              <a:ext cx="228600" cy="21907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6" name="Oval 56"/>
            <p:cNvSpPr>
              <a:spLocks noChangeArrowheads="1"/>
            </p:cNvSpPr>
            <p:nvPr/>
          </p:nvSpPr>
          <p:spPr bwMode="auto">
            <a:xfrm>
              <a:off x="6298422" y="5976620"/>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7" name="Oval 57"/>
            <p:cNvSpPr>
              <a:spLocks noChangeArrowheads="1"/>
            </p:cNvSpPr>
            <p:nvPr/>
          </p:nvSpPr>
          <p:spPr bwMode="auto">
            <a:xfrm>
              <a:off x="5231622" y="6252845"/>
              <a:ext cx="228600" cy="21907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grpSp>
    </p:spTree>
    <p:extLst>
      <p:ext uri="{BB962C8B-B14F-4D97-AF65-F5344CB8AC3E}">
        <p14:creationId xmlns:p14="http://schemas.microsoft.com/office/powerpoint/2010/main" val="2325260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Нелинейный </a:t>
            </a:r>
            <a:r>
              <a:rPr lang="en-US" b="1" dirty="0"/>
              <a:t>SVM</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000" dirty="0"/>
              <a:t>Общая идея: исходное пространство объектов всегда можно сопоставить с некоторым пространством объектов более высокой размерности, где обучающий набор можно разделить</a:t>
            </a:r>
            <a:endParaRPr lang="ru-RU" sz="3000" dirty="0"/>
          </a:p>
        </p:txBody>
      </p:sp>
      <p:grpSp>
        <p:nvGrpSpPr>
          <p:cNvPr id="3" name="Группа 2"/>
          <p:cNvGrpSpPr/>
          <p:nvPr/>
        </p:nvGrpSpPr>
        <p:grpSpPr>
          <a:xfrm>
            <a:off x="1707131" y="2574506"/>
            <a:ext cx="7977188" cy="3327400"/>
            <a:chOff x="1707131" y="2574506"/>
            <a:chExt cx="7977188" cy="3327400"/>
          </a:xfrm>
        </p:grpSpPr>
        <p:sp>
          <p:nvSpPr>
            <p:cNvPr id="6" name="Line 4"/>
            <p:cNvSpPr>
              <a:spLocks noChangeShapeType="1"/>
            </p:cNvSpPr>
            <p:nvPr/>
          </p:nvSpPr>
          <p:spPr bwMode="auto">
            <a:xfrm flipV="1">
              <a:off x="3327969" y="2822156"/>
              <a:ext cx="0" cy="30416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 name="Line 5"/>
            <p:cNvSpPr>
              <a:spLocks noChangeShapeType="1"/>
            </p:cNvSpPr>
            <p:nvPr/>
          </p:nvSpPr>
          <p:spPr bwMode="auto">
            <a:xfrm flipV="1">
              <a:off x="1707131" y="4433469"/>
              <a:ext cx="331946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 name="AutoShape 6"/>
            <p:cNvSpPr>
              <a:spLocks noChangeArrowheads="1"/>
            </p:cNvSpPr>
            <p:nvPr/>
          </p:nvSpPr>
          <p:spPr bwMode="auto">
            <a:xfrm>
              <a:off x="3358131" y="3654006"/>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9" name="AutoShape 7"/>
            <p:cNvSpPr>
              <a:spLocks noChangeArrowheads="1"/>
            </p:cNvSpPr>
            <p:nvPr/>
          </p:nvSpPr>
          <p:spPr bwMode="auto">
            <a:xfrm>
              <a:off x="2783456" y="40111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0" name="AutoShape 8"/>
            <p:cNvSpPr>
              <a:spLocks noChangeArrowheads="1"/>
            </p:cNvSpPr>
            <p:nvPr/>
          </p:nvSpPr>
          <p:spPr bwMode="auto">
            <a:xfrm>
              <a:off x="2935856" y="45572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1" name="AutoShape 9"/>
            <p:cNvSpPr>
              <a:spLocks noChangeArrowheads="1"/>
            </p:cNvSpPr>
            <p:nvPr/>
          </p:nvSpPr>
          <p:spPr bwMode="auto">
            <a:xfrm>
              <a:off x="3469256" y="503354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2" name="AutoShape 10"/>
            <p:cNvSpPr>
              <a:spLocks noChangeArrowheads="1"/>
            </p:cNvSpPr>
            <p:nvPr/>
          </p:nvSpPr>
          <p:spPr bwMode="auto">
            <a:xfrm>
              <a:off x="3050156" y="370004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3" name="AutoShape 11"/>
            <p:cNvSpPr>
              <a:spLocks noChangeArrowheads="1"/>
            </p:cNvSpPr>
            <p:nvPr/>
          </p:nvSpPr>
          <p:spPr bwMode="auto">
            <a:xfrm>
              <a:off x="2554856" y="43286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4" name="AutoShape 12"/>
            <p:cNvSpPr>
              <a:spLocks noChangeArrowheads="1"/>
            </p:cNvSpPr>
            <p:nvPr/>
          </p:nvSpPr>
          <p:spPr bwMode="auto">
            <a:xfrm>
              <a:off x="2973956" y="507164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5" name="AutoShape 13"/>
            <p:cNvSpPr>
              <a:spLocks noChangeArrowheads="1"/>
            </p:cNvSpPr>
            <p:nvPr/>
          </p:nvSpPr>
          <p:spPr bwMode="auto">
            <a:xfrm>
              <a:off x="3469256" y="41000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6" name="AutoShape 14"/>
            <p:cNvSpPr>
              <a:spLocks noChangeArrowheads="1"/>
            </p:cNvSpPr>
            <p:nvPr/>
          </p:nvSpPr>
          <p:spPr bwMode="auto">
            <a:xfrm>
              <a:off x="4370956" y="40873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7" name="AutoShape 15"/>
            <p:cNvSpPr>
              <a:spLocks noChangeArrowheads="1"/>
            </p:cNvSpPr>
            <p:nvPr/>
          </p:nvSpPr>
          <p:spPr bwMode="auto">
            <a:xfrm>
              <a:off x="4231256" y="53002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8" name="AutoShape 16"/>
            <p:cNvSpPr>
              <a:spLocks noChangeArrowheads="1"/>
            </p:cNvSpPr>
            <p:nvPr/>
          </p:nvSpPr>
          <p:spPr bwMode="auto">
            <a:xfrm>
              <a:off x="1983356" y="42143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19" name="AutoShape 17"/>
            <p:cNvSpPr>
              <a:spLocks noChangeArrowheads="1"/>
            </p:cNvSpPr>
            <p:nvPr/>
          </p:nvSpPr>
          <p:spPr bwMode="auto">
            <a:xfrm>
              <a:off x="3494656" y="56685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0" name="AutoShape 18"/>
            <p:cNvSpPr>
              <a:spLocks noChangeArrowheads="1"/>
            </p:cNvSpPr>
            <p:nvPr/>
          </p:nvSpPr>
          <p:spPr bwMode="auto">
            <a:xfrm>
              <a:off x="4459856" y="48239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1" name="AutoShape 19"/>
            <p:cNvSpPr>
              <a:spLocks noChangeArrowheads="1"/>
            </p:cNvSpPr>
            <p:nvPr/>
          </p:nvSpPr>
          <p:spPr bwMode="auto">
            <a:xfrm>
              <a:off x="2523106" y="53637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2" name="AutoShape 20"/>
            <p:cNvSpPr>
              <a:spLocks noChangeArrowheads="1"/>
            </p:cNvSpPr>
            <p:nvPr/>
          </p:nvSpPr>
          <p:spPr bwMode="auto">
            <a:xfrm>
              <a:off x="2211956" y="48811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3" name="AutoShape 21"/>
            <p:cNvSpPr>
              <a:spLocks noChangeArrowheads="1"/>
            </p:cNvSpPr>
            <p:nvPr/>
          </p:nvSpPr>
          <p:spPr bwMode="auto">
            <a:xfrm>
              <a:off x="2269106" y="33571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4" name="AutoShape 22"/>
            <p:cNvSpPr>
              <a:spLocks noChangeArrowheads="1"/>
            </p:cNvSpPr>
            <p:nvPr/>
          </p:nvSpPr>
          <p:spPr bwMode="auto">
            <a:xfrm>
              <a:off x="3764531" y="4492206"/>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5" name="AutoShape 23"/>
            <p:cNvSpPr>
              <a:spLocks noChangeArrowheads="1"/>
            </p:cNvSpPr>
            <p:nvPr/>
          </p:nvSpPr>
          <p:spPr bwMode="auto">
            <a:xfrm>
              <a:off x="3383531" y="4625556"/>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6" name="AutoShape 24"/>
            <p:cNvSpPr>
              <a:spLocks noChangeArrowheads="1"/>
            </p:cNvSpPr>
            <p:nvPr/>
          </p:nvSpPr>
          <p:spPr bwMode="auto">
            <a:xfrm>
              <a:off x="3669281" y="3387306"/>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7" name="Oval 25"/>
            <p:cNvSpPr>
              <a:spLocks noChangeArrowheads="1"/>
            </p:cNvSpPr>
            <p:nvPr/>
          </p:nvSpPr>
          <p:spPr bwMode="auto">
            <a:xfrm>
              <a:off x="2373881" y="3473031"/>
              <a:ext cx="1885950" cy="1905000"/>
            </a:xfrm>
            <a:prstGeom prst="ellipse">
              <a:avLst/>
            </a:prstGeom>
            <a:noFill/>
            <a:ln w="15875">
              <a:solidFill>
                <a:schemeClr val="tx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8" name="AutoShape 26"/>
            <p:cNvSpPr>
              <a:spLocks noChangeArrowheads="1"/>
            </p:cNvSpPr>
            <p:nvPr/>
          </p:nvSpPr>
          <p:spPr bwMode="auto">
            <a:xfrm>
              <a:off x="2421506" y="35095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29" name="AutoShape 27"/>
            <p:cNvSpPr>
              <a:spLocks noChangeArrowheads="1"/>
            </p:cNvSpPr>
            <p:nvPr/>
          </p:nvSpPr>
          <p:spPr bwMode="auto">
            <a:xfrm>
              <a:off x="4345556" y="34904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0" name="Line 28"/>
            <p:cNvSpPr>
              <a:spLocks noChangeShapeType="1"/>
            </p:cNvSpPr>
            <p:nvPr/>
          </p:nvSpPr>
          <p:spPr bwMode="auto">
            <a:xfrm flipH="1" flipV="1">
              <a:off x="7366569" y="2574506"/>
              <a:ext cx="0" cy="20701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31" name="Line 29"/>
            <p:cNvSpPr>
              <a:spLocks noChangeShapeType="1"/>
            </p:cNvSpPr>
            <p:nvPr/>
          </p:nvSpPr>
          <p:spPr bwMode="auto">
            <a:xfrm>
              <a:off x="7336406" y="4662069"/>
              <a:ext cx="23479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32" name="AutoShape 30"/>
            <p:cNvSpPr>
              <a:spLocks noChangeArrowheads="1"/>
            </p:cNvSpPr>
            <p:nvPr/>
          </p:nvSpPr>
          <p:spPr bwMode="auto">
            <a:xfrm>
              <a:off x="7634856" y="402548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3" name="AutoShape 31"/>
            <p:cNvSpPr>
              <a:spLocks noChangeArrowheads="1"/>
            </p:cNvSpPr>
            <p:nvPr/>
          </p:nvSpPr>
          <p:spPr bwMode="auto">
            <a:xfrm>
              <a:off x="7060181" y="43826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4" name="AutoShape 32"/>
            <p:cNvSpPr>
              <a:spLocks noChangeArrowheads="1"/>
            </p:cNvSpPr>
            <p:nvPr/>
          </p:nvSpPr>
          <p:spPr bwMode="auto">
            <a:xfrm>
              <a:off x="7441181" y="49382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5" name="AutoShape 33"/>
            <p:cNvSpPr>
              <a:spLocks noChangeArrowheads="1"/>
            </p:cNvSpPr>
            <p:nvPr/>
          </p:nvSpPr>
          <p:spPr bwMode="auto">
            <a:xfrm>
              <a:off x="8260331" y="49382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6" name="AutoShape 34"/>
            <p:cNvSpPr>
              <a:spLocks noChangeArrowheads="1"/>
            </p:cNvSpPr>
            <p:nvPr/>
          </p:nvSpPr>
          <p:spPr bwMode="auto">
            <a:xfrm>
              <a:off x="7326881" y="407151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7" name="AutoShape 35"/>
            <p:cNvSpPr>
              <a:spLocks noChangeArrowheads="1"/>
            </p:cNvSpPr>
            <p:nvPr/>
          </p:nvSpPr>
          <p:spPr bwMode="auto">
            <a:xfrm>
              <a:off x="7536431" y="434774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8" name="AutoShape 36"/>
            <p:cNvSpPr>
              <a:spLocks noChangeArrowheads="1"/>
            </p:cNvSpPr>
            <p:nvPr/>
          </p:nvSpPr>
          <p:spPr bwMode="auto">
            <a:xfrm>
              <a:off x="7765031" y="4976394"/>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39" name="AutoShape 37"/>
            <p:cNvSpPr>
              <a:spLocks noChangeArrowheads="1"/>
            </p:cNvSpPr>
            <p:nvPr/>
          </p:nvSpPr>
          <p:spPr bwMode="auto">
            <a:xfrm>
              <a:off x="7745981" y="4471569"/>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0" name="AutoShape 38"/>
            <p:cNvSpPr>
              <a:spLocks noChangeArrowheads="1"/>
            </p:cNvSpPr>
            <p:nvPr/>
          </p:nvSpPr>
          <p:spPr bwMode="auto">
            <a:xfrm>
              <a:off x="9352531" y="41064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1" name="AutoShape 39"/>
            <p:cNvSpPr>
              <a:spLocks noChangeArrowheads="1"/>
            </p:cNvSpPr>
            <p:nvPr/>
          </p:nvSpPr>
          <p:spPr bwMode="auto">
            <a:xfrm>
              <a:off x="9212831" y="53192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2" name="AutoShape 40"/>
            <p:cNvSpPr>
              <a:spLocks noChangeArrowheads="1"/>
            </p:cNvSpPr>
            <p:nvPr/>
          </p:nvSpPr>
          <p:spPr bwMode="auto">
            <a:xfrm>
              <a:off x="8736581" y="30713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3" name="AutoShape 41"/>
            <p:cNvSpPr>
              <a:spLocks noChangeArrowheads="1"/>
            </p:cNvSpPr>
            <p:nvPr/>
          </p:nvSpPr>
          <p:spPr bwMode="auto">
            <a:xfrm>
              <a:off x="8742931" y="43350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4" name="AutoShape 42"/>
            <p:cNvSpPr>
              <a:spLocks noChangeArrowheads="1"/>
            </p:cNvSpPr>
            <p:nvPr/>
          </p:nvSpPr>
          <p:spPr bwMode="auto">
            <a:xfrm>
              <a:off x="9441431" y="48430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5" name="AutoShape 43"/>
            <p:cNvSpPr>
              <a:spLocks noChangeArrowheads="1"/>
            </p:cNvSpPr>
            <p:nvPr/>
          </p:nvSpPr>
          <p:spPr bwMode="auto">
            <a:xfrm>
              <a:off x="8266681" y="37825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6" name="AutoShape 44"/>
            <p:cNvSpPr>
              <a:spLocks noChangeArrowheads="1"/>
            </p:cNvSpPr>
            <p:nvPr/>
          </p:nvSpPr>
          <p:spPr bwMode="auto">
            <a:xfrm>
              <a:off x="8869931" y="501449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7" name="AutoShape 45"/>
            <p:cNvSpPr>
              <a:spLocks noChangeArrowheads="1"/>
            </p:cNvSpPr>
            <p:nvPr/>
          </p:nvSpPr>
          <p:spPr bwMode="auto">
            <a:xfrm>
              <a:off x="8660381" y="32809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8" name="AutoShape 46"/>
            <p:cNvSpPr>
              <a:spLocks noChangeArrowheads="1"/>
            </p:cNvSpPr>
            <p:nvPr/>
          </p:nvSpPr>
          <p:spPr bwMode="auto">
            <a:xfrm>
              <a:off x="7269731" y="478748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49" name="AutoShape 47"/>
            <p:cNvSpPr>
              <a:spLocks noChangeArrowheads="1"/>
            </p:cNvSpPr>
            <p:nvPr/>
          </p:nvSpPr>
          <p:spPr bwMode="auto">
            <a:xfrm>
              <a:off x="6888731" y="4920831"/>
              <a:ext cx="88900" cy="88900"/>
            </a:xfrm>
            <a:prstGeom prst="octagon">
              <a:avLst>
                <a:gd name="adj" fmla="val 29287"/>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0" name="AutoShape 48"/>
            <p:cNvSpPr>
              <a:spLocks noChangeArrowheads="1"/>
            </p:cNvSpPr>
            <p:nvPr/>
          </p:nvSpPr>
          <p:spPr bwMode="auto">
            <a:xfrm>
              <a:off x="8650856" y="3406356"/>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1" name="AutoShape 49"/>
            <p:cNvSpPr>
              <a:spLocks noChangeArrowheads="1"/>
            </p:cNvSpPr>
            <p:nvPr/>
          </p:nvSpPr>
          <p:spPr bwMode="auto">
            <a:xfrm>
              <a:off x="8203181" y="29380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2" name="AutoShape 50"/>
            <p:cNvSpPr>
              <a:spLocks noChangeArrowheads="1"/>
            </p:cNvSpPr>
            <p:nvPr/>
          </p:nvSpPr>
          <p:spPr bwMode="auto">
            <a:xfrm>
              <a:off x="9327131" y="3509544"/>
              <a:ext cx="88900" cy="88900"/>
            </a:xfrm>
            <a:prstGeom prst="octagon">
              <a:avLst>
                <a:gd name="adj" fmla="val 29287"/>
              </a:avLst>
            </a:prstGeom>
            <a:solidFill>
              <a:srgbClr val="0000FF"/>
            </a:solidFill>
            <a:ln w="9525">
              <a:solidFill>
                <a:srgbClr val="0000FF"/>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3" name="Line 51"/>
            <p:cNvSpPr>
              <a:spLocks noChangeShapeType="1"/>
            </p:cNvSpPr>
            <p:nvPr/>
          </p:nvSpPr>
          <p:spPr bwMode="auto">
            <a:xfrm flipH="1">
              <a:off x="6118794" y="4663656"/>
              <a:ext cx="1238250" cy="9969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54" name="Line 52"/>
            <p:cNvSpPr>
              <a:spLocks noChangeShapeType="1"/>
            </p:cNvSpPr>
            <p:nvPr/>
          </p:nvSpPr>
          <p:spPr bwMode="auto">
            <a:xfrm>
              <a:off x="7355456" y="3311106"/>
              <a:ext cx="1447800" cy="1333500"/>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5" name="Line 53"/>
            <p:cNvSpPr>
              <a:spLocks noChangeShapeType="1"/>
            </p:cNvSpPr>
            <p:nvPr/>
          </p:nvSpPr>
          <p:spPr bwMode="auto">
            <a:xfrm flipV="1">
              <a:off x="7584056" y="4682706"/>
              <a:ext cx="1219200" cy="1219200"/>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6" name="Line 54"/>
            <p:cNvSpPr>
              <a:spLocks noChangeShapeType="1"/>
            </p:cNvSpPr>
            <p:nvPr/>
          </p:nvSpPr>
          <p:spPr bwMode="auto">
            <a:xfrm flipV="1">
              <a:off x="5888606" y="3349206"/>
              <a:ext cx="1466850" cy="838200"/>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7" name="Line 55"/>
            <p:cNvSpPr>
              <a:spLocks noChangeShapeType="1"/>
            </p:cNvSpPr>
            <p:nvPr/>
          </p:nvSpPr>
          <p:spPr bwMode="auto">
            <a:xfrm>
              <a:off x="5869556" y="4187406"/>
              <a:ext cx="1714500" cy="1695450"/>
            </a:xfrm>
            <a:prstGeom prst="line">
              <a:avLst/>
            </a:prstGeom>
            <a:noFill/>
            <a:ln w="15875">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ru-RU"/>
            </a:p>
          </p:txBody>
        </p:sp>
        <p:sp>
          <p:nvSpPr>
            <p:cNvPr id="58" name="AutoShape 56"/>
            <p:cNvSpPr>
              <a:spLocks noChangeArrowheads="1"/>
            </p:cNvSpPr>
            <p:nvPr/>
          </p:nvSpPr>
          <p:spPr bwMode="auto">
            <a:xfrm>
              <a:off x="4850381" y="2749131"/>
              <a:ext cx="1638300" cy="457200"/>
            </a:xfrm>
            <a:prstGeom prst="curvedDownArrow">
              <a:avLst>
                <a:gd name="adj1" fmla="val 71667"/>
                <a:gd name="adj2" fmla="val 143333"/>
                <a:gd name="adj3" fmla="val 33333"/>
              </a:avLst>
            </a:prstGeom>
            <a:solidFill>
              <a:srgbClr val="008000"/>
            </a:solidFill>
            <a:ln w="9525">
              <a:solidFill>
                <a:srgbClr val="008000"/>
              </a:solidFill>
              <a:miter lim="800000"/>
              <a:headEnd/>
              <a:tailEnd/>
            </a:ln>
          </p:spPr>
          <p:txBody>
            <a:bodyPr wrap="none" anchor="ct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endParaRPr lang="ru-RU" altLang="ru-RU"/>
            </a:p>
          </p:txBody>
        </p:sp>
        <p:sp>
          <p:nvSpPr>
            <p:cNvPr id="59" name="Text Box 57"/>
            <p:cNvSpPr txBox="1">
              <a:spLocks noChangeArrowheads="1"/>
            </p:cNvSpPr>
            <p:nvPr/>
          </p:nvSpPr>
          <p:spPr bwMode="auto">
            <a:xfrm>
              <a:off x="4850381" y="3149181"/>
              <a:ext cx="1504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l-GR" altLang="ru-RU" sz="2000">
                  <a:latin typeface="Times New Roman" panose="02020603050405020304" pitchFamily="18" charset="0"/>
                  <a:cs typeface="Times New Roman" panose="02020603050405020304" pitchFamily="18" charset="0"/>
                </a:rPr>
                <a:t>Φ</a:t>
              </a:r>
              <a:r>
                <a:rPr lang="en-US" altLang="ru-RU" sz="2000">
                  <a:latin typeface="Times New Roman" panose="02020603050405020304" pitchFamily="18" charset="0"/>
                  <a:cs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x</a:t>
              </a:r>
              <a:r>
                <a:rPr lang="en-US" altLang="ru-RU" sz="2000" b="1" baseline="-25000">
                  <a:latin typeface="Times New Roman" panose="02020603050405020304" pitchFamily="18" charset="0"/>
                  <a:cs typeface="Times New Roman" panose="02020603050405020304" pitchFamily="18" charset="0"/>
                </a:rPr>
                <a:t> </a:t>
              </a:r>
              <a:r>
                <a:rPr lang="en-US" altLang="ru-RU" sz="2000" b="1">
                  <a:latin typeface="Times New Roman" panose="02020603050405020304" pitchFamily="18" charset="0"/>
                  <a:cs typeface="Times New Roman" panose="02020603050405020304" pitchFamily="18" charset="0"/>
                </a:rPr>
                <a:t>→</a:t>
              </a:r>
              <a:r>
                <a:rPr lang="en-US" altLang="ru-RU" sz="2000">
                  <a:latin typeface="Times New Roman" panose="02020603050405020304" pitchFamily="18" charset="0"/>
                  <a:cs typeface="Times New Roman" panose="02020603050405020304" pitchFamily="18" charset="0"/>
                </a:rPr>
                <a:t> </a:t>
              </a:r>
              <a:r>
                <a:rPr lang="el-GR" altLang="ru-RU" sz="2000">
                  <a:latin typeface="Times New Roman" panose="02020603050405020304" pitchFamily="18" charset="0"/>
                  <a:cs typeface="Times New Roman" panose="02020603050405020304" pitchFamily="18" charset="0"/>
                </a:rPr>
                <a:t>φ</a:t>
              </a:r>
              <a:r>
                <a:rPr lang="en-US" altLang="ru-RU" sz="2000">
                  <a:latin typeface="Times New Roman" panose="02020603050405020304" pitchFamily="18" charset="0"/>
                  <a:cs typeface="Times New Roman" panose="02020603050405020304" pitchFamily="18" charset="0"/>
                </a:rPr>
                <a:t>(</a:t>
              </a:r>
              <a:r>
                <a:rPr lang="en-US" altLang="ru-RU" sz="2000" b="1">
                  <a:latin typeface="Times New Roman" panose="02020603050405020304" pitchFamily="18" charset="0"/>
                  <a:cs typeface="Times New Roman" panose="02020603050405020304" pitchFamily="18" charset="0"/>
                </a:rPr>
                <a:t>x</a:t>
              </a:r>
              <a:r>
                <a:rPr lang="en-US" altLang="ru-RU" sz="2000">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588499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Метод ядер ("</a:t>
            </a:r>
            <a:r>
              <a:rPr lang="en-US" b="1" dirty="0"/>
              <a:t>kernel trick")</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Линейный классификатор основан на скалярном произведении векторов</a:t>
            </a:r>
            <a:r>
              <a:rPr lang="ru-RU" sz="3200" dirty="0" smtClean="0"/>
              <a:t>: </a:t>
            </a:r>
            <a:r>
              <a:rPr lang="en-US" altLang="ru-RU" sz="3200" i="1" dirty="0"/>
              <a:t>K</a:t>
            </a:r>
            <a:r>
              <a:rPr lang="en-US" altLang="ru-RU" sz="3200" dirty="0"/>
              <a:t>(</a:t>
            </a:r>
            <a:r>
              <a:rPr lang="en-US" altLang="ru-RU" sz="3200" b="1" dirty="0" err="1"/>
              <a:t>x</a:t>
            </a:r>
            <a:r>
              <a:rPr lang="en-US" altLang="ru-RU" sz="3200" b="1" baseline="-25000" dirty="0" err="1"/>
              <a:t>i</a:t>
            </a:r>
            <a:r>
              <a:rPr lang="en-US" altLang="ru-RU" sz="3200" dirty="0" err="1"/>
              <a:t>,</a:t>
            </a:r>
            <a:r>
              <a:rPr lang="en-US" altLang="ru-RU" sz="3200" b="1" dirty="0" err="1"/>
              <a:t>x</a:t>
            </a:r>
            <a:r>
              <a:rPr lang="en-US" altLang="ru-RU" sz="3200" b="1" baseline="-25000" dirty="0" err="1"/>
              <a:t>j</a:t>
            </a:r>
            <a:r>
              <a:rPr lang="en-US" altLang="ru-RU" sz="3200" dirty="0"/>
              <a:t>)=</a:t>
            </a:r>
            <a:r>
              <a:rPr lang="en-US" altLang="ru-RU" sz="3200" b="1" dirty="0" err="1"/>
              <a:t>x</a:t>
            </a:r>
            <a:r>
              <a:rPr lang="en-US" altLang="ru-RU" sz="3200" b="1" baseline="-25000" dirty="0" err="1"/>
              <a:t>i</a:t>
            </a:r>
            <a:r>
              <a:rPr lang="en-US" altLang="ru-RU" sz="3200" b="1" baseline="30000" dirty="0" err="1"/>
              <a:t>T</a:t>
            </a:r>
            <a:r>
              <a:rPr lang="en-US" altLang="ru-RU" sz="3200" b="1" dirty="0" err="1"/>
              <a:t>x</a:t>
            </a:r>
            <a:r>
              <a:rPr lang="en-US" altLang="ru-RU" sz="3200" b="1" baseline="-25000" dirty="0" err="1"/>
              <a:t>j</a:t>
            </a:r>
            <a:endParaRPr lang="en-US" altLang="ru-RU" sz="3200" b="1" baseline="-25000" dirty="0"/>
          </a:p>
          <a:p>
            <a:pPr marL="0" indent="0" fontAlgn="base">
              <a:buNone/>
            </a:pPr>
            <a:r>
              <a:rPr lang="ru-RU" sz="3200" dirty="0" smtClean="0"/>
              <a:t>Если </a:t>
            </a:r>
            <a:r>
              <a:rPr lang="ru-RU" sz="3200" dirty="0"/>
              <a:t>каждый элемент данных отображается в пространство высокой размерности посредством преобразования </a:t>
            </a:r>
          </a:p>
          <a:p>
            <a:pPr marL="0" indent="0" fontAlgn="base">
              <a:buNone/>
            </a:pPr>
            <a:r>
              <a:rPr lang="el-GR" altLang="ru-RU" sz="3200" dirty="0">
                <a:cs typeface="Times New Roman" panose="02020603050405020304" pitchFamily="18" charset="0"/>
              </a:rPr>
              <a:t>Φ</a:t>
            </a:r>
            <a:r>
              <a:rPr lang="en-US" altLang="ru-RU" sz="3200" dirty="0">
                <a:cs typeface="Times New Roman" panose="02020603050405020304" pitchFamily="18" charset="0"/>
              </a:rPr>
              <a:t>:  </a:t>
            </a:r>
            <a:r>
              <a:rPr lang="en-US" altLang="ru-RU" sz="3200" b="1" dirty="0">
                <a:cs typeface="Times New Roman" panose="02020603050405020304" pitchFamily="18" charset="0"/>
              </a:rPr>
              <a:t>x</a:t>
            </a:r>
            <a:r>
              <a:rPr lang="en-US" altLang="ru-RU" sz="3200" b="1" baseline="-25000" dirty="0">
                <a:cs typeface="Times New Roman" panose="02020603050405020304" pitchFamily="18" charset="0"/>
              </a:rPr>
              <a:t> </a:t>
            </a:r>
            <a:r>
              <a:rPr lang="en-US" altLang="ru-RU" sz="3200" b="1" dirty="0">
                <a:cs typeface="Times New Roman" panose="02020603050405020304" pitchFamily="18" charset="0"/>
              </a:rPr>
              <a:t>→</a:t>
            </a:r>
            <a:r>
              <a:rPr lang="en-US" altLang="ru-RU" sz="3200" dirty="0">
                <a:cs typeface="Times New Roman" panose="02020603050405020304" pitchFamily="18" charset="0"/>
              </a:rPr>
              <a:t> </a:t>
            </a:r>
            <a:r>
              <a:rPr lang="el-GR" altLang="ru-RU" sz="3200" dirty="0">
                <a:cs typeface="Times New Roman" panose="02020603050405020304" pitchFamily="18" charset="0"/>
              </a:rPr>
              <a:t>φ</a:t>
            </a:r>
            <a:r>
              <a:rPr lang="en-US" altLang="ru-RU" sz="3200" dirty="0">
                <a:cs typeface="Times New Roman" panose="02020603050405020304" pitchFamily="18" charset="0"/>
              </a:rPr>
              <a:t>(</a:t>
            </a:r>
            <a:r>
              <a:rPr lang="en-US" altLang="ru-RU" sz="3200" b="1" dirty="0">
                <a:cs typeface="Times New Roman" panose="02020603050405020304" pitchFamily="18" charset="0"/>
              </a:rPr>
              <a:t>x</a:t>
            </a:r>
            <a:r>
              <a:rPr lang="en-US" altLang="ru-RU" sz="3200" dirty="0">
                <a:cs typeface="Times New Roman" panose="02020603050405020304" pitchFamily="18" charset="0"/>
              </a:rPr>
              <a:t>)</a:t>
            </a:r>
            <a:r>
              <a:rPr lang="ru-RU" sz="3200" dirty="0" smtClean="0"/>
              <a:t>, </a:t>
            </a:r>
            <a:r>
              <a:rPr lang="ru-RU" sz="3200" dirty="0"/>
              <a:t>скалярное произведение становится:</a:t>
            </a:r>
          </a:p>
          <a:p>
            <a:pPr algn="ctr">
              <a:buNone/>
            </a:pPr>
            <a:r>
              <a:rPr lang="en-US" altLang="ru-RU" sz="3200" i="1" dirty="0"/>
              <a:t>K</a:t>
            </a:r>
            <a:r>
              <a:rPr lang="en-US" altLang="ru-RU" sz="3200" dirty="0"/>
              <a:t>(</a:t>
            </a:r>
            <a:r>
              <a:rPr lang="en-US" altLang="ru-RU" sz="3200" b="1" dirty="0" err="1"/>
              <a:t>x</a:t>
            </a:r>
            <a:r>
              <a:rPr lang="en-US" altLang="ru-RU" sz="3200" b="1" baseline="-25000" dirty="0" err="1"/>
              <a:t>i</a:t>
            </a:r>
            <a:r>
              <a:rPr lang="en-US" altLang="ru-RU" sz="3200" dirty="0" err="1"/>
              <a:t>,</a:t>
            </a:r>
            <a:r>
              <a:rPr lang="en-US" altLang="ru-RU" sz="3200" b="1" dirty="0" err="1"/>
              <a:t>x</a:t>
            </a:r>
            <a:r>
              <a:rPr lang="en-US" altLang="ru-RU" sz="3200" b="1" baseline="-25000" dirty="0" err="1"/>
              <a:t>j</a:t>
            </a:r>
            <a:r>
              <a:rPr lang="en-US" altLang="ru-RU" sz="3200" dirty="0"/>
              <a:t>)= </a:t>
            </a:r>
            <a:r>
              <a:rPr lang="el-GR" altLang="ru-RU" sz="3200" dirty="0">
                <a:cs typeface="Times New Roman" panose="02020603050405020304" pitchFamily="18" charset="0"/>
              </a:rPr>
              <a:t>φ</a:t>
            </a:r>
            <a:r>
              <a:rPr lang="en-US" altLang="ru-RU" sz="3200" dirty="0"/>
              <a:t>(</a:t>
            </a:r>
            <a:r>
              <a:rPr lang="en-US" altLang="ru-RU" sz="3200" b="1" dirty="0"/>
              <a:t>x</a:t>
            </a:r>
            <a:r>
              <a:rPr lang="en-US" altLang="ru-RU" sz="3200" b="1" baseline="-25000" dirty="0"/>
              <a:t>i</a:t>
            </a:r>
            <a:r>
              <a:rPr lang="en-US" altLang="ru-RU" sz="3200" dirty="0"/>
              <a:t>)</a:t>
            </a:r>
            <a:r>
              <a:rPr lang="en-US" altLang="ru-RU" sz="3200" b="1" baseline="-25000" dirty="0"/>
              <a:t> </a:t>
            </a:r>
            <a:r>
              <a:rPr lang="en-US" altLang="ru-RU" sz="3200" b="1" baseline="30000" dirty="0"/>
              <a:t>T</a:t>
            </a:r>
            <a:r>
              <a:rPr lang="el-GR" altLang="ru-RU" sz="3200" dirty="0">
                <a:cs typeface="Times New Roman" panose="02020603050405020304" pitchFamily="18" charset="0"/>
              </a:rPr>
              <a:t>φ</a:t>
            </a:r>
            <a:r>
              <a:rPr lang="en-US" altLang="ru-RU" sz="3200" dirty="0"/>
              <a:t>(</a:t>
            </a:r>
            <a:r>
              <a:rPr lang="en-US" altLang="ru-RU" sz="3200" b="1" dirty="0" err="1"/>
              <a:t>x</a:t>
            </a:r>
            <a:r>
              <a:rPr lang="en-US" altLang="ru-RU" sz="3200" b="1" baseline="-25000" dirty="0" err="1"/>
              <a:t>j</a:t>
            </a:r>
            <a:r>
              <a:rPr lang="en-US" altLang="ru-RU" sz="3200" dirty="0"/>
              <a:t>)</a:t>
            </a:r>
          </a:p>
          <a:p>
            <a:pPr marL="0" indent="0" fontAlgn="base">
              <a:buNone/>
            </a:pPr>
            <a:r>
              <a:rPr lang="ru-RU" sz="3200" dirty="0" smtClean="0"/>
              <a:t>Функция </a:t>
            </a:r>
            <a:r>
              <a:rPr lang="ru-RU" sz="3200" dirty="0"/>
              <a:t>ядра </a:t>
            </a:r>
            <a:r>
              <a:rPr lang="ru-RU" sz="3200" dirty="0" smtClean="0"/>
              <a:t>- </a:t>
            </a:r>
            <a:r>
              <a:rPr lang="ru-RU" sz="3200" dirty="0"/>
              <a:t>это некоторая функция, соответствующая скалярному произведению в расширенном пространстве признаков.</a:t>
            </a:r>
            <a:endParaRPr lang="ru-RU" sz="3200" dirty="0"/>
          </a:p>
        </p:txBody>
      </p:sp>
    </p:spTree>
    <p:extLst>
      <p:ext uri="{BB962C8B-B14F-4D97-AF65-F5344CB8AC3E}">
        <p14:creationId xmlns:p14="http://schemas.microsoft.com/office/powerpoint/2010/main" val="2330337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Функции ядра</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Почему используют ядра?</a:t>
            </a:r>
          </a:p>
          <a:p>
            <a:pPr lvl="1" fontAlgn="base"/>
            <a:r>
              <a:rPr lang="ru-RU" sz="3000" dirty="0" smtClean="0"/>
              <a:t>Преобразуют </a:t>
            </a:r>
            <a:r>
              <a:rPr lang="ru-RU" sz="3000" dirty="0"/>
              <a:t>неразделимую проблему в разделимую.</a:t>
            </a:r>
          </a:p>
          <a:p>
            <a:pPr lvl="1" fontAlgn="base"/>
            <a:r>
              <a:rPr lang="ru-RU" sz="3000" dirty="0"/>
              <a:t>Отображают данные в лучшее представительное пространство.</a:t>
            </a:r>
          </a:p>
          <a:p>
            <a:pPr marL="0" indent="0" fontAlgn="base">
              <a:buNone/>
            </a:pPr>
            <a:r>
              <a:rPr lang="ru-RU" sz="3200" dirty="0"/>
              <a:t>Общие виды ядер:</a:t>
            </a:r>
          </a:p>
          <a:p>
            <a:pPr lvl="1" fontAlgn="base"/>
            <a:r>
              <a:rPr lang="ru-RU" sz="3000" dirty="0" smtClean="0"/>
              <a:t>Линейное </a:t>
            </a:r>
            <a:r>
              <a:rPr lang="ru-RU" sz="3000" dirty="0"/>
              <a:t>ядро</a:t>
            </a:r>
          </a:p>
          <a:p>
            <a:pPr lvl="1" fontAlgn="base"/>
            <a:r>
              <a:rPr lang="ru-RU" sz="3000" dirty="0" smtClean="0"/>
              <a:t>Полиномиальное </a:t>
            </a:r>
            <a:r>
              <a:rPr lang="ru-RU" sz="3000" dirty="0"/>
              <a:t>ядро </a:t>
            </a:r>
            <a:r>
              <a:rPr lang="en-US" altLang="ru-RU" sz="3200" b="1" dirty="0">
                <a:solidFill>
                  <a:schemeClr val="folHlink"/>
                </a:solidFill>
              </a:rPr>
              <a:t>K(</a:t>
            </a:r>
            <a:r>
              <a:rPr lang="en-US" altLang="ru-RU" sz="3200" b="1" dirty="0" err="1">
                <a:solidFill>
                  <a:schemeClr val="folHlink"/>
                </a:solidFill>
              </a:rPr>
              <a:t>x,z</a:t>
            </a:r>
            <a:r>
              <a:rPr lang="en-US" altLang="ru-RU" sz="3200" b="1" dirty="0">
                <a:solidFill>
                  <a:schemeClr val="folHlink"/>
                </a:solidFill>
              </a:rPr>
              <a:t>) = (1+x</a:t>
            </a:r>
            <a:r>
              <a:rPr lang="en-US" altLang="ru-RU" sz="3200" b="1" baseline="30000" dirty="0">
                <a:solidFill>
                  <a:schemeClr val="folHlink"/>
                </a:solidFill>
              </a:rPr>
              <a:t>T</a:t>
            </a:r>
            <a:r>
              <a:rPr lang="en-US" altLang="ru-RU" sz="3200" b="1" dirty="0">
                <a:solidFill>
                  <a:schemeClr val="folHlink"/>
                </a:solidFill>
              </a:rPr>
              <a:t>z)</a:t>
            </a:r>
            <a:r>
              <a:rPr lang="en-US" altLang="ru-RU" sz="3200" b="1" baseline="30000" dirty="0">
                <a:solidFill>
                  <a:schemeClr val="folHlink"/>
                </a:solidFill>
              </a:rPr>
              <a:t>d</a:t>
            </a:r>
          </a:p>
          <a:p>
            <a:pPr lvl="1" fontAlgn="base"/>
            <a:r>
              <a:rPr lang="ru-RU" sz="3000" dirty="0" smtClean="0"/>
              <a:t>Радиально-базисная </a:t>
            </a:r>
            <a:r>
              <a:rPr lang="ru-RU" sz="3000" dirty="0"/>
              <a:t>функция (бесконечномерное пространство)</a:t>
            </a:r>
          </a:p>
          <a:p>
            <a:pPr marL="0" indent="0" fontAlgn="base">
              <a:buNone/>
            </a:pPr>
            <a:r>
              <a:rPr lang="ru-RU" sz="3200" dirty="0"/>
              <a:t>Однако в текстовой классификации ядра показали себя менее полезными.</a:t>
            </a:r>
            <a:endParaRPr lang="en-US" sz="3200" dirty="0"/>
          </a:p>
        </p:txBody>
      </p:sp>
    </p:spTree>
    <p:extLst>
      <p:ext uri="{BB962C8B-B14F-4D97-AF65-F5344CB8AC3E}">
        <p14:creationId xmlns:p14="http://schemas.microsoft.com/office/powerpoint/2010/main" val="4022971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Пример: </a:t>
            </a:r>
            <a:r>
              <a:rPr lang="ru-RU" b="1" dirty="0"/>
              <a:t>Классический датасет </a:t>
            </a:r>
            <a:r>
              <a:rPr lang="ru-RU" b="1" dirty="0" smtClean="0"/>
              <a:t>Reuters-21578</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21</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Самый распространенный </a:t>
            </a:r>
            <a:r>
              <a:rPr lang="ru-RU" sz="3200" dirty="0"/>
              <a:t>датасет:</a:t>
            </a:r>
          </a:p>
          <a:p>
            <a:pPr marL="0" indent="0" fontAlgn="base">
              <a:buNone/>
            </a:pPr>
            <a:r>
              <a:rPr lang="ru-RU" sz="3200" dirty="0" smtClean="0"/>
              <a:t>21578 </a:t>
            </a:r>
            <a:r>
              <a:rPr lang="ru-RU" sz="3200" dirty="0"/>
              <a:t>документов</a:t>
            </a:r>
          </a:p>
          <a:p>
            <a:pPr marL="0" indent="0" fontAlgn="base">
              <a:buNone/>
            </a:pPr>
            <a:r>
              <a:rPr lang="ru-RU" sz="3200" dirty="0"/>
              <a:t>9603 тренировочных, 3299 тестовых статей </a:t>
            </a:r>
            <a:endParaRPr lang="ru-RU" sz="3200" dirty="0" smtClean="0"/>
          </a:p>
          <a:p>
            <a:pPr marL="0" indent="0" fontAlgn="base">
              <a:buNone/>
            </a:pPr>
            <a:r>
              <a:rPr lang="ru-RU" sz="3200" dirty="0" smtClean="0"/>
              <a:t>118 категорий:</a:t>
            </a:r>
            <a:endParaRPr lang="ru-RU" sz="3200" dirty="0"/>
          </a:p>
          <a:p>
            <a:pPr lvl="1" fontAlgn="base"/>
            <a:r>
              <a:rPr lang="ru-RU" sz="3000" dirty="0"/>
              <a:t>Статья может принадлежать нескольким категориям</a:t>
            </a:r>
          </a:p>
          <a:p>
            <a:pPr lvl="1" fontAlgn="base"/>
            <a:r>
              <a:rPr lang="ru-RU" sz="3000" dirty="0" smtClean="0"/>
              <a:t>Только </a:t>
            </a:r>
            <a:r>
              <a:rPr lang="ru-RU" sz="3000" dirty="0"/>
              <a:t>около 10 из 118 категорий </a:t>
            </a:r>
            <a:r>
              <a:rPr lang="ru-RU" sz="3000" dirty="0" smtClean="0"/>
              <a:t>крупные</a:t>
            </a:r>
          </a:p>
          <a:p>
            <a:pPr marL="0" indent="0" fontAlgn="base">
              <a:buNone/>
            </a:pPr>
            <a:endParaRPr lang="ru-RU" sz="3200" dirty="0"/>
          </a:p>
        </p:txBody>
      </p:sp>
      <p:sp>
        <p:nvSpPr>
          <p:cNvPr id="6" name="Text Box 3"/>
          <p:cNvSpPr txBox="1">
            <a:spLocks noChangeArrowheads="1"/>
          </p:cNvSpPr>
          <p:nvPr/>
        </p:nvSpPr>
        <p:spPr bwMode="auto">
          <a:xfrm>
            <a:off x="1101246" y="4380781"/>
            <a:ext cx="24574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r>
              <a:rPr lang="en-US" altLang="ru-RU" sz="2000"/>
              <a:t>Common categories</a:t>
            </a:r>
          </a:p>
          <a:p>
            <a:pPr eaLnBrk="1" hangingPunct="1"/>
            <a:r>
              <a:rPr lang="en-US" altLang="ru-RU" sz="2000"/>
              <a:t>(#train, #test)</a:t>
            </a:r>
          </a:p>
        </p:txBody>
      </p:sp>
      <p:sp>
        <p:nvSpPr>
          <p:cNvPr id="7" name="Text Box 5"/>
          <p:cNvSpPr txBox="1">
            <a:spLocks noChangeArrowheads="1"/>
          </p:cNvSpPr>
          <p:nvPr/>
        </p:nvSpPr>
        <p:spPr bwMode="auto">
          <a:xfrm>
            <a:off x="3936521" y="4345856"/>
            <a:ext cx="3048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buFontTx/>
              <a:buChar char="•"/>
            </a:pPr>
            <a:r>
              <a:rPr lang="en-US" altLang="ru-RU" sz="1600" dirty="0">
                <a:latin typeface="Tahoma" panose="020B0604030504040204" pitchFamily="34" charset="0"/>
              </a:rPr>
              <a:t> Earn (2877, 1087) </a:t>
            </a:r>
          </a:p>
          <a:p>
            <a:pPr>
              <a:buFontTx/>
              <a:buChar char="•"/>
            </a:pPr>
            <a:r>
              <a:rPr lang="en-US" altLang="ru-RU" sz="1600" dirty="0">
                <a:latin typeface="Tahoma" panose="020B0604030504040204" pitchFamily="34" charset="0"/>
              </a:rPr>
              <a:t> Acquisitions (1650, 179)</a:t>
            </a:r>
          </a:p>
          <a:p>
            <a:pPr>
              <a:buFontTx/>
              <a:buChar char="•"/>
            </a:pPr>
            <a:r>
              <a:rPr lang="en-US" altLang="ru-RU" sz="1600" dirty="0">
                <a:latin typeface="Tahoma" panose="020B0604030504040204" pitchFamily="34" charset="0"/>
              </a:rPr>
              <a:t> Money-</a:t>
            </a:r>
            <a:r>
              <a:rPr lang="en-US" altLang="ru-RU" sz="1600" dirty="0" err="1">
                <a:latin typeface="Tahoma" panose="020B0604030504040204" pitchFamily="34" charset="0"/>
              </a:rPr>
              <a:t>fx</a:t>
            </a:r>
            <a:r>
              <a:rPr lang="en-US" altLang="ru-RU" sz="1600" dirty="0">
                <a:latin typeface="Tahoma" panose="020B0604030504040204" pitchFamily="34" charset="0"/>
              </a:rPr>
              <a:t> (538, 179)</a:t>
            </a:r>
          </a:p>
          <a:p>
            <a:pPr>
              <a:buFontTx/>
              <a:buChar char="•"/>
            </a:pPr>
            <a:r>
              <a:rPr lang="en-US" altLang="ru-RU" sz="1600" dirty="0">
                <a:latin typeface="Tahoma" panose="020B0604030504040204" pitchFamily="34" charset="0"/>
              </a:rPr>
              <a:t> Grain (433, 149)</a:t>
            </a:r>
          </a:p>
          <a:p>
            <a:pPr>
              <a:buFontTx/>
              <a:buChar char="•"/>
            </a:pPr>
            <a:r>
              <a:rPr lang="en-US" altLang="ru-RU" sz="1600" dirty="0">
                <a:latin typeface="Tahoma" panose="020B0604030504040204" pitchFamily="34" charset="0"/>
              </a:rPr>
              <a:t> Crude (389, 189)</a:t>
            </a:r>
            <a:endParaRPr lang="en-US" altLang="ru-RU" sz="1600" dirty="0">
              <a:latin typeface="Times New Roman" panose="02020603050405020304" pitchFamily="18" charset="0"/>
            </a:endParaRPr>
          </a:p>
        </p:txBody>
      </p:sp>
      <p:sp>
        <p:nvSpPr>
          <p:cNvPr id="8" name="Text Box 6"/>
          <p:cNvSpPr txBox="1">
            <a:spLocks noChangeArrowheads="1"/>
          </p:cNvSpPr>
          <p:nvPr/>
        </p:nvSpPr>
        <p:spPr bwMode="auto">
          <a:xfrm>
            <a:off x="6527321" y="4361731"/>
            <a:ext cx="3352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a:buFontTx/>
              <a:buChar char="•"/>
            </a:pPr>
            <a:r>
              <a:rPr lang="en-US" altLang="ru-RU" sz="1600">
                <a:latin typeface="Tahoma" panose="020B0604030504040204" pitchFamily="34" charset="0"/>
              </a:rPr>
              <a:t> Trade (369,119)</a:t>
            </a:r>
          </a:p>
          <a:p>
            <a:pPr>
              <a:buFontTx/>
              <a:buChar char="•"/>
            </a:pPr>
            <a:r>
              <a:rPr lang="en-US" altLang="ru-RU" sz="1600">
                <a:latin typeface="Tahoma" panose="020B0604030504040204" pitchFamily="34" charset="0"/>
              </a:rPr>
              <a:t> Interest (347, 131)</a:t>
            </a:r>
          </a:p>
          <a:p>
            <a:pPr>
              <a:buFontTx/>
              <a:buChar char="•"/>
            </a:pPr>
            <a:r>
              <a:rPr lang="en-US" altLang="ru-RU" sz="1600">
                <a:latin typeface="Tahoma" panose="020B0604030504040204" pitchFamily="34" charset="0"/>
              </a:rPr>
              <a:t> Ship (197, 89)</a:t>
            </a:r>
          </a:p>
          <a:p>
            <a:pPr>
              <a:buFontTx/>
              <a:buChar char="•"/>
            </a:pPr>
            <a:r>
              <a:rPr lang="en-US" altLang="ru-RU" sz="1600">
                <a:latin typeface="Tahoma" panose="020B0604030504040204" pitchFamily="34" charset="0"/>
              </a:rPr>
              <a:t> Wheat (212, 71)</a:t>
            </a:r>
          </a:p>
          <a:p>
            <a:pPr>
              <a:buFontTx/>
              <a:buChar char="•"/>
            </a:pPr>
            <a:r>
              <a:rPr lang="en-US" altLang="ru-RU" sz="1600">
                <a:latin typeface="Tahoma" panose="020B0604030504040204" pitchFamily="34" charset="0"/>
              </a:rPr>
              <a:t> Corn (182, 56)</a:t>
            </a:r>
          </a:p>
        </p:txBody>
      </p:sp>
    </p:spTree>
    <p:extLst>
      <p:ext uri="{BB962C8B-B14F-4D97-AF65-F5344CB8AC3E}">
        <p14:creationId xmlns:p14="http://schemas.microsoft.com/office/powerpoint/2010/main" val="380552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Reuters-21578</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22</a:t>
            </a:fld>
            <a:endParaRPr lang="ru-RU" noProof="0" dirty="0"/>
          </a:p>
        </p:txBody>
      </p:sp>
      <p:sp>
        <p:nvSpPr>
          <p:cNvPr id="4" name="Объект 3"/>
          <p:cNvSpPr>
            <a:spLocks noGrp="1"/>
          </p:cNvSpPr>
          <p:nvPr>
            <p:ph idx="1"/>
          </p:nvPr>
        </p:nvSpPr>
        <p:spPr>
          <a:xfrm>
            <a:off x="432000" y="1055716"/>
            <a:ext cx="11328000" cy="5135534"/>
          </a:xfrm>
        </p:spPr>
        <p:txBody>
          <a:bodyPr>
            <a:normAutofit fontScale="70000" lnSpcReduction="20000"/>
          </a:bodyPr>
          <a:lstStyle/>
          <a:p>
            <a:pPr>
              <a:spcBef>
                <a:spcPct val="50000"/>
              </a:spcBef>
            </a:pPr>
            <a:r>
              <a:rPr lang="en-US" altLang="ru-RU" sz="3200" dirty="0">
                <a:latin typeface="Times New Roman" panose="02020603050405020304" pitchFamily="18" charset="0"/>
              </a:rPr>
              <a:t>&lt;REUTERS TOPICS="YES" LEWISSPLIT="TRAIN" CGISPLIT="TRAINING-SET" OLDID="12981" NEWID="798"&gt;</a:t>
            </a:r>
          </a:p>
          <a:p>
            <a:pPr>
              <a:spcBef>
                <a:spcPct val="50000"/>
              </a:spcBef>
            </a:pPr>
            <a:r>
              <a:rPr lang="en-US" altLang="ru-RU" sz="3200" dirty="0">
                <a:latin typeface="Times New Roman" panose="02020603050405020304" pitchFamily="18" charset="0"/>
              </a:rPr>
              <a:t>&lt;DATE&gt; 2-MAR-1987 16:51:43.42&lt;/DATE&gt;</a:t>
            </a:r>
          </a:p>
          <a:p>
            <a:pPr>
              <a:spcBef>
                <a:spcPct val="50000"/>
              </a:spcBef>
            </a:pPr>
            <a:r>
              <a:rPr lang="en-US" altLang="ru-RU" sz="3200" dirty="0">
                <a:solidFill>
                  <a:srgbClr val="FF0000"/>
                </a:solidFill>
                <a:latin typeface="Times New Roman" panose="02020603050405020304" pitchFamily="18" charset="0"/>
              </a:rPr>
              <a:t>&lt;TOPICS&gt;&lt;D&gt;livestock&lt;/D&gt;&lt;D&gt;hog&lt;/D&gt;&lt;/TOPICS&gt;</a:t>
            </a:r>
          </a:p>
          <a:p>
            <a:pPr>
              <a:spcBef>
                <a:spcPct val="50000"/>
              </a:spcBef>
            </a:pPr>
            <a:r>
              <a:rPr lang="en-US" altLang="ru-RU" sz="3200" dirty="0">
                <a:latin typeface="Times New Roman" panose="02020603050405020304" pitchFamily="18" charset="0"/>
              </a:rPr>
              <a:t>&lt;TITLE&gt;AMERICAN PORK CONGRESS KICKS OFF TOMORROW&lt;/TITLE&gt;</a:t>
            </a:r>
          </a:p>
          <a:p>
            <a:pPr>
              <a:spcBef>
                <a:spcPct val="50000"/>
              </a:spcBef>
            </a:pPr>
            <a:r>
              <a:rPr lang="en-US" altLang="ru-RU" sz="3200" dirty="0">
                <a:latin typeface="Times New Roman" panose="02020603050405020304" pitchFamily="18" charset="0"/>
              </a:rPr>
              <a:t>&lt;DATELINE&gt;    CHICAGO, March 2 - &lt;/DATELINE&gt;&lt;BODY&gt;The American Pork Congress kicks off tomorrow, March 3, in Indianapolis with 160 of the nations pork producers from 44 member states determining industry positions on a number of issues, according to the National Pork Producers Council, NPPC.</a:t>
            </a:r>
          </a:p>
          <a:p>
            <a:pPr>
              <a:spcBef>
                <a:spcPct val="50000"/>
              </a:spcBef>
            </a:pPr>
            <a:r>
              <a:rPr lang="en-US" altLang="ru-RU" sz="3200" dirty="0">
                <a:latin typeface="Times New Roman" panose="02020603050405020304" pitchFamily="18" charset="0"/>
              </a:rPr>
              <a:t>    Delegates to the three day Congress will be considering 26 resolutions concerning various issues, including the future direction of farm policy and the tax law as it applies to the agriculture sector. The delegates will also debate whether to endorse concepts of a national PRV (pseudorabies virus) control and eradication program, the NPPC said.</a:t>
            </a:r>
          </a:p>
          <a:p>
            <a:pPr>
              <a:spcBef>
                <a:spcPct val="50000"/>
              </a:spcBef>
            </a:pPr>
            <a:r>
              <a:rPr lang="en-US" altLang="ru-RU" sz="3200" dirty="0">
                <a:latin typeface="Times New Roman" panose="02020603050405020304" pitchFamily="18" charset="0"/>
              </a:rPr>
              <a:t>    A large trade show, in conjunction with the congress, will feature the latest in technology in all areas of the industry, the NPPC added. Reuter</a:t>
            </a:r>
          </a:p>
          <a:p>
            <a:pPr>
              <a:spcBef>
                <a:spcPct val="50000"/>
              </a:spcBef>
            </a:pPr>
            <a:r>
              <a:rPr lang="en-US" altLang="ru-RU" sz="3200" dirty="0">
                <a:latin typeface="Times New Roman" panose="02020603050405020304" pitchFamily="18" charset="0"/>
              </a:rPr>
              <a:t>&amp;#3;&lt;/BODY&gt;&lt;/TEXT&gt;&lt;/REUTERS</a:t>
            </a:r>
            <a:r>
              <a:rPr lang="en-US" altLang="ru-RU" sz="3200" dirty="0" smtClean="0">
                <a:latin typeface="Times New Roman" panose="02020603050405020304" pitchFamily="18" charset="0"/>
              </a:rPr>
              <a:t>&gt;</a:t>
            </a:r>
            <a:endParaRPr lang="en-US" altLang="ru-RU" sz="3200" dirty="0">
              <a:latin typeface="Times New Roman" panose="02020603050405020304" pitchFamily="18" charset="0"/>
            </a:endParaRPr>
          </a:p>
        </p:txBody>
      </p:sp>
    </p:spTree>
    <p:extLst>
      <p:ext uri="{BB962C8B-B14F-4D97-AF65-F5344CB8AC3E}">
        <p14:creationId xmlns:p14="http://schemas.microsoft.com/office/powerpoint/2010/main" val="3761469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Reuters-21578</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Если у нас больше одной категории, как объединить множественные показатели эффективности в одну величину?</a:t>
            </a:r>
          </a:p>
          <a:p>
            <a:pPr marL="0" indent="0" fontAlgn="base">
              <a:buNone/>
            </a:pPr>
            <a:r>
              <a:rPr lang="ru-RU" sz="3200" dirty="0" err="1" smtClean="0"/>
              <a:t>Макроусреднение</a:t>
            </a:r>
            <a:r>
              <a:rPr lang="ru-RU" sz="3200" dirty="0"/>
              <a:t>: Вычислить эффективность для каждой категории отдельно, затем усреднить.</a:t>
            </a:r>
          </a:p>
          <a:p>
            <a:pPr marL="0" indent="0" fontAlgn="base">
              <a:buNone/>
            </a:pPr>
            <a:r>
              <a:rPr lang="ru-RU" sz="3200" dirty="0" err="1"/>
              <a:t>Микроусреднение</a:t>
            </a:r>
            <a:r>
              <a:rPr lang="ru-RU" sz="3200" dirty="0"/>
              <a:t>: Собрать решения для всех категорий вместе, построить таблицу </a:t>
            </a:r>
            <a:r>
              <a:rPr lang="ru-RU" sz="3200" dirty="0" smtClean="0"/>
              <a:t>сопряженности</a:t>
            </a:r>
            <a:r>
              <a:rPr lang="ru-RU" sz="3200" dirty="0"/>
              <a:t>, оценить.</a:t>
            </a:r>
            <a:endParaRPr lang="ru-RU" sz="3200" dirty="0"/>
          </a:p>
          <a:p>
            <a:pPr marL="0" indent="0" fontAlgn="base">
              <a:buNone/>
            </a:pPr>
            <a:endParaRPr lang="ru-RU" sz="3200" dirty="0" smtClean="0"/>
          </a:p>
          <a:p>
            <a:pPr marL="0" indent="0" fontAlgn="base">
              <a:buNone/>
            </a:pPr>
            <a:endParaRPr lang="ru-RU" sz="3200" dirty="0"/>
          </a:p>
        </p:txBody>
      </p:sp>
    </p:spTree>
    <p:extLst>
      <p:ext uri="{BB962C8B-B14F-4D97-AF65-F5344CB8AC3E}">
        <p14:creationId xmlns:p14="http://schemas.microsoft.com/office/powerpoint/2010/main" val="1861774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Reuters-21578</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sp>
        <p:nvSpPr>
          <p:cNvPr id="4" name="Объект 3"/>
          <p:cNvSpPr>
            <a:spLocks noGrp="1"/>
          </p:cNvSpPr>
          <p:nvPr>
            <p:ph idx="1"/>
          </p:nvPr>
        </p:nvSpPr>
        <p:spPr>
          <a:xfrm>
            <a:off x="432000" y="1055716"/>
            <a:ext cx="11328000" cy="5135534"/>
          </a:xfrm>
        </p:spPr>
        <p:txBody>
          <a:bodyPr>
            <a:normAutofit lnSpcReduction="10000"/>
          </a:bodyPr>
          <a:lstStyle/>
          <a:p>
            <a:pPr marL="0" indent="0" fontAlgn="base">
              <a:buNone/>
            </a:pPr>
            <a:endParaRPr lang="ru-RU" sz="3200" dirty="0" smtClean="0"/>
          </a:p>
          <a:p>
            <a:pPr marL="0" indent="0" fontAlgn="base">
              <a:buNone/>
            </a:pPr>
            <a:endParaRPr lang="ru-RU" sz="3200" dirty="0"/>
          </a:p>
          <a:p>
            <a:pPr marL="0" indent="0" fontAlgn="base">
              <a:buNone/>
            </a:pPr>
            <a:endParaRPr lang="ru-RU" sz="3200" dirty="0" smtClean="0"/>
          </a:p>
          <a:p>
            <a:pPr marL="0" indent="0" fontAlgn="base">
              <a:buNone/>
            </a:pPr>
            <a:endParaRPr lang="ru-RU" sz="3200" dirty="0" smtClean="0"/>
          </a:p>
          <a:p>
            <a:pPr marL="0" indent="0" fontAlgn="base">
              <a:buNone/>
            </a:pPr>
            <a:endParaRPr lang="ru-RU" sz="3200" dirty="0"/>
          </a:p>
          <a:p>
            <a:pPr marL="0" indent="0" fontAlgn="base">
              <a:buNone/>
            </a:pPr>
            <a:endParaRPr lang="ru-RU" sz="3200" dirty="0"/>
          </a:p>
          <a:p>
            <a:pPr>
              <a:spcBef>
                <a:spcPct val="20000"/>
              </a:spcBef>
              <a:buClr>
                <a:srgbClr val="A50021"/>
              </a:buClr>
              <a:buSzPct val="60000"/>
              <a:buFont typeface="Wingdings" panose="05000000000000000000" pitchFamily="2" charset="2"/>
              <a:buChar char="n"/>
            </a:pPr>
            <a:r>
              <a:rPr lang="en-US" altLang="ru-RU" sz="3200" dirty="0" err="1"/>
              <a:t>Macroaveraged</a:t>
            </a:r>
            <a:r>
              <a:rPr lang="en-US" altLang="ru-RU" sz="3200" dirty="0"/>
              <a:t> precision: (0.5 + 0.9)/2 = 0.7</a:t>
            </a:r>
          </a:p>
          <a:p>
            <a:pPr>
              <a:spcBef>
                <a:spcPct val="20000"/>
              </a:spcBef>
              <a:buClr>
                <a:srgbClr val="A50021"/>
              </a:buClr>
              <a:buSzPct val="60000"/>
              <a:buFont typeface="Wingdings" panose="05000000000000000000" pitchFamily="2" charset="2"/>
              <a:buChar char="n"/>
            </a:pPr>
            <a:r>
              <a:rPr lang="en-US" altLang="ru-RU" sz="3200" dirty="0" err="1"/>
              <a:t>Microaveraged</a:t>
            </a:r>
            <a:r>
              <a:rPr lang="en-US" altLang="ru-RU" sz="3200" dirty="0"/>
              <a:t> precision: 100/120 = .83</a:t>
            </a:r>
          </a:p>
          <a:p>
            <a:pPr>
              <a:spcBef>
                <a:spcPct val="20000"/>
              </a:spcBef>
              <a:buClr>
                <a:srgbClr val="A50021"/>
              </a:buClr>
              <a:buSzPct val="60000"/>
              <a:buFont typeface="Wingdings" panose="05000000000000000000" pitchFamily="2" charset="2"/>
              <a:buChar char="n"/>
            </a:pPr>
            <a:r>
              <a:rPr lang="en-US" altLang="ru-RU" sz="3200" dirty="0" err="1" smtClean="0"/>
              <a:t>Microaveraged</a:t>
            </a:r>
            <a:r>
              <a:rPr lang="en-US" altLang="ru-RU" sz="3200" dirty="0" smtClean="0"/>
              <a:t> </a:t>
            </a:r>
            <a:r>
              <a:rPr lang="ru-RU" altLang="ru-RU" sz="3200" dirty="0"/>
              <a:t>оценка </a:t>
            </a:r>
            <a:r>
              <a:rPr lang="ru-RU" altLang="ru-RU" sz="3200" dirty="0" smtClean="0"/>
              <a:t>преобладает </a:t>
            </a:r>
            <a:r>
              <a:rPr lang="ru-RU" altLang="ru-RU" sz="3200" dirty="0"/>
              <a:t>над баллами по общим классам</a:t>
            </a:r>
            <a:endParaRPr lang="en-US" altLang="ru-RU" sz="3200" dirty="0"/>
          </a:p>
          <a:p>
            <a:pPr marL="0" indent="0" fontAlgn="base">
              <a:buNone/>
            </a:pPr>
            <a:endParaRPr lang="ru-RU" sz="3200" dirty="0"/>
          </a:p>
        </p:txBody>
      </p:sp>
      <p:graphicFrame>
        <p:nvGraphicFramePr>
          <p:cNvPr id="6" name="Group 3"/>
          <p:cNvGraphicFramePr>
            <a:graphicFrameLocks/>
          </p:cNvGraphicFramePr>
          <p:nvPr>
            <p:extLst>
              <p:ext uri="{D42A27DB-BD31-4B8C-83A1-F6EECF244321}">
                <p14:modId xmlns:p14="http://schemas.microsoft.com/office/powerpoint/2010/main" val="3602028400"/>
              </p:ext>
            </p:extLst>
          </p:nvPr>
        </p:nvGraphicFramePr>
        <p:xfrm>
          <a:off x="1521125" y="1703416"/>
          <a:ext cx="2514600" cy="1737042"/>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600" b="0" i="0" u="none" strike="noStrike" cap="none" normalizeH="0" baseline="0">
                        <a:ln>
                          <a:noFill/>
                        </a:ln>
                        <a:solidFill>
                          <a:schemeClr val="tx1"/>
                        </a:solidFill>
                        <a:effectLst/>
                        <a:latin typeface="Arial" charset="0"/>
                      </a:endParaRP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yes</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no</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yes</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no</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dirty="0">
                          <a:ln>
                            <a:noFill/>
                          </a:ln>
                          <a:solidFill>
                            <a:schemeClr val="tx1"/>
                          </a:solidFill>
                          <a:effectLst/>
                          <a:latin typeface="Arial" charset="0"/>
                        </a:rPr>
                        <a:t>970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 name="Group 21"/>
          <p:cNvGraphicFramePr>
            <a:graphicFrameLocks/>
          </p:cNvGraphicFramePr>
          <p:nvPr>
            <p:extLst>
              <p:ext uri="{D42A27DB-BD31-4B8C-83A1-F6EECF244321}">
                <p14:modId xmlns:p14="http://schemas.microsoft.com/office/powerpoint/2010/main" val="658135919"/>
              </p:ext>
            </p:extLst>
          </p:nvPr>
        </p:nvGraphicFramePr>
        <p:xfrm>
          <a:off x="4340525" y="1703416"/>
          <a:ext cx="2667000" cy="1737042"/>
        </p:xfrm>
        <a:graphic>
          <a:graphicData uri="http://schemas.openxmlformats.org/drawingml/2006/table">
            <a:tbl>
              <a:tblPr/>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tblGrid>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600" b="0" i="0" u="none" strike="noStrike" cap="none" normalizeH="0" baseline="0">
                        <a:ln>
                          <a:noFill/>
                        </a:ln>
                        <a:solidFill>
                          <a:schemeClr val="tx1"/>
                        </a:solidFill>
                        <a:effectLst/>
                        <a:latin typeface="Arial" charset="0"/>
                      </a:endParaRP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yes</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no</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yes</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90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no</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890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8" name="Group 39"/>
          <p:cNvGraphicFramePr>
            <a:graphicFrameLocks/>
          </p:cNvGraphicFramePr>
          <p:nvPr>
            <p:extLst>
              <p:ext uri="{D42A27DB-BD31-4B8C-83A1-F6EECF244321}">
                <p14:modId xmlns:p14="http://schemas.microsoft.com/office/powerpoint/2010/main" val="1133744280"/>
              </p:ext>
            </p:extLst>
          </p:nvPr>
        </p:nvGraphicFramePr>
        <p:xfrm>
          <a:off x="7159925" y="1703416"/>
          <a:ext cx="2971800" cy="1737042"/>
        </p:xfrm>
        <a:graphic>
          <a:graphicData uri="http://schemas.openxmlformats.org/drawingml/2006/table">
            <a:tbl>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endParaRPr kumimoji="0" lang="en-US" sz="1600" b="0" i="0" u="none" strike="noStrike" cap="none" normalizeH="0" baseline="0">
                        <a:ln>
                          <a:noFill/>
                        </a:ln>
                        <a:solidFill>
                          <a:schemeClr val="tx1"/>
                        </a:solidFill>
                        <a:effectLst/>
                        <a:latin typeface="Arial" charset="0"/>
                      </a:endParaRP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yes</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Truth: no</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yes</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100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20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8908">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Classifier: no</a:t>
                      </a:r>
                    </a:p>
                  </a:txBody>
                  <a:tcPr marT="45667" marB="45667"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a:ln>
                            <a:noFill/>
                          </a:ln>
                          <a:solidFill>
                            <a:schemeClr val="tx1"/>
                          </a:solidFill>
                          <a:effectLst/>
                          <a:latin typeface="Arial" charset="0"/>
                        </a:rPr>
                        <a:t>20</a:t>
                      </a:r>
                    </a:p>
                  </a:txBody>
                  <a:tcPr marT="45667" marB="45667"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60000"/>
                        <a:buFont typeface="Wingdings" charset="2"/>
                        <a:buNone/>
                        <a:tabLst/>
                      </a:pPr>
                      <a:r>
                        <a:rPr kumimoji="0" lang="en-US" sz="1600" b="0" i="0" u="none" strike="noStrike" cap="none" normalizeH="0" baseline="0" dirty="0">
                          <a:ln>
                            <a:noFill/>
                          </a:ln>
                          <a:solidFill>
                            <a:schemeClr val="tx1"/>
                          </a:solidFill>
                          <a:effectLst/>
                          <a:latin typeface="Arial" charset="0"/>
                        </a:rPr>
                        <a:t>1860</a:t>
                      </a:r>
                    </a:p>
                  </a:txBody>
                  <a:tcPr marT="45667" marB="45667"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Text Box 57"/>
          <p:cNvSpPr txBox="1">
            <a:spLocks noChangeArrowheads="1"/>
          </p:cNvSpPr>
          <p:nvPr/>
        </p:nvSpPr>
        <p:spPr bwMode="auto">
          <a:xfrm>
            <a:off x="1902125" y="1055716"/>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a:t>Class 1</a:t>
            </a:r>
          </a:p>
        </p:txBody>
      </p:sp>
      <p:sp>
        <p:nvSpPr>
          <p:cNvPr id="10" name="Text Box 58"/>
          <p:cNvSpPr txBox="1">
            <a:spLocks noChangeArrowheads="1"/>
          </p:cNvSpPr>
          <p:nvPr/>
        </p:nvSpPr>
        <p:spPr bwMode="auto">
          <a:xfrm>
            <a:off x="4721525" y="1055716"/>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a:t>Class 2</a:t>
            </a:r>
          </a:p>
        </p:txBody>
      </p:sp>
      <p:sp>
        <p:nvSpPr>
          <p:cNvPr id="11" name="Text Box 59"/>
          <p:cNvSpPr txBox="1">
            <a:spLocks noChangeArrowheads="1"/>
          </p:cNvSpPr>
          <p:nvPr/>
        </p:nvSpPr>
        <p:spPr bwMode="auto">
          <a:xfrm>
            <a:off x="7312325" y="1055716"/>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pPr eaLnBrk="1" hangingPunct="1">
              <a:spcBef>
                <a:spcPct val="50000"/>
              </a:spcBef>
            </a:pPr>
            <a:r>
              <a:rPr lang="en-US" altLang="ru-RU"/>
              <a:t>Micro Ave. Table</a:t>
            </a:r>
          </a:p>
        </p:txBody>
      </p:sp>
    </p:spTree>
    <p:extLst>
      <p:ext uri="{BB962C8B-B14F-4D97-AF65-F5344CB8AC3E}">
        <p14:creationId xmlns:p14="http://schemas.microsoft.com/office/powerpoint/2010/main" val="3196922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Reuters-21578</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pic>
        <p:nvPicPr>
          <p:cNvPr id="6" name="Picture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1276" y="1055687"/>
            <a:ext cx="7159824" cy="524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7980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a:t>
            </a:r>
            <a:r>
              <a:rPr lang="ru-RU" b="1" dirty="0" smtClean="0"/>
              <a:t>Reuters-21578. </a:t>
            </a:r>
            <a:r>
              <a:rPr lang="en-US" altLang="ru-RU" dirty="0"/>
              <a:t>category: Crude</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p:sp>
        <p:nvSpPr>
          <p:cNvPr id="3" name="Объект 2"/>
          <p:cNvSpPr>
            <a:spLocks noGrp="1"/>
          </p:cNvSpPr>
          <p:nvPr>
            <p:ph idx="1"/>
          </p:nvPr>
        </p:nvSpPr>
        <p:spPr/>
        <p:txBody>
          <a:bodyPr/>
          <a:lstStyle/>
          <a:p>
            <a:endParaRPr lang="ru-RU" dirty="0"/>
          </a:p>
        </p:txBody>
      </p:sp>
      <p:grpSp>
        <p:nvGrpSpPr>
          <p:cNvPr id="4" name="Группа 3"/>
          <p:cNvGrpSpPr/>
          <p:nvPr/>
        </p:nvGrpSpPr>
        <p:grpSpPr>
          <a:xfrm>
            <a:off x="1811547" y="1189008"/>
            <a:ext cx="7016750" cy="5181600"/>
            <a:chOff x="1811547" y="1189008"/>
            <a:chExt cx="7016750" cy="5181600"/>
          </a:xfrm>
        </p:grpSpPr>
        <p:pic>
          <p:nvPicPr>
            <p:cNvPr id="7" name="Picture 3"/>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802147" y="1189008"/>
              <a:ext cx="6026150" cy="4876800"/>
            </a:xfrm>
            <a:noFill/>
          </p:spPr>
        </p:pic>
        <p:sp>
          <p:nvSpPr>
            <p:cNvPr id="8" name="Text Box 4"/>
            <p:cNvSpPr txBox="1">
              <a:spLocks noChangeArrowheads="1"/>
            </p:cNvSpPr>
            <p:nvPr/>
          </p:nvSpPr>
          <p:spPr bwMode="auto">
            <a:xfrm>
              <a:off x="3716547" y="3551208"/>
              <a:ext cx="18288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sz="1800">
                  <a:solidFill>
                    <a:srgbClr val="66FFFF"/>
                  </a:solidFill>
                  <a:latin typeface="Tahoma" panose="020B0604030504040204" pitchFamily="34" charset="0"/>
                </a:rPr>
                <a:t>LSVM</a:t>
              </a:r>
              <a:endParaRPr lang="en-US" altLang="ru-RU" sz="1800">
                <a:latin typeface="Tahoma" panose="020B0604030504040204" pitchFamily="34" charset="0"/>
              </a:endParaRPr>
            </a:p>
            <a:p>
              <a:r>
                <a:rPr lang="en-US" altLang="ru-RU" sz="1800">
                  <a:solidFill>
                    <a:srgbClr val="000090"/>
                  </a:solidFill>
                  <a:latin typeface="Tahoma" panose="020B0604030504040204" pitchFamily="34" charset="0"/>
                </a:rPr>
                <a:t>Decision Tree</a:t>
              </a:r>
              <a:r>
                <a:rPr lang="en-US" altLang="ru-RU" sz="1800">
                  <a:solidFill>
                    <a:srgbClr val="FFFF66"/>
                  </a:solidFill>
                  <a:latin typeface="Tahoma" panose="020B0604030504040204" pitchFamily="34" charset="0"/>
                </a:rPr>
                <a:t> </a:t>
              </a:r>
              <a:r>
                <a:rPr lang="en-US" altLang="ru-RU" sz="1800">
                  <a:solidFill>
                    <a:srgbClr val="FF00FF"/>
                  </a:solidFill>
                  <a:latin typeface="Tahoma" panose="020B0604030504040204" pitchFamily="34" charset="0"/>
                </a:rPr>
                <a:t>Naïve Bayes</a:t>
              </a:r>
              <a:endParaRPr lang="en-US" altLang="ru-RU" sz="1800">
                <a:solidFill>
                  <a:srgbClr val="FFFF66"/>
                </a:solidFill>
                <a:latin typeface="Tahoma" panose="020B0604030504040204" pitchFamily="34" charset="0"/>
              </a:endParaRPr>
            </a:p>
            <a:p>
              <a:r>
                <a:rPr lang="en-US" altLang="ru-RU" sz="1800">
                  <a:solidFill>
                    <a:srgbClr val="FFFF66"/>
                  </a:solidFill>
                  <a:latin typeface="Tahoma" panose="020B0604030504040204" pitchFamily="34" charset="0"/>
                </a:rPr>
                <a:t>Rocchio</a:t>
              </a:r>
            </a:p>
          </p:txBody>
        </p:sp>
        <p:sp>
          <p:nvSpPr>
            <p:cNvPr id="9" name="Rectangle 5"/>
            <p:cNvSpPr>
              <a:spLocks noChangeArrowheads="1"/>
            </p:cNvSpPr>
            <p:nvPr/>
          </p:nvSpPr>
          <p:spPr bwMode="auto">
            <a:xfrm>
              <a:off x="5316747" y="5913408"/>
              <a:ext cx="1450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a:latin typeface="Tahoma" panose="020B0604030504040204" pitchFamily="34" charset="0"/>
                </a:rPr>
                <a:t>Precision</a:t>
              </a:r>
              <a:r>
                <a:rPr lang="en-US" altLang="ru-RU">
                  <a:latin typeface="Times New Roman" panose="02020603050405020304" pitchFamily="18" charset="0"/>
                </a:rPr>
                <a:t> </a:t>
              </a:r>
            </a:p>
          </p:txBody>
        </p:sp>
        <p:sp>
          <p:nvSpPr>
            <p:cNvPr id="10" name="Rectangle 6"/>
            <p:cNvSpPr>
              <a:spLocks noChangeArrowheads="1"/>
            </p:cNvSpPr>
            <p:nvPr/>
          </p:nvSpPr>
          <p:spPr bwMode="auto">
            <a:xfrm>
              <a:off x="1811547" y="3322608"/>
              <a:ext cx="974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a:latin typeface="Tahoma" panose="020B0604030504040204" pitchFamily="34" charset="0"/>
                </a:rPr>
                <a:t>Recall</a:t>
              </a:r>
            </a:p>
          </p:txBody>
        </p:sp>
      </p:grpSp>
    </p:spTree>
    <p:extLst>
      <p:ext uri="{BB962C8B-B14F-4D97-AF65-F5344CB8AC3E}">
        <p14:creationId xmlns:p14="http://schemas.microsoft.com/office/powerpoint/2010/main" val="2637244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Пример: Классический датасет </a:t>
            </a:r>
            <a:r>
              <a:rPr lang="ru-RU" b="1" dirty="0" smtClean="0"/>
              <a:t>Reuters-21578. </a:t>
            </a:r>
            <a:r>
              <a:rPr lang="en-US" altLang="ru-RU" dirty="0"/>
              <a:t>category: Ship</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27</a:t>
            </a:fld>
            <a:endParaRPr lang="ru-RU" noProof="0" dirty="0"/>
          </a:p>
        </p:txBody>
      </p:sp>
      <p:sp>
        <p:nvSpPr>
          <p:cNvPr id="3" name="Объект 2"/>
          <p:cNvSpPr>
            <a:spLocks noGrp="1"/>
          </p:cNvSpPr>
          <p:nvPr>
            <p:ph idx="1"/>
          </p:nvPr>
        </p:nvSpPr>
        <p:spPr/>
        <p:txBody>
          <a:bodyPr/>
          <a:lstStyle/>
          <a:p>
            <a:endParaRPr lang="ru-RU" dirty="0"/>
          </a:p>
        </p:txBody>
      </p:sp>
      <p:grpSp>
        <p:nvGrpSpPr>
          <p:cNvPr id="6" name="Группа 5"/>
          <p:cNvGrpSpPr/>
          <p:nvPr/>
        </p:nvGrpSpPr>
        <p:grpSpPr>
          <a:xfrm>
            <a:off x="1742536" y="1095643"/>
            <a:ext cx="7016750" cy="5181600"/>
            <a:chOff x="457200" y="1447800"/>
            <a:chExt cx="7016750" cy="5181600"/>
          </a:xfrm>
        </p:grpSpPr>
        <p:sp>
          <p:nvSpPr>
            <p:cNvPr id="11" name="Rectangle 1029"/>
            <p:cNvSpPr>
              <a:spLocks noChangeArrowheads="1"/>
            </p:cNvSpPr>
            <p:nvPr/>
          </p:nvSpPr>
          <p:spPr bwMode="auto">
            <a:xfrm>
              <a:off x="3962400" y="6172200"/>
              <a:ext cx="1449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a:latin typeface="Tahoma" panose="020B0604030504040204" pitchFamily="34" charset="0"/>
                </a:rPr>
                <a:t>Precision</a:t>
              </a:r>
              <a:r>
                <a:rPr lang="en-US" altLang="ru-RU">
                  <a:latin typeface="Times New Roman" panose="02020603050405020304" pitchFamily="18" charset="0"/>
                </a:rPr>
                <a:t> </a:t>
              </a:r>
            </a:p>
          </p:txBody>
        </p:sp>
        <p:sp>
          <p:nvSpPr>
            <p:cNvPr id="12" name="Rectangle 1030"/>
            <p:cNvSpPr>
              <a:spLocks noChangeArrowheads="1"/>
            </p:cNvSpPr>
            <p:nvPr/>
          </p:nvSpPr>
          <p:spPr bwMode="auto">
            <a:xfrm>
              <a:off x="457200" y="3581400"/>
              <a:ext cx="973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a:latin typeface="Tahoma" panose="020B0604030504040204" pitchFamily="34" charset="0"/>
                </a:rPr>
                <a:t>Recall</a:t>
              </a:r>
            </a:p>
          </p:txBody>
        </p:sp>
        <p:pic>
          <p:nvPicPr>
            <p:cNvPr id="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447800"/>
              <a:ext cx="60261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028"/>
            <p:cNvSpPr txBox="1">
              <a:spLocks noChangeArrowheads="1"/>
            </p:cNvSpPr>
            <p:nvPr/>
          </p:nvSpPr>
          <p:spPr bwMode="auto">
            <a:xfrm>
              <a:off x="2362200" y="3810000"/>
              <a:ext cx="18288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Lucida Sans" panose="020B0602030504020204" pitchFamily="34" charset="0"/>
                  <a:ea typeface="MS PGothic" panose="020B0600070205080204" pitchFamily="34" charset="-128"/>
                </a:defRPr>
              </a:lvl1pPr>
              <a:lvl2pPr marL="742950" indent="-285750" eaLnBrk="0" hangingPunct="0">
                <a:defRPr sz="2400">
                  <a:solidFill>
                    <a:schemeClr val="tx1"/>
                  </a:solidFill>
                  <a:latin typeface="Lucida Sans" panose="020B0602030504020204" pitchFamily="34" charset="0"/>
                  <a:ea typeface="MS PGothic" panose="020B0600070205080204" pitchFamily="34" charset="-128"/>
                </a:defRPr>
              </a:lvl2pPr>
              <a:lvl3pPr marL="1143000" indent="-228600" eaLnBrk="0" hangingPunct="0">
                <a:defRPr sz="2400">
                  <a:solidFill>
                    <a:schemeClr val="tx1"/>
                  </a:solidFill>
                  <a:latin typeface="Lucida Sans" panose="020B0602030504020204" pitchFamily="34" charset="0"/>
                  <a:ea typeface="MS PGothic" panose="020B0600070205080204" pitchFamily="34" charset="-128"/>
                </a:defRPr>
              </a:lvl3pPr>
              <a:lvl4pPr marL="1600200" indent="-228600" eaLnBrk="0" hangingPunct="0">
                <a:defRPr sz="2400">
                  <a:solidFill>
                    <a:schemeClr val="tx1"/>
                  </a:solidFill>
                  <a:latin typeface="Lucida Sans" panose="020B0602030504020204" pitchFamily="34" charset="0"/>
                  <a:ea typeface="MS PGothic" panose="020B0600070205080204" pitchFamily="34" charset="-128"/>
                </a:defRPr>
              </a:lvl4pPr>
              <a:lvl5pPr marL="2057400" indent="-228600" eaLnBrk="0" hangingPunct="0">
                <a:defRPr sz="2400">
                  <a:solidFill>
                    <a:schemeClr val="tx1"/>
                  </a:solidFill>
                  <a:latin typeface="Lucida Sans" panose="020B0602030504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Lucida Sans" panose="020B0602030504020204" pitchFamily="34" charset="0"/>
                  <a:ea typeface="MS PGothic" panose="020B0600070205080204" pitchFamily="34" charset="-128"/>
                </a:defRPr>
              </a:lvl9pPr>
            </a:lstStyle>
            <a:p>
              <a:r>
                <a:rPr lang="en-US" altLang="ru-RU" sz="1800">
                  <a:solidFill>
                    <a:srgbClr val="66FFFF"/>
                  </a:solidFill>
                  <a:latin typeface="Tahoma" panose="020B0604030504040204" pitchFamily="34" charset="0"/>
                </a:rPr>
                <a:t>LSVM</a:t>
              </a:r>
              <a:endParaRPr lang="en-US" altLang="ru-RU" sz="1800">
                <a:latin typeface="Tahoma" panose="020B0604030504040204" pitchFamily="34" charset="0"/>
              </a:endParaRPr>
            </a:p>
            <a:p>
              <a:r>
                <a:rPr lang="en-US" altLang="ru-RU" sz="1800">
                  <a:solidFill>
                    <a:srgbClr val="000090"/>
                  </a:solidFill>
                  <a:latin typeface="Tahoma" panose="020B0604030504040204" pitchFamily="34" charset="0"/>
                </a:rPr>
                <a:t>Decision Tree</a:t>
              </a:r>
              <a:r>
                <a:rPr lang="en-US" altLang="ru-RU" sz="1800">
                  <a:solidFill>
                    <a:srgbClr val="FFFF66"/>
                  </a:solidFill>
                  <a:latin typeface="Tahoma" panose="020B0604030504040204" pitchFamily="34" charset="0"/>
                </a:rPr>
                <a:t> </a:t>
              </a:r>
              <a:r>
                <a:rPr lang="en-US" altLang="ru-RU" sz="1800">
                  <a:solidFill>
                    <a:srgbClr val="FF00FF"/>
                  </a:solidFill>
                  <a:latin typeface="Tahoma" panose="020B0604030504040204" pitchFamily="34" charset="0"/>
                </a:rPr>
                <a:t>Naïve Bayes</a:t>
              </a:r>
              <a:endParaRPr lang="en-US" altLang="ru-RU" sz="1800">
                <a:solidFill>
                  <a:srgbClr val="FFFF66"/>
                </a:solidFill>
                <a:latin typeface="Tahoma" panose="020B0604030504040204" pitchFamily="34" charset="0"/>
              </a:endParaRPr>
            </a:p>
            <a:p>
              <a:r>
                <a:rPr lang="en-US" altLang="ru-RU" sz="1800">
                  <a:solidFill>
                    <a:srgbClr val="FFFF66"/>
                  </a:solidFill>
                  <a:latin typeface="Tahoma" panose="020B0604030504040204" pitchFamily="34" charset="0"/>
                </a:rPr>
                <a:t>Rocchio</a:t>
              </a:r>
            </a:p>
          </p:txBody>
        </p:sp>
      </p:grpSp>
    </p:spTree>
    <p:extLst>
      <p:ext uri="{BB962C8B-B14F-4D97-AF65-F5344CB8AC3E}">
        <p14:creationId xmlns:p14="http://schemas.microsoft.com/office/powerpoint/2010/main" val="2553521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Советы бывалых</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28</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Понятно, что коммерческая ценность автоматической классификации документов по содержанию несомненна. Существует огромное количество потенциальных приложений для корпоративных </a:t>
            </a:r>
            <a:r>
              <a:rPr lang="ru-RU" sz="3200" dirty="0" smtClean="0"/>
              <a:t>сетей</a:t>
            </a:r>
            <a:r>
              <a:rPr lang="ru-RU" sz="3200" dirty="0"/>
              <a:t>, государственных ведомств и интернет-издателей</a:t>
            </a:r>
            <a:r>
              <a:rPr lang="ru-RU" sz="3200" dirty="0" smtClean="0"/>
              <a:t>.</a:t>
            </a:r>
            <a:endParaRPr lang="ru-RU" sz="3200" dirty="0"/>
          </a:p>
          <a:p>
            <a:pPr marL="0" indent="0" fontAlgn="base">
              <a:buNone/>
            </a:pPr>
            <a:endParaRPr lang="ru-RU" sz="3200" dirty="0"/>
          </a:p>
          <a:p>
            <a:pPr marL="0" indent="0" fontAlgn="base">
              <a:buNone/>
            </a:pPr>
            <a:r>
              <a:rPr lang="ru-RU" sz="3200" dirty="0"/>
              <a:t>Понимание данных </a:t>
            </a:r>
            <a:r>
              <a:rPr lang="ru-RU" sz="3200" dirty="0" smtClean="0"/>
              <a:t>- </a:t>
            </a:r>
            <a:r>
              <a:rPr lang="ru-RU" sz="3200" dirty="0"/>
              <a:t>ключевой фактор успешной категоризации, однако большинство поставщиков инструментов категоризации крайне слабы именно в этом аспекте. Многие инструменты "один размер подходит всем" не проходили тестирование на широком спектре типов контента.</a:t>
            </a:r>
            <a:endParaRPr lang="ru-RU" sz="3200" dirty="0"/>
          </a:p>
        </p:txBody>
      </p:sp>
    </p:spTree>
    <p:extLst>
      <p:ext uri="{BB962C8B-B14F-4D97-AF65-F5344CB8AC3E}">
        <p14:creationId xmlns:p14="http://schemas.microsoft.com/office/powerpoint/2010/main" val="3704939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Советы бывалых</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29</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Ну и дела, теперь я создаю текстовый классификатор по-настоящему</a:t>
            </a:r>
            <a:r>
              <a:rPr lang="ru-RU" sz="3200" dirty="0" smtClean="0"/>
              <a:t>!</a:t>
            </a:r>
          </a:p>
          <a:p>
            <a:pPr marL="0" indent="0" fontAlgn="base">
              <a:buNone/>
            </a:pPr>
            <a:r>
              <a:rPr lang="ru-RU" sz="3200" dirty="0" smtClean="0"/>
              <a:t>Что </a:t>
            </a:r>
            <a:r>
              <a:rPr lang="ru-RU" sz="3200" dirty="0"/>
              <a:t>мне делать</a:t>
            </a:r>
            <a:r>
              <a:rPr lang="ru-RU" sz="3200" dirty="0" smtClean="0"/>
              <a:t>?</a:t>
            </a:r>
          </a:p>
          <a:p>
            <a:pPr marL="0" indent="0" fontAlgn="base">
              <a:buNone/>
            </a:pPr>
            <a:r>
              <a:rPr lang="ru-RU" sz="3200" dirty="0" smtClean="0"/>
              <a:t>Сколько </a:t>
            </a:r>
            <a:r>
              <a:rPr lang="ru-RU" sz="3200" dirty="0"/>
              <a:t>у вас данных для обучения</a:t>
            </a:r>
            <a:r>
              <a:rPr lang="ru-RU" sz="3200" dirty="0" smtClean="0"/>
              <a:t>?</a:t>
            </a:r>
          </a:p>
          <a:p>
            <a:pPr lvl="1" fontAlgn="base"/>
            <a:r>
              <a:rPr lang="ru-RU" sz="3000" dirty="0" smtClean="0"/>
              <a:t>Вообще нет</a:t>
            </a:r>
          </a:p>
          <a:p>
            <a:pPr lvl="1" fontAlgn="base"/>
            <a:r>
              <a:rPr lang="ru-RU" sz="3000" dirty="0" smtClean="0"/>
              <a:t>Очень мало</a:t>
            </a:r>
          </a:p>
          <a:p>
            <a:pPr lvl="1" fontAlgn="base"/>
            <a:r>
              <a:rPr lang="ru-RU" sz="3000" dirty="0" smtClean="0"/>
              <a:t>Довольно много</a:t>
            </a:r>
          </a:p>
          <a:p>
            <a:pPr lvl="1" fontAlgn="base"/>
            <a:r>
              <a:rPr lang="ru-RU" sz="3000" dirty="0" smtClean="0"/>
              <a:t>Огромное </a:t>
            </a:r>
            <a:r>
              <a:rPr lang="ru-RU" sz="3000" dirty="0"/>
              <a:t>количество, и оно растет</a:t>
            </a:r>
            <a:endParaRPr lang="ru-RU" sz="3000" dirty="0"/>
          </a:p>
        </p:txBody>
      </p:sp>
    </p:spTree>
    <p:extLst>
      <p:ext uri="{BB962C8B-B14F-4D97-AF65-F5344CB8AC3E}">
        <p14:creationId xmlns:p14="http://schemas.microsoft.com/office/powerpoint/2010/main" val="227018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smtClean="0"/>
              <a:t>Ручные правила</a:t>
            </a:r>
            <a:endParaRPr lang="ru-RU" b="1"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30</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a:t>Что делать, если данных совсем нет?</a:t>
            </a:r>
          </a:p>
          <a:p>
            <a:pPr marL="0" indent="0" fontAlgn="base">
              <a:buNone/>
            </a:pPr>
            <a:r>
              <a:rPr lang="ru-RU" sz="3200" dirty="0"/>
              <a:t>Достаточно </a:t>
            </a:r>
            <a:r>
              <a:rPr lang="ru-RU" sz="3200" dirty="0" smtClean="0"/>
              <a:t>штата </a:t>
            </a:r>
            <a:r>
              <a:rPr lang="ru-RU" sz="3200" dirty="0"/>
              <a:t>сотрудников </a:t>
            </a:r>
            <a:r>
              <a:rPr lang="ru-RU" sz="3200" dirty="0" smtClean="0"/>
              <a:t>компании?</a:t>
            </a:r>
            <a:endParaRPr lang="ru-RU" sz="3200" dirty="0"/>
          </a:p>
          <a:p>
            <a:pPr marL="0" indent="0" fontAlgn="base">
              <a:buNone/>
            </a:pPr>
            <a:r>
              <a:rPr lang="ru-RU" sz="3200" dirty="0"/>
              <a:t>Никогда не забывайте о ручных правилах!</a:t>
            </a:r>
          </a:p>
          <a:p>
            <a:pPr marL="0" indent="0" fontAlgn="base">
              <a:buNone/>
            </a:pPr>
            <a:r>
              <a:rPr lang="ru-RU" sz="3200" dirty="0" smtClean="0"/>
              <a:t>Можно </a:t>
            </a:r>
            <a:r>
              <a:rPr lang="ru-RU" sz="3200" dirty="0"/>
              <a:t>выразить правила с использованием </a:t>
            </a:r>
            <a:r>
              <a:rPr lang="ru-RU" sz="3200" dirty="0" smtClean="0"/>
              <a:t>значений </a:t>
            </a:r>
            <a:r>
              <a:rPr lang="ru-RU" sz="3200" dirty="0"/>
              <a:t>TF или TF-IDF.</a:t>
            </a:r>
          </a:p>
          <a:p>
            <a:pPr marL="0" indent="0" fontAlgn="base">
              <a:buNone/>
            </a:pPr>
            <a:r>
              <a:rPr lang="ru-RU" sz="3200" dirty="0"/>
              <a:t>При тщательной настройке </a:t>
            </a:r>
            <a:r>
              <a:rPr lang="ru-RU" sz="3200" dirty="0" smtClean="0"/>
              <a:t>человеческая точность </a:t>
            </a:r>
            <a:r>
              <a:rPr lang="ru-RU" sz="3200" dirty="0"/>
              <a:t>высока:</a:t>
            </a:r>
          </a:p>
          <a:p>
            <a:pPr marL="0" indent="0" fontAlgn="base">
              <a:buNone/>
            </a:pPr>
            <a:r>
              <a:rPr lang="ru-RU" sz="3200" dirty="0" smtClean="0"/>
              <a:t>Пример: </a:t>
            </a:r>
            <a:r>
              <a:rPr lang="ru-RU" sz="3200" dirty="0"/>
              <a:t>94% </a:t>
            </a:r>
            <a:r>
              <a:rPr lang="en-US" altLang="ru-RU" sz="3200" dirty="0"/>
              <a:t>recall</a:t>
            </a:r>
            <a:r>
              <a:rPr lang="ru-RU" sz="3200" dirty="0" smtClean="0"/>
              <a:t>, </a:t>
            </a:r>
            <a:r>
              <a:rPr lang="ru-RU" sz="3200" dirty="0"/>
              <a:t>84% </a:t>
            </a:r>
            <a:r>
              <a:rPr lang="en-US" altLang="ru-RU" sz="3200" dirty="0"/>
              <a:t>precision</a:t>
            </a:r>
            <a:r>
              <a:rPr lang="ru-RU" sz="3200" dirty="0" smtClean="0"/>
              <a:t> </a:t>
            </a:r>
            <a:r>
              <a:rPr lang="ru-RU" sz="3200" dirty="0"/>
              <a:t>по 675 </a:t>
            </a:r>
            <a:r>
              <a:rPr lang="ru-RU" sz="3200" dirty="0" smtClean="0"/>
              <a:t>категориям</a:t>
            </a:r>
            <a:endParaRPr lang="ru-RU" sz="3200" dirty="0"/>
          </a:p>
          <a:p>
            <a:pPr marL="0" indent="0" fontAlgn="base">
              <a:buNone/>
            </a:pPr>
            <a:r>
              <a:rPr lang="ru-RU" sz="3200" dirty="0"/>
              <a:t>Но объем работ огромен: примерно 2 дня на категорию плюс поддержка.</a:t>
            </a:r>
            <a:endParaRPr lang="ru-RU" sz="3200" dirty="0"/>
          </a:p>
        </p:txBody>
      </p:sp>
    </p:spTree>
    <p:extLst>
      <p:ext uri="{BB962C8B-B14F-4D97-AF65-F5344CB8AC3E}">
        <p14:creationId xmlns:p14="http://schemas.microsoft.com/office/powerpoint/2010/main" val="802914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Очень мало данных?</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31</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Если </a:t>
            </a:r>
            <a:r>
              <a:rPr lang="ru-RU" sz="3200" dirty="0"/>
              <a:t>вы занимаетесь контролируемой классификацией, лучше придерживаться метода с высоким смещением (</a:t>
            </a:r>
            <a:r>
              <a:rPr lang="ru-RU" sz="3200" dirty="0" err="1"/>
              <a:t>bias</a:t>
            </a:r>
            <a:r>
              <a:rPr lang="ru-RU" sz="3200" dirty="0"/>
              <a:t>).Теоретически доказано, что Байесовский классификатор должен показывать хорошие результаты в таких </a:t>
            </a:r>
            <a:r>
              <a:rPr lang="ru-RU" sz="3200" dirty="0" smtClean="0"/>
              <a:t>условиях.</a:t>
            </a:r>
            <a:endParaRPr lang="ru-RU" sz="3200" dirty="0"/>
          </a:p>
          <a:p>
            <a:pPr marL="0" indent="0" fontAlgn="base">
              <a:buNone/>
            </a:pPr>
            <a:r>
              <a:rPr lang="ru-RU" sz="3200" dirty="0" smtClean="0"/>
              <a:t>Интересный </a:t>
            </a:r>
            <a:r>
              <a:rPr lang="ru-RU" sz="3200" dirty="0"/>
              <a:t>теоретический ответ </a:t>
            </a:r>
            <a:r>
              <a:rPr lang="ru-RU" sz="3200" dirty="0" smtClean="0"/>
              <a:t>- </a:t>
            </a:r>
            <a:r>
              <a:rPr lang="ru-RU" sz="3200" dirty="0"/>
              <a:t>исследовать полу-контролируемые методы </a:t>
            </a:r>
            <a:r>
              <a:rPr lang="ru-RU" sz="3200" dirty="0" smtClean="0"/>
              <a:t>обучения.</a:t>
            </a:r>
            <a:endParaRPr lang="ru-RU" sz="3200" dirty="0"/>
          </a:p>
          <a:p>
            <a:pPr marL="0" indent="0" fontAlgn="base">
              <a:buNone/>
            </a:pPr>
            <a:r>
              <a:rPr lang="ru-RU" sz="3200" dirty="0" smtClean="0"/>
              <a:t>Практический </a:t>
            </a:r>
            <a:r>
              <a:rPr lang="ru-RU" sz="3200" dirty="0"/>
              <a:t>ответ — собрать больше размеченных данных как можно скорее.</a:t>
            </a:r>
            <a:endParaRPr lang="ru-RU" sz="3200" dirty="0"/>
          </a:p>
        </p:txBody>
      </p:sp>
    </p:spTree>
    <p:extLst>
      <p:ext uri="{BB962C8B-B14F-4D97-AF65-F5344CB8AC3E}">
        <p14:creationId xmlns:p14="http://schemas.microsoft.com/office/powerpoint/2010/main" val="1278154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Разумное количество данных?</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32</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Великолепно!</a:t>
            </a:r>
          </a:p>
          <a:p>
            <a:pPr marL="0" indent="0" fontAlgn="base">
              <a:buNone/>
            </a:pPr>
            <a:r>
              <a:rPr lang="ru-RU" sz="3200" dirty="0" smtClean="0"/>
              <a:t>Можно </a:t>
            </a:r>
            <a:r>
              <a:rPr lang="ru-RU" sz="3200" dirty="0"/>
              <a:t>использовать </a:t>
            </a:r>
            <a:r>
              <a:rPr lang="ru-RU" sz="3200" dirty="0" smtClean="0"/>
              <a:t>«умные» </a:t>
            </a:r>
            <a:r>
              <a:rPr lang="ru-RU" sz="3200" dirty="0"/>
              <a:t>классификаторы</a:t>
            </a:r>
            <a:r>
              <a:rPr lang="ru-RU" sz="3200" dirty="0" smtClean="0"/>
              <a:t>.</a:t>
            </a:r>
          </a:p>
          <a:p>
            <a:pPr marL="0" indent="0" fontAlgn="base">
              <a:buNone/>
            </a:pPr>
            <a:r>
              <a:rPr lang="ru-RU" sz="3200" dirty="0" smtClean="0"/>
              <a:t>Запускайте </a:t>
            </a:r>
            <a:r>
              <a:rPr lang="ru-RU" sz="3200" dirty="0"/>
              <a:t>SVM</a:t>
            </a:r>
            <a:r>
              <a:rPr lang="ru-RU" sz="3200" dirty="0" smtClean="0"/>
              <a:t>!</a:t>
            </a:r>
          </a:p>
          <a:p>
            <a:pPr marL="0" indent="0" fontAlgn="base">
              <a:buNone/>
            </a:pPr>
            <a:r>
              <a:rPr lang="ru-RU" sz="3200" dirty="0" smtClean="0"/>
              <a:t>Но </a:t>
            </a:r>
            <a:r>
              <a:rPr lang="ru-RU" sz="3200" dirty="0"/>
              <a:t>если используете SVM или </a:t>
            </a:r>
            <a:r>
              <a:rPr lang="ru-RU" sz="3200" dirty="0" err="1"/>
              <a:t>Naive</a:t>
            </a:r>
            <a:r>
              <a:rPr lang="ru-RU" sz="3200" dirty="0"/>
              <a:t> </a:t>
            </a:r>
            <a:r>
              <a:rPr lang="ru-RU" sz="3200" dirty="0" err="1"/>
              <a:t>Bayes</a:t>
            </a:r>
            <a:r>
              <a:rPr lang="ru-RU" sz="3200" dirty="0"/>
              <a:t>, вероятно, стоит подготовить гибридное решение с булевыми наложениями</a:t>
            </a:r>
            <a:r>
              <a:rPr lang="ru-RU" sz="3200" dirty="0" smtClean="0"/>
              <a:t>.</a:t>
            </a:r>
          </a:p>
          <a:p>
            <a:pPr marL="0" indent="0" fontAlgn="base">
              <a:buNone/>
            </a:pPr>
            <a:r>
              <a:rPr lang="ru-RU" sz="3200" dirty="0" smtClean="0"/>
              <a:t>Или </a:t>
            </a:r>
            <a:r>
              <a:rPr lang="ru-RU" sz="3200" dirty="0"/>
              <a:t>же использовать интерпретируемые модели типа деревьев решений</a:t>
            </a:r>
            <a:r>
              <a:rPr lang="ru-RU" sz="3200" dirty="0" smtClean="0"/>
              <a:t>.</a:t>
            </a:r>
          </a:p>
          <a:p>
            <a:pPr marL="0" indent="0" fontAlgn="base">
              <a:buNone/>
            </a:pPr>
            <a:r>
              <a:rPr lang="ru-RU" sz="3200" dirty="0" smtClean="0"/>
              <a:t>Пользователи </a:t>
            </a:r>
            <a:r>
              <a:rPr lang="ru-RU" sz="3200" dirty="0"/>
              <a:t>любят "взламывать", а руководство ценит возможность немедленного внедрения быстрых исправлений.</a:t>
            </a:r>
            <a:endParaRPr lang="ru-RU" sz="3200" dirty="0"/>
          </a:p>
        </p:txBody>
      </p:sp>
    </p:spTree>
    <p:extLst>
      <p:ext uri="{BB962C8B-B14F-4D97-AF65-F5344CB8AC3E}">
        <p14:creationId xmlns:p14="http://schemas.microsoft.com/office/powerpoint/2010/main" val="19381844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Огромное количество данных?</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Теоретически </a:t>
            </a:r>
            <a:r>
              <a:rPr lang="ru-RU" sz="3200" dirty="0"/>
              <a:t>отлично подходит для точной классификации</a:t>
            </a:r>
            <a:r>
              <a:rPr lang="ru-RU" sz="3200" dirty="0" smtClean="0"/>
              <a:t>...</a:t>
            </a:r>
          </a:p>
          <a:p>
            <a:pPr marL="0" indent="0" fontAlgn="base">
              <a:buNone/>
            </a:pPr>
            <a:r>
              <a:rPr lang="ru-RU" sz="3200" dirty="0" smtClean="0"/>
              <a:t>Но получается</a:t>
            </a:r>
            <a:r>
              <a:rPr lang="ru-RU" sz="3200" dirty="0"/>
              <a:t>, что </a:t>
            </a:r>
            <a:r>
              <a:rPr lang="ru-RU" sz="3200" dirty="0" smtClean="0"/>
              <a:t>«дорогие» </a:t>
            </a:r>
            <a:r>
              <a:rPr lang="ru-RU" sz="3200" dirty="0"/>
              <a:t>методы вроде SVM (время тренировки) или </a:t>
            </a:r>
            <a:r>
              <a:rPr lang="ru-RU" sz="3200" dirty="0" err="1"/>
              <a:t>kNN</a:t>
            </a:r>
            <a:r>
              <a:rPr lang="ru-RU" sz="3200" dirty="0"/>
              <a:t> (время теста) оказываются непрактичными.</a:t>
            </a:r>
          </a:p>
          <a:p>
            <a:pPr marL="0" indent="0" fontAlgn="base">
              <a:buNone/>
            </a:pPr>
            <a:r>
              <a:rPr lang="ru-RU" sz="3200" dirty="0" smtClean="0"/>
              <a:t>Возвращаются </a:t>
            </a:r>
            <a:r>
              <a:rPr lang="ru-RU" sz="3200" dirty="0"/>
              <a:t>в игру методы типа </a:t>
            </a:r>
            <a:r>
              <a:rPr lang="ru-RU" sz="3200" dirty="0" err="1"/>
              <a:t>Naive</a:t>
            </a:r>
            <a:r>
              <a:rPr lang="ru-RU" sz="3200" dirty="0"/>
              <a:t> </a:t>
            </a:r>
            <a:r>
              <a:rPr lang="ru-RU" sz="3200" dirty="0" err="1"/>
              <a:t>Bayes</a:t>
            </a:r>
            <a:r>
              <a:rPr lang="ru-RU" sz="3200" dirty="0" smtClean="0"/>
              <a:t>.</a:t>
            </a:r>
          </a:p>
          <a:p>
            <a:pPr marL="0" indent="0" fontAlgn="base">
              <a:buNone/>
            </a:pPr>
            <a:r>
              <a:rPr lang="ru-RU" sz="3200" dirty="0" smtClean="0"/>
              <a:t>Или </a:t>
            </a:r>
            <a:r>
              <a:rPr lang="ru-RU" sz="3200" dirty="0"/>
              <a:t>другие продвинутые методы с линейной сложностью тренировки/теста, например регуляризированная логистическая регрессия (хотя значительно </a:t>
            </a:r>
            <a:r>
              <a:rPr lang="ru-RU" sz="3200" dirty="0" smtClean="0"/>
              <a:t>«дороже» </a:t>
            </a:r>
            <a:r>
              <a:rPr lang="ru-RU" sz="3200" dirty="0"/>
              <a:t>в обучении).</a:t>
            </a:r>
            <a:endParaRPr lang="ru-RU" sz="3200" dirty="0"/>
          </a:p>
        </p:txBody>
      </p:sp>
    </p:spTree>
    <p:extLst>
      <p:ext uri="{BB962C8B-B14F-4D97-AF65-F5344CB8AC3E}">
        <p14:creationId xmlns:p14="http://schemas.microsoft.com/office/powerpoint/2010/main" val="257372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Количество категорий?</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34</a:t>
            </a:fld>
            <a:endParaRPr lang="ru-RU" noProof="0" dirty="0"/>
          </a:p>
        </p:txBody>
      </p:sp>
      <p:sp>
        <p:nvSpPr>
          <p:cNvPr id="4" name="Объект 3"/>
          <p:cNvSpPr>
            <a:spLocks noGrp="1"/>
          </p:cNvSpPr>
          <p:nvPr>
            <p:ph idx="1"/>
          </p:nvPr>
        </p:nvSpPr>
        <p:spPr>
          <a:xfrm>
            <a:off x="432000" y="1055716"/>
            <a:ext cx="11328000" cy="5135534"/>
          </a:xfrm>
        </p:spPr>
        <p:txBody>
          <a:bodyPr>
            <a:normAutofit/>
          </a:bodyPr>
          <a:lstStyle/>
          <a:p>
            <a:pPr marL="0" indent="0" fontAlgn="base">
              <a:buNone/>
            </a:pPr>
            <a:r>
              <a:rPr lang="ru-RU" sz="3200" dirty="0" smtClean="0"/>
              <a:t>Несколько четко </a:t>
            </a:r>
            <a:r>
              <a:rPr lang="ru-RU" sz="3200" dirty="0"/>
              <a:t>разделимых категорий</a:t>
            </a:r>
            <a:r>
              <a:rPr lang="ru-RU" sz="3200" dirty="0" smtClean="0"/>
              <a:t>? Повезло!</a:t>
            </a:r>
            <a:endParaRPr lang="ru-RU" sz="3200" dirty="0"/>
          </a:p>
          <a:p>
            <a:pPr marL="0" indent="0" fontAlgn="base">
              <a:buNone/>
            </a:pPr>
            <a:r>
              <a:rPr lang="ru-RU" sz="3200" dirty="0" smtClean="0"/>
              <a:t>Огромное </a:t>
            </a:r>
            <a:r>
              <a:rPr lang="ru-RU" sz="3200" dirty="0"/>
              <a:t>количество </a:t>
            </a:r>
            <a:r>
              <a:rPr lang="ru-RU" sz="3200" dirty="0" smtClean="0"/>
              <a:t>близких категорий?</a:t>
            </a:r>
          </a:p>
          <a:p>
            <a:pPr marL="0" indent="0" fontAlgn="base">
              <a:buNone/>
            </a:pPr>
            <a:r>
              <a:rPr lang="ru-RU" sz="3200" dirty="0" smtClean="0"/>
              <a:t>Комбинация </a:t>
            </a:r>
            <a:r>
              <a:rPr lang="ru-RU" sz="3200" dirty="0"/>
              <a:t>классификаторов всегда полезна:</a:t>
            </a:r>
          </a:p>
          <a:p>
            <a:pPr lvl="1" fontAlgn="base"/>
            <a:r>
              <a:rPr lang="ru-RU" sz="3000" dirty="0" smtClean="0"/>
              <a:t>Голосование</a:t>
            </a:r>
            <a:endParaRPr lang="ru-RU" sz="3000" dirty="0"/>
          </a:p>
          <a:p>
            <a:pPr lvl="1" fontAlgn="base"/>
            <a:r>
              <a:rPr lang="ru-RU" sz="3000" dirty="0" err="1"/>
              <a:t>Баггинг</a:t>
            </a:r>
            <a:endParaRPr lang="ru-RU" sz="3000" dirty="0"/>
          </a:p>
          <a:p>
            <a:pPr lvl="1" fontAlgn="base"/>
            <a:r>
              <a:rPr lang="ru-RU" sz="3000" dirty="0"/>
              <a:t>Бустинг множества </a:t>
            </a:r>
            <a:r>
              <a:rPr lang="ru-RU" sz="3000" dirty="0" smtClean="0"/>
              <a:t>классификаторов</a:t>
            </a:r>
          </a:p>
        </p:txBody>
      </p:sp>
    </p:spTree>
    <p:extLst>
      <p:ext uri="{BB962C8B-B14F-4D97-AF65-F5344CB8AC3E}">
        <p14:creationId xmlns:p14="http://schemas.microsoft.com/office/powerpoint/2010/main" val="3721137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fontAlgn="base"/>
            <a:r>
              <a:rPr lang="ru-RU" b="1" dirty="0"/>
              <a:t>Помогает ли </a:t>
            </a:r>
            <a:r>
              <a:rPr lang="ru-RU" b="1" dirty="0" err="1"/>
              <a:t>стемминг</a:t>
            </a:r>
            <a:r>
              <a:rPr lang="ru-RU" b="1" dirty="0"/>
              <a:t>/приведение к нижнему регистру/...?</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35</a:t>
            </a:fld>
            <a:endParaRPr lang="ru-RU" noProof="0" dirty="0"/>
          </a:p>
        </p:txBody>
      </p:sp>
      <p:sp>
        <p:nvSpPr>
          <p:cNvPr id="4" name="Объект 3"/>
          <p:cNvSpPr>
            <a:spLocks noGrp="1"/>
          </p:cNvSpPr>
          <p:nvPr>
            <p:ph idx="1"/>
          </p:nvPr>
        </p:nvSpPr>
        <p:spPr>
          <a:xfrm>
            <a:off x="432000" y="1055716"/>
            <a:ext cx="11328000" cy="5135534"/>
          </a:xfrm>
        </p:spPr>
        <p:txBody>
          <a:bodyPr>
            <a:normAutofit lnSpcReduction="10000"/>
          </a:bodyPr>
          <a:lstStyle/>
          <a:p>
            <a:pPr marL="0" indent="0" fontAlgn="base">
              <a:buNone/>
            </a:pPr>
            <a:r>
              <a:rPr lang="ru-RU" sz="3200" dirty="0" smtClean="0"/>
              <a:t>Как </a:t>
            </a:r>
            <a:r>
              <a:rPr lang="ru-RU" sz="3200" dirty="0"/>
              <a:t>всегда, тяжело сказать, и </a:t>
            </a:r>
            <a:r>
              <a:rPr lang="ru-RU" sz="3200" dirty="0" smtClean="0"/>
              <a:t>нужно проверять на практике.</a:t>
            </a:r>
          </a:p>
          <a:p>
            <a:pPr marL="0" indent="0" fontAlgn="base">
              <a:buNone/>
            </a:pPr>
            <a:r>
              <a:rPr lang="ru-RU" sz="3200" dirty="0" smtClean="0"/>
              <a:t>Но </a:t>
            </a:r>
            <a:r>
              <a:rPr lang="ru-RU" sz="3200" dirty="0"/>
              <a:t>обратите внимание, что роль инструментов вроде </a:t>
            </a:r>
            <a:r>
              <a:rPr lang="ru-RU" sz="3200" dirty="0" err="1"/>
              <a:t>стемминга</a:t>
            </a:r>
            <a:r>
              <a:rPr lang="ru-RU" sz="3200" dirty="0"/>
              <a:t> различна для текстовой классификации и информационного поиска:</a:t>
            </a:r>
          </a:p>
          <a:p>
            <a:pPr marL="0" indent="0" fontAlgn="base">
              <a:buNone/>
            </a:pPr>
            <a:r>
              <a:rPr lang="ru-RU" sz="3200" dirty="0" smtClean="0"/>
              <a:t>Для </a:t>
            </a:r>
            <a:r>
              <a:rPr lang="ru-RU" sz="3200" dirty="0"/>
              <a:t>ИП часто хочется объединять формы </a:t>
            </a:r>
            <a:r>
              <a:rPr lang="ru-RU" sz="3200" dirty="0" smtClean="0"/>
              <a:t>глагола, </a:t>
            </a:r>
            <a:r>
              <a:rPr lang="ru-RU" sz="3200" dirty="0"/>
              <a:t>поскольку все эти документы будут </a:t>
            </a:r>
            <a:r>
              <a:rPr lang="ru-RU" sz="3200" dirty="0" err="1"/>
              <a:t>релевантны</a:t>
            </a:r>
            <a:r>
              <a:rPr lang="ru-RU" sz="3200" dirty="0"/>
              <a:t> запросу на </a:t>
            </a:r>
            <a:r>
              <a:rPr lang="ru-RU" sz="3200" dirty="0" smtClean="0"/>
              <a:t>любой из них.</a:t>
            </a:r>
            <a:endParaRPr lang="ru-RU" sz="3200" dirty="0"/>
          </a:p>
          <a:p>
            <a:pPr marL="0" indent="0" fontAlgn="base">
              <a:buNone/>
            </a:pPr>
            <a:r>
              <a:rPr lang="ru-RU" sz="3200" dirty="0"/>
              <a:t>Для текстовой классификации, при достаточном количестве тренировочных данных, </a:t>
            </a:r>
            <a:r>
              <a:rPr lang="ru-RU" sz="3200" dirty="0" err="1"/>
              <a:t>стемминг</a:t>
            </a:r>
            <a:r>
              <a:rPr lang="ru-RU" sz="3200" dirty="0"/>
              <a:t> бесполезен. Он полезен лишь для компенсации разреженности данных (которая может быть </a:t>
            </a:r>
            <a:r>
              <a:rPr lang="ru-RU" sz="3200" dirty="0" smtClean="0"/>
              <a:t>серьезной </a:t>
            </a:r>
            <a:r>
              <a:rPr lang="ru-RU" sz="3200" dirty="0"/>
              <a:t>проблемой в приложениях текстовой классификации). Агрессивный </a:t>
            </a:r>
            <a:r>
              <a:rPr lang="ru-RU" sz="3200" dirty="0" err="1"/>
              <a:t>стемминг</a:t>
            </a:r>
            <a:r>
              <a:rPr lang="ru-RU" sz="3200" dirty="0"/>
              <a:t> легко ухудшает производительность.</a:t>
            </a:r>
            <a:endParaRPr lang="ru-RU" sz="3200" dirty="0"/>
          </a:p>
        </p:txBody>
      </p:sp>
    </p:spTree>
    <p:extLst>
      <p:ext uri="{BB962C8B-B14F-4D97-AF65-F5344CB8AC3E}">
        <p14:creationId xmlns:p14="http://schemas.microsoft.com/office/powerpoint/2010/main" val="2642342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smtClean="0"/>
              <a:t>Оценка </a:t>
            </a:r>
            <a:r>
              <a:rPr lang="ru-RU" b="1" dirty="0"/>
              <a:t>показателей точности классификации</a:t>
            </a:r>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800" dirty="0" smtClean="0"/>
              <a:t>Не </a:t>
            </a:r>
            <a:r>
              <a:rPr lang="ru-RU" sz="2800" dirty="0"/>
              <a:t>только точность; в реальном мире существуют экономические меры:</a:t>
            </a:r>
          </a:p>
          <a:p>
            <a:pPr marL="0" indent="0">
              <a:buNone/>
            </a:pPr>
            <a:r>
              <a:rPr lang="ru-RU" sz="2800" dirty="0" smtClean="0"/>
              <a:t>Что выберите?</a:t>
            </a:r>
            <a:endParaRPr lang="ru-RU" sz="2800" dirty="0"/>
          </a:p>
          <a:p>
            <a:pPr lvl="1"/>
            <a:r>
              <a:rPr lang="ru-RU" sz="2600" dirty="0"/>
              <a:t>Не проводить классификацию вообще (есть </a:t>
            </a:r>
            <a:r>
              <a:rPr lang="ru-RU" sz="2600" dirty="0" smtClean="0"/>
              <a:t>стоимость сложно рассчитать)</a:t>
            </a:r>
            <a:endParaRPr lang="ru-RU" sz="2600" dirty="0"/>
          </a:p>
          <a:p>
            <a:pPr lvl="1"/>
            <a:r>
              <a:rPr lang="ru-RU" sz="2600" dirty="0"/>
              <a:t>Проводить всю работу вручную (стоимость легко подсчитывается, если работа делается таким </a:t>
            </a:r>
            <a:r>
              <a:rPr lang="ru-RU" sz="2600" dirty="0" smtClean="0"/>
              <a:t>образом)</a:t>
            </a:r>
            <a:endParaRPr lang="ru-RU" sz="2600" dirty="0"/>
          </a:p>
          <a:p>
            <a:pPr lvl="1"/>
            <a:r>
              <a:rPr lang="ru-RU" sz="2600" dirty="0"/>
              <a:t>Автоматически классифицировать </a:t>
            </a:r>
            <a:r>
              <a:rPr lang="ru-RU" sz="2600" dirty="0" smtClean="0"/>
              <a:t>все (ошибки </a:t>
            </a:r>
            <a:r>
              <a:rPr lang="ru-RU" sz="2600" dirty="0"/>
              <a:t>имеют </a:t>
            </a:r>
            <a:r>
              <a:rPr lang="ru-RU" sz="2600" dirty="0" smtClean="0"/>
              <a:t>цену)</a:t>
            </a:r>
            <a:endParaRPr lang="ru-RU" sz="2600" dirty="0"/>
          </a:p>
          <a:p>
            <a:pPr lvl="1"/>
            <a:r>
              <a:rPr lang="ru-RU" sz="2600" dirty="0"/>
              <a:t>Использовать комбинацию автоматической классификации и ручной проверки сложных/"новых" случаев</a:t>
            </a:r>
          </a:p>
          <a:p>
            <a:pPr marL="0" indent="0">
              <a:buNone/>
            </a:pPr>
            <a:r>
              <a:rPr lang="ru-RU" sz="2800" dirty="0"/>
              <a:t>Чаще всего последний метод оказывается наиболее экономически эффективным и применяется на практике.</a:t>
            </a:r>
            <a:endParaRPr lang="ru-RU" sz="24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36</a:t>
            </a:fld>
            <a:endParaRPr lang="ru-RU" noProof="0" dirty="0"/>
          </a:p>
        </p:txBody>
      </p:sp>
    </p:spTree>
    <p:extLst>
      <p:ext uri="{BB962C8B-B14F-4D97-AF65-F5344CB8AC3E}">
        <p14:creationId xmlns:p14="http://schemas.microsoft.com/office/powerpoint/2010/main" val="64231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644317" cy="432000"/>
          </a:xfrm>
        </p:spPr>
        <p:txBody>
          <a:bodyPr/>
          <a:lstStyle/>
          <a:p>
            <a:r>
              <a:rPr lang="ru-RU" b="1" dirty="0"/>
              <a:t>Общая проблема: </a:t>
            </a:r>
            <a:r>
              <a:rPr lang="ru-RU" b="1" dirty="0" smtClean="0"/>
              <a:t>смещение </a:t>
            </a:r>
            <a:r>
              <a:rPr lang="ru-RU" b="1" dirty="0"/>
              <a:t>понятий</a:t>
            </a:r>
          </a:p>
        </p:txBody>
      </p:sp>
      <p:sp>
        <p:nvSpPr>
          <p:cNvPr id="5" name="Объект 4"/>
          <p:cNvSpPr>
            <a:spLocks noGrp="1"/>
          </p:cNvSpPr>
          <p:nvPr>
            <p:ph sz="half" idx="1"/>
          </p:nvPr>
        </p:nvSpPr>
        <p:spPr>
          <a:xfrm>
            <a:off x="431999" y="1193738"/>
            <a:ext cx="11031252" cy="5221528"/>
          </a:xfrm>
        </p:spPr>
        <p:txBody>
          <a:bodyPr>
            <a:normAutofit/>
          </a:bodyPr>
          <a:lstStyle/>
          <a:p>
            <a:pPr marL="0" indent="0">
              <a:buNone/>
            </a:pPr>
            <a:r>
              <a:rPr lang="ru-RU" sz="2800" dirty="0" smtClean="0"/>
              <a:t>Категории </a:t>
            </a:r>
            <a:r>
              <a:rPr lang="ru-RU" sz="2800" dirty="0"/>
              <a:t>меняются со временем</a:t>
            </a:r>
            <a:r>
              <a:rPr lang="ru-RU" sz="2800" dirty="0" smtClean="0"/>
              <a:t>.</a:t>
            </a:r>
          </a:p>
          <a:p>
            <a:pPr marL="0" indent="0">
              <a:buNone/>
            </a:pPr>
            <a:r>
              <a:rPr lang="ru-RU" sz="2800" dirty="0" smtClean="0"/>
              <a:t>Пример</a:t>
            </a:r>
            <a:r>
              <a:rPr lang="ru-RU" sz="2800" dirty="0"/>
              <a:t>: "Президент </a:t>
            </a:r>
            <a:r>
              <a:rPr lang="ru-RU" sz="2800" dirty="0" smtClean="0"/>
              <a:t>Соединенных </a:t>
            </a:r>
            <a:r>
              <a:rPr lang="ru-RU" sz="2800" dirty="0"/>
              <a:t>Штатов":</a:t>
            </a:r>
          </a:p>
          <a:p>
            <a:pPr marL="0" indent="0">
              <a:buNone/>
            </a:pPr>
            <a:r>
              <a:rPr lang="ru-RU" sz="2800" dirty="0" smtClean="0"/>
              <a:t>1999 </a:t>
            </a:r>
            <a:r>
              <a:rPr lang="ru-RU" sz="2800" dirty="0"/>
              <a:t>год: Клинтон </a:t>
            </a:r>
            <a:r>
              <a:rPr lang="ru-RU" sz="2800" dirty="0" smtClean="0"/>
              <a:t>- </a:t>
            </a:r>
            <a:r>
              <a:rPr lang="ru-RU" sz="2800" dirty="0"/>
              <a:t>отличный признак</a:t>
            </a:r>
          </a:p>
          <a:p>
            <a:pPr marL="0" indent="0">
              <a:buNone/>
            </a:pPr>
            <a:r>
              <a:rPr lang="ru-RU" sz="2800" dirty="0"/>
              <a:t>2010 год: Клинтон </a:t>
            </a:r>
            <a:r>
              <a:rPr lang="ru-RU" sz="2800" dirty="0" smtClean="0"/>
              <a:t>- </a:t>
            </a:r>
            <a:r>
              <a:rPr lang="ru-RU" sz="2800" dirty="0"/>
              <a:t>плохой признак</a:t>
            </a:r>
          </a:p>
          <a:p>
            <a:pPr marL="0" indent="0">
              <a:buNone/>
            </a:pPr>
            <a:r>
              <a:rPr lang="ru-RU" sz="2800" dirty="0"/>
              <a:t>Одна мера системы текстовой классификации </a:t>
            </a:r>
            <a:r>
              <a:rPr lang="ru-RU" sz="2800" dirty="0" smtClean="0"/>
              <a:t>- </a:t>
            </a:r>
            <a:r>
              <a:rPr lang="ru-RU" sz="2800" dirty="0"/>
              <a:t>насколько хорошо она защищает от дрейфа понятий</a:t>
            </a:r>
            <a:r>
              <a:rPr lang="ru-RU" sz="2800" dirty="0" smtClean="0"/>
              <a:t>.</a:t>
            </a:r>
          </a:p>
          <a:p>
            <a:pPr marL="0" indent="0">
              <a:buNone/>
            </a:pPr>
            <a:r>
              <a:rPr lang="ru-RU" sz="2800" dirty="0" smtClean="0"/>
              <a:t>Предпочтительны </a:t>
            </a:r>
            <a:r>
              <a:rPr lang="ru-RU" sz="2800" dirty="0"/>
              <a:t>более простые модели, такие как </a:t>
            </a:r>
            <a:r>
              <a:rPr lang="ru-RU" sz="2800" dirty="0" err="1"/>
              <a:t>Naive</a:t>
            </a:r>
            <a:r>
              <a:rPr lang="ru-RU" sz="2800" dirty="0"/>
              <a:t> </a:t>
            </a:r>
            <a:r>
              <a:rPr lang="ru-RU" sz="2800" dirty="0" err="1"/>
              <a:t>Bayes</a:t>
            </a:r>
            <a:r>
              <a:rPr lang="ru-RU" sz="2800" dirty="0" smtClean="0"/>
              <a:t>.</a:t>
            </a:r>
          </a:p>
          <a:p>
            <a:pPr marL="0" indent="0">
              <a:buNone/>
            </a:pPr>
            <a:r>
              <a:rPr lang="ru-RU" sz="2800" dirty="0" smtClean="0"/>
              <a:t>Отбор </a:t>
            </a:r>
            <a:r>
              <a:rPr lang="ru-RU" sz="2800" dirty="0"/>
              <a:t>признаков: плохо </a:t>
            </a:r>
            <a:r>
              <a:rPr lang="ru-RU" sz="2800" dirty="0" smtClean="0"/>
              <a:t>защищен </a:t>
            </a:r>
            <a:r>
              <a:rPr lang="ru-RU" sz="2800" dirty="0"/>
              <a:t>против дрейфа понятий.</a:t>
            </a:r>
            <a:endParaRPr lang="ru-RU" sz="24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37</a:t>
            </a:fld>
            <a:endParaRPr lang="ru-RU" noProof="0" dirty="0"/>
          </a:p>
        </p:txBody>
      </p:sp>
    </p:spTree>
    <p:extLst>
      <p:ext uri="{BB962C8B-B14F-4D97-AF65-F5344CB8AC3E}">
        <p14:creationId xmlns:p14="http://schemas.microsoft.com/office/powerpoint/2010/main" val="2132301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descr="Изображение">
            <a:extLst>
              <a:ext uri="{FF2B5EF4-FFF2-40B4-BE49-F238E27FC236}">
                <a16:creationId xmlns:a16="http://schemas.microsoft.com/office/drawing/2014/main" id="{C4330FBA-FEA8-B941-8864-B3DEDDE8040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8" name="Надпись 37" descr="Акцент для блока заголовка">
            <a:extLst>
              <a:ext uri="{FF2B5EF4-FFF2-40B4-BE49-F238E27FC236}">
                <a16:creationId xmlns:a16="http://schemas.microsoft.com/office/drawing/2014/main" id="{B231FB9C-F234-41D0-A4CE-8C29A5F2F553}"/>
              </a:ext>
              <a:ext uri="{C183D7F6-B498-43B3-948B-1728B52AA6E4}">
                <adec:decorative xmlns:adec="http://schemas.microsoft.com/office/drawing/2017/decorative" xmlns="" val="1"/>
              </a:ext>
            </a:extLst>
          </p:cNvPr>
          <p:cNvSpPr txBox="1">
            <a:spLocks/>
          </p:cNvSpPr>
          <p:nvPr/>
        </p:nvSpPr>
        <p:spPr>
          <a:xfrm>
            <a:off x="11354303" y="3842399"/>
            <a:ext cx="846997" cy="2200275"/>
          </a:xfrm>
          <a:custGeom>
            <a:avLst/>
            <a:gdLst>
              <a:gd name="connsiteX0" fmla="*/ 99480 w 846997"/>
              <a:gd name="connsiteY0" fmla="*/ 0 h 2200275"/>
              <a:gd name="connsiteX1" fmla="*/ 846997 w 846997"/>
              <a:gd name="connsiteY1" fmla="*/ 0 h 2200275"/>
              <a:gd name="connsiteX2" fmla="*/ 846997 w 846997"/>
              <a:gd name="connsiteY2" fmla="*/ 2200275 h 2200275"/>
              <a:gd name="connsiteX3" fmla="*/ 99480 w 846997"/>
              <a:gd name="connsiteY3" fmla="*/ 2200275 h 2200275"/>
              <a:gd name="connsiteX4" fmla="*/ 0 w 846997"/>
              <a:gd name="connsiteY4" fmla="*/ 2099942 h 2200275"/>
              <a:gd name="connsiteX5" fmla="*/ 0 w 846997"/>
              <a:gd name="connsiteY5" fmla="*/ 100333 h 2200275"/>
              <a:gd name="connsiteX6" fmla="*/ 99480 w 846997"/>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997" h="2200275">
                <a:moveTo>
                  <a:pt x="99480" y="0"/>
                </a:moveTo>
                <a:lnTo>
                  <a:pt x="846997" y="0"/>
                </a:lnTo>
                <a:lnTo>
                  <a:pt x="846997" y="2200275"/>
                </a:lnTo>
                <a:lnTo>
                  <a:pt x="99480" y="2200275"/>
                </a:lnTo>
                <a:cubicBezTo>
                  <a:pt x="44539" y="2200275"/>
                  <a:pt x="0" y="2155354"/>
                  <a:pt x="0" y="2099942"/>
                </a:cubicBezTo>
                <a:lnTo>
                  <a:pt x="0" y="100333"/>
                </a:lnTo>
                <a:cubicBezTo>
                  <a:pt x="0" y="44921"/>
                  <a:pt x="44539" y="0"/>
                  <a:pt x="99480" y="0"/>
                </a:cubicBezTo>
                <a:close/>
              </a:path>
            </a:pathLst>
          </a:custGeom>
          <a:gradFill>
            <a:gsLst>
              <a:gs pos="100000">
                <a:schemeClr val="tx1">
                  <a:lumMod val="75000"/>
                  <a:lumOff val="25000"/>
                </a:schemeClr>
              </a:gs>
              <a:gs pos="0">
                <a:schemeClr val="tx1"/>
              </a:gs>
            </a:gsLst>
            <a:lin ang="0" scaled="0"/>
          </a:gradFill>
          <a:ln w="3175">
            <a:solidFill>
              <a:schemeClr val="tx1">
                <a:lumMod val="85000"/>
                <a:lumOff val="15000"/>
              </a:schemeClr>
            </a:solidFill>
          </a:ln>
        </p:spPr>
        <p:txBody>
          <a:bodyPr vert="horz" wrap="square" lIns="180000" tIns="288000" rIns="180000" bIns="180000" rtlCol="0" anchor="t">
            <a:noAutofit/>
          </a:bodyPr>
          <a:lstStyle>
            <a:lvl1pPr algn="l" defTabSz="914400" rtl="0" eaLnBrk="1" latinLnBrk="0" hangingPunct="1">
              <a:lnSpc>
                <a:spcPts val="4000"/>
              </a:lnSpc>
              <a:spcBef>
                <a:spcPct val="0"/>
              </a:spcBef>
              <a:buNone/>
              <a:defRPr sz="5000" b="1" kern="1200" spc="-300">
                <a:solidFill>
                  <a:schemeClr val="bg1">
                    <a:lumMod val="95000"/>
                  </a:schemeClr>
                </a:solidFill>
                <a:latin typeface="+mj-lt"/>
                <a:ea typeface="+mj-ea"/>
                <a:cs typeface="+mj-cs"/>
              </a:defRPr>
            </a:lvl1pPr>
          </a:lstStyle>
          <a:p>
            <a:pPr rtl="0"/>
            <a:endParaRPr lang="ru-RU" dirty="0"/>
          </a:p>
        </p:txBody>
      </p:sp>
      <p:sp>
        <p:nvSpPr>
          <p:cNvPr id="35" name="Равнобедренный треугольник 34" descr="Тень для блока заголовка">
            <a:extLst>
              <a:ext uri="{FF2B5EF4-FFF2-40B4-BE49-F238E27FC236}">
                <a16:creationId xmlns:a16="http://schemas.microsoft.com/office/drawing/2014/main" id="{FE193317-B8BD-46CA-B0A6-8A7511B086D9}"/>
              </a:ext>
              <a:ext uri="{C183D7F6-B498-43B3-948B-1728B52AA6E4}">
                <adec:decorative xmlns:adec="http://schemas.microsoft.com/office/drawing/2017/decorative" xmlns="" val="1"/>
              </a:ext>
            </a:extLst>
          </p:cNvPr>
          <p:cNvSpPr/>
          <p:nvPr/>
        </p:nvSpPr>
        <p:spPr>
          <a:xfrm rot="10800000">
            <a:off x="11359065" y="5556894"/>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dirty="0"/>
          </a:p>
        </p:txBody>
      </p:sp>
      <p:sp>
        <p:nvSpPr>
          <p:cNvPr id="32" name="Полилиния 5" descr="Сплошной контрастный блок">
            <a:extLst>
              <a:ext uri="{FF2B5EF4-FFF2-40B4-BE49-F238E27FC236}">
                <a16:creationId xmlns:a16="http://schemas.microsoft.com/office/drawing/2014/main" id="{85E0D4E1-E389-4671-B0E7-165A10A05425}"/>
              </a:ext>
              <a:ext uri="{C183D7F6-B498-43B3-948B-1728B52AA6E4}">
                <adec:decorative xmlns:adec="http://schemas.microsoft.com/office/drawing/2017/decorative" xmlns="" val="1"/>
              </a:ext>
            </a:extLst>
          </p:cNvPr>
          <p:cNvSpPr>
            <a:spLocks noChangeAspect="1"/>
          </p:cNvSpPr>
          <p:nvPr/>
        </p:nvSpPr>
        <p:spPr bwMode="auto">
          <a:xfrm>
            <a:off x="4257349" y="2355010"/>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33" name="Полилиния 5" descr="Пустой контрастный блок">
            <a:extLst>
              <a:ext uri="{FF2B5EF4-FFF2-40B4-BE49-F238E27FC236}">
                <a16:creationId xmlns:a16="http://schemas.microsoft.com/office/drawing/2014/main" id="{8186FEAF-6E1E-4258-94C3-5C589D4B5ADE}"/>
              </a:ext>
              <a:ext uri="{C183D7F6-B498-43B3-948B-1728B52AA6E4}">
                <adec:decorative xmlns:adec="http://schemas.microsoft.com/office/drawing/2017/decorative" xmlns=""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lumMod val="95000"/>
              </a:schemeClr>
            </a:solid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ru-RU" dirty="0"/>
          </a:p>
        </p:txBody>
      </p:sp>
      <p:sp>
        <p:nvSpPr>
          <p:cNvPr id="20" name="Заголовок 19">
            <a:extLst>
              <a:ext uri="{FF2B5EF4-FFF2-40B4-BE49-F238E27FC236}">
                <a16:creationId xmlns:a16="http://schemas.microsoft.com/office/drawing/2014/main" id="{7C11A64B-7EA5-442C-8405-73273A5331D1}"/>
              </a:ext>
            </a:extLst>
          </p:cNvPr>
          <p:cNvSpPr>
            <a:spLocks noGrp="1"/>
          </p:cNvSpPr>
          <p:nvPr>
            <p:ph type="ctrTitle"/>
          </p:nvPr>
        </p:nvSpPr>
        <p:spPr/>
        <p:txBody>
          <a:bodyPr rtlCol="0"/>
          <a:lstStyle/>
          <a:p>
            <a:pPr rtl="0"/>
            <a:r>
              <a:rPr lang="ru-RU" dirty="0"/>
              <a:t>Спасибо за внимание!</a:t>
            </a:r>
          </a:p>
        </p:txBody>
      </p:sp>
      <p:pic>
        <p:nvPicPr>
          <p:cNvPr id="8" name="Графический объект 7" descr="Пользователь" title="Значок — имя докладчика">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7678512" y="3859066"/>
            <a:ext cx="218900" cy="218900"/>
          </a:xfrm>
          <a:prstGeom prst="rect">
            <a:avLst/>
          </a:prstGeom>
        </p:spPr>
      </p:pic>
      <p:sp>
        <p:nvSpPr>
          <p:cNvPr id="4" name="Текст 3">
            <a:extLst>
              <a:ext uri="{FF2B5EF4-FFF2-40B4-BE49-F238E27FC236}">
                <a16:creationId xmlns:a16="http://schemas.microsoft.com/office/drawing/2014/main" id="{60828E04-9C2A-4859-8050-C2DF67A249CB}"/>
              </a:ext>
            </a:extLst>
          </p:cNvPr>
          <p:cNvSpPr>
            <a:spLocks noGrp="1"/>
          </p:cNvSpPr>
          <p:nvPr>
            <p:ph type="body" sz="quarter" idx="15"/>
          </p:nvPr>
        </p:nvSpPr>
        <p:spPr/>
        <p:txBody>
          <a:bodyPr rtlCol="0"/>
          <a:lstStyle/>
          <a:p>
            <a:pPr rtl="0"/>
            <a:r>
              <a:rPr lang="ru-RU" sz="1800" dirty="0" smtClean="0"/>
              <a:t>Сергей Ткаченко</a:t>
            </a:r>
            <a:endParaRPr lang="ru-RU" sz="1800" dirty="0"/>
          </a:p>
        </p:txBody>
      </p:sp>
      <p:pic>
        <p:nvPicPr>
          <p:cNvPr id="9" name="Графический объект 8" descr="Конверт" title="Значок — адрес электронной почты докладчика">
            <a:extLst>
              <a:ext uri="{FF2B5EF4-FFF2-40B4-BE49-F238E27FC236}">
                <a16:creationId xmlns:a16="http://schemas.microsoft.com/office/drawing/2014/main" id="{773C1382-ACE1-460F-A1B6-AB761A7D2E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9"/>
              </a:ext>
            </a:extLst>
          </a:blip>
          <a:stretch>
            <a:fillRect/>
          </a:stretch>
        </p:blipFill>
        <p:spPr>
          <a:xfrm>
            <a:off x="7678512" y="4253359"/>
            <a:ext cx="218900" cy="218900"/>
          </a:xfrm>
          <a:prstGeom prst="rect">
            <a:avLst/>
          </a:prstGeom>
        </p:spPr>
      </p:pic>
      <p:sp>
        <p:nvSpPr>
          <p:cNvPr id="6" name="Текст 5">
            <a:extLst>
              <a:ext uri="{FF2B5EF4-FFF2-40B4-BE49-F238E27FC236}">
                <a16:creationId xmlns:a16="http://schemas.microsoft.com/office/drawing/2014/main" id="{50A3BCC3-A277-4C0B-9EBA-EB53990D8EBD}"/>
              </a:ext>
            </a:extLst>
          </p:cNvPr>
          <p:cNvSpPr>
            <a:spLocks noGrp="1"/>
          </p:cNvSpPr>
          <p:nvPr>
            <p:ph type="body" sz="quarter" idx="17"/>
          </p:nvPr>
        </p:nvSpPr>
        <p:spPr>
          <a:xfrm>
            <a:off x="8034849" y="4246905"/>
            <a:ext cx="3521514" cy="288000"/>
          </a:xfrm>
        </p:spPr>
        <p:txBody>
          <a:bodyPr rtlCol="0"/>
          <a:lstStyle/>
          <a:p>
            <a:pPr rtl="0"/>
            <a:r>
              <a:rPr lang="en-US" sz="1800" dirty="0" err="1" smtClean="0"/>
              <a:t>SNTkachenko</a:t>
            </a:r>
            <a:r>
              <a:rPr lang="ru-RU" sz="1800" dirty="0" smtClean="0"/>
              <a:t>@</a:t>
            </a:r>
            <a:r>
              <a:rPr lang="en-US" sz="1800" dirty="0" err="1" smtClean="0"/>
              <a:t>kantiana</a:t>
            </a:r>
            <a:r>
              <a:rPr lang="ru-RU" sz="1800" dirty="0" smtClean="0"/>
              <a:t>.</a:t>
            </a:r>
            <a:r>
              <a:rPr lang="en-US" sz="1800" dirty="0" err="1" smtClean="0"/>
              <a:t>ru</a:t>
            </a:r>
            <a:endParaRPr lang="ru-RU" sz="1800" dirty="0"/>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Тема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552_TF16411253.potx" id="{484AC4F0-DFB1-44B1-A48A-4A4E5B9BAE55}" vid="{642D7752-446B-4E16-8C1E-EACC99EB30B7}"/>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8A50AA-654B-45CA-B6AD-FDA9E9535EF9}">
  <ds:schemaRef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fb0879af-3eba-417a-a55a-ffe6dcd6ca77"/>
    <ds:schemaRef ds:uri="6dc4bcd6-49db-4c07-9060-8acfc67cef9f"/>
    <ds:schemaRef ds:uri="http://schemas.microsoft.com/sharepoint/v3"/>
  </ds:schemaRefs>
</ds:datastoreItem>
</file>

<file path=customXml/itemProps2.xml><?xml version="1.0" encoding="utf-8"?>
<ds:datastoreItem xmlns:ds="http://schemas.openxmlformats.org/officeDocument/2006/customXml" ds:itemID="{D4F06F66-218D-4D1C-873A-158A1848B8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Геометрическая презентация</Template>
  <TotalTime>0</TotalTime>
  <Words>2435</Words>
  <Application>Microsoft Office PowerPoint</Application>
  <PresentationFormat>Широкоэкранный</PresentationFormat>
  <Paragraphs>367</Paragraphs>
  <Slides>38</Slides>
  <Notes>2</Notes>
  <HiddenSlides>0</HiddenSlides>
  <MMClips>0</MMClips>
  <ScaleCrop>false</ScaleCrop>
  <HeadingPairs>
    <vt:vector size="8" baseType="variant">
      <vt:variant>
        <vt:lpstr>Использованные шрифты</vt:lpstr>
      </vt:variant>
      <vt:variant>
        <vt:i4>14</vt:i4>
      </vt:variant>
      <vt:variant>
        <vt:lpstr>Тема</vt:lpstr>
      </vt:variant>
      <vt:variant>
        <vt:i4>1</vt:i4>
      </vt:variant>
      <vt:variant>
        <vt:lpstr>Внедренные серверы OLE</vt:lpstr>
      </vt:variant>
      <vt:variant>
        <vt:i4>2</vt:i4>
      </vt:variant>
      <vt:variant>
        <vt:lpstr>Заголовки слайдов</vt:lpstr>
      </vt:variant>
      <vt:variant>
        <vt:i4>38</vt:i4>
      </vt:variant>
    </vt:vector>
  </HeadingPairs>
  <TitlesOfParts>
    <vt:vector size="55" baseType="lpstr">
      <vt:lpstr>MS Gothic</vt:lpstr>
      <vt:lpstr>MS PGothic</vt:lpstr>
      <vt:lpstr>Arial</vt:lpstr>
      <vt:lpstr>Arial Unicode MS</vt:lpstr>
      <vt:lpstr>Calibri</vt:lpstr>
      <vt:lpstr>Calibri Light</vt:lpstr>
      <vt:lpstr>Corbel</vt:lpstr>
      <vt:lpstr>Lucida Sans</vt:lpstr>
      <vt:lpstr>Rockwell</vt:lpstr>
      <vt:lpstr>Symbol</vt:lpstr>
      <vt:lpstr>Tahoma</vt:lpstr>
      <vt:lpstr>Times New Roman</vt:lpstr>
      <vt:lpstr>Verdana</vt:lpstr>
      <vt:lpstr>Wingdings</vt:lpstr>
      <vt:lpstr>Тема Office</vt:lpstr>
      <vt:lpstr>Microsoft Equation</vt:lpstr>
      <vt:lpstr>Microsoft Equation 3.0</vt:lpstr>
      <vt:lpstr>Классификация текстов. Часть 2.</vt:lpstr>
      <vt:lpstr>Линейные классификаторы: какая гиперплоскость?</vt:lpstr>
      <vt:lpstr>Подключаем интуицию</vt:lpstr>
      <vt:lpstr>Машина опорных векторов (SVM)</vt:lpstr>
      <vt:lpstr>Максимальная граница (Maximum Margin)</vt:lpstr>
      <vt:lpstr>Геометрия</vt:lpstr>
      <vt:lpstr>Линейные SVM (разделимый случай)</vt:lpstr>
      <vt:lpstr>Linear Support Vector Machine (SVM)</vt:lpstr>
      <vt:lpstr>Пример</vt:lpstr>
      <vt:lpstr>Linear Support Vector Machine (SVM)</vt:lpstr>
      <vt:lpstr>Решение задачи оптимизации</vt:lpstr>
      <vt:lpstr>Решение задачи оптимизации</vt:lpstr>
      <vt:lpstr>«Смягчаем» классификацию</vt:lpstr>
      <vt:lpstr>Soft Margin Classification </vt:lpstr>
      <vt:lpstr>Классификация алгоритмом SVM</vt:lpstr>
      <vt:lpstr>Резюме по линейному SVM</vt:lpstr>
      <vt:lpstr>Нелинейный SVM</vt:lpstr>
      <vt:lpstr>Нелинейный SVM</vt:lpstr>
      <vt:lpstr>Метод ядер ("kernel trick")</vt:lpstr>
      <vt:lpstr>Функции ядра</vt:lpstr>
      <vt:lpstr>Пример: Классический датасет Reuters-21578</vt:lpstr>
      <vt:lpstr>Пример: Классический датасет Reuters-21578</vt:lpstr>
      <vt:lpstr>Пример: Классический датасет Reuters-21578</vt:lpstr>
      <vt:lpstr>Пример: Классический датасет Reuters-21578</vt:lpstr>
      <vt:lpstr>Пример: Классический датасет Reuters-21578</vt:lpstr>
      <vt:lpstr>Пример: Классический датасет Reuters-21578. category: Crude</vt:lpstr>
      <vt:lpstr>Пример: Классический датасет Reuters-21578. category: Ship</vt:lpstr>
      <vt:lpstr>Советы бывалых</vt:lpstr>
      <vt:lpstr>Советы бывалых</vt:lpstr>
      <vt:lpstr>Ручные правила</vt:lpstr>
      <vt:lpstr>Очень мало данных?</vt:lpstr>
      <vt:lpstr>Разумное количество данных?</vt:lpstr>
      <vt:lpstr>Огромное количество данных?</vt:lpstr>
      <vt:lpstr>Количество категорий?</vt:lpstr>
      <vt:lpstr>Помогает ли стемминг/приведение к нижнему регистру/...?</vt:lpstr>
      <vt:lpstr>Оценка показателей точности классификации</vt:lpstr>
      <vt:lpstr>Общая проблема: смещение понятий</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2025-08-26T15:19:12Z</dcterms:created>
  <dcterms:modified xsi:type="dcterms:W3CDTF">2026-02-09T16:02:02Z</dcterms:modified>
</cp:coreProperties>
</file>