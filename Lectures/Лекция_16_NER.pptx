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29"/>
  </p:notesMasterIdLst>
  <p:handoutMasterIdLst>
    <p:handoutMasterId r:id="rId30"/>
  </p:handoutMasterIdLst>
  <p:sldIdLst>
    <p:sldId id="282" r:id="rId4"/>
    <p:sldId id="508" r:id="rId5"/>
    <p:sldId id="509" r:id="rId6"/>
    <p:sldId id="533" r:id="rId7"/>
    <p:sldId id="534" r:id="rId8"/>
    <p:sldId id="535" r:id="rId9"/>
    <p:sldId id="486" r:id="rId10"/>
    <p:sldId id="510" r:id="rId11"/>
    <p:sldId id="511" r:id="rId12"/>
    <p:sldId id="537" r:id="rId13"/>
    <p:sldId id="487" r:id="rId14"/>
    <p:sldId id="513" r:id="rId15"/>
    <p:sldId id="536" r:id="rId16"/>
    <p:sldId id="525" r:id="rId17"/>
    <p:sldId id="524" r:id="rId18"/>
    <p:sldId id="527" r:id="rId19"/>
    <p:sldId id="532" r:id="rId20"/>
    <p:sldId id="530" r:id="rId21"/>
    <p:sldId id="514" r:id="rId22"/>
    <p:sldId id="538" r:id="rId23"/>
    <p:sldId id="540" r:id="rId24"/>
    <p:sldId id="539" r:id="rId25"/>
    <p:sldId id="542" r:id="rId26"/>
    <p:sldId id="541" r:id="rId27"/>
    <p:sldId id="296" r:id="rId2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31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8DD750-E9C8-498E-B02F-A465CB2BB798}" type="datetime1">
              <a:rPr lang="ru-RU" smtClean="0"/>
              <a:t>31.03.2026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C6E7-B645-4B70-AC63-7A575D94CEB1}" type="datetime1">
              <a:rPr lang="ru-RU" smtClean="0"/>
              <a:pPr/>
              <a:t>31.03.2026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0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48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764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693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451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6902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5640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2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3" name="Полилиния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4" name="Полилиния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5" name="Полилиния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Сравнение слева — заполнитель 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Сравнение слева — заполнитель 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ое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Введите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благодар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Спасибо за внимание!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Полное имя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Номер телефона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Электронная почта или контакт в социальной сети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Веб-сайт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5" name="Прямоугольник: Скругленные углы 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3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слайда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Надпись 24" descr="Акцент слайда для поля заголовка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rtlCol="0"/>
          <a:lstStyle/>
          <a:p>
            <a:r>
              <a:rPr lang="en-US" sz="5000" dirty="0" smtClean="0"/>
              <a:t>NER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420" y="4938518"/>
            <a:ext cx="4000500" cy="690752"/>
          </a:xfrm>
        </p:spPr>
        <p:txBody>
          <a:bodyPr rtlCol="0"/>
          <a:lstStyle/>
          <a:p>
            <a:r>
              <a:rPr lang="ru-RU" dirty="0"/>
              <a:t>Основы обработки текстов</a:t>
            </a:r>
          </a:p>
        </p:txBody>
      </p:sp>
      <p:sp>
        <p:nvSpPr>
          <p:cNvPr id="20" name="Равнобедренный треугольник 19" descr="Тень на слайде для поля заголовка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Классификация последовательности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POS-</a:t>
            </a:r>
            <a:r>
              <a:rPr lang="ru-RU" sz="3200" dirty="0" err="1"/>
              <a:t>Tagging</a:t>
            </a:r>
            <a:r>
              <a:rPr lang="ru-RU" sz="3200" dirty="0"/>
              <a:t> – разметка по </a:t>
            </a:r>
            <a:r>
              <a:rPr lang="ru-RU" sz="3200" dirty="0" smtClean="0"/>
              <a:t>частям речи</a:t>
            </a:r>
            <a:endParaRPr lang="ru-RU" sz="3200" dirty="0"/>
          </a:p>
          <a:p>
            <a:pPr marL="0" indent="0" fontAlgn="base"/>
            <a:r>
              <a:rPr lang="ru-RU" sz="3200" dirty="0"/>
              <a:t>NER – </a:t>
            </a:r>
            <a:r>
              <a:rPr lang="ru-RU" sz="3200" dirty="0" smtClean="0"/>
              <a:t>распознавание именованных </a:t>
            </a:r>
            <a:r>
              <a:rPr lang="ru-RU" sz="3200" dirty="0"/>
              <a:t>сущностей</a:t>
            </a:r>
          </a:p>
          <a:p>
            <a:pPr marL="0" indent="0" fontAlgn="base"/>
            <a:r>
              <a:rPr lang="ru-RU" sz="3200" dirty="0"/>
              <a:t>Извлечение фактов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0" y="2861483"/>
            <a:ext cx="5400675" cy="1524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929" y="2861483"/>
            <a:ext cx="4981575" cy="26574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272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Что такое именованные сущности и NER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Именованные сущности — это осмысленные «объекты мира» в тексте, которые можно выделить и отнести к </a:t>
            </a:r>
            <a:r>
              <a:rPr lang="ru-RU" sz="3200" dirty="0" smtClean="0"/>
              <a:t>определенному </a:t>
            </a:r>
            <a:r>
              <a:rPr lang="ru-RU" sz="3200" dirty="0"/>
              <a:t>типу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r>
              <a:rPr lang="ru-RU" sz="3200" dirty="0"/>
              <a:t>Типичные примеры:</a:t>
            </a:r>
          </a:p>
          <a:p>
            <a:pPr marL="0" indent="0" fontAlgn="base"/>
            <a:r>
              <a:rPr lang="ru-RU" sz="3200" dirty="0"/>
              <a:t>•	Люди: </a:t>
            </a:r>
            <a:r>
              <a:rPr lang="en-US" sz="3200" dirty="0"/>
              <a:t>PER — Albert Einstein, Angela Merkel.</a:t>
            </a:r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Организации: </a:t>
            </a:r>
            <a:r>
              <a:rPr lang="en-US" sz="3200" dirty="0"/>
              <a:t>ORG — Google, </a:t>
            </a:r>
            <a:r>
              <a:rPr lang="en-US" sz="3200" dirty="0" err="1"/>
              <a:t>OpenAI</a:t>
            </a:r>
            <a:r>
              <a:rPr lang="en-US" sz="3200" dirty="0"/>
              <a:t>, Harvard University.</a:t>
            </a:r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Локации: </a:t>
            </a:r>
            <a:r>
              <a:rPr lang="en-US" sz="3200" dirty="0"/>
              <a:t>LOC — Paris, Germany, San Francisco.</a:t>
            </a:r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Более общие типы: </a:t>
            </a:r>
            <a:r>
              <a:rPr lang="en-US" sz="3200" dirty="0"/>
              <a:t>MISC — </a:t>
            </a:r>
            <a:r>
              <a:rPr lang="ru-RU" sz="3200" dirty="0"/>
              <a:t>названия событий, продуктов, произведений и др. (зависит от схемы разметки датасета)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7255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Задача </a:t>
            </a:r>
            <a:r>
              <a:rPr lang="en-US" b="1" dirty="0"/>
              <a:t>NER 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Задача NER (</a:t>
            </a:r>
            <a:r>
              <a:rPr lang="ru-RU" sz="3200" dirty="0" err="1"/>
              <a:t>Named</a:t>
            </a:r>
            <a:r>
              <a:rPr lang="ru-RU" sz="3200" dirty="0"/>
              <a:t> </a:t>
            </a:r>
            <a:r>
              <a:rPr lang="ru-RU" sz="3200" dirty="0" err="1"/>
              <a:t>Entity</a:t>
            </a:r>
            <a:r>
              <a:rPr lang="ru-RU" sz="3200" dirty="0"/>
              <a:t> </a:t>
            </a:r>
            <a:r>
              <a:rPr lang="ru-RU" sz="3200" dirty="0" err="1"/>
              <a:t>Recognition</a:t>
            </a:r>
            <a:r>
              <a:rPr lang="ru-RU" sz="3200" dirty="0"/>
              <a:t>): для каждой позиции в </a:t>
            </a:r>
            <a:r>
              <a:rPr lang="ru-RU" sz="3200" dirty="0" err="1"/>
              <a:t>токенизированном</a:t>
            </a:r>
            <a:r>
              <a:rPr lang="ru-RU" sz="3200" dirty="0"/>
              <a:t> тексте определить, является ли она частью сущности и какого типа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r>
              <a:rPr lang="ru-RU" sz="3200" dirty="0"/>
              <a:t>Формально это задача </a:t>
            </a:r>
            <a:r>
              <a:rPr lang="ru-RU" sz="3200" dirty="0" err="1"/>
              <a:t>sequence</a:t>
            </a:r>
            <a:r>
              <a:rPr lang="ru-RU" sz="3200" dirty="0"/>
              <a:t> </a:t>
            </a:r>
            <a:r>
              <a:rPr lang="ru-RU" sz="3200" dirty="0" err="1"/>
              <a:t>labeling</a:t>
            </a:r>
            <a:r>
              <a:rPr lang="ru-RU" sz="3200" dirty="0"/>
              <a:t>: на вход — последовательность </a:t>
            </a:r>
            <a:r>
              <a:rPr lang="ru-RU" sz="3200" dirty="0" err="1"/>
              <a:t>токенов</a:t>
            </a:r>
            <a:r>
              <a:rPr lang="ru-RU" sz="3200" dirty="0"/>
              <a:t>, на выход — последовательность меток такой же длины.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85054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Практические применения 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smtClean="0"/>
              <a:t>•</a:t>
            </a:r>
            <a:r>
              <a:rPr lang="ru-RU" sz="3200" dirty="0"/>
              <a:t>	Аналитика текстов: выделение людей, организаций и мест из новостей и биографий.</a:t>
            </a:r>
          </a:p>
          <a:p>
            <a:pPr marL="0" indent="0" fontAlgn="base"/>
            <a:r>
              <a:rPr lang="ru-RU" sz="3200" dirty="0"/>
              <a:t>•	Поиск и индексация: улучшение поиска по документам за </a:t>
            </a:r>
            <a:r>
              <a:rPr lang="ru-RU" sz="3200" dirty="0" smtClean="0"/>
              <a:t>счет учета </a:t>
            </a:r>
            <a:r>
              <a:rPr lang="ru-RU" sz="3200" dirty="0"/>
              <a:t>сущностей (например, «компании в Германии»).</a:t>
            </a:r>
          </a:p>
          <a:p>
            <a:pPr marL="0" indent="0" fontAlgn="base"/>
            <a:r>
              <a:rPr lang="ru-RU" sz="3200" dirty="0"/>
              <a:t>•	Подготовка данных для </a:t>
            </a:r>
            <a:r>
              <a:rPr lang="ru-RU" sz="3200" dirty="0" err="1"/>
              <a:t>downstream</a:t>
            </a:r>
            <a:r>
              <a:rPr lang="ru-RU" sz="3200" dirty="0"/>
              <a:t>‑задач: сбор структурированных таблиц из сырых текстов (персоны, компании, города и т.д</a:t>
            </a:r>
            <a:r>
              <a:rPr lang="ru-RU" sz="3200" dirty="0" smtClean="0"/>
              <a:t>.).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1969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Практические применения 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6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smtClean="0"/>
              <a:t>На практике:</a:t>
            </a:r>
          </a:p>
          <a:p>
            <a:pPr marL="0" indent="0" fontAlgn="base"/>
            <a:r>
              <a:rPr lang="ru-RU" sz="3200" dirty="0" smtClean="0"/>
              <a:t>•</a:t>
            </a:r>
            <a:r>
              <a:rPr lang="ru-RU" sz="3200" dirty="0"/>
              <a:t>	</a:t>
            </a:r>
            <a:r>
              <a:rPr lang="ru-RU" sz="3200" dirty="0" smtClean="0"/>
              <a:t>Сначала используем </a:t>
            </a:r>
            <a:r>
              <a:rPr lang="ru-RU" sz="3200" dirty="0"/>
              <a:t>готовую английскую </a:t>
            </a:r>
            <a:r>
              <a:rPr lang="en-US" sz="3200" dirty="0"/>
              <a:t>NER‑</a:t>
            </a:r>
            <a:r>
              <a:rPr lang="ru-RU" sz="3200" dirty="0"/>
              <a:t>модель (</a:t>
            </a:r>
            <a:r>
              <a:rPr lang="en-US" sz="3200" dirty="0" err="1"/>
              <a:t>dslim</a:t>
            </a:r>
            <a:r>
              <a:rPr lang="en-US" sz="3200" dirty="0"/>
              <a:t>/</a:t>
            </a:r>
            <a:r>
              <a:rPr lang="en-US" sz="3200" dirty="0" err="1"/>
              <a:t>distilbert</a:t>
            </a:r>
            <a:r>
              <a:rPr lang="en-US" sz="3200" dirty="0"/>
              <a:t>-NER) </a:t>
            </a:r>
            <a:r>
              <a:rPr lang="ru-RU" sz="3200" dirty="0"/>
              <a:t>для </a:t>
            </a:r>
            <a:r>
              <a:rPr lang="en-US" sz="3200" dirty="0"/>
              <a:t>PER/ORG/LOC (</a:t>
            </a:r>
            <a:r>
              <a:rPr lang="ru-RU" sz="3200" dirty="0"/>
              <a:t>Части 1–2).</a:t>
            </a:r>
          </a:p>
          <a:p>
            <a:pPr marL="0" indent="0" fontAlgn="base"/>
            <a:r>
              <a:rPr lang="ru-RU" sz="3200" dirty="0"/>
              <a:t>•	Затем </a:t>
            </a:r>
            <a:r>
              <a:rPr lang="ru-RU" sz="3200" dirty="0" smtClean="0"/>
              <a:t>построим упрощенный </a:t>
            </a:r>
            <a:r>
              <a:rPr lang="en-US" sz="3200" dirty="0"/>
              <a:t>NER (O vs ENT) </a:t>
            </a:r>
            <a:r>
              <a:rPr lang="ru-RU" sz="3200" dirty="0"/>
              <a:t>на </a:t>
            </a:r>
            <a:r>
              <a:rPr lang="ru-RU" sz="3200" dirty="0" smtClean="0"/>
              <a:t>мини</a:t>
            </a:r>
            <a:r>
              <a:rPr lang="en-US" sz="3200" dirty="0" smtClean="0"/>
              <a:t>‑</a:t>
            </a:r>
            <a:r>
              <a:rPr lang="ru-RU" sz="3200" dirty="0"/>
              <a:t>датасете с </a:t>
            </a:r>
            <a:r>
              <a:rPr lang="en-US" sz="3200" dirty="0"/>
              <a:t>BERT‑tiny </a:t>
            </a:r>
            <a:r>
              <a:rPr lang="ru-RU" sz="3200" dirty="0"/>
              <a:t>и </a:t>
            </a:r>
            <a:r>
              <a:rPr lang="en-US" sz="3200" dirty="0" err="1"/>
              <a:t>DistilBERT</a:t>
            </a:r>
            <a:r>
              <a:rPr lang="en-US" sz="3200" dirty="0"/>
              <a:t> (</a:t>
            </a:r>
            <a:r>
              <a:rPr lang="ru-RU" sz="3200" dirty="0"/>
              <a:t>Части 3–4).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0905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marL="0" indent="0" fontAlgn="base"/>
            <a:r>
              <a:rPr lang="ru-RU" sz="4000" spc="0" dirty="0"/>
              <a:t>Разметка</a:t>
            </a:r>
            <a:endParaRPr lang="ru-RU" sz="4000" spc="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086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BIO‑</a:t>
            </a:r>
            <a:r>
              <a:rPr lang="ru-RU" b="1" dirty="0" smtClean="0"/>
              <a:t>разметка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8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85000" lnSpcReduction="20000"/>
          </a:bodyPr>
          <a:lstStyle/>
          <a:p>
            <a:pPr marL="0" indent="0" fontAlgn="base"/>
            <a:r>
              <a:rPr lang="ru-RU" sz="3200" dirty="0" smtClean="0"/>
              <a:t>Классический </a:t>
            </a:r>
            <a:r>
              <a:rPr lang="ru-RU" sz="3200" dirty="0"/>
              <a:t>способ разметки </a:t>
            </a:r>
            <a:r>
              <a:rPr lang="en-US" sz="3200" dirty="0"/>
              <a:t>NER — BIO‑</a:t>
            </a:r>
            <a:r>
              <a:rPr lang="ru-RU" sz="3200" dirty="0"/>
              <a:t>схема</a:t>
            </a:r>
            <a:r>
              <a:rPr lang="ru-RU" sz="3200" dirty="0" smtClean="0"/>
              <a:t>:</a:t>
            </a:r>
            <a:endParaRPr lang="ru-RU" sz="3200" dirty="0"/>
          </a:p>
          <a:p>
            <a:pPr marL="0" indent="0" fontAlgn="base"/>
            <a:r>
              <a:rPr lang="ru-RU" sz="3200" dirty="0"/>
              <a:t>•	</a:t>
            </a:r>
            <a:r>
              <a:rPr lang="en-US" sz="3200" dirty="0"/>
              <a:t>B‑XXX — </a:t>
            </a:r>
            <a:r>
              <a:rPr lang="ru-RU" sz="3200" dirty="0"/>
              <a:t>начало сущности типа </a:t>
            </a:r>
            <a:r>
              <a:rPr lang="en-US" sz="3200" dirty="0"/>
              <a:t>XXX (</a:t>
            </a:r>
            <a:r>
              <a:rPr lang="ru-RU" sz="3200" dirty="0"/>
              <a:t>например, </a:t>
            </a:r>
            <a:r>
              <a:rPr lang="en-US" sz="3200" dirty="0"/>
              <a:t>B‑PER </a:t>
            </a:r>
            <a:r>
              <a:rPr lang="ru-RU" sz="3200" dirty="0"/>
              <a:t>для первого токена имени).</a:t>
            </a:r>
          </a:p>
          <a:p>
            <a:pPr marL="0" indent="0" fontAlgn="base"/>
            <a:r>
              <a:rPr lang="ru-RU" sz="3200" dirty="0"/>
              <a:t>•	</a:t>
            </a:r>
            <a:r>
              <a:rPr lang="en-US" sz="3200" dirty="0"/>
              <a:t>I‑XXX — </a:t>
            </a:r>
            <a:r>
              <a:rPr lang="ru-RU" sz="3200" dirty="0"/>
              <a:t>продолжение сущности того же типа (</a:t>
            </a:r>
            <a:r>
              <a:rPr lang="en-US" sz="3200" dirty="0"/>
              <a:t>I‑PER </a:t>
            </a:r>
            <a:r>
              <a:rPr lang="ru-RU" sz="3200" dirty="0"/>
              <a:t>для остальных </a:t>
            </a:r>
            <a:r>
              <a:rPr lang="ru-RU" sz="3200" dirty="0" err="1"/>
              <a:t>токенов</a:t>
            </a:r>
            <a:r>
              <a:rPr lang="ru-RU" sz="3200" dirty="0"/>
              <a:t> имени).</a:t>
            </a:r>
          </a:p>
          <a:p>
            <a:pPr marL="0" indent="0" fontAlgn="base"/>
            <a:r>
              <a:rPr lang="ru-RU" sz="3200" dirty="0"/>
              <a:t>•	</a:t>
            </a:r>
            <a:r>
              <a:rPr lang="en-US" sz="3200" dirty="0"/>
              <a:t>O — </a:t>
            </a:r>
            <a:r>
              <a:rPr lang="ru-RU" sz="3200" dirty="0" smtClean="0"/>
              <a:t>все, </a:t>
            </a:r>
            <a:r>
              <a:rPr lang="ru-RU" sz="3200" dirty="0"/>
              <a:t>что не является сущностью.</a:t>
            </a:r>
          </a:p>
          <a:p>
            <a:pPr marL="0" indent="0" fontAlgn="base"/>
            <a:r>
              <a:rPr lang="ru-RU" sz="3200" dirty="0"/>
              <a:t>Пример (Часть 2, «</a:t>
            </a:r>
            <a:r>
              <a:rPr lang="en-US" sz="3200" dirty="0"/>
              <a:t>Albert Einstein was born in Ulm, Germany.»):</a:t>
            </a:r>
          </a:p>
          <a:p>
            <a:pPr marL="0" indent="0" fontAlgn="base"/>
            <a:r>
              <a:rPr lang="en-US" sz="3200" dirty="0"/>
              <a:t>•	Albert → B‑PER</a:t>
            </a:r>
          </a:p>
          <a:p>
            <a:pPr marL="0" indent="0" fontAlgn="base"/>
            <a:r>
              <a:rPr lang="en-US" sz="3200" dirty="0"/>
              <a:t>•	Einstein → I‑PER</a:t>
            </a:r>
          </a:p>
          <a:p>
            <a:pPr marL="0" indent="0" fontAlgn="base"/>
            <a:r>
              <a:rPr lang="en-US" sz="3200" dirty="0"/>
              <a:t>•	Ulm → B‑LOC</a:t>
            </a:r>
          </a:p>
          <a:p>
            <a:pPr marL="0" indent="0" fontAlgn="base"/>
            <a:r>
              <a:rPr lang="en-US" sz="3200" dirty="0"/>
              <a:t>•	Germany → B‑LOC </a:t>
            </a:r>
            <a:r>
              <a:rPr lang="ru-RU" sz="3200" dirty="0"/>
              <a:t>или </a:t>
            </a:r>
            <a:r>
              <a:rPr lang="en-US" sz="3200" dirty="0"/>
              <a:t>I‑LOC (</a:t>
            </a:r>
            <a:r>
              <a:rPr lang="ru-RU" sz="3200" dirty="0"/>
              <a:t>зависит от разметки датасета)</a:t>
            </a:r>
          </a:p>
          <a:p>
            <a:pPr marL="0" indent="0" fontAlgn="base"/>
            <a:r>
              <a:rPr lang="ru-RU" sz="3200" dirty="0"/>
              <a:t>В промышленном </a:t>
            </a:r>
            <a:r>
              <a:rPr lang="en-US" sz="3200" dirty="0"/>
              <a:t>NER </a:t>
            </a:r>
            <a:r>
              <a:rPr lang="ru-RU" sz="3200" dirty="0"/>
              <a:t>это стандарт: он </a:t>
            </a:r>
            <a:r>
              <a:rPr lang="ru-RU" sz="3200" dirty="0" smtClean="0"/>
              <a:t>дает </a:t>
            </a:r>
            <a:r>
              <a:rPr lang="ru-RU" sz="3200" dirty="0"/>
              <a:t>точную информацию о границах сущности и </a:t>
            </a:r>
            <a:r>
              <a:rPr lang="ru-RU" sz="3200" dirty="0" smtClean="0"/>
              <a:t>ее типе.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5835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Упрощенная </a:t>
            </a:r>
            <a:r>
              <a:rPr lang="ru-RU" b="1" dirty="0"/>
              <a:t>схема O </a:t>
            </a:r>
            <a:r>
              <a:rPr lang="ru-RU" b="1" dirty="0" err="1"/>
              <a:t>vs</a:t>
            </a:r>
            <a:r>
              <a:rPr lang="ru-RU" b="1" dirty="0"/>
              <a:t> ENT (в практике)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9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20000"/>
          </a:bodyPr>
          <a:lstStyle/>
          <a:p>
            <a:pPr marL="0" indent="0" fontAlgn="base"/>
            <a:r>
              <a:rPr lang="ru-RU" sz="3200" dirty="0" smtClean="0"/>
              <a:t>В </a:t>
            </a:r>
            <a:r>
              <a:rPr lang="ru-RU" sz="3200" dirty="0"/>
              <a:t>ЧАСТИ 3–4 практики для обучения и сравнения моделей используется </a:t>
            </a:r>
            <a:r>
              <a:rPr lang="ru-RU" sz="3200" dirty="0" smtClean="0"/>
              <a:t>упрощенная </a:t>
            </a:r>
            <a:r>
              <a:rPr lang="ru-RU" sz="3200" dirty="0" err="1"/>
              <a:t>двухклассовая</a:t>
            </a:r>
            <a:r>
              <a:rPr lang="ru-RU" sz="3200" dirty="0"/>
              <a:t> схема:</a:t>
            </a:r>
          </a:p>
          <a:p>
            <a:pPr marL="0" indent="0" fontAlgn="base"/>
            <a:r>
              <a:rPr lang="ru-RU" sz="3200" dirty="0"/>
              <a:t>•	O — не сущность.</a:t>
            </a:r>
          </a:p>
          <a:p>
            <a:pPr marL="0" indent="0" fontAlgn="base"/>
            <a:r>
              <a:rPr lang="ru-RU" sz="3200" dirty="0"/>
              <a:t>•	ENT — «любая» сущность (персона, организация, локация и т.п.).</a:t>
            </a:r>
          </a:p>
          <a:p>
            <a:pPr marL="0" indent="0" fontAlgn="base"/>
            <a:r>
              <a:rPr lang="ru-RU" sz="3200" dirty="0"/>
              <a:t>Такая схема:</a:t>
            </a:r>
          </a:p>
          <a:p>
            <a:pPr marL="0" indent="0" fontAlgn="base"/>
            <a:r>
              <a:rPr lang="ru-RU" sz="3200" dirty="0"/>
              <a:t>•	упрощает задачу — модель решает «сущность </a:t>
            </a:r>
            <a:r>
              <a:rPr lang="ru-RU" sz="3200" dirty="0" err="1"/>
              <a:t>vs</a:t>
            </a:r>
            <a:r>
              <a:rPr lang="ru-RU" sz="3200" dirty="0"/>
              <a:t> не сущность», а не «какой именно тип»;</a:t>
            </a:r>
          </a:p>
          <a:p>
            <a:pPr marL="0" indent="0" fontAlgn="base"/>
            <a:r>
              <a:rPr lang="ru-RU" sz="3200" dirty="0"/>
              <a:t>•	позволяет на маленьком </a:t>
            </a:r>
            <a:r>
              <a:rPr lang="ru-RU" sz="3200" dirty="0" smtClean="0"/>
              <a:t>датасете </a:t>
            </a:r>
            <a:r>
              <a:rPr lang="ru-RU" sz="3200" dirty="0"/>
              <a:t>получить заметные F1‑значения (0.8–1.0</a:t>
            </a:r>
            <a:r>
              <a:rPr lang="ru-RU" sz="3200" dirty="0" smtClean="0"/>
              <a:t>);</a:t>
            </a:r>
            <a:endParaRPr lang="ru-RU" sz="3200" dirty="0"/>
          </a:p>
          <a:p>
            <a:pPr marL="0" indent="0" fontAlgn="base"/>
            <a:r>
              <a:rPr lang="ru-RU" sz="3200" dirty="0"/>
              <a:t>•	сохраняет все технические аспекты NER: </a:t>
            </a:r>
            <a:r>
              <a:rPr lang="ru-RU" sz="3200" dirty="0" err="1"/>
              <a:t>токенизация</a:t>
            </a:r>
            <a:r>
              <a:rPr lang="ru-RU" sz="3200" dirty="0"/>
              <a:t>, выравнивание меток, маскирование </a:t>
            </a:r>
            <a:r>
              <a:rPr lang="ru-RU" sz="3200" dirty="0" err="1"/>
              <a:t>паддинга</a:t>
            </a:r>
            <a:r>
              <a:rPr lang="ru-RU" sz="3200" dirty="0"/>
              <a:t>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4429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Упрощенная </a:t>
            </a:r>
            <a:r>
              <a:rPr lang="ru-RU" b="1" dirty="0"/>
              <a:t>схема O </a:t>
            </a:r>
            <a:r>
              <a:rPr lang="ru-RU" b="1" dirty="0" err="1"/>
              <a:t>vs</a:t>
            </a:r>
            <a:r>
              <a:rPr lang="ru-RU" b="1" dirty="0"/>
              <a:t> ENT (в практике)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10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•	BIO‑схема — реалистичный </a:t>
            </a:r>
            <a:r>
              <a:rPr lang="ru-RU" sz="3200" dirty="0" err="1"/>
              <a:t>продакшен</a:t>
            </a:r>
            <a:r>
              <a:rPr lang="ru-RU" sz="3200" dirty="0"/>
              <a:t>‑вариант (тип + границы).</a:t>
            </a:r>
          </a:p>
          <a:p>
            <a:pPr marL="0" indent="0" fontAlgn="base"/>
            <a:r>
              <a:rPr lang="ru-RU" sz="3200" dirty="0"/>
              <a:t>•	O/ENT — учебный компромисс, который используется для ЧАСТЕЙ 3–4, чтобы показать </a:t>
            </a:r>
            <a:r>
              <a:rPr lang="ru-RU" sz="3200" dirty="0" err="1"/>
              <a:t>fine‑tuning</a:t>
            </a:r>
            <a:r>
              <a:rPr lang="ru-RU" sz="3200" dirty="0"/>
              <a:t> и сравнение моделей BERT‑</a:t>
            </a:r>
            <a:r>
              <a:rPr lang="ru-RU" sz="3200" dirty="0" err="1"/>
              <a:t>tiny</a:t>
            </a:r>
            <a:r>
              <a:rPr lang="ru-RU" sz="3200" dirty="0"/>
              <a:t> и </a:t>
            </a:r>
            <a:r>
              <a:rPr lang="ru-RU" sz="3200" dirty="0" err="1"/>
              <a:t>DistilBERT</a:t>
            </a:r>
            <a:r>
              <a:rPr lang="ru-RU" sz="3200" dirty="0"/>
              <a:t> на маленьком датасете.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9351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ru-RU" sz="3200" spc="0" dirty="0" err="1"/>
              <a:t>Токенизация</a:t>
            </a:r>
            <a:r>
              <a:rPr lang="ru-RU" sz="3200" spc="0" dirty="0"/>
              <a:t> и выравнивание меток</a:t>
            </a:r>
            <a:endParaRPr lang="ru-RU" sz="32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4030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12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Современные модели (</a:t>
            </a:r>
            <a:r>
              <a:rPr lang="en-US" sz="3200" dirty="0"/>
              <a:t>BERT, </a:t>
            </a:r>
            <a:r>
              <a:rPr lang="en-US" sz="3200" dirty="0" err="1"/>
              <a:t>DistilBERT</a:t>
            </a:r>
            <a:r>
              <a:rPr lang="en-US" sz="3200" dirty="0"/>
              <a:t>) </a:t>
            </a:r>
            <a:r>
              <a:rPr lang="ru-RU" sz="3200" dirty="0"/>
              <a:t>используют </a:t>
            </a:r>
            <a:r>
              <a:rPr lang="ru-RU" sz="3200" dirty="0" err="1"/>
              <a:t>субсловную</a:t>
            </a:r>
            <a:r>
              <a:rPr lang="ru-RU" sz="3200" dirty="0"/>
              <a:t> </a:t>
            </a:r>
            <a:r>
              <a:rPr lang="ru-RU" sz="3200" dirty="0" err="1"/>
              <a:t>токенизацию</a:t>
            </a:r>
            <a:r>
              <a:rPr lang="ru-RU" sz="3200" dirty="0"/>
              <a:t>: </a:t>
            </a:r>
            <a:r>
              <a:rPr lang="en-US" sz="3200" dirty="0" err="1"/>
              <a:t>WordPiece</a:t>
            </a:r>
            <a:r>
              <a:rPr lang="en-US" sz="3200" dirty="0"/>
              <a:t>/BPE</a:t>
            </a:r>
            <a:r>
              <a:rPr lang="en-US" sz="3200" dirty="0" smtClean="0"/>
              <a:t>.</a:t>
            </a:r>
            <a:endParaRPr lang="en-US" sz="3200" dirty="0"/>
          </a:p>
          <a:p>
            <a:pPr marL="0" indent="0" fontAlgn="base"/>
            <a:r>
              <a:rPr lang="ru-RU" sz="3200" dirty="0" smtClean="0"/>
              <a:t>Одно </a:t>
            </a:r>
            <a:r>
              <a:rPr lang="ru-RU" sz="3200" dirty="0"/>
              <a:t>слово может разбиться на несколько </a:t>
            </a:r>
            <a:r>
              <a:rPr lang="ru-RU" sz="3200" dirty="0" err="1"/>
              <a:t>токенов</a:t>
            </a:r>
            <a:r>
              <a:rPr lang="ru-RU" sz="3200" dirty="0"/>
              <a:t>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 err="1"/>
              <a:t>OpenAI</a:t>
            </a:r>
            <a:r>
              <a:rPr lang="en-US" sz="3200" dirty="0"/>
              <a:t> → ["open", "##</a:t>
            </a:r>
            <a:r>
              <a:rPr lang="en-US" sz="3200" dirty="0" err="1"/>
              <a:t>ai</a:t>
            </a:r>
            <a:r>
              <a:rPr lang="en-US" sz="3200" dirty="0"/>
              <a:t>"]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San Francisco → ["san", "</a:t>
            </a:r>
            <a:r>
              <a:rPr lang="en-US" sz="3200" dirty="0" err="1"/>
              <a:t>francisco</a:t>
            </a:r>
            <a:r>
              <a:rPr lang="en-US" sz="3200" dirty="0"/>
              <a:t>"] </a:t>
            </a:r>
            <a:r>
              <a:rPr lang="ru-RU" sz="3200" dirty="0"/>
              <a:t>или ["</a:t>
            </a:r>
            <a:r>
              <a:rPr lang="en-US" sz="3200" dirty="0"/>
              <a:t>San", "Francisco"] </a:t>
            </a:r>
            <a:r>
              <a:rPr lang="ru-RU" sz="3200" dirty="0"/>
              <a:t>в зависимости от регистра/</a:t>
            </a:r>
            <a:r>
              <a:rPr lang="ru-RU" sz="3200" dirty="0" err="1"/>
              <a:t>токенизатора</a:t>
            </a:r>
            <a:r>
              <a:rPr lang="ru-RU" sz="3200" dirty="0"/>
              <a:t>.</a:t>
            </a:r>
          </a:p>
          <a:p>
            <a:pPr marL="0" indent="0" fontAlgn="base"/>
            <a:r>
              <a:rPr lang="ru-RU" sz="3200" dirty="0" smtClean="0"/>
              <a:t>В </a:t>
            </a:r>
            <a:r>
              <a:rPr lang="ru-RU" sz="3200" dirty="0"/>
              <a:t>исходной разметке метки задаются на уровне слов (</a:t>
            </a:r>
            <a:r>
              <a:rPr lang="en-US" sz="3200" dirty="0"/>
              <a:t>word‑level), </a:t>
            </a:r>
            <a:r>
              <a:rPr lang="ru-RU" sz="3200" dirty="0"/>
              <a:t>а модель работает с токенами (</a:t>
            </a:r>
            <a:r>
              <a:rPr lang="en-US" sz="3200" dirty="0" err="1"/>
              <a:t>subword</a:t>
            </a:r>
            <a:r>
              <a:rPr lang="en-US" sz="3200" dirty="0"/>
              <a:t>‑level).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55010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13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/>
            <a:r>
              <a:rPr lang="ru-RU" sz="3200" dirty="0"/>
              <a:t>В практике это решается через функцию </a:t>
            </a:r>
            <a:r>
              <a:rPr lang="ru-RU" sz="3200" dirty="0" err="1"/>
              <a:t>tokenize_and_align_labels</a:t>
            </a:r>
            <a:r>
              <a:rPr lang="ru-RU" sz="3200" dirty="0"/>
              <a:t> (Части 3–4):</a:t>
            </a:r>
          </a:p>
          <a:p>
            <a:pPr marL="0" indent="0" fontAlgn="base"/>
            <a:r>
              <a:rPr lang="ru-RU" sz="3200" dirty="0"/>
              <a:t>1.	Токенизатор вызывается с опцией </a:t>
            </a:r>
            <a:r>
              <a:rPr lang="ru-RU" sz="3200" dirty="0" err="1"/>
              <a:t>is_split_into_words</a:t>
            </a:r>
            <a:r>
              <a:rPr lang="ru-RU" sz="3200" dirty="0"/>
              <a:t>=</a:t>
            </a:r>
            <a:r>
              <a:rPr lang="ru-RU" sz="3200" dirty="0" err="1"/>
              <a:t>True</a:t>
            </a:r>
            <a:r>
              <a:rPr lang="ru-RU" sz="3200" dirty="0"/>
              <a:t>, чтобы сохранить связь между токенами и исходными словами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r>
              <a:rPr lang="ru-RU" sz="3200" dirty="0"/>
              <a:t>2.	Внутри используется </a:t>
            </a:r>
            <a:r>
              <a:rPr lang="ru-RU" sz="3200" dirty="0" err="1"/>
              <a:t>word_ids</a:t>
            </a:r>
            <a:r>
              <a:rPr lang="ru-RU" sz="3200" dirty="0"/>
              <a:t>(</a:t>
            </a:r>
            <a:r>
              <a:rPr lang="ru-RU" sz="3200" dirty="0" err="1"/>
              <a:t>batch_index</a:t>
            </a:r>
            <a:r>
              <a:rPr lang="ru-RU" sz="3200" dirty="0"/>
              <a:t>=...), чтобы узнать, какому исходному слову принадлежит каждый токен.</a:t>
            </a:r>
          </a:p>
          <a:p>
            <a:pPr marL="0" indent="0" fontAlgn="base"/>
            <a:r>
              <a:rPr lang="ru-RU" sz="3200" dirty="0"/>
              <a:t>3.	Для </a:t>
            </a:r>
            <a:r>
              <a:rPr lang="ru-RU" sz="3200" dirty="0" err="1"/>
              <a:t>токенов</a:t>
            </a:r>
            <a:r>
              <a:rPr lang="ru-RU" sz="3200" dirty="0"/>
              <a:t>, соответствующих словам, проставляются нужные метки (ENT или O), для спец‑</a:t>
            </a:r>
            <a:r>
              <a:rPr lang="ru-RU" sz="3200" dirty="0" err="1"/>
              <a:t>токенов</a:t>
            </a:r>
            <a:r>
              <a:rPr lang="ru-RU" sz="3200" dirty="0"/>
              <a:t> и </a:t>
            </a:r>
            <a:r>
              <a:rPr lang="ru-RU" sz="3200" dirty="0" err="1"/>
              <a:t>паддинга</a:t>
            </a:r>
            <a:r>
              <a:rPr lang="ru-RU" sz="3200" dirty="0"/>
              <a:t> ставится -100.</a:t>
            </a:r>
          </a:p>
          <a:p>
            <a:pPr marL="0" indent="0" fontAlgn="base"/>
            <a:r>
              <a:rPr lang="ru-RU" sz="3200" dirty="0"/>
              <a:t>4.	-100 используется как </a:t>
            </a:r>
            <a:r>
              <a:rPr lang="ru-RU" sz="3200" dirty="0" err="1"/>
              <a:t>ignore_index</a:t>
            </a:r>
            <a:r>
              <a:rPr lang="ru-RU" sz="3200" dirty="0"/>
              <a:t> в функции потерь: такие позиции не участвуют в обучении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57440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14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•	</a:t>
            </a:r>
            <a:r>
              <a:rPr lang="ru-RU" sz="3200" dirty="0" err="1"/>
              <a:t>Токенизация</a:t>
            </a:r>
            <a:r>
              <a:rPr lang="ru-RU" sz="3200" dirty="0"/>
              <a:t> и выравнивание меток — «техническая» часть, но без </a:t>
            </a:r>
            <a:r>
              <a:rPr lang="ru-RU" sz="3200" dirty="0" smtClean="0"/>
              <a:t>нее </a:t>
            </a:r>
            <a:r>
              <a:rPr lang="ru-RU" sz="3200" dirty="0"/>
              <a:t>модель либо не обучится, либо будет обучаться с сильным шумом.</a:t>
            </a:r>
          </a:p>
          <a:p>
            <a:pPr marL="0" indent="0" fontAlgn="base"/>
            <a:r>
              <a:rPr lang="ru-RU" sz="3200" dirty="0"/>
              <a:t>•	Выравнивание — общий шаблон для любых </a:t>
            </a:r>
            <a:r>
              <a:rPr lang="ru-RU" sz="3200" dirty="0" err="1"/>
              <a:t>sequence</a:t>
            </a:r>
            <a:r>
              <a:rPr lang="ru-RU" sz="3200" dirty="0"/>
              <a:t> </a:t>
            </a:r>
            <a:r>
              <a:rPr lang="ru-RU" sz="3200" dirty="0" err="1"/>
              <a:t>labeling</a:t>
            </a:r>
            <a:r>
              <a:rPr lang="ru-RU" sz="3200" dirty="0"/>
              <a:t> задач (POS‑</a:t>
            </a:r>
            <a:r>
              <a:rPr lang="ru-RU" sz="3200" dirty="0" err="1"/>
              <a:t>теггинг</a:t>
            </a:r>
            <a:r>
              <a:rPr lang="ru-RU" sz="3200" dirty="0"/>
              <a:t>, </a:t>
            </a:r>
            <a:r>
              <a:rPr lang="ru-RU" sz="3200" dirty="0" err="1"/>
              <a:t>chunking</a:t>
            </a:r>
            <a:r>
              <a:rPr lang="ru-RU" sz="3200" dirty="0"/>
              <a:t>, NER и др.).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5974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en-US" sz="2800" spc="0" dirty="0"/>
              <a:t>NER </a:t>
            </a:r>
            <a:r>
              <a:rPr lang="ru-RU" sz="2800" spc="0" dirty="0"/>
              <a:t>на </a:t>
            </a:r>
            <a:r>
              <a:rPr lang="ru-RU" sz="2800" spc="0" dirty="0" err="1"/>
              <a:t>трансформерах</a:t>
            </a:r>
            <a:endParaRPr lang="ru-RU" sz="28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3264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Готовый </a:t>
            </a:r>
            <a:r>
              <a:rPr lang="en-US" b="1" dirty="0"/>
              <a:t>pipeline (</a:t>
            </a:r>
            <a:r>
              <a:rPr lang="ru-RU" b="1" dirty="0"/>
              <a:t>Часть 1</a:t>
            </a:r>
            <a:r>
              <a:rPr lang="ru-RU" b="1" dirty="0" smtClean="0"/>
              <a:t>)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16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10000"/>
          </a:bodyPr>
          <a:lstStyle/>
          <a:p>
            <a:pPr marL="0" indent="0" fontAlgn="base"/>
            <a:r>
              <a:rPr lang="en-US" sz="3200" dirty="0" err="1" smtClean="0"/>
              <a:t>HuggingFace</a:t>
            </a:r>
            <a:r>
              <a:rPr lang="en-US" sz="3200" dirty="0" smtClean="0"/>
              <a:t> </a:t>
            </a:r>
            <a:r>
              <a:rPr lang="en-US" sz="3200" dirty="0"/>
              <a:t>pipeline </a:t>
            </a:r>
            <a:r>
              <a:rPr lang="ru-RU" sz="3200" dirty="0"/>
              <a:t>скрывает технические детали и </a:t>
            </a:r>
            <a:r>
              <a:rPr lang="ru-RU" sz="3200" dirty="0" smtClean="0"/>
              <a:t>дает </a:t>
            </a:r>
            <a:r>
              <a:rPr lang="ru-RU" sz="3200" dirty="0"/>
              <a:t>простой интерфейс</a:t>
            </a:r>
            <a:r>
              <a:rPr lang="ru-RU" sz="3200" dirty="0" smtClean="0"/>
              <a:t>:</a:t>
            </a:r>
            <a:endParaRPr lang="ru-RU" sz="3200" dirty="0"/>
          </a:p>
          <a:p>
            <a:pPr marL="0" indent="0" fontAlgn="base"/>
            <a:r>
              <a:rPr lang="en-US" sz="3200" dirty="0" smtClean="0"/>
              <a:t>pipeline(task</a:t>
            </a:r>
            <a:r>
              <a:rPr lang="en-US" sz="3200" dirty="0"/>
              <a:t>="</a:t>
            </a:r>
            <a:r>
              <a:rPr lang="en-US" sz="3200" dirty="0" err="1"/>
              <a:t>ner</a:t>
            </a:r>
            <a:r>
              <a:rPr lang="en-US" sz="3200" dirty="0"/>
              <a:t>", model="</a:t>
            </a:r>
            <a:r>
              <a:rPr lang="en-US" sz="3200" dirty="0" err="1"/>
              <a:t>dslim</a:t>
            </a:r>
            <a:r>
              <a:rPr lang="en-US" sz="3200" dirty="0"/>
              <a:t>/</a:t>
            </a:r>
            <a:r>
              <a:rPr lang="en-US" sz="3200" dirty="0" err="1"/>
              <a:t>distilbert</a:t>
            </a:r>
            <a:r>
              <a:rPr lang="en-US" sz="3200" dirty="0"/>
              <a:t>-NER", </a:t>
            </a:r>
            <a:r>
              <a:rPr lang="en-US" sz="3200" dirty="0" err="1"/>
              <a:t>aggregation_strategy</a:t>
            </a:r>
            <a:r>
              <a:rPr lang="en-US" sz="3200" dirty="0"/>
              <a:t>="simple").</a:t>
            </a:r>
          </a:p>
          <a:p>
            <a:pPr marL="0" indent="0" fontAlgn="base"/>
            <a:r>
              <a:rPr lang="ru-RU" sz="3200" dirty="0" smtClean="0"/>
              <a:t>Вход</a:t>
            </a:r>
            <a:r>
              <a:rPr lang="ru-RU" sz="3200" dirty="0"/>
              <a:t>: строка (или список строк).</a:t>
            </a:r>
          </a:p>
          <a:p>
            <a:pPr marL="0" indent="0" fontAlgn="base"/>
            <a:r>
              <a:rPr lang="ru-RU" sz="3200" dirty="0" smtClean="0"/>
              <a:t>Выход</a:t>
            </a:r>
            <a:r>
              <a:rPr lang="ru-RU" sz="3200" dirty="0"/>
              <a:t>: список сущностей с полями:</a:t>
            </a:r>
          </a:p>
          <a:p>
            <a:pPr marL="276225" lvl="1" indent="0" fontAlgn="base"/>
            <a:r>
              <a:rPr lang="en-US" sz="3000" dirty="0" err="1" smtClean="0"/>
              <a:t>entity_group</a:t>
            </a:r>
            <a:r>
              <a:rPr lang="en-US" sz="3000" dirty="0" smtClean="0"/>
              <a:t> </a:t>
            </a:r>
            <a:r>
              <a:rPr lang="en-US" sz="3000" dirty="0"/>
              <a:t>— </a:t>
            </a:r>
            <a:r>
              <a:rPr lang="ru-RU" sz="3000" dirty="0"/>
              <a:t>тип сущности (</a:t>
            </a:r>
            <a:r>
              <a:rPr lang="en-US" sz="3000" dirty="0"/>
              <a:t>PER, ORG, LOC </a:t>
            </a:r>
            <a:r>
              <a:rPr lang="ru-RU" sz="3000" dirty="0"/>
              <a:t>и т.д.),</a:t>
            </a:r>
          </a:p>
          <a:p>
            <a:pPr marL="276225" lvl="1" indent="0" fontAlgn="base"/>
            <a:r>
              <a:rPr lang="en-US" sz="3000" dirty="0" smtClean="0"/>
              <a:t>word </a:t>
            </a:r>
            <a:r>
              <a:rPr lang="en-US" sz="3000" dirty="0"/>
              <a:t>— </a:t>
            </a:r>
            <a:r>
              <a:rPr lang="ru-RU" sz="3000" dirty="0"/>
              <a:t>текстовый фрагмент,</a:t>
            </a:r>
          </a:p>
          <a:p>
            <a:pPr marL="276225" lvl="1" indent="0" fontAlgn="base"/>
            <a:r>
              <a:rPr lang="en-US" sz="3000" dirty="0" smtClean="0"/>
              <a:t>score </a:t>
            </a:r>
            <a:r>
              <a:rPr lang="en-US" sz="3000" dirty="0"/>
              <a:t>— </a:t>
            </a:r>
            <a:r>
              <a:rPr lang="ru-RU" sz="3000" dirty="0"/>
              <a:t>уверенность модели,</a:t>
            </a:r>
          </a:p>
          <a:p>
            <a:pPr marL="276225" lvl="1" indent="0" fontAlgn="base"/>
            <a:r>
              <a:rPr lang="en-US" sz="3000" dirty="0" smtClean="0"/>
              <a:t>start/end </a:t>
            </a:r>
            <a:r>
              <a:rPr lang="en-US" sz="3000" dirty="0"/>
              <a:t>— </a:t>
            </a:r>
            <a:r>
              <a:rPr lang="ru-RU" sz="3000" dirty="0"/>
              <a:t>позиции в исходной строке</a:t>
            </a:r>
            <a:r>
              <a:rPr lang="ru-RU" sz="3000" dirty="0" smtClean="0"/>
              <a:t>.</a:t>
            </a:r>
            <a:endParaRPr lang="ru-RU" sz="3000" dirty="0"/>
          </a:p>
          <a:p>
            <a:pPr marL="0" indent="0" fontAlgn="base"/>
            <a:r>
              <a:rPr lang="en-US" sz="3200" dirty="0" err="1" smtClean="0"/>
              <a:t>aggregation_strategy</a:t>
            </a:r>
            <a:r>
              <a:rPr lang="en-US" sz="3200" dirty="0"/>
              <a:t>="simple" — </a:t>
            </a:r>
            <a:r>
              <a:rPr lang="ru-RU" sz="3200" dirty="0"/>
              <a:t>объединение </a:t>
            </a:r>
            <a:r>
              <a:rPr lang="ru-RU" sz="3200" dirty="0" err="1"/>
              <a:t>субтокенов</a:t>
            </a:r>
            <a:r>
              <a:rPr lang="ru-RU" sz="3200" dirty="0"/>
              <a:t> в целые слова/фразы, удобные для человека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27798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Ручной </a:t>
            </a:r>
            <a:r>
              <a:rPr lang="en-US" b="1" dirty="0"/>
              <a:t>inference (</a:t>
            </a:r>
            <a:r>
              <a:rPr lang="ru-RU" b="1" dirty="0"/>
              <a:t>Часть 2)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17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77500" lnSpcReduction="20000"/>
          </a:bodyPr>
          <a:lstStyle/>
          <a:p>
            <a:pPr marL="0" indent="0" fontAlgn="base"/>
            <a:r>
              <a:rPr lang="ru-RU" sz="3200" dirty="0"/>
              <a:t>ЧАСТЬ 2 </a:t>
            </a:r>
            <a:r>
              <a:rPr lang="en-US" sz="3200" dirty="0" smtClean="0"/>
              <a:t>pipeline </a:t>
            </a:r>
            <a:r>
              <a:rPr lang="ru-RU" sz="3200" dirty="0" smtClean="0"/>
              <a:t>стандартных </a:t>
            </a:r>
            <a:r>
              <a:rPr lang="ru-RU" sz="3200" dirty="0"/>
              <a:t>шагов:</a:t>
            </a:r>
          </a:p>
          <a:p>
            <a:pPr marL="0" indent="0" fontAlgn="base"/>
            <a:r>
              <a:rPr lang="ru-RU" sz="3200" dirty="0"/>
              <a:t>1.	</a:t>
            </a:r>
            <a:r>
              <a:rPr lang="ru-RU" sz="3200" dirty="0" err="1"/>
              <a:t>Токенизация</a:t>
            </a:r>
            <a:r>
              <a:rPr lang="ru-RU" sz="3200" dirty="0"/>
              <a:t>: </a:t>
            </a:r>
            <a:r>
              <a:rPr lang="en-US" sz="3200" dirty="0"/>
              <a:t>tokenizer(sentence, </a:t>
            </a:r>
            <a:r>
              <a:rPr lang="en-US" sz="3200" dirty="0" err="1"/>
              <a:t>return_tensors</a:t>
            </a:r>
            <a:r>
              <a:rPr lang="en-US" sz="3200" dirty="0"/>
              <a:t>="</a:t>
            </a:r>
            <a:r>
              <a:rPr lang="en-US" sz="3200" dirty="0" err="1"/>
              <a:t>pt</a:t>
            </a:r>
            <a:r>
              <a:rPr lang="en-US" sz="3200" dirty="0"/>
              <a:t>"), </a:t>
            </a:r>
            <a:r>
              <a:rPr lang="en-US" sz="3200" dirty="0" err="1"/>
              <a:t>convert_ids_to_tokens</a:t>
            </a:r>
            <a:r>
              <a:rPr lang="en-US" sz="3200" dirty="0"/>
              <a:t>.</a:t>
            </a:r>
          </a:p>
          <a:p>
            <a:pPr marL="0" indent="0" fontAlgn="base"/>
            <a:r>
              <a:rPr lang="en-US" sz="3200" dirty="0"/>
              <a:t>2.	</a:t>
            </a:r>
            <a:r>
              <a:rPr lang="ru-RU" sz="3200" dirty="0"/>
              <a:t>Модель: </a:t>
            </a:r>
            <a:r>
              <a:rPr lang="en-US" sz="3200" dirty="0" err="1"/>
              <a:t>AutoModelForTokenClassification.from_pretrained</a:t>
            </a:r>
            <a:r>
              <a:rPr lang="en-US" sz="3200" dirty="0"/>
              <a:t>("</a:t>
            </a:r>
            <a:r>
              <a:rPr lang="en-US" sz="3200" dirty="0" err="1"/>
              <a:t>dslim</a:t>
            </a:r>
            <a:r>
              <a:rPr lang="en-US" sz="3200" dirty="0"/>
              <a:t>/</a:t>
            </a:r>
            <a:r>
              <a:rPr lang="en-US" sz="3200" dirty="0" err="1"/>
              <a:t>distilbert</a:t>
            </a:r>
            <a:r>
              <a:rPr lang="en-US" sz="3200" dirty="0"/>
              <a:t>-NER").</a:t>
            </a:r>
          </a:p>
          <a:p>
            <a:pPr marL="0" indent="0" fontAlgn="base"/>
            <a:r>
              <a:rPr lang="en-US" sz="3200" dirty="0"/>
              <a:t>3.	</a:t>
            </a:r>
            <a:r>
              <a:rPr lang="ru-RU" sz="3200" dirty="0" err="1"/>
              <a:t>Логиты</a:t>
            </a:r>
            <a:r>
              <a:rPr lang="ru-RU" sz="3200" dirty="0"/>
              <a:t> и вероятности:</a:t>
            </a:r>
          </a:p>
          <a:p>
            <a:pPr marL="276225" lvl="1" indent="0" fontAlgn="base"/>
            <a:r>
              <a:rPr lang="en-US" sz="3000" dirty="0" err="1" smtClean="0"/>
              <a:t>outputs.logits</a:t>
            </a:r>
            <a:r>
              <a:rPr lang="en-US" sz="3000" dirty="0" smtClean="0"/>
              <a:t> </a:t>
            </a:r>
            <a:r>
              <a:rPr lang="ru-RU" sz="3000" dirty="0"/>
              <a:t>размера (1, </a:t>
            </a:r>
            <a:r>
              <a:rPr lang="en-US" sz="3000" dirty="0" err="1"/>
              <a:t>seq_len</a:t>
            </a:r>
            <a:r>
              <a:rPr lang="en-US" sz="3000" dirty="0"/>
              <a:t>, </a:t>
            </a:r>
            <a:r>
              <a:rPr lang="en-US" sz="3000" dirty="0" err="1"/>
              <a:t>num_labels</a:t>
            </a:r>
            <a:r>
              <a:rPr lang="en-US" sz="3000" dirty="0"/>
              <a:t>),</a:t>
            </a:r>
          </a:p>
          <a:p>
            <a:pPr marL="276225" lvl="1" indent="0" fontAlgn="base"/>
            <a:r>
              <a:rPr lang="en-US" sz="3000" dirty="0" err="1" smtClean="0"/>
              <a:t>softmax</a:t>
            </a:r>
            <a:r>
              <a:rPr lang="en-US" sz="3000" dirty="0" smtClean="0"/>
              <a:t> </a:t>
            </a:r>
            <a:r>
              <a:rPr lang="ru-RU" sz="3000" dirty="0"/>
              <a:t>по </a:t>
            </a:r>
            <a:r>
              <a:rPr lang="ru-RU" sz="3000" dirty="0" smtClean="0"/>
              <a:t>последнему слою,</a:t>
            </a:r>
            <a:endParaRPr lang="ru-RU" sz="3000" dirty="0"/>
          </a:p>
          <a:p>
            <a:pPr marL="276225" lvl="1" indent="0" fontAlgn="base"/>
            <a:r>
              <a:rPr lang="en-US" sz="3000" dirty="0" err="1" smtClean="0"/>
              <a:t>argmax</a:t>
            </a:r>
            <a:r>
              <a:rPr lang="en-US" sz="3000" dirty="0" smtClean="0"/>
              <a:t> </a:t>
            </a:r>
            <a:r>
              <a:rPr lang="ru-RU" sz="3000" dirty="0"/>
              <a:t>для выбора метки на каждом </a:t>
            </a:r>
            <a:r>
              <a:rPr lang="ru-RU" sz="3000" dirty="0" err="1"/>
              <a:t>токене</a:t>
            </a:r>
            <a:r>
              <a:rPr lang="ru-RU" sz="3000" dirty="0"/>
              <a:t>.</a:t>
            </a:r>
          </a:p>
          <a:p>
            <a:pPr marL="0" indent="0" fontAlgn="base"/>
            <a:r>
              <a:rPr lang="ru-RU" sz="3200" dirty="0"/>
              <a:t>4.	Декодирование: отображение индексов меток в строки через </a:t>
            </a:r>
            <a:r>
              <a:rPr lang="en-US" sz="3200" dirty="0"/>
              <a:t>config.id2label</a:t>
            </a:r>
            <a:r>
              <a:rPr lang="en-US" sz="3200" dirty="0" smtClean="0"/>
              <a:t>.</a:t>
            </a:r>
            <a:endParaRPr lang="en-US" sz="3200" dirty="0"/>
          </a:p>
          <a:p>
            <a:pPr marL="0" indent="0" fontAlgn="base"/>
            <a:r>
              <a:rPr lang="ru-RU" sz="3200" dirty="0" smtClean="0"/>
              <a:t>Обратим внимание:</a:t>
            </a:r>
          </a:p>
          <a:p>
            <a:pPr marL="0" indent="0" fontAlgn="base"/>
            <a:r>
              <a:rPr lang="ru-RU" sz="3200" dirty="0" smtClean="0"/>
              <a:t>•</a:t>
            </a:r>
            <a:r>
              <a:rPr lang="ru-RU" sz="3200" dirty="0"/>
              <a:t>	</a:t>
            </a:r>
            <a:r>
              <a:rPr lang="ru-RU" sz="3200" dirty="0" smtClean="0"/>
              <a:t>в токенах - почти </a:t>
            </a:r>
            <a:r>
              <a:rPr lang="ru-RU" sz="3200" dirty="0"/>
              <a:t>всегда модель уверенно предсказывает </a:t>
            </a:r>
            <a:r>
              <a:rPr lang="en-US" sz="3200" dirty="0"/>
              <a:t>O </a:t>
            </a:r>
            <a:r>
              <a:rPr lang="ru-RU" sz="3200" dirty="0"/>
              <a:t>для фоновых слов и высокие </a:t>
            </a:r>
            <a:r>
              <a:rPr lang="en-US" sz="3200" dirty="0"/>
              <a:t>score </a:t>
            </a:r>
            <a:r>
              <a:rPr lang="ru-RU" sz="3200" dirty="0"/>
              <a:t>для сущностей.</a:t>
            </a:r>
          </a:p>
          <a:p>
            <a:pPr marL="0" indent="0" fontAlgn="base"/>
            <a:r>
              <a:rPr lang="ru-RU" sz="3200" dirty="0"/>
              <a:t>•	</a:t>
            </a:r>
            <a:r>
              <a:rPr lang="en-US" sz="3200" dirty="0" smtClean="0"/>
              <a:t>token‑level </a:t>
            </a:r>
            <a:r>
              <a:rPr lang="ru-RU" sz="3200" dirty="0" smtClean="0"/>
              <a:t>связан </a:t>
            </a:r>
            <a:r>
              <a:rPr lang="ru-RU" sz="3200" dirty="0"/>
              <a:t>с </a:t>
            </a:r>
            <a:r>
              <a:rPr lang="en-US" sz="3200" dirty="0"/>
              <a:t>entity‑level </a:t>
            </a:r>
            <a:r>
              <a:rPr lang="en-US" sz="3200" dirty="0" smtClean="0"/>
              <a:t>(</a:t>
            </a:r>
            <a:r>
              <a:rPr lang="ru-RU" sz="3200" dirty="0" smtClean="0"/>
              <a:t>из </a:t>
            </a:r>
            <a:r>
              <a:rPr lang="ru-RU" sz="3200" dirty="0"/>
              <a:t>меток последовательности формируются целые сущности).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09631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en-US" sz="3600" spc="0" dirty="0"/>
              <a:t>Fine‑tuning </a:t>
            </a:r>
            <a:r>
              <a:rPr lang="ru-RU" sz="3600" spc="0" dirty="0"/>
              <a:t>на </a:t>
            </a:r>
            <a:r>
              <a:rPr lang="ru-RU" sz="3600" spc="0" dirty="0" smtClean="0"/>
              <a:t>мини</a:t>
            </a:r>
            <a:r>
              <a:rPr lang="en-US" sz="3600" spc="0" dirty="0" smtClean="0"/>
              <a:t>‑</a:t>
            </a:r>
            <a:r>
              <a:rPr lang="ru-RU" sz="3600" spc="0" dirty="0"/>
              <a:t>датасете: </a:t>
            </a:r>
            <a:r>
              <a:rPr lang="en-US" sz="3600" spc="0" dirty="0"/>
              <a:t>BERT‑tiny</a:t>
            </a:r>
            <a:endParaRPr lang="ru-RU" sz="28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1984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19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В ЧАСТИ 3 </a:t>
            </a:r>
            <a:r>
              <a:rPr lang="ru-RU" sz="3200" dirty="0" smtClean="0"/>
              <a:t>работаем </a:t>
            </a:r>
            <a:r>
              <a:rPr lang="ru-RU" sz="3200" dirty="0"/>
              <a:t>с маленьким искусственным датасетом:</a:t>
            </a:r>
          </a:p>
          <a:p>
            <a:pPr marL="0" indent="0" fontAlgn="base"/>
            <a:r>
              <a:rPr lang="ru-RU" sz="3200" dirty="0"/>
              <a:t>•	8 предложений в </a:t>
            </a:r>
            <a:r>
              <a:rPr lang="ru-RU" sz="3200" dirty="0" err="1"/>
              <a:t>train</a:t>
            </a:r>
            <a:r>
              <a:rPr lang="ru-RU" sz="3200" dirty="0"/>
              <a:t>, 2 в </a:t>
            </a:r>
            <a:r>
              <a:rPr lang="ru-RU" sz="3200" dirty="0" err="1"/>
              <a:t>validation</a:t>
            </a:r>
            <a:r>
              <a:rPr lang="ru-RU" sz="3200" dirty="0"/>
              <a:t>.</a:t>
            </a:r>
          </a:p>
          <a:p>
            <a:pPr marL="0" indent="0" fontAlgn="base"/>
            <a:r>
              <a:rPr lang="ru-RU" sz="3200" dirty="0"/>
              <a:t>•	Сущности: имена людей, организации, города.</a:t>
            </a:r>
          </a:p>
          <a:p>
            <a:pPr marL="0" indent="0" fontAlgn="base"/>
            <a:r>
              <a:rPr lang="ru-RU" sz="3200" dirty="0"/>
              <a:t>•	Разметка: O </a:t>
            </a:r>
            <a:r>
              <a:rPr lang="ru-RU" sz="3200" dirty="0" err="1"/>
              <a:t>vs</a:t>
            </a:r>
            <a:r>
              <a:rPr lang="ru-RU" sz="3200" dirty="0"/>
              <a:t> ENT (любая сущность</a:t>
            </a:r>
            <a:r>
              <a:rPr lang="ru-RU" sz="3200" dirty="0" smtClean="0"/>
              <a:t>).</a:t>
            </a:r>
            <a:endParaRPr lang="ru-RU" sz="3200" dirty="0"/>
          </a:p>
          <a:p>
            <a:pPr marL="0" indent="0" fontAlgn="base"/>
            <a:r>
              <a:rPr lang="ru-RU" sz="3200" dirty="0"/>
              <a:t>Цель:</a:t>
            </a:r>
          </a:p>
          <a:p>
            <a:pPr marL="0" indent="0" fontAlgn="base"/>
            <a:r>
              <a:rPr lang="ru-RU" sz="3200" dirty="0"/>
              <a:t>•	</a:t>
            </a:r>
            <a:r>
              <a:rPr lang="ru-RU" sz="3200" dirty="0" smtClean="0"/>
              <a:t>Увидим </a:t>
            </a:r>
            <a:r>
              <a:rPr lang="ru-RU" sz="3200" dirty="0"/>
              <a:t>полный путь: от списка слов и меток → </a:t>
            </a:r>
            <a:r>
              <a:rPr lang="ru-RU" sz="3200" dirty="0" err="1"/>
              <a:t>Dataset</a:t>
            </a:r>
            <a:r>
              <a:rPr lang="ru-RU" sz="3200" dirty="0"/>
              <a:t> → </a:t>
            </a:r>
            <a:r>
              <a:rPr lang="ru-RU" sz="3200" dirty="0" err="1"/>
              <a:t>токенизация</a:t>
            </a:r>
            <a:r>
              <a:rPr lang="ru-RU" sz="3200" dirty="0"/>
              <a:t> и выравнивание → обучение → оценка F1.</a:t>
            </a:r>
          </a:p>
          <a:p>
            <a:pPr marL="0" indent="0" fontAlgn="base"/>
            <a:r>
              <a:rPr lang="ru-RU" sz="3200" dirty="0"/>
              <a:t>•	</a:t>
            </a:r>
            <a:r>
              <a:rPr lang="ru-RU" sz="3200" dirty="0" smtClean="0"/>
              <a:t>Убеждаемся </a:t>
            </a:r>
            <a:r>
              <a:rPr lang="ru-RU" sz="3200" dirty="0"/>
              <a:t>что даже маленькая модель (prajjwal1/</a:t>
            </a:r>
            <a:r>
              <a:rPr lang="ru-RU" sz="3200" dirty="0" err="1"/>
              <a:t>bert-tiny</a:t>
            </a:r>
            <a:r>
              <a:rPr lang="ru-RU" sz="3200" dirty="0"/>
              <a:t>) начинает выделять сущности с заметной </a:t>
            </a:r>
            <a:r>
              <a:rPr lang="ru-RU" sz="3200" dirty="0" smtClean="0"/>
              <a:t>точностью.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60058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Модель </a:t>
            </a:r>
            <a:r>
              <a:rPr lang="en-US" b="1" dirty="0"/>
              <a:t>BERT‑tiny </a:t>
            </a:r>
            <a:r>
              <a:rPr lang="ru-RU" b="1" dirty="0"/>
              <a:t>и ручной </a:t>
            </a:r>
            <a:r>
              <a:rPr lang="en-US" b="1" dirty="0"/>
              <a:t>training </a:t>
            </a:r>
            <a:r>
              <a:rPr lang="en-US" b="1" dirty="0" smtClean="0"/>
              <a:t>loop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20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85000" lnSpcReduction="10000"/>
          </a:bodyPr>
          <a:lstStyle/>
          <a:p>
            <a:pPr marL="0" indent="0" fontAlgn="base"/>
            <a:r>
              <a:rPr lang="ru-RU" sz="3200" dirty="0" smtClean="0"/>
              <a:t>Вместо </a:t>
            </a:r>
            <a:r>
              <a:rPr lang="en-US" sz="3200" dirty="0"/>
              <a:t>Trainer </a:t>
            </a:r>
            <a:r>
              <a:rPr lang="ru-RU" sz="3200" dirty="0"/>
              <a:t>используется явный ручной </a:t>
            </a:r>
            <a:r>
              <a:rPr lang="en-US" sz="3200" dirty="0"/>
              <a:t>training loop:</a:t>
            </a:r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Модель: </a:t>
            </a:r>
            <a:r>
              <a:rPr lang="en-US" sz="3200" dirty="0" err="1"/>
              <a:t>BertForTokenClassification</a:t>
            </a:r>
            <a:r>
              <a:rPr lang="en-US" sz="3200" dirty="0"/>
              <a:t> </a:t>
            </a:r>
            <a:r>
              <a:rPr lang="ru-RU" sz="3200" dirty="0"/>
              <a:t>с </a:t>
            </a:r>
            <a:r>
              <a:rPr lang="ru-RU" sz="3200" dirty="0" err="1"/>
              <a:t>конфигом</a:t>
            </a:r>
            <a:r>
              <a:rPr lang="ru-RU" sz="3200" dirty="0"/>
              <a:t> от </a:t>
            </a:r>
            <a:r>
              <a:rPr lang="en-US" sz="3200" dirty="0"/>
              <a:t>prajjwal1/</a:t>
            </a:r>
            <a:r>
              <a:rPr lang="en-US" sz="3200" dirty="0" err="1"/>
              <a:t>bert</a:t>
            </a:r>
            <a:r>
              <a:rPr lang="en-US" sz="3200" dirty="0"/>
              <a:t>-tiny </a:t>
            </a:r>
            <a:r>
              <a:rPr lang="ru-RU" sz="3200" dirty="0"/>
              <a:t>и числом классов = 2 (</a:t>
            </a:r>
            <a:r>
              <a:rPr lang="en-US" sz="3200" dirty="0"/>
              <a:t>O/ENT).</a:t>
            </a:r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Оптимизатор: </a:t>
            </a:r>
            <a:r>
              <a:rPr lang="en-US" sz="3200" dirty="0" err="1"/>
              <a:t>AdamW</a:t>
            </a:r>
            <a:r>
              <a:rPr lang="en-US" sz="3200" dirty="0"/>
              <a:t>, </a:t>
            </a:r>
            <a:r>
              <a:rPr lang="ru-RU" sz="3200" dirty="0"/>
              <a:t>шаг обучения в районе 5</a:t>
            </a:r>
            <a:r>
              <a:rPr lang="en-US" sz="3200" dirty="0"/>
              <a:t>e-5.</a:t>
            </a:r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Цикл:</a:t>
            </a:r>
          </a:p>
          <a:p>
            <a:pPr marL="0" indent="0" fontAlgn="base"/>
            <a:r>
              <a:rPr lang="en-US" sz="3200" dirty="0"/>
              <a:t>a.	for epoch in range(</a:t>
            </a:r>
            <a:r>
              <a:rPr lang="en-US" sz="3200" dirty="0" err="1"/>
              <a:t>num_epochs</a:t>
            </a:r>
            <a:r>
              <a:rPr lang="en-US" sz="3200" dirty="0"/>
              <a:t>):</a:t>
            </a:r>
          </a:p>
          <a:p>
            <a:pPr marL="0" indent="0" fontAlgn="base"/>
            <a:r>
              <a:rPr lang="en-US" sz="3200" dirty="0"/>
              <a:t>b.	</a:t>
            </a:r>
            <a:r>
              <a:rPr lang="ru-RU" sz="3200" dirty="0"/>
              <a:t>На каждой эпохе: проход по </a:t>
            </a:r>
            <a:r>
              <a:rPr lang="en-US" sz="3200" dirty="0" err="1"/>
              <a:t>DataLoader</a:t>
            </a:r>
            <a:r>
              <a:rPr lang="en-US" sz="3200" dirty="0"/>
              <a:t>, </a:t>
            </a:r>
            <a:r>
              <a:rPr lang="ru-RU" sz="3200" dirty="0"/>
              <a:t>вычисление </a:t>
            </a:r>
            <a:r>
              <a:rPr lang="en-US" sz="3200" dirty="0"/>
              <a:t>loss, backward(), </a:t>
            </a:r>
            <a:r>
              <a:rPr lang="en-US" sz="3200" dirty="0" err="1"/>
              <a:t>optimizer.step</a:t>
            </a:r>
            <a:r>
              <a:rPr lang="en-US" sz="3200" dirty="0"/>
              <a:t>().</a:t>
            </a:r>
          </a:p>
          <a:p>
            <a:pPr marL="0" indent="0" fontAlgn="base"/>
            <a:r>
              <a:rPr lang="en-US" sz="3200" dirty="0"/>
              <a:t>c.	</a:t>
            </a:r>
            <a:r>
              <a:rPr lang="ru-RU" sz="3200" dirty="0"/>
              <a:t>После эпохи — оценка через </a:t>
            </a:r>
            <a:r>
              <a:rPr lang="en-US" sz="3200" dirty="0" err="1"/>
              <a:t>seqeval</a:t>
            </a:r>
            <a:r>
              <a:rPr lang="en-US" sz="3200" dirty="0"/>
              <a:t> (F1, precision, recall) </a:t>
            </a:r>
            <a:r>
              <a:rPr lang="ru-RU" sz="3200" dirty="0"/>
              <a:t>на валидации.</a:t>
            </a:r>
          </a:p>
          <a:p>
            <a:pPr marL="0" indent="0" fontAlgn="base"/>
            <a:r>
              <a:rPr lang="ru-RU" sz="3200" dirty="0"/>
              <a:t>Это позволяет:</a:t>
            </a:r>
          </a:p>
          <a:p>
            <a:pPr marL="0" indent="0" fontAlgn="base"/>
            <a:r>
              <a:rPr lang="ru-RU" sz="3200" dirty="0"/>
              <a:t>•	не зависеть от </a:t>
            </a:r>
            <a:r>
              <a:rPr lang="en-US" sz="3200" dirty="0"/>
              <a:t>Trainer </a:t>
            </a:r>
            <a:r>
              <a:rPr lang="ru-RU" sz="3200" dirty="0"/>
              <a:t>и </a:t>
            </a:r>
            <a:r>
              <a:rPr lang="en-US" sz="3200" dirty="0" smtClean="0"/>
              <a:t>accelerate</a:t>
            </a:r>
            <a:r>
              <a:rPr lang="ru-RU" sz="3200" dirty="0" smtClean="0"/>
              <a:t> - они ужасны!</a:t>
            </a:r>
            <a:endParaRPr lang="en-US" sz="3200" dirty="0"/>
          </a:p>
          <a:p>
            <a:pPr marL="0" indent="0" fontAlgn="base"/>
            <a:r>
              <a:rPr lang="en-US" sz="3200" dirty="0"/>
              <a:t>•	</a:t>
            </a:r>
            <a:r>
              <a:rPr lang="ru-RU" sz="3200" dirty="0"/>
              <a:t>сделать логику обучения полностью </a:t>
            </a:r>
            <a:r>
              <a:rPr lang="ru-RU" sz="3200" dirty="0" smtClean="0"/>
              <a:t>прозрачной.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56176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en-US" sz="3600" spc="0" dirty="0" err="1"/>
              <a:t>DistilBERT</a:t>
            </a:r>
            <a:r>
              <a:rPr lang="en-US" sz="3600" spc="0" dirty="0"/>
              <a:t> NER </a:t>
            </a:r>
            <a:r>
              <a:rPr lang="en-US" sz="3600" spc="0" dirty="0" err="1"/>
              <a:t>как</a:t>
            </a:r>
            <a:r>
              <a:rPr lang="en-US" sz="3600" spc="0" dirty="0"/>
              <a:t> feature extractor</a:t>
            </a:r>
            <a:endParaRPr lang="ru-RU" sz="28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1697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22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85000" lnSpcReduction="20000"/>
          </a:bodyPr>
          <a:lstStyle/>
          <a:p>
            <a:pPr marL="0" indent="0" fontAlgn="base"/>
            <a:r>
              <a:rPr lang="ru-RU" sz="3200" dirty="0"/>
              <a:t>В ЧАСТИ 4 демонстрируется важный практический </a:t>
            </a:r>
            <a:r>
              <a:rPr lang="ru-RU" sz="3200" dirty="0" smtClean="0"/>
              <a:t>прием</a:t>
            </a:r>
            <a:r>
              <a:rPr lang="ru-RU" sz="3200" dirty="0"/>
              <a:t>: использование предобученной большой модели как </a:t>
            </a:r>
            <a:r>
              <a:rPr lang="ru-RU" sz="3200" dirty="0" err="1"/>
              <a:t>feature</a:t>
            </a:r>
            <a:r>
              <a:rPr lang="ru-RU" sz="3200" dirty="0"/>
              <a:t> </a:t>
            </a:r>
            <a:r>
              <a:rPr lang="ru-RU" sz="3200" dirty="0" err="1"/>
              <a:t>extractor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r>
              <a:rPr lang="ru-RU" sz="3200" dirty="0"/>
              <a:t>•	</a:t>
            </a:r>
            <a:r>
              <a:rPr lang="ru-RU" sz="3200" dirty="0" smtClean="0"/>
              <a:t>Берется </a:t>
            </a:r>
            <a:r>
              <a:rPr lang="ru-RU" sz="3200" dirty="0" err="1"/>
              <a:t>AutoModel.from_pretrained</a:t>
            </a:r>
            <a:r>
              <a:rPr lang="ru-RU" sz="3200" dirty="0"/>
              <a:t>("</a:t>
            </a:r>
            <a:r>
              <a:rPr lang="ru-RU" sz="3200" dirty="0" err="1"/>
              <a:t>dslim</a:t>
            </a:r>
            <a:r>
              <a:rPr lang="ru-RU" sz="3200" dirty="0"/>
              <a:t>/</a:t>
            </a:r>
            <a:r>
              <a:rPr lang="ru-RU" sz="3200" dirty="0" err="1"/>
              <a:t>distilbert</a:t>
            </a:r>
            <a:r>
              <a:rPr lang="ru-RU" sz="3200" dirty="0"/>
              <a:t>-NER") — </a:t>
            </a:r>
            <a:r>
              <a:rPr lang="ru-RU" sz="3200" dirty="0" err="1"/>
              <a:t>энкодер</a:t>
            </a:r>
            <a:r>
              <a:rPr lang="ru-RU" sz="3200" dirty="0"/>
              <a:t> без головы.</a:t>
            </a:r>
          </a:p>
          <a:p>
            <a:pPr marL="0" indent="0" fontAlgn="base"/>
            <a:r>
              <a:rPr lang="ru-RU" sz="3200" dirty="0"/>
              <a:t>•	Замораживаются все его параметры (</a:t>
            </a:r>
            <a:r>
              <a:rPr lang="ru-RU" sz="3200" dirty="0" err="1"/>
              <a:t>requires_grad</a:t>
            </a:r>
            <a:r>
              <a:rPr lang="ru-RU" sz="3200" dirty="0"/>
              <a:t>=</a:t>
            </a:r>
            <a:r>
              <a:rPr lang="ru-RU" sz="3200" dirty="0" err="1"/>
              <a:t>False</a:t>
            </a:r>
            <a:r>
              <a:rPr lang="ru-RU" sz="3200" dirty="0"/>
              <a:t>).</a:t>
            </a:r>
          </a:p>
          <a:p>
            <a:pPr marL="0" indent="0" fontAlgn="base"/>
            <a:r>
              <a:rPr lang="ru-RU" sz="3200" dirty="0"/>
              <a:t>•	Добавляется небольшая линейная «голова» </a:t>
            </a:r>
            <a:r>
              <a:rPr lang="ru-RU" sz="3200" dirty="0" err="1"/>
              <a:t>nn.Linear</a:t>
            </a:r>
            <a:r>
              <a:rPr lang="ru-RU" sz="3200" dirty="0"/>
              <a:t>(</a:t>
            </a:r>
            <a:r>
              <a:rPr lang="ru-RU" sz="3200" dirty="0" err="1"/>
              <a:t>hidden_size</a:t>
            </a:r>
            <a:r>
              <a:rPr lang="ru-RU" sz="3200" dirty="0"/>
              <a:t>, 2) поверх скрытых состояний (классы O/ENT).</a:t>
            </a:r>
          </a:p>
          <a:p>
            <a:pPr marL="0" indent="0" fontAlgn="base"/>
            <a:r>
              <a:rPr lang="ru-RU" sz="3200" dirty="0"/>
              <a:t>•	Обучается только эта голова на том же </a:t>
            </a:r>
            <a:r>
              <a:rPr lang="ru-RU" sz="3200" dirty="0" smtClean="0"/>
              <a:t>датасете </a:t>
            </a:r>
            <a:r>
              <a:rPr lang="ru-RU" sz="3200" dirty="0"/>
              <a:t>(метки O/ENT, те же </a:t>
            </a:r>
            <a:r>
              <a:rPr lang="ru-RU" sz="3200" dirty="0" err="1"/>
              <a:t>DataLoader’ы</a:t>
            </a:r>
            <a:r>
              <a:rPr lang="ru-RU" sz="3200" dirty="0"/>
              <a:t> и </a:t>
            </a:r>
            <a:r>
              <a:rPr lang="ru-RU" sz="3200" dirty="0" err="1"/>
              <a:t>seqeval</a:t>
            </a:r>
            <a:r>
              <a:rPr lang="ru-RU" sz="3200" dirty="0"/>
              <a:t>‑метрики).</a:t>
            </a:r>
          </a:p>
          <a:p>
            <a:pPr marL="0" indent="0" fontAlgn="base"/>
            <a:r>
              <a:rPr lang="ru-RU" sz="3200" dirty="0"/>
              <a:t>Результаты:</a:t>
            </a:r>
          </a:p>
          <a:p>
            <a:pPr marL="0" indent="0" fontAlgn="base"/>
            <a:r>
              <a:rPr lang="ru-RU" sz="3200" dirty="0"/>
              <a:t>•	</a:t>
            </a:r>
            <a:r>
              <a:rPr lang="ru-RU" sz="3200" dirty="0" err="1"/>
              <a:t>DistilBERT</a:t>
            </a:r>
            <a:r>
              <a:rPr lang="ru-RU" sz="3200" dirty="0"/>
              <a:t> + голова достигает F1 ≈ 1.0 на </a:t>
            </a:r>
            <a:r>
              <a:rPr lang="ru-RU" sz="3200" dirty="0" smtClean="0"/>
              <a:t>датасете </a:t>
            </a:r>
            <a:r>
              <a:rPr lang="ru-RU" sz="3200" dirty="0"/>
              <a:t>уже через несколько эпох.</a:t>
            </a:r>
          </a:p>
          <a:p>
            <a:pPr marL="0" indent="0" fontAlgn="base"/>
            <a:r>
              <a:rPr lang="ru-RU" sz="3200" dirty="0"/>
              <a:t>•	Скорость </a:t>
            </a:r>
            <a:r>
              <a:rPr lang="ru-RU" sz="3200" dirty="0" err="1"/>
              <a:t>inference</a:t>
            </a:r>
            <a:r>
              <a:rPr lang="ru-RU" sz="3200" dirty="0"/>
              <a:t> </a:t>
            </a:r>
            <a:r>
              <a:rPr lang="ru-RU" sz="3200" dirty="0" smtClean="0"/>
              <a:t>ниже, </a:t>
            </a:r>
            <a:r>
              <a:rPr lang="ru-RU" sz="3200" dirty="0"/>
              <a:t>чем у BERT‑</a:t>
            </a:r>
            <a:r>
              <a:rPr lang="ru-RU" sz="3200" dirty="0" err="1"/>
              <a:t>tiny</a:t>
            </a:r>
            <a:r>
              <a:rPr lang="ru-RU" sz="3200" dirty="0"/>
              <a:t>, но качество существенно лучше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29284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ru-RU" sz="3600" spc="0" dirty="0" smtClean="0"/>
              <a:t>Основные выводы</a:t>
            </a:r>
            <a:endParaRPr lang="ru-RU" sz="28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410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24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20000"/>
          </a:bodyPr>
          <a:lstStyle/>
          <a:p>
            <a:pPr marL="0" indent="0" fontAlgn="base"/>
            <a:r>
              <a:rPr lang="ru-RU" sz="3200" dirty="0"/>
              <a:t>1.	Модели NER различаются по размеру, скорости и качеству.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ru-RU" sz="3200" dirty="0" smtClean="0"/>
              <a:t>Маленькие </a:t>
            </a:r>
            <a:r>
              <a:rPr lang="ru-RU" sz="3200" dirty="0"/>
              <a:t>модели (BERT‑</a:t>
            </a:r>
            <a:r>
              <a:rPr lang="ru-RU" sz="3200" dirty="0" err="1"/>
              <a:t>tiny</a:t>
            </a:r>
            <a:r>
              <a:rPr lang="ru-RU" sz="3200" dirty="0"/>
              <a:t>) удобны для экспериментов и ограниченных ресурсов.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ru-RU" sz="3200" dirty="0" smtClean="0"/>
              <a:t>Большие </a:t>
            </a:r>
            <a:r>
              <a:rPr lang="ru-RU" sz="3200" dirty="0" err="1"/>
              <a:t>предобученные</a:t>
            </a:r>
            <a:r>
              <a:rPr lang="ru-RU" sz="3200" dirty="0"/>
              <a:t> модели (</a:t>
            </a:r>
            <a:r>
              <a:rPr lang="ru-RU" sz="3200" dirty="0" err="1"/>
              <a:t>DistilBERT</a:t>
            </a:r>
            <a:r>
              <a:rPr lang="ru-RU" sz="3200" dirty="0"/>
              <a:t> NER) дают лучшее качество при умеренном росте задержки</a:t>
            </a:r>
            <a:r>
              <a:rPr lang="ru-RU" sz="3200" dirty="0" smtClean="0"/>
              <a:t>.</a:t>
            </a:r>
            <a:endParaRPr lang="ru-RU" sz="3200" dirty="0"/>
          </a:p>
          <a:p>
            <a:pPr marL="0" indent="0" fontAlgn="base"/>
            <a:r>
              <a:rPr lang="ru-RU" sz="3200" dirty="0"/>
              <a:t>2.	Качество сильно зависит от данных и схемы разметки.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ru-RU" sz="3200" dirty="0" smtClean="0"/>
              <a:t>BIO‑схема </a:t>
            </a:r>
            <a:r>
              <a:rPr lang="ru-RU" sz="3200" dirty="0"/>
              <a:t>нужна для точного </a:t>
            </a:r>
            <a:r>
              <a:rPr lang="ru-RU" sz="3200" dirty="0" err="1"/>
              <a:t>продакшена</a:t>
            </a:r>
            <a:r>
              <a:rPr lang="ru-RU" sz="3200" dirty="0"/>
              <a:t>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ru-RU" sz="3200" dirty="0" smtClean="0"/>
              <a:t>Упрощенная </a:t>
            </a:r>
            <a:r>
              <a:rPr lang="ru-RU" sz="3200" dirty="0"/>
              <a:t>O/ENT — удобна для демонстраций и быстрого прототипирования.</a:t>
            </a:r>
          </a:p>
          <a:p>
            <a:pPr marL="0" indent="0" fontAlgn="base"/>
            <a:r>
              <a:rPr lang="ru-RU" sz="3200" dirty="0"/>
              <a:t>3.	Технические аспекты (</a:t>
            </a:r>
            <a:r>
              <a:rPr lang="ru-RU" sz="3200" dirty="0" err="1"/>
              <a:t>токенизация</a:t>
            </a:r>
            <a:r>
              <a:rPr lang="ru-RU" sz="3200" dirty="0"/>
              <a:t>, выравнивание меток, маскирование </a:t>
            </a:r>
            <a:r>
              <a:rPr lang="ru-RU" sz="3200" dirty="0" err="1"/>
              <a:t>паддинга</a:t>
            </a:r>
            <a:r>
              <a:rPr lang="ru-RU" sz="3200" dirty="0"/>
              <a:t>) — не менее важны, чем выбор архитектуры.</a:t>
            </a:r>
          </a:p>
          <a:p>
            <a:pPr marL="0" indent="0" fontAlgn="base"/>
            <a:r>
              <a:rPr lang="ru-RU" sz="3200" dirty="0"/>
              <a:t>Ошибки в этих шагах приводят к «нулевым» метрикам или непредсказуемому поведению модели.</a:t>
            </a:r>
          </a:p>
          <a:p>
            <a:pPr marL="0" indent="0" fontAlgn="base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35241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Надпись 37" descr="Акцент для блока заголовка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5" name="Равнобедренный треугольник 34" descr="Тень для блока заголовка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2" name="Полилиния 5" descr="Сплошной контрастный блок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3" name="Полилиния 5" descr="Пустой контрастный блок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8" name="Графический объект 7" descr="Пользователь" title="Значок — имя докладчика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sz="1800" dirty="0"/>
              <a:t>Сергей Ткаченко</a:t>
            </a:r>
          </a:p>
        </p:txBody>
      </p:sp>
      <p:pic>
        <p:nvPicPr>
          <p:cNvPr id="9" name="Графический объект 8" descr="Конверт" title="Значок — адрес электронной почты докладчика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678512" y="4253359"/>
            <a:ext cx="218900" cy="2189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4849" y="4246905"/>
            <a:ext cx="3521514" cy="288000"/>
          </a:xfrm>
        </p:spPr>
        <p:txBody>
          <a:bodyPr rtlCol="0"/>
          <a:lstStyle/>
          <a:p>
            <a:pPr rtl="0"/>
            <a:r>
              <a:rPr lang="en-US" sz="1800" dirty="0" err="1"/>
              <a:t>SNTkachenko</a:t>
            </a:r>
            <a:r>
              <a:rPr lang="ru-RU" sz="1800" dirty="0"/>
              <a:t>@</a:t>
            </a:r>
            <a:r>
              <a:rPr lang="en-US" sz="1800" dirty="0" err="1"/>
              <a:t>kantiana</a:t>
            </a:r>
            <a:r>
              <a:rPr lang="ru-RU" sz="1800" dirty="0"/>
              <a:t>.</a:t>
            </a:r>
            <a:r>
              <a:rPr lang="en-US" sz="1800" dirty="0" err="1"/>
              <a:t>ru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552_TF16411253.potx" id="{484AC4F0-DFB1-44B1-A48A-4A4E5B9BAE55}" vid="{642D7752-446B-4E16-8C1E-EACC99EB30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8A50AA-654B-45CA-B6AD-FDA9E9535EF9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b0879af-3eba-417a-a55a-ffe6dcd6ca77"/>
    <ds:schemaRef ds:uri="6dc4bcd6-49db-4c07-9060-8acfc67cef9f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0</TotalTime>
  <Words>1409</Words>
  <Application>Microsoft Office PowerPoint</Application>
  <PresentationFormat>Широкоэкранный</PresentationFormat>
  <Paragraphs>154</Paragraphs>
  <Slides>25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Times New Roman</vt:lpstr>
      <vt:lpstr>Тема Office</vt:lpstr>
      <vt:lpstr>NER</vt:lpstr>
      <vt:lpstr>Классификация последовательности</vt:lpstr>
      <vt:lpstr>Что такое именованные сущности и NER</vt:lpstr>
      <vt:lpstr>Задача NER </vt:lpstr>
      <vt:lpstr>Практические применения </vt:lpstr>
      <vt:lpstr>Практические применения </vt:lpstr>
      <vt:lpstr>Разметка</vt:lpstr>
      <vt:lpstr>BIO‑разметка</vt:lpstr>
      <vt:lpstr>Упрощенная схема O vs ENT (в практике)</vt:lpstr>
      <vt:lpstr>Упрощенная схема O vs ENT (в практике)</vt:lpstr>
      <vt:lpstr>Токенизация и выравнивание меток</vt:lpstr>
      <vt:lpstr>Презентация PowerPoint</vt:lpstr>
      <vt:lpstr>Презентация PowerPoint</vt:lpstr>
      <vt:lpstr>Презентация PowerPoint</vt:lpstr>
      <vt:lpstr>NER на трансформерах</vt:lpstr>
      <vt:lpstr>Готовый pipeline (Часть 1)</vt:lpstr>
      <vt:lpstr>Ручной inference (Часть 2)</vt:lpstr>
      <vt:lpstr>Fine‑tuning на мини‑датасете: BERT‑tiny</vt:lpstr>
      <vt:lpstr>Презентация PowerPoint</vt:lpstr>
      <vt:lpstr>Модель BERT‑tiny и ручной training loop</vt:lpstr>
      <vt:lpstr>DistilBERT NER как feature extractor</vt:lpstr>
      <vt:lpstr>Презентация PowerPoint</vt:lpstr>
      <vt:lpstr>Основные выводы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2025-08-26T15:19:12Z</dcterms:created>
  <dcterms:modified xsi:type="dcterms:W3CDTF">2026-03-31T12:52:06Z</dcterms:modified>
</cp:coreProperties>
</file>