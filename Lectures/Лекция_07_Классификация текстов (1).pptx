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57"/>
  </p:notesMasterIdLst>
  <p:handoutMasterIdLst>
    <p:handoutMasterId r:id="rId58"/>
  </p:handoutMasterIdLst>
  <p:sldIdLst>
    <p:sldId id="282" r:id="rId4"/>
    <p:sldId id="299" r:id="rId5"/>
    <p:sldId id="399" r:id="rId6"/>
    <p:sldId id="400" r:id="rId7"/>
    <p:sldId id="333" r:id="rId8"/>
    <p:sldId id="425" r:id="rId9"/>
    <p:sldId id="367" r:id="rId10"/>
    <p:sldId id="401" r:id="rId11"/>
    <p:sldId id="421" r:id="rId12"/>
    <p:sldId id="303" r:id="rId13"/>
    <p:sldId id="422" r:id="rId14"/>
    <p:sldId id="423" r:id="rId15"/>
    <p:sldId id="364" r:id="rId16"/>
    <p:sldId id="363" r:id="rId17"/>
    <p:sldId id="365" r:id="rId18"/>
    <p:sldId id="366" r:id="rId19"/>
    <p:sldId id="368" r:id="rId20"/>
    <p:sldId id="369" r:id="rId21"/>
    <p:sldId id="424" r:id="rId22"/>
    <p:sldId id="370" r:id="rId23"/>
    <p:sldId id="373" r:id="rId24"/>
    <p:sldId id="376" r:id="rId25"/>
    <p:sldId id="426" r:id="rId26"/>
    <p:sldId id="378" r:id="rId27"/>
    <p:sldId id="379" r:id="rId28"/>
    <p:sldId id="380" r:id="rId29"/>
    <p:sldId id="427" r:id="rId30"/>
    <p:sldId id="377" r:id="rId31"/>
    <p:sldId id="385" r:id="rId32"/>
    <p:sldId id="386" r:id="rId33"/>
    <p:sldId id="428" r:id="rId34"/>
    <p:sldId id="429" r:id="rId35"/>
    <p:sldId id="388" r:id="rId36"/>
    <p:sldId id="387" r:id="rId37"/>
    <p:sldId id="430" r:id="rId38"/>
    <p:sldId id="391" r:id="rId39"/>
    <p:sldId id="390" r:id="rId40"/>
    <p:sldId id="431" r:id="rId41"/>
    <p:sldId id="402" r:id="rId42"/>
    <p:sldId id="432" r:id="rId43"/>
    <p:sldId id="433" r:id="rId44"/>
    <p:sldId id="434" r:id="rId45"/>
    <p:sldId id="398" r:id="rId46"/>
    <p:sldId id="404" r:id="rId47"/>
    <p:sldId id="435" r:id="rId48"/>
    <p:sldId id="436" r:id="rId49"/>
    <p:sldId id="403" r:id="rId50"/>
    <p:sldId id="406" r:id="rId51"/>
    <p:sldId id="329" r:id="rId52"/>
    <p:sldId id="407" r:id="rId53"/>
    <p:sldId id="418" r:id="rId54"/>
    <p:sldId id="419" r:id="rId55"/>
    <p:sldId id="296" r:id="rId56"/>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E25E649-3F16-4E02-A733-19D2CDBF48F0}">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31" autoAdjust="0"/>
  </p:normalViewPr>
  <p:slideViewPr>
    <p:cSldViewPr snapToGrid="0">
      <p:cViewPr varScale="1">
        <p:scale>
          <a:sx n="111" d="100"/>
          <a:sy n="111" d="100"/>
        </p:scale>
        <p:origin x="456" y="11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8"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8DD750-E9C8-498E-B02F-A465CB2BB798}" type="datetime1">
              <a:rPr lang="ru-RU" smtClean="0"/>
              <a:t>09.02.2026</a:t>
            </a:fld>
            <a:endParaRPr lang="ru-RU" dirty="0"/>
          </a:p>
        </p:txBody>
      </p:sp>
      <p:sp>
        <p:nvSpPr>
          <p:cNvPr id="4" name="Нижний колонтитул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ru-RU" smtClean="0"/>
              <a:t>‹#›</a:t>
            </a:fld>
            <a:endParaRPr lang="ru-RU"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C6E7-B645-4B70-AC63-7A575D94CEB1}" type="datetime1">
              <a:rPr lang="ru-RU" smtClean="0"/>
              <a:pPr/>
              <a:t>09.02.2026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ru-RU" noProof="0" smtClean="0"/>
              <a:t>‹#›</a:t>
            </a:fld>
            <a:endParaRPr lang="ru-RU"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1</a:t>
            </a:fld>
            <a:endParaRPr lang="ru-RU" dirty="0"/>
          </a:p>
        </p:txBody>
      </p:sp>
    </p:spTree>
    <p:extLst>
      <p:ext uri="{BB962C8B-B14F-4D97-AF65-F5344CB8AC3E}">
        <p14:creationId xmlns:p14="http://schemas.microsoft.com/office/powerpoint/2010/main" val="1383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7</a:t>
            </a:fld>
            <a:endParaRPr lang="ru-RU" dirty="0"/>
          </a:p>
        </p:txBody>
      </p:sp>
    </p:spTree>
    <p:extLst>
      <p:ext uri="{BB962C8B-B14F-4D97-AF65-F5344CB8AC3E}">
        <p14:creationId xmlns:p14="http://schemas.microsoft.com/office/powerpoint/2010/main" val="1478017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53</a:t>
            </a:fld>
            <a:endParaRPr lang="ru-RU" dirty="0"/>
          </a:p>
        </p:txBody>
      </p:sp>
    </p:spTree>
    <p:extLst>
      <p:ext uri="{BB962C8B-B14F-4D97-AF65-F5344CB8AC3E}">
        <p14:creationId xmlns:p14="http://schemas.microsoft.com/office/powerpoint/2010/main" val="285592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5" name="Подзаголовок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6" name="Номер слайда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7" name="Нижний колонтитул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rtl="0"/>
            <a:r>
              <a:rPr lang="ru-RU" noProof="0" dirty="0"/>
              <a:t>Добавить нижний колонтитул</a:t>
            </a:r>
          </a:p>
        </p:txBody>
      </p:sp>
    </p:spTree>
    <p:extLst>
      <p:ext uri="{BB962C8B-B14F-4D97-AF65-F5344CB8AC3E}">
        <p14:creationId xmlns:p14="http://schemas.microsoft.com/office/powerpoint/2010/main" val="15058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слайд">
    <p:spTree>
      <p:nvGrpSpPr>
        <p:cNvPr id="1" name=""/>
        <p:cNvGrpSpPr/>
        <p:nvPr/>
      </p:nvGrpSpPr>
      <p:grpSpPr>
        <a:xfrm>
          <a:off x="0" y="0"/>
          <a:ext cx="0" cy="0"/>
          <a:chOff x="0" y="0"/>
          <a:chExt cx="0" cy="0"/>
        </a:xfrm>
      </p:grpSpPr>
      <p:sp>
        <p:nvSpPr>
          <p:cNvPr id="21" name="Рисунок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название презентации</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54517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2">
    <p:spTree>
      <p:nvGrpSpPr>
        <p:cNvPr id="1" name=""/>
        <p:cNvGrpSpPr/>
        <p:nvPr/>
      </p:nvGrpSpPr>
      <p:grpSpPr>
        <a:xfrm>
          <a:off x="0" y="0"/>
          <a:ext cx="0" cy="0"/>
          <a:chOff x="0" y="0"/>
          <a:chExt cx="0" cy="0"/>
        </a:xfrm>
      </p:grpSpPr>
      <p:sp>
        <p:nvSpPr>
          <p:cNvPr id="12" name="Рисунок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rtlCol="0">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62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41629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3">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8" name="Рисунок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9" name="Рисунок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Tree>
    <p:extLst>
      <p:ext uri="{BB962C8B-B14F-4D97-AF65-F5344CB8AC3E}">
        <p14:creationId xmlns:p14="http://schemas.microsoft.com/office/powerpoint/2010/main" val="282955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1" name="Полилиния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3" name="Полилиния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4" name="Полилиния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5" name="Полилиния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2" name="Заголовок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Сравнение слева — заполнитель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2" name="Сравнение слева — заполнитель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rtlCol="0"/>
          <a:lstStyle>
            <a:lvl1pPr marL="0" indent="0">
              <a:buNone/>
              <a:defRPr sz="2400" b="1"/>
            </a:lvl1pPr>
          </a:lstStyle>
          <a:p>
            <a:pPr lvl="0" rtl="0"/>
            <a:r>
              <a:rPr lang="ru-RU" noProof="0" smtClean="0"/>
              <a:t>Образец текста</a:t>
            </a:r>
          </a:p>
        </p:txBody>
      </p:sp>
      <p:sp>
        <p:nvSpPr>
          <p:cNvPr id="8" name="Текст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Большое фото">
    <p:spTree>
      <p:nvGrpSpPr>
        <p:cNvPr id="1" name=""/>
        <p:cNvGrpSpPr/>
        <p:nvPr/>
      </p:nvGrpSpPr>
      <p:grpSpPr>
        <a:xfrm>
          <a:off x="0" y="0"/>
          <a:ext cx="0" cy="0"/>
          <a:chOff x="0" y="0"/>
          <a:chExt cx="0" cy="0"/>
        </a:xfrm>
      </p:grpSpPr>
      <p:sp>
        <p:nvSpPr>
          <p:cNvPr id="7" name="Рисунок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2" name="Номер слайда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
        <p:nvSpPr>
          <p:cNvPr id="6" name="Заголовок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rtlCol="0" anchor="t"/>
          <a:lstStyle>
            <a:lvl1pPr algn="l">
              <a:lnSpc>
                <a:spcPct val="100000"/>
              </a:lnSpc>
              <a:defRPr sz="1800" b="0" spc="0">
                <a:solidFill>
                  <a:schemeClr val="bg1">
                    <a:lumMod val="95000"/>
                  </a:schemeClr>
                </a:solidFill>
                <a:latin typeface="+mn-lt"/>
              </a:defRPr>
            </a:lvl1pPr>
          </a:lstStyle>
          <a:p>
            <a:pPr rtl="0"/>
            <a:r>
              <a:rPr lang="ru-RU" noProof="0" dirty="0"/>
              <a:t>Введите подпись</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Слайд с благодарностью">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4" name="Прямоугольник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2" name="Рисунок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Спасибо за внимание!</a:t>
            </a:r>
          </a:p>
        </p:txBody>
      </p:sp>
      <p:sp>
        <p:nvSpPr>
          <p:cNvPr id="7" name="Текст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Полное имя</a:t>
            </a:r>
          </a:p>
        </p:txBody>
      </p:sp>
      <p:sp>
        <p:nvSpPr>
          <p:cNvPr id="8" name="Текст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Номер телефона</a:t>
            </a:r>
          </a:p>
        </p:txBody>
      </p:sp>
      <p:sp>
        <p:nvSpPr>
          <p:cNvPr id="9" name="Текст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Электронная почта или контакт в социальной сети</a:t>
            </a:r>
          </a:p>
        </p:txBody>
      </p:sp>
      <p:sp>
        <p:nvSpPr>
          <p:cNvPr id="10" name="Текст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Веб-сайт компании</a:t>
            </a:r>
          </a:p>
        </p:txBody>
      </p:sp>
    </p:spTree>
    <p:extLst>
      <p:ext uri="{BB962C8B-B14F-4D97-AF65-F5344CB8AC3E}">
        <p14:creationId xmlns:p14="http://schemas.microsoft.com/office/powerpoint/2010/main" val="1632891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6" name="Текст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столб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1" name="Текст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столбцов">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3" name="Текст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5" name="Текст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7" name="Текст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3" name="Номер слайда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5" name="Прямоугольник: Скругленные углы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9" name="Прямоугольник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5" name="Прямоугольник 14">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ru-RU" noProof="0" dirty="0"/>
              <a:t>Щелкните, чтобы изменить заголовок</a:t>
            </a:r>
          </a:p>
        </p:txBody>
      </p:sp>
      <p:sp>
        <p:nvSpPr>
          <p:cNvPr id="3" name="Текст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Нижний колонтитул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1483"/>
            <a:ext cx="5484930" cy="20153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5ECA3099-A94F-4C3E-BC29-780EDD38F722}"/>
              </a:ext>
            </a:extLst>
          </p:cNvPr>
          <p:cNvSpPr>
            <a:spLocks noGrp="1"/>
          </p:cNvSpPr>
          <p:nvPr>
            <p:ph type="sldNum" sz="quarter" idx="4"/>
          </p:nvPr>
        </p:nvSpPr>
        <p:spPr>
          <a:xfrm>
            <a:off x="11727656" y="6277243"/>
            <a:ext cx="464344" cy="400188"/>
          </a:xfrm>
          <a:prstGeom prst="roundRect">
            <a:avLst>
              <a:gd name="adj" fmla="val 9526"/>
            </a:avLst>
          </a:prstGeom>
          <a:gradFill>
            <a:gsLst>
              <a:gs pos="20000">
                <a:schemeClr val="tx1">
                  <a:lumMod val="75000"/>
                  <a:lumOff val="25000"/>
                </a:schemeClr>
              </a:gs>
              <a:gs pos="82000">
                <a:schemeClr val="tx1"/>
              </a:gs>
            </a:gsLst>
            <a:lin ang="3000000" scaled="0"/>
          </a:gradFill>
          <a:ln w="6350">
            <a:solidFill>
              <a:schemeClr val="accent1"/>
            </a:solidFill>
          </a:ln>
        </p:spPr>
        <p:txBody>
          <a:bodyPr vert="horz" lIns="0" tIns="0" rIns="0" bIns="0" rtlCol="0" anchor="ctr"/>
          <a:lstStyle>
            <a:lvl1pPr algn="ctr">
              <a:defRPr sz="1200" i="1">
                <a:solidFill>
                  <a:schemeClr val="bg1"/>
                </a:solidFill>
                <a:latin typeface="Times New Roman" panose="02020603050405020304" pitchFamily="18" charset="0"/>
                <a:cs typeface="Times New Roman" panose="02020603050405020304" pitchFamily="18" charset="0"/>
              </a:defRPr>
            </a:lvl1pPr>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4" r:id="rId1"/>
    <p:sldLayoutId id="2147483649" r:id="rId2"/>
    <p:sldLayoutId id="2147483662" r:id="rId3"/>
    <p:sldLayoutId id="2147483663" r:id="rId4"/>
    <p:sldLayoutId id="2147483658" r:id="rId5"/>
    <p:sldLayoutId id="2147483665" r:id="rId6"/>
    <p:sldLayoutId id="2147483666" r:id="rId7"/>
    <p:sldLayoutId id="2147483659" r:id="rId8"/>
    <p:sldLayoutId id="2147483660" r:id="rId9"/>
    <p:sldLayoutId id="2147483664" r:id="rId10"/>
    <p:sldLayoutId id="2147483650" r:id="rId11"/>
    <p:sldLayoutId id="2147483652" r:id="rId12"/>
    <p:sldLayoutId id="2147483656" r:id="rId13"/>
    <p:sldLayoutId id="2147483657" r:id="rId14"/>
    <p:sldLayoutId id="2147483655"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hyperlink" Target="https://www.itweek.ru/themes/detail.php?ID=77505"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1.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1.svg"/><Relationship Id="rId4" Type="http://schemas.openxmlformats.org/officeDocument/2006/relationships/image" Target="../media/image19.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Рисунок 6" descr="Изображение слайда">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25" name="Надпись 24" descr="Акцент слайда для поля заголовка">
            <a:extLst>
              <a:ext uri="{FF2B5EF4-FFF2-40B4-BE49-F238E27FC236}">
                <a16:creationId xmlns:a16="http://schemas.microsoft.com/office/drawing/2014/main" id="{7EF238CB-AB58-4787-8F9C-A1C16929A2FA}"/>
              </a:ext>
              <a:ext uri="{C183D7F6-B498-43B3-948B-1728B52AA6E4}">
                <adec:decorative xmlns="" xmlns:adec="http://schemas.microsoft.com/office/drawing/2017/decorative" val="1"/>
              </a:ext>
            </a:extLst>
          </p:cNvPr>
          <p:cNvSpPr txBox="1">
            <a:spLocks/>
          </p:cNvSpPr>
          <p:nvPr/>
        </p:nvSpPr>
        <p:spPr>
          <a:xfrm flipH="1">
            <a:off x="-1" y="3914775"/>
            <a:ext cx="1481849" cy="2200275"/>
          </a:xfrm>
          <a:custGeom>
            <a:avLst/>
            <a:gdLst>
              <a:gd name="connsiteX0" fmla="*/ 1494549 w 1494549"/>
              <a:gd name="connsiteY0" fmla="*/ 0 h 2200275"/>
              <a:gd name="connsiteX1" fmla="*/ 100333 w 1494549"/>
              <a:gd name="connsiteY1" fmla="*/ 0 h 2200275"/>
              <a:gd name="connsiteX2" fmla="*/ 0 w 1494549"/>
              <a:gd name="connsiteY2" fmla="*/ 100333 h 2200275"/>
              <a:gd name="connsiteX3" fmla="*/ 0 w 1494549"/>
              <a:gd name="connsiteY3" fmla="*/ 2099942 h 2200275"/>
              <a:gd name="connsiteX4" fmla="*/ 100333 w 1494549"/>
              <a:gd name="connsiteY4" fmla="*/ 2200275 h 2200275"/>
              <a:gd name="connsiteX5" fmla="*/ 1494549 w 1494549"/>
              <a:gd name="connsiteY5" fmla="*/ 220027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549" h="2200275">
                <a:moveTo>
                  <a:pt x="1494549" y="0"/>
                </a:moveTo>
                <a:lnTo>
                  <a:pt x="100333" y="0"/>
                </a:lnTo>
                <a:cubicBezTo>
                  <a:pt x="44921" y="0"/>
                  <a:pt x="0" y="44921"/>
                  <a:pt x="0" y="100333"/>
                </a:cubicBezTo>
                <a:lnTo>
                  <a:pt x="0" y="2099942"/>
                </a:lnTo>
                <a:cubicBezTo>
                  <a:pt x="0" y="2155354"/>
                  <a:pt x="44921" y="2200275"/>
                  <a:pt x="100333" y="2200275"/>
                </a:cubicBezTo>
                <a:lnTo>
                  <a:pt x="1494549" y="2200275"/>
                </a:ln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948293" y="3114635"/>
            <a:ext cx="4459766" cy="2514635"/>
          </a:xfrm>
          <a:gradFill>
            <a:gsLst>
              <a:gs pos="100000">
                <a:schemeClr val="tx1">
                  <a:lumMod val="95000"/>
                  <a:lumOff val="5000"/>
                </a:schemeClr>
              </a:gs>
              <a:gs pos="0">
                <a:schemeClr val="tx1">
                  <a:lumMod val="75000"/>
                  <a:lumOff val="25000"/>
                </a:schemeClr>
              </a:gs>
            </a:gsLst>
          </a:gradFill>
          <a:ln>
            <a:solidFill>
              <a:schemeClr val="bg1">
                <a:lumMod val="50000"/>
              </a:schemeClr>
            </a:solidFill>
          </a:ln>
        </p:spPr>
        <p:txBody>
          <a:bodyPr rtlCol="0"/>
          <a:lstStyle/>
          <a:p>
            <a:r>
              <a:rPr lang="ru-RU" dirty="0" smtClean="0"/>
              <a:t>Классификация текстов</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1104420" y="4938518"/>
            <a:ext cx="4000500" cy="690752"/>
          </a:xfrm>
        </p:spPr>
        <p:txBody>
          <a:bodyPr rtlCol="0"/>
          <a:lstStyle/>
          <a:p>
            <a:r>
              <a:rPr lang="ru-RU" dirty="0" smtClean="0"/>
              <a:t>Основы обработки текстов</a:t>
            </a:r>
            <a:endParaRPr lang="ru-RU" dirty="0"/>
          </a:p>
        </p:txBody>
      </p:sp>
      <p:sp>
        <p:nvSpPr>
          <p:cNvPr id="20" name="Равнобедренный треугольник 19" descr="Тень на слайде для поля заголовка">
            <a:extLst>
              <a:ext uri="{FF2B5EF4-FFF2-40B4-BE49-F238E27FC236}">
                <a16:creationId xmlns:a16="http://schemas.microsoft.com/office/drawing/2014/main" id="{545D50A1-D634-4325-B06C-5450FDF7B818}"/>
              </a:ext>
              <a:ext uri="{C183D7F6-B498-43B3-948B-1728B52AA6E4}">
                <adec:decorative xmlns="" xmlns:adec="http://schemas.microsoft.com/office/drawing/2017/decorative"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Постоянные запросы</a:t>
            </a:r>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a:t>
            </a:fld>
            <a:endParaRPr lang="ru-RU" noProof="0" dirty="0"/>
          </a:p>
        </p:txBody>
      </p:sp>
      <p:sp>
        <p:nvSpPr>
          <p:cNvPr id="4" name="Объект 3"/>
          <p:cNvSpPr>
            <a:spLocks noGrp="1"/>
          </p:cNvSpPr>
          <p:nvPr>
            <p:ph idx="1"/>
          </p:nvPr>
        </p:nvSpPr>
        <p:spPr>
          <a:xfrm>
            <a:off x="432000" y="1055716"/>
            <a:ext cx="11328000" cy="5135534"/>
          </a:xfrm>
        </p:spPr>
        <p:txBody>
          <a:bodyPr>
            <a:normAutofit fontScale="85000" lnSpcReduction="10000"/>
          </a:bodyPr>
          <a:lstStyle/>
          <a:p>
            <a:pPr marL="0" indent="0">
              <a:buNone/>
            </a:pPr>
            <a:r>
              <a:rPr lang="ru-RU" sz="3200" dirty="0" smtClean="0"/>
              <a:t>Переход </a:t>
            </a:r>
            <a:r>
              <a:rPr lang="ru-RU" sz="3200" dirty="0"/>
              <a:t>от информационно-поисковых систем к классификации текста:</a:t>
            </a:r>
          </a:p>
          <a:p>
            <a:pPr marL="733425" lvl="1" indent="-457200"/>
            <a:r>
              <a:rPr lang="ru-RU" sz="3000" dirty="0" smtClean="0"/>
              <a:t>Допустим есть </a:t>
            </a:r>
            <a:r>
              <a:rPr lang="ru-RU" sz="3000" dirty="0"/>
              <a:t>потребность мониторинга, скажем:</a:t>
            </a:r>
          </a:p>
          <a:p>
            <a:pPr lvl="2">
              <a:buFont typeface="Courier New" panose="02070309020205020404" pitchFamily="49" charset="0"/>
              <a:buChar char="o"/>
            </a:pPr>
            <a:r>
              <a:rPr lang="ru-RU" sz="2800" dirty="0" smtClean="0"/>
              <a:t>Беспорядки </a:t>
            </a:r>
            <a:r>
              <a:rPr lang="ru-RU" sz="2800" dirty="0"/>
              <a:t>в дельте Нигера</a:t>
            </a:r>
          </a:p>
          <a:p>
            <a:pPr lvl="1"/>
            <a:r>
              <a:rPr lang="ru-RU" sz="3000" dirty="0" smtClean="0"/>
              <a:t>Вы </a:t>
            </a:r>
            <a:r>
              <a:rPr lang="ru-RU" sz="3000" dirty="0"/>
              <a:t>хотите периодически запускать соответствующий запрос, чтобы находить новые новостные статьи по этой теме</a:t>
            </a:r>
          </a:p>
          <a:p>
            <a:pPr lvl="1"/>
            <a:r>
              <a:rPr lang="ru-RU" sz="3000" dirty="0" smtClean="0"/>
              <a:t>Вам </a:t>
            </a:r>
            <a:r>
              <a:rPr lang="ru-RU" sz="3000" dirty="0"/>
              <a:t>будут </a:t>
            </a:r>
            <a:r>
              <a:rPr lang="ru-RU" sz="3000" dirty="0" smtClean="0"/>
              <a:t>направляться </a:t>
            </a:r>
            <a:r>
              <a:rPr lang="ru-RU" sz="3000" dirty="0"/>
              <a:t>вновь найденные документы</a:t>
            </a:r>
          </a:p>
          <a:p>
            <a:pPr marL="1000125" lvl="2" indent="-457200">
              <a:buFont typeface="Courier New" panose="02070309020205020404" pitchFamily="49" charset="0"/>
              <a:buChar char="o"/>
            </a:pPr>
            <a:r>
              <a:rPr lang="ru-RU" sz="2800" dirty="0" smtClean="0"/>
              <a:t>То </a:t>
            </a:r>
            <a:r>
              <a:rPr lang="ru-RU" sz="2800" dirty="0"/>
              <a:t>есть речь идет не о ранжировании, а о классификации (релевантный против нерелевантного)</a:t>
            </a:r>
          </a:p>
          <a:p>
            <a:pPr marL="0" indent="0">
              <a:buNone/>
            </a:pPr>
            <a:r>
              <a:rPr lang="ru-RU" sz="3200" dirty="0" smtClean="0"/>
              <a:t>Такие </a:t>
            </a:r>
            <a:r>
              <a:rPr lang="ru-RU" sz="3200" dirty="0"/>
              <a:t>запросы называются </a:t>
            </a:r>
            <a:r>
              <a:rPr lang="ru-RU" sz="3200" dirty="0">
                <a:solidFill>
                  <a:srgbClr val="00B050"/>
                </a:solidFill>
              </a:rPr>
              <a:t>постоянными запросами</a:t>
            </a:r>
          </a:p>
          <a:p>
            <a:r>
              <a:rPr lang="ru-RU" sz="3200" dirty="0" smtClean="0"/>
              <a:t>Долгое </a:t>
            </a:r>
            <a:r>
              <a:rPr lang="ru-RU" sz="3200" dirty="0"/>
              <a:t>время использовались </a:t>
            </a:r>
            <a:r>
              <a:rPr lang="ja-JP" altLang="en-US" sz="3200" dirty="0">
                <a:latin typeface="Arial" charset="0"/>
              </a:rPr>
              <a:t>“</a:t>
            </a:r>
            <a:r>
              <a:rPr lang="en-US" altLang="ja-JP" sz="3200" dirty="0"/>
              <a:t>information professionals</a:t>
            </a:r>
            <a:r>
              <a:rPr lang="ja-JP" altLang="en-US" sz="3200" dirty="0" smtClean="0">
                <a:latin typeface="Arial" charset="0"/>
              </a:rPr>
              <a:t>”</a:t>
            </a:r>
            <a:r>
              <a:rPr lang="ru-RU" altLang="ja-JP" sz="3200" dirty="0" smtClean="0">
                <a:latin typeface="Arial" charset="0"/>
              </a:rPr>
              <a:t> </a:t>
            </a:r>
            <a:r>
              <a:rPr lang="ru-RU" sz="3200" dirty="0" smtClean="0"/>
              <a:t>(</a:t>
            </a:r>
            <a:r>
              <a:rPr lang="en-US" sz="3200" dirty="0"/>
              <a:t>https://en.wikipedia.org/wiki/Information_professional</a:t>
            </a:r>
            <a:r>
              <a:rPr lang="ru-RU" sz="3200" dirty="0" smtClean="0"/>
              <a:t>)</a:t>
            </a:r>
            <a:endParaRPr lang="ru-RU" sz="3200" dirty="0"/>
          </a:p>
          <a:p>
            <a:r>
              <a:rPr lang="ru-RU" sz="3200" dirty="0" smtClean="0"/>
              <a:t>Современная </a:t>
            </a:r>
            <a:r>
              <a:rPr lang="ru-RU" sz="3200" dirty="0"/>
              <a:t>массовая реализация </a:t>
            </a:r>
            <a:r>
              <a:rPr lang="ru-RU" sz="3200" dirty="0" smtClean="0"/>
              <a:t>- </a:t>
            </a:r>
            <a:r>
              <a:rPr lang="ru-RU" sz="3200" dirty="0" err="1"/>
              <a:t>Google</a:t>
            </a:r>
            <a:r>
              <a:rPr lang="ru-RU" sz="3200" dirty="0"/>
              <a:t> </a:t>
            </a:r>
            <a:r>
              <a:rPr lang="ru-RU" sz="3200" dirty="0" err="1" smtClean="0"/>
              <a:t>Alerts</a:t>
            </a:r>
            <a:endParaRPr lang="ru-RU" sz="3200" dirty="0" smtClean="0"/>
          </a:p>
          <a:p>
            <a:pPr marL="0" indent="0">
              <a:buNone/>
            </a:pPr>
            <a:r>
              <a:rPr lang="ru-RU" sz="3200" dirty="0"/>
              <a:t>Постоянные запросы - это </a:t>
            </a:r>
            <a:r>
              <a:rPr lang="ru-RU" sz="3200" dirty="0">
                <a:solidFill>
                  <a:srgbClr val="00B050"/>
                </a:solidFill>
              </a:rPr>
              <a:t>текстовые классификаторы </a:t>
            </a:r>
            <a:r>
              <a:rPr lang="ru-RU" sz="3200" dirty="0"/>
              <a:t>(написанные от руки)</a:t>
            </a:r>
          </a:p>
        </p:txBody>
      </p:sp>
    </p:spTree>
    <p:extLst>
      <p:ext uri="{BB962C8B-B14F-4D97-AF65-F5344CB8AC3E}">
        <p14:creationId xmlns:p14="http://schemas.microsoft.com/office/powerpoint/2010/main" val="3674420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Фильтрация спама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a:t>
            </a:fld>
            <a:endParaRPr lang="ru-RU" noProof="0" dirty="0"/>
          </a:p>
        </p:txBody>
      </p:sp>
      <p:sp>
        <p:nvSpPr>
          <p:cNvPr id="4" name="Объект 3"/>
          <p:cNvSpPr>
            <a:spLocks noGrp="1"/>
          </p:cNvSpPr>
          <p:nvPr>
            <p:ph idx="1"/>
          </p:nvPr>
        </p:nvSpPr>
        <p:spPr>
          <a:xfrm>
            <a:off x="432000" y="1055716"/>
            <a:ext cx="11328000" cy="5135534"/>
          </a:xfrm>
        </p:spPr>
        <p:txBody>
          <a:bodyPr>
            <a:normAutofit fontScale="85000" lnSpcReduction="20000"/>
          </a:bodyPr>
          <a:lstStyle/>
          <a:p>
            <a:pPr marL="0" indent="0">
              <a:buNone/>
            </a:pPr>
            <a:r>
              <a:rPr lang="en-US" sz="3200" dirty="0"/>
              <a:t>From: "" &lt;takworlld@hotmail.com&gt;</a:t>
            </a:r>
          </a:p>
          <a:p>
            <a:pPr marL="0" indent="0">
              <a:buNone/>
            </a:pPr>
            <a:r>
              <a:rPr lang="en-US" sz="3200" dirty="0"/>
              <a:t>Subject: real estate is the only way... gem  </a:t>
            </a:r>
            <a:r>
              <a:rPr lang="en-US" sz="3200" dirty="0" err="1"/>
              <a:t>oalvgkay</a:t>
            </a:r>
            <a:endParaRPr lang="en-US" sz="3200" dirty="0"/>
          </a:p>
          <a:p>
            <a:pPr marL="0" indent="0">
              <a:buNone/>
            </a:pPr>
            <a:r>
              <a:rPr lang="en-US" sz="3200" dirty="0" smtClean="0"/>
              <a:t>Anyone </a:t>
            </a:r>
            <a:r>
              <a:rPr lang="en-US" sz="3200" dirty="0"/>
              <a:t>can buy real estate with no money down</a:t>
            </a:r>
          </a:p>
          <a:p>
            <a:pPr marL="0" indent="0">
              <a:buNone/>
            </a:pPr>
            <a:r>
              <a:rPr lang="en-US" sz="3200" dirty="0" smtClean="0"/>
              <a:t>Stop </a:t>
            </a:r>
            <a:r>
              <a:rPr lang="en-US" sz="3200" dirty="0"/>
              <a:t>paying rent TODAY !</a:t>
            </a:r>
          </a:p>
          <a:p>
            <a:pPr marL="0" indent="0">
              <a:buNone/>
            </a:pPr>
            <a:r>
              <a:rPr lang="en-US" sz="3200" dirty="0" smtClean="0"/>
              <a:t>There </a:t>
            </a:r>
            <a:r>
              <a:rPr lang="en-US" sz="3200" dirty="0"/>
              <a:t>is no need to spend hundreds or even thousands for similar courses</a:t>
            </a:r>
          </a:p>
          <a:p>
            <a:pPr marL="0" indent="0">
              <a:buNone/>
            </a:pPr>
            <a:r>
              <a:rPr lang="en-US" sz="3200" dirty="0" smtClean="0"/>
              <a:t>I </a:t>
            </a:r>
            <a:r>
              <a:rPr lang="en-US" sz="3200" dirty="0"/>
              <a:t>am 22 years old and I have already purchased 6 properties using the</a:t>
            </a:r>
          </a:p>
          <a:p>
            <a:pPr marL="0" indent="0">
              <a:buNone/>
            </a:pPr>
            <a:r>
              <a:rPr lang="en-US" sz="3200" dirty="0"/>
              <a:t>methods outlined in this truly INCREDIBLE </a:t>
            </a:r>
            <a:r>
              <a:rPr lang="en-US" sz="3200" dirty="0" err="1"/>
              <a:t>ebook</a:t>
            </a:r>
            <a:r>
              <a:rPr lang="en-US" sz="3200" dirty="0"/>
              <a:t>.</a:t>
            </a:r>
          </a:p>
          <a:p>
            <a:pPr marL="0" indent="0">
              <a:buNone/>
            </a:pPr>
            <a:r>
              <a:rPr lang="en-US" sz="3200" dirty="0" smtClean="0"/>
              <a:t>Change </a:t>
            </a:r>
            <a:r>
              <a:rPr lang="en-US" sz="3200" dirty="0"/>
              <a:t>your life NOW !</a:t>
            </a:r>
          </a:p>
          <a:p>
            <a:pPr marL="0" indent="0">
              <a:buNone/>
            </a:pPr>
            <a:r>
              <a:rPr lang="en-US" sz="3200" dirty="0" smtClean="0"/>
              <a:t>=================================================</a:t>
            </a:r>
            <a:endParaRPr lang="en-US" sz="3200" dirty="0"/>
          </a:p>
          <a:p>
            <a:pPr marL="0" indent="0">
              <a:buNone/>
            </a:pPr>
            <a:r>
              <a:rPr lang="en-US" sz="3200" dirty="0"/>
              <a:t>Click Below to order:</a:t>
            </a:r>
          </a:p>
          <a:p>
            <a:pPr marL="0" indent="0">
              <a:buNone/>
            </a:pPr>
            <a:r>
              <a:rPr lang="en-US" sz="3200" dirty="0"/>
              <a:t>http://www.wholesaledaily.com/sales/nmd.htm</a:t>
            </a:r>
          </a:p>
          <a:p>
            <a:pPr marL="0" indent="0">
              <a:buNone/>
            </a:pPr>
            <a:r>
              <a:rPr lang="en-US" sz="3200" dirty="0" smtClean="0"/>
              <a:t>=================================================</a:t>
            </a:r>
            <a:endParaRPr lang="en-US" sz="3200" dirty="0"/>
          </a:p>
        </p:txBody>
      </p:sp>
    </p:spTree>
    <p:extLst>
      <p:ext uri="{BB962C8B-B14F-4D97-AF65-F5344CB8AC3E}">
        <p14:creationId xmlns:p14="http://schemas.microsoft.com/office/powerpoint/2010/main" val="231539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Категоризация / Классификация</a:t>
            </a:r>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a:buNone/>
            </a:pPr>
            <a:r>
              <a:rPr lang="ru-RU" sz="3200" dirty="0" smtClean="0">
                <a:solidFill>
                  <a:srgbClr val="00B050"/>
                </a:solidFill>
              </a:rPr>
              <a:t>Дано</a:t>
            </a:r>
            <a:r>
              <a:rPr lang="ru-RU" sz="3200" dirty="0">
                <a:solidFill>
                  <a:srgbClr val="00B050"/>
                </a:solidFill>
              </a:rPr>
              <a:t>:</a:t>
            </a:r>
          </a:p>
          <a:p>
            <a:pPr lvl="1"/>
            <a:r>
              <a:rPr lang="ru-RU" sz="3000" dirty="0" smtClean="0"/>
              <a:t>Представление </a:t>
            </a:r>
            <a:r>
              <a:rPr lang="ru-RU" sz="3000" dirty="0"/>
              <a:t>документа d</a:t>
            </a:r>
          </a:p>
          <a:p>
            <a:pPr lvl="2">
              <a:buFont typeface="Wingdings" panose="05000000000000000000" pitchFamily="2" charset="2"/>
              <a:buChar char="§"/>
            </a:pPr>
            <a:r>
              <a:rPr lang="ru-RU" sz="2800" dirty="0" smtClean="0"/>
              <a:t>Задача: </a:t>
            </a:r>
            <a:r>
              <a:rPr lang="ru-RU" sz="2800" dirty="0"/>
              <a:t>как представить текстовые документы?</a:t>
            </a:r>
          </a:p>
          <a:p>
            <a:pPr lvl="2">
              <a:buFont typeface="Wingdings" panose="05000000000000000000" pitchFamily="2" charset="2"/>
              <a:buChar char="§"/>
            </a:pPr>
            <a:r>
              <a:rPr lang="ru-RU" sz="2800" dirty="0" smtClean="0"/>
              <a:t>Обычно </a:t>
            </a:r>
            <a:r>
              <a:rPr lang="ru-RU" sz="2800" dirty="0"/>
              <a:t>используется пространство высокой размерности — мешок слов</a:t>
            </a:r>
          </a:p>
          <a:p>
            <a:pPr lvl="1"/>
            <a:r>
              <a:rPr lang="ru-RU" sz="3000" dirty="0" smtClean="0"/>
              <a:t>Фиксированный </a:t>
            </a:r>
            <a:r>
              <a:rPr lang="ru-RU" sz="3000" dirty="0"/>
              <a:t>набор классов</a:t>
            </a:r>
            <a:r>
              <a:rPr lang="ru-RU" sz="3000" dirty="0" smtClean="0"/>
              <a:t>: </a:t>
            </a:r>
            <a:r>
              <a:rPr lang="en-US" altLang="x-none" sz="3200" i="1" dirty="0"/>
              <a:t>C = {c</a:t>
            </a:r>
            <a:r>
              <a:rPr lang="en-US" altLang="x-none" sz="3200" i="1" baseline="-25000" dirty="0"/>
              <a:t>1</a:t>
            </a:r>
            <a:r>
              <a:rPr lang="en-US" altLang="x-none" sz="3200" i="1" dirty="0"/>
              <a:t>, c</a:t>
            </a:r>
            <a:r>
              <a:rPr lang="en-US" altLang="x-none" sz="3200" i="1" baseline="-25000" dirty="0"/>
              <a:t>2</a:t>
            </a:r>
            <a:r>
              <a:rPr lang="en-US" altLang="x-none" sz="3200" i="1" dirty="0"/>
              <a:t>,…, </a:t>
            </a:r>
            <a:r>
              <a:rPr lang="en-US" altLang="x-none" sz="3200" i="1" dirty="0" err="1"/>
              <a:t>c</a:t>
            </a:r>
            <a:r>
              <a:rPr lang="en-US" altLang="x-none" sz="3200" i="1" baseline="-25000" dirty="0" err="1"/>
              <a:t>J</a:t>
            </a:r>
            <a:r>
              <a:rPr lang="en-US" altLang="x-none" sz="3200" i="1" dirty="0" smtClean="0"/>
              <a:t>}</a:t>
            </a:r>
            <a:endParaRPr lang="ru-RU" sz="3000" dirty="0"/>
          </a:p>
          <a:p>
            <a:pPr marL="0" indent="0">
              <a:buNone/>
            </a:pPr>
            <a:r>
              <a:rPr lang="ru-RU" sz="3200" dirty="0" smtClean="0">
                <a:solidFill>
                  <a:srgbClr val="00B050"/>
                </a:solidFill>
              </a:rPr>
              <a:t>Определить</a:t>
            </a:r>
            <a:r>
              <a:rPr lang="ru-RU" sz="3200" dirty="0">
                <a:solidFill>
                  <a:srgbClr val="00B050"/>
                </a:solidFill>
              </a:rPr>
              <a:t>:</a:t>
            </a:r>
          </a:p>
          <a:p>
            <a:pPr lvl="1"/>
            <a:r>
              <a:rPr lang="ru-RU" sz="3000" dirty="0" smtClean="0"/>
              <a:t>Категорию </a:t>
            </a:r>
            <a:r>
              <a:rPr lang="ru-RU" sz="3000" dirty="0"/>
              <a:t>документа </a:t>
            </a:r>
            <a:r>
              <a:rPr lang="ru-RU" sz="3000" dirty="0" smtClean="0"/>
              <a:t>d: γ(d)</a:t>
            </a:r>
            <a:r>
              <a:rPr lang="ru-RU" sz="3000" dirty="0" smtClean="0">
                <a:sym typeface="Symbol" panose="05050102010706020507" pitchFamily="18" charset="2"/>
              </a:rPr>
              <a:t>С, где </a:t>
            </a:r>
            <a:r>
              <a:rPr lang="el-GR" sz="3000" dirty="0">
                <a:sym typeface="Symbol" panose="05050102010706020507" pitchFamily="18" charset="2"/>
              </a:rPr>
              <a:t>γ(</a:t>
            </a:r>
            <a:r>
              <a:rPr lang="en-US" sz="3000" dirty="0">
                <a:sym typeface="Symbol" panose="05050102010706020507" pitchFamily="18" charset="2"/>
              </a:rPr>
              <a:t>d)</a:t>
            </a:r>
            <a:r>
              <a:rPr lang="ru-RU" sz="3000" dirty="0" smtClean="0"/>
              <a:t> </a:t>
            </a:r>
            <a:r>
              <a:rPr lang="ru-RU" sz="3000" dirty="0"/>
              <a:t>является </a:t>
            </a:r>
            <a:r>
              <a:rPr lang="ru-RU" sz="3000" dirty="0">
                <a:solidFill>
                  <a:srgbClr val="00B050"/>
                </a:solidFill>
              </a:rPr>
              <a:t>классификационной функцией</a:t>
            </a:r>
          </a:p>
          <a:p>
            <a:pPr lvl="1"/>
            <a:r>
              <a:rPr lang="ru-RU" sz="3000" dirty="0" smtClean="0"/>
              <a:t>Мы </a:t>
            </a:r>
            <a:r>
              <a:rPr lang="ru-RU" sz="3000" dirty="0"/>
              <a:t>хотим построить </a:t>
            </a:r>
            <a:r>
              <a:rPr lang="ru-RU" sz="3000" dirty="0" smtClean="0"/>
              <a:t>классификатор </a:t>
            </a:r>
            <a:r>
              <a:rPr lang="ru-RU" sz="3000" dirty="0"/>
              <a:t>("классифицирующие функции").</a:t>
            </a:r>
          </a:p>
          <a:p>
            <a:pPr marL="0" indent="0">
              <a:buNone/>
            </a:pPr>
            <a:endParaRPr lang="ru-RU" sz="3200" dirty="0"/>
          </a:p>
        </p:txBody>
      </p:sp>
    </p:spTree>
    <p:extLst>
      <p:ext uri="{BB962C8B-B14F-4D97-AF65-F5344CB8AC3E}">
        <p14:creationId xmlns:p14="http://schemas.microsoft.com/office/powerpoint/2010/main" val="3418834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Классификация документов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5</a:t>
            </a:fld>
            <a:endParaRPr lang="ru-RU" noProof="0" dirty="0"/>
          </a:p>
        </p:txBody>
      </p:sp>
      <p:sp>
        <p:nvSpPr>
          <p:cNvPr id="7" name="Rectangle 11"/>
          <p:cNvSpPr>
            <a:spLocks/>
          </p:cNvSpPr>
          <p:nvPr/>
        </p:nvSpPr>
        <p:spPr bwMode="auto">
          <a:xfrm>
            <a:off x="8123238" y="3276420"/>
            <a:ext cx="1398587" cy="457200"/>
          </a:xfrm>
          <a:prstGeom prst="rect">
            <a:avLst/>
          </a:prstGeom>
          <a:noFill/>
          <a:ln w="38100">
            <a:solidFill>
              <a:srgbClr val="FF9999"/>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Multimedia</a:t>
            </a:r>
          </a:p>
        </p:txBody>
      </p:sp>
      <p:sp>
        <p:nvSpPr>
          <p:cNvPr id="8" name="Rectangle 12"/>
          <p:cNvSpPr>
            <a:spLocks/>
          </p:cNvSpPr>
          <p:nvPr/>
        </p:nvSpPr>
        <p:spPr bwMode="auto">
          <a:xfrm>
            <a:off x="9648825" y="3276420"/>
            <a:ext cx="635000" cy="457200"/>
          </a:xfrm>
          <a:prstGeom prst="rect">
            <a:avLst/>
          </a:prstGeom>
          <a:noFill/>
          <a:ln w="3810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GUI</a:t>
            </a:r>
          </a:p>
        </p:txBody>
      </p:sp>
      <p:sp>
        <p:nvSpPr>
          <p:cNvPr id="9" name="Rectangle 13"/>
          <p:cNvSpPr>
            <a:spLocks/>
          </p:cNvSpPr>
          <p:nvPr/>
        </p:nvSpPr>
        <p:spPr bwMode="auto">
          <a:xfrm>
            <a:off x="6751638" y="3276420"/>
            <a:ext cx="1244600" cy="45720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Garb.Coll.</a:t>
            </a:r>
          </a:p>
        </p:txBody>
      </p:sp>
      <p:sp>
        <p:nvSpPr>
          <p:cNvPr id="10" name="Rectangle 14"/>
          <p:cNvSpPr>
            <a:spLocks/>
          </p:cNvSpPr>
          <p:nvPr/>
        </p:nvSpPr>
        <p:spPr bwMode="auto">
          <a:xfrm>
            <a:off x="5402263" y="3276420"/>
            <a:ext cx="1222375" cy="457200"/>
          </a:xfrm>
          <a:prstGeom prst="rect">
            <a:avLst/>
          </a:prstGeom>
          <a:noFill/>
          <a:ln w="38100">
            <a:solidFill>
              <a:srgbClr val="C0504D"/>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Semantics</a:t>
            </a:r>
          </a:p>
        </p:txBody>
      </p:sp>
      <p:sp>
        <p:nvSpPr>
          <p:cNvPr id="11" name="Rectangle 15"/>
          <p:cNvSpPr>
            <a:spLocks/>
          </p:cNvSpPr>
          <p:nvPr/>
        </p:nvSpPr>
        <p:spPr bwMode="auto">
          <a:xfrm>
            <a:off x="3130550" y="3281183"/>
            <a:ext cx="560388" cy="457200"/>
          </a:xfrm>
          <a:prstGeom prst="rect">
            <a:avLst/>
          </a:prstGeom>
          <a:noFill/>
          <a:ln w="38100">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ML</a:t>
            </a:r>
          </a:p>
        </p:txBody>
      </p:sp>
      <p:sp>
        <p:nvSpPr>
          <p:cNvPr id="12" name="Rectangle 16"/>
          <p:cNvSpPr>
            <a:spLocks/>
          </p:cNvSpPr>
          <p:nvPr/>
        </p:nvSpPr>
        <p:spPr bwMode="auto">
          <a:xfrm>
            <a:off x="4137025" y="3276420"/>
            <a:ext cx="1116013" cy="457200"/>
          </a:xfrm>
          <a:prstGeom prst="rect">
            <a:avLst/>
          </a:prstGeom>
          <a:noFill/>
          <a:ln w="38100">
            <a:solidFill>
              <a:srgbClr val="437085"/>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Planning</a:t>
            </a:r>
          </a:p>
        </p:txBody>
      </p:sp>
      <p:sp>
        <p:nvSpPr>
          <p:cNvPr id="13" name="Rectangle 17"/>
          <p:cNvSpPr>
            <a:spLocks/>
          </p:cNvSpPr>
          <p:nvPr/>
        </p:nvSpPr>
        <p:spPr bwMode="auto">
          <a:xfrm>
            <a:off x="4191000" y="3832045"/>
            <a:ext cx="1255713"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u="sng">
                <a:latin typeface="Palatino" charset="0"/>
                <a:ea typeface="MS PGothic" charset="-128"/>
                <a:sym typeface="Palatino" charset="0"/>
              </a:rPr>
              <a:t>planning</a:t>
            </a:r>
          </a:p>
          <a:p>
            <a:pPr eaLnBrk="1" hangingPunct="1">
              <a:spcBef>
                <a:spcPct val="0"/>
              </a:spcBef>
              <a:buClrTx/>
              <a:buSzTx/>
              <a:buFontTx/>
              <a:buNone/>
            </a:pPr>
            <a:r>
              <a:rPr lang="en-US" altLang="x-none" sz="1800">
                <a:latin typeface="Palatino" charset="0"/>
                <a:ea typeface="MS PGothic" charset="-128"/>
                <a:sym typeface="Palatino" charset="0"/>
              </a:rPr>
              <a:t>temporal</a:t>
            </a:r>
          </a:p>
          <a:p>
            <a:pPr eaLnBrk="1" hangingPunct="1">
              <a:spcBef>
                <a:spcPct val="0"/>
              </a:spcBef>
              <a:buClrTx/>
              <a:buSzTx/>
              <a:buFontTx/>
              <a:buNone/>
            </a:pPr>
            <a:r>
              <a:rPr lang="en-US" altLang="x-none" sz="1800">
                <a:latin typeface="Palatino" charset="0"/>
                <a:ea typeface="MS PGothic" charset="-128"/>
                <a:sym typeface="Palatino" charset="0"/>
              </a:rPr>
              <a:t>reasoning</a:t>
            </a:r>
          </a:p>
          <a:p>
            <a:pPr eaLnBrk="1" hangingPunct="1">
              <a:spcBef>
                <a:spcPct val="0"/>
              </a:spcBef>
              <a:buClrTx/>
              <a:buSzTx/>
              <a:buFontTx/>
              <a:buNone/>
            </a:pPr>
            <a:r>
              <a:rPr lang="en-US" altLang="x-none" sz="1800">
                <a:latin typeface="Palatino" charset="0"/>
                <a:ea typeface="MS PGothic" charset="-128"/>
                <a:sym typeface="Palatino" charset="0"/>
              </a:rPr>
              <a:t>plan</a:t>
            </a:r>
          </a:p>
          <a:p>
            <a:pPr eaLnBrk="1" hangingPunct="1">
              <a:spcBef>
                <a:spcPct val="0"/>
              </a:spcBef>
              <a:buClrTx/>
              <a:buSzTx/>
              <a:buFontTx/>
              <a:buNone/>
            </a:pPr>
            <a:r>
              <a:rPr lang="en-US" altLang="x-none" sz="1800" u="sng">
                <a:latin typeface="Palatino" charset="0"/>
                <a:ea typeface="MS PGothic" charset="-128"/>
                <a:sym typeface="Palatino" charset="0"/>
              </a:rPr>
              <a:t>language</a:t>
            </a:r>
            <a:r>
              <a:rPr lang="en-US" altLang="x-none" sz="1800">
                <a:latin typeface="Palatino" charset="0"/>
                <a:ea typeface="MS PGothic" charset="-128"/>
                <a:sym typeface="Palatino" charset="0"/>
              </a:rPr>
              <a:t>...</a:t>
            </a:r>
          </a:p>
        </p:txBody>
      </p:sp>
      <p:sp>
        <p:nvSpPr>
          <p:cNvPr id="14" name="Rectangle 18"/>
          <p:cNvSpPr>
            <a:spLocks/>
          </p:cNvSpPr>
          <p:nvPr/>
        </p:nvSpPr>
        <p:spPr bwMode="auto">
          <a:xfrm>
            <a:off x="5410200" y="3832045"/>
            <a:ext cx="1565275"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programming</a:t>
            </a:r>
          </a:p>
          <a:p>
            <a:pPr eaLnBrk="1" hangingPunct="1">
              <a:spcBef>
                <a:spcPct val="0"/>
              </a:spcBef>
              <a:buClrTx/>
              <a:buSzTx/>
              <a:buFontTx/>
              <a:buNone/>
            </a:pPr>
            <a:r>
              <a:rPr lang="en-US" altLang="x-none" sz="1800">
                <a:latin typeface="Palatino" charset="0"/>
                <a:ea typeface="MS PGothic" charset="-128"/>
                <a:sym typeface="Palatino" charset="0"/>
              </a:rPr>
              <a:t>semantics</a:t>
            </a:r>
          </a:p>
          <a:p>
            <a:pPr eaLnBrk="1" hangingPunct="1">
              <a:spcBef>
                <a:spcPct val="0"/>
              </a:spcBef>
              <a:buClrTx/>
              <a:buSzTx/>
              <a:buFontTx/>
              <a:buNone/>
            </a:pPr>
            <a:r>
              <a:rPr lang="en-US" altLang="x-none" sz="1800" u="sng">
                <a:latin typeface="Palatino" charset="0"/>
                <a:ea typeface="MS PGothic" charset="-128"/>
                <a:sym typeface="Palatino" charset="0"/>
              </a:rPr>
              <a:t>language</a:t>
            </a:r>
          </a:p>
          <a:p>
            <a:pPr eaLnBrk="1" hangingPunct="1">
              <a:spcBef>
                <a:spcPct val="0"/>
              </a:spcBef>
              <a:buClrTx/>
              <a:buSzTx/>
              <a:buFontTx/>
              <a:buNone/>
            </a:pPr>
            <a:r>
              <a:rPr lang="en-US" altLang="x-none" sz="1800" u="sng">
                <a:latin typeface="Palatino" charset="0"/>
                <a:ea typeface="MS PGothic" charset="-128"/>
                <a:sym typeface="Palatino" charset="0"/>
              </a:rPr>
              <a:t>proof</a:t>
            </a:r>
            <a:r>
              <a:rPr lang="en-US" altLang="x-none" sz="1800">
                <a:latin typeface="Palatino" charset="0"/>
                <a:ea typeface="MS PGothic" charset="-128"/>
                <a:sym typeface="Palatino" charset="0"/>
              </a:rPr>
              <a:t>...</a:t>
            </a:r>
          </a:p>
        </p:txBody>
      </p:sp>
      <p:sp>
        <p:nvSpPr>
          <p:cNvPr id="15" name="Rectangle 19"/>
          <p:cNvSpPr>
            <a:spLocks/>
          </p:cNvSpPr>
          <p:nvPr/>
        </p:nvSpPr>
        <p:spPr bwMode="auto">
          <a:xfrm>
            <a:off x="2697163" y="3832045"/>
            <a:ext cx="1566862"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learning</a:t>
            </a:r>
          </a:p>
          <a:p>
            <a:pPr eaLnBrk="1" hangingPunct="1">
              <a:spcBef>
                <a:spcPct val="0"/>
              </a:spcBef>
              <a:buClrTx/>
              <a:buSzTx/>
              <a:buFontTx/>
              <a:buNone/>
            </a:pPr>
            <a:r>
              <a:rPr lang="en-US" altLang="x-none" sz="1800" u="sng">
                <a:latin typeface="Palatino" charset="0"/>
                <a:ea typeface="MS PGothic" charset="-128"/>
                <a:sym typeface="Palatino" charset="0"/>
              </a:rPr>
              <a:t>intelligence</a:t>
            </a:r>
          </a:p>
          <a:p>
            <a:pPr eaLnBrk="1" hangingPunct="1">
              <a:spcBef>
                <a:spcPct val="0"/>
              </a:spcBef>
              <a:buClrTx/>
              <a:buSzTx/>
              <a:buFontTx/>
              <a:buNone/>
            </a:pPr>
            <a:r>
              <a:rPr lang="en-US" altLang="x-none" sz="1800">
                <a:latin typeface="Palatino" charset="0"/>
                <a:ea typeface="MS PGothic" charset="-128"/>
                <a:sym typeface="Palatino" charset="0"/>
              </a:rPr>
              <a:t>algorithm</a:t>
            </a:r>
          </a:p>
          <a:p>
            <a:pPr eaLnBrk="1" hangingPunct="1">
              <a:spcBef>
                <a:spcPct val="0"/>
              </a:spcBef>
              <a:buClrTx/>
              <a:buSzTx/>
              <a:buFontTx/>
              <a:buNone/>
            </a:pPr>
            <a:r>
              <a:rPr lang="en-US" altLang="x-none" sz="1800">
                <a:latin typeface="Palatino" charset="0"/>
                <a:ea typeface="MS PGothic" charset="-128"/>
                <a:sym typeface="Palatino" charset="0"/>
              </a:rPr>
              <a:t>reinforcement</a:t>
            </a:r>
          </a:p>
          <a:p>
            <a:pPr eaLnBrk="1" hangingPunct="1">
              <a:spcBef>
                <a:spcPct val="0"/>
              </a:spcBef>
              <a:buClrTx/>
              <a:buSzTx/>
              <a:buFontTx/>
              <a:buNone/>
            </a:pPr>
            <a:r>
              <a:rPr lang="en-US" altLang="x-none" sz="1800">
                <a:latin typeface="Palatino" charset="0"/>
                <a:ea typeface="MS PGothic" charset="-128"/>
                <a:sym typeface="Palatino" charset="0"/>
              </a:rPr>
              <a:t>network...</a:t>
            </a:r>
          </a:p>
        </p:txBody>
      </p:sp>
      <p:sp>
        <p:nvSpPr>
          <p:cNvPr id="16" name="Rectangle 20"/>
          <p:cNvSpPr>
            <a:spLocks/>
          </p:cNvSpPr>
          <p:nvPr/>
        </p:nvSpPr>
        <p:spPr bwMode="auto">
          <a:xfrm>
            <a:off x="6896100" y="3832045"/>
            <a:ext cx="1452563"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garbage</a:t>
            </a:r>
          </a:p>
          <a:p>
            <a:pPr eaLnBrk="1" hangingPunct="1">
              <a:spcBef>
                <a:spcPct val="0"/>
              </a:spcBef>
              <a:buClrTx/>
              <a:buSzTx/>
              <a:buFontTx/>
              <a:buNone/>
            </a:pPr>
            <a:r>
              <a:rPr lang="en-US" altLang="x-none" sz="1800">
                <a:latin typeface="Palatino" charset="0"/>
                <a:ea typeface="MS PGothic" charset="-128"/>
                <a:sym typeface="Palatino" charset="0"/>
              </a:rPr>
              <a:t>collection</a:t>
            </a:r>
          </a:p>
          <a:p>
            <a:pPr eaLnBrk="1" hangingPunct="1">
              <a:spcBef>
                <a:spcPct val="0"/>
              </a:spcBef>
              <a:buClrTx/>
              <a:buSzTx/>
              <a:buFontTx/>
              <a:buNone/>
            </a:pPr>
            <a:r>
              <a:rPr lang="en-US" altLang="x-none" sz="1800">
                <a:latin typeface="Palatino" charset="0"/>
                <a:ea typeface="MS PGothic" charset="-128"/>
                <a:sym typeface="Palatino" charset="0"/>
              </a:rPr>
              <a:t>memory</a:t>
            </a:r>
          </a:p>
          <a:p>
            <a:pPr eaLnBrk="1" hangingPunct="1">
              <a:spcBef>
                <a:spcPct val="0"/>
              </a:spcBef>
              <a:buClrTx/>
              <a:buSzTx/>
              <a:buFontTx/>
              <a:buNone/>
            </a:pPr>
            <a:r>
              <a:rPr lang="en-US" altLang="x-none" sz="1800">
                <a:latin typeface="Palatino" charset="0"/>
                <a:ea typeface="MS PGothic" charset="-128"/>
                <a:sym typeface="Palatino" charset="0"/>
              </a:rPr>
              <a:t>optimization</a:t>
            </a:r>
          </a:p>
          <a:p>
            <a:pPr eaLnBrk="1" hangingPunct="1">
              <a:spcBef>
                <a:spcPct val="0"/>
              </a:spcBef>
              <a:buClrTx/>
              <a:buSzTx/>
              <a:buFontTx/>
              <a:buNone/>
            </a:pPr>
            <a:r>
              <a:rPr lang="en-US" altLang="x-none" sz="1800">
                <a:latin typeface="Palatino" charset="0"/>
                <a:ea typeface="MS PGothic" charset="-128"/>
                <a:sym typeface="Palatino" charset="0"/>
              </a:rPr>
              <a:t>region...</a:t>
            </a:r>
          </a:p>
        </p:txBody>
      </p:sp>
      <p:grpSp>
        <p:nvGrpSpPr>
          <p:cNvPr id="17" name="Group 24"/>
          <p:cNvGrpSpPr>
            <a:grpSpLocks/>
          </p:cNvGrpSpPr>
          <p:nvPr/>
        </p:nvGrpSpPr>
        <p:grpSpPr bwMode="auto">
          <a:xfrm>
            <a:off x="7543800" y="1476195"/>
            <a:ext cx="304800" cy="457200"/>
            <a:chOff x="0" y="0"/>
            <a:chExt cx="192" cy="288"/>
          </a:xfrm>
        </p:grpSpPr>
        <p:sp>
          <p:nvSpPr>
            <p:cNvPr id="18" name="AutoShape 21"/>
            <p:cNvSpPr>
              <a:spLocks/>
            </p:cNvSpPr>
            <p:nvPr/>
          </p:nvSpPr>
          <p:spPr bwMode="auto">
            <a:xfrm>
              <a:off x="0" y="0"/>
              <a:ext cx="19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0" y="0"/>
                  </a:moveTo>
                  <a:lnTo>
                    <a:pt x="0" y="21600"/>
                  </a:lnTo>
                  <a:lnTo>
                    <a:pt x="15413" y="21600"/>
                  </a:lnTo>
                  <a:lnTo>
                    <a:pt x="21600" y="15413"/>
                  </a:lnTo>
                  <a:lnTo>
                    <a:pt x="21600" y="0"/>
                  </a:lnTo>
                  <a:lnTo>
                    <a:pt x="0" y="0"/>
                  </a:lnTo>
                  <a:close/>
                  <a:moveTo>
                    <a:pt x="0" y="0"/>
                  </a:moveTo>
                </a:path>
              </a:pathLst>
            </a:custGeom>
            <a:solidFill>
              <a:srgbClr val="B2B2B2"/>
            </a:solidFill>
            <a:ln w="9525" cap="flat">
              <a:solidFill>
                <a:schemeClr val="tx1"/>
              </a:solidFill>
              <a:prstDash val="solid"/>
              <a:miter lim="800000"/>
              <a:headEnd type="none" w="med" len="med"/>
              <a:tailEnd type="none" w="med" len="med"/>
            </a:ln>
          </p:spPr>
          <p:txBody>
            <a:bodyPr lIns="0" tIns="0" rIns="0" bIns="0"/>
            <a:lstStyle/>
            <a:p>
              <a:endParaRPr lang="en-US"/>
            </a:p>
          </p:txBody>
        </p:sp>
        <p:sp>
          <p:nvSpPr>
            <p:cNvPr id="19" name="AutoShape 22"/>
            <p:cNvSpPr>
              <a:spLocks/>
            </p:cNvSpPr>
            <p:nvPr/>
          </p:nvSpPr>
          <p:spPr bwMode="auto">
            <a:xfrm>
              <a:off x="137" y="205"/>
              <a:ext cx="54" cy="8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lnTo>
                    <a:pt x="5589" y="733"/>
                  </a:lnTo>
                  <a:cubicBezTo>
                    <a:pt x="7754" y="4050"/>
                    <a:pt x="13497" y="4050"/>
                    <a:pt x="21600" y="0"/>
                  </a:cubicBezTo>
                  <a:lnTo>
                    <a:pt x="0" y="21600"/>
                  </a:lnTo>
                  <a:close/>
                  <a:moveTo>
                    <a:pt x="0" y="21600"/>
                  </a:moveTo>
                </a:path>
              </a:pathLst>
            </a:custGeom>
            <a:solidFill>
              <a:srgbClr val="8E8E8E"/>
            </a:solidFill>
            <a:ln>
              <a:noFill/>
            </a:ln>
            <a:extLst>
              <a:ext uri="{91240B29-F687-4F45-9708-019B960494DF}">
                <a14:hiddenLine xmlns:a14="http://schemas.microsoft.com/office/drawing/2010/main" w="9525" cap="flat">
                  <a:solidFill>
                    <a:schemeClr val="tx1"/>
                  </a:solidFill>
                  <a:round/>
                  <a:headEnd type="none" w="med" len="med"/>
                  <a:tailEnd type="none" w="med" len="med"/>
                </a14:hiddenLine>
              </a:ext>
            </a:extLst>
          </p:spPr>
          <p:txBody>
            <a:bodyPr lIns="0" tIns="0" rIns="0" bIns="0"/>
            <a:lstStyle/>
            <a:p>
              <a:endParaRPr lang="en-US"/>
            </a:p>
          </p:txBody>
        </p:sp>
        <p:sp>
          <p:nvSpPr>
            <p:cNvPr id="20" name="AutoShape 23"/>
            <p:cNvSpPr>
              <a:spLocks/>
            </p:cNvSpPr>
            <p:nvPr/>
          </p:nvSpPr>
          <p:spPr bwMode="auto">
            <a:xfrm>
              <a:off x="137" y="205"/>
              <a:ext cx="54" cy="8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21600"/>
                  </a:moveTo>
                  <a:lnTo>
                    <a:pt x="5589" y="733"/>
                  </a:lnTo>
                  <a:cubicBezTo>
                    <a:pt x="7754" y="4050"/>
                    <a:pt x="13497" y="4050"/>
                    <a:pt x="21600" y="0"/>
                  </a:cubicBezTo>
                </a:path>
              </a:pathLst>
            </a:custGeom>
            <a:noFill/>
            <a:ln w="9525" cap="flat">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1" name="Rectangle 25"/>
          <p:cNvSpPr>
            <a:spLocks/>
          </p:cNvSpPr>
          <p:nvPr/>
        </p:nvSpPr>
        <p:spPr bwMode="auto">
          <a:xfrm>
            <a:off x="7923213" y="1422220"/>
            <a:ext cx="13001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ja-JP" sz="1600" dirty="0">
                <a:latin typeface="Arial" charset="0"/>
                <a:ea typeface="MS PGothic" charset="-128"/>
                <a:sym typeface="Palatino" charset="0"/>
              </a:rPr>
              <a:t>“</a:t>
            </a:r>
            <a:r>
              <a:rPr lang="en-US" altLang="ja-JP" sz="1600" dirty="0">
                <a:latin typeface="Palatino" charset="0"/>
                <a:sym typeface="Palatino" charset="0"/>
              </a:rPr>
              <a:t>planning</a:t>
            </a:r>
          </a:p>
          <a:p>
            <a:pPr eaLnBrk="1" hangingPunct="1">
              <a:spcBef>
                <a:spcPct val="0"/>
              </a:spcBef>
              <a:buClrTx/>
              <a:buSzTx/>
              <a:buFontTx/>
              <a:buNone/>
            </a:pPr>
            <a:r>
              <a:rPr lang="en-US" altLang="x-none" sz="1600" dirty="0">
                <a:latin typeface="Palatino" charset="0"/>
                <a:sym typeface="Palatino" charset="0"/>
              </a:rPr>
              <a:t>  language</a:t>
            </a:r>
          </a:p>
          <a:p>
            <a:pPr eaLnBrk="1" hangingPunct="1">
              <a:spcBef>
                <a:spcPct val="0"/>
              </a:spcBef>
              <a:buClrTx/>
              <a:buSzTx/>
              <a:buFontTx/>
              <a:buNone/>
            </a:pPr>
            <a:r>
              <a:rPr lang="en-US" altLang="x-none" sz="1600" dirty="0">
                <a:latin typeface="Palatino" charset="0"/>
                <a:sym typeface="Palatino" charset="0"/>
              </a:rPr>
              <a:t>  proof</a:t>
            </a:r>
          </a:p>
          <a:p>
            <a:pPr eaLnBrk="1" hangingPunct="1">
              <a:spcBef>
                <a:spcPct val="0"/>
              </a:spcBef>
              <a:buClrTx/>
              <a:buSzTx/>
              <a:buFontTx/>
              <a:buNone/>
            </a:pPr>
            <a:r>
              <a:rPr lang="en-US" altLang="x-none" sz="1600" dirty="0">
                <a:latin typeface="Palatino" charset="0"/>
                <a:sym typeface="Palatino" charset="0"/>
              </a:rPr>
              <a:t>  intelligence</a:t>
            </a:r>
            <a:r>
              <a:rPr lang="en-US" altLang="x-none" sz="1600" dirty="0">
                <a:latin typeface="Arial" charset="0"/>
                <a:ea typeface="MS PGothic" charset="-128"/>
                <a:sym typeface="Palatino" charset="0"/>
              </a:rPr>
              <a:t>”</a:t>
            </a:r>
            <a:endParaRPr lang="en-US" altLang="x-none" sz="1600" dirty="0">
              <a:latin typeface="Palatino" charset="0"/>
              <a:ea typeface="MS PGothic" charset="-128"/>
              <a:sym typeface="Palatino" charset="0"/>
            </a:endParaRPr>
          </a:p>
        </p:txBody>
      </p:sp>
      <p:sp>
        <p:nvSpPr>
          <p:cNvPr id="22" name="Rectangle 26"/>
          <p:cNvSpPr>
            <a:spLocks/>
          </p:cNvSpPr>
          <p:nvPr/>
        </p:nvSpPr>
        <p:spPr bwMode="auto">
          <a:xfrm>
            <a:off x="1524000" y="3824108"/>
            <a:ext cx="10096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b="1" i="1">
                <a:latin typeface="Palatino" charset="0"/>
                <a:ea typeface="MS PGothic" charset="-128"/>
                <a:sym typeface="Palatino" charset="0"/>
              </a:rPr>
              <a:t>Training</a:t>
            </a:r>
          </a:p>
          <a:p>
            <a:pPr eaLnBrk="1" hangingPunct="1">
              <a:spcBef>
                <a:spcPct val="0"/>
              </a:spcBef>
              <a:buClrTx/>
              <a:buSzTx/>
              <a:buFontTx/>
              <a:buNone/>
            </a:pPr>
            <a:r>
              <a:rPr lang="en-US" altLang="x-none" sz="1800" b="1" i="1">
                <a:latin typeface="Palatino" charset="0"/>
                <a:ea typeface="MS PGothic" charset="-128"/>
                <a:sym typeface="Palatino" charset="0"/>
              </a:rPr>
              <a:t>Data:</a:t>
            </a:r>
          </a:p>
        </p:txBody>
      </p:sp>
      <p:cxnSp>
        <p:nvCxnSpPr>
          <p:cNvPr id="23" name="AutoShape 27"/>
          <p:cNvCxnSpPr>
            <a:cxnSpLocks noChangeShapeType="1"/>
          </p:cNvCxnSpPr>
          <p:nvPr/>
        </p:nvCxnSpPr>
        <p:spPr bwMode="auto">
          <a:xfrm flipH="1">
            <a:off x="4710113" y="1704795"/>
            <a:ext cx="2986087" cy="1773238"/>
          </a:xfrm>
          <a:prstGeom prst="straightConnector1">
            <a:avLst/>
          </a:prstGeom>
          <a:ln>
            <a:headEnd/>
            <a:tailEnd type="triangle" w="med" len="med"/>
          </a:ln>
          <a:extLst/>
        </p:spPr>
        <p:style>
          <a:lnRef idx="1">
            <a:schemeClr val="accent2"/>
          </a:lnRef>
          <a:fillRef idx="0">
            <a:schemeClr val="accent2"/>
          </a:fillRef>
          <a:effectRef idx="0">
            <a:schemeClr val="accent2"/>
          </a:effectRef>
          <a:fontRef idx="minor">
            <a:schemeClr val="tx1"/>
          </a:fontRef>
        </p:style>
      </p:cxnSp>
      <p:sp>
        <p:nvSpPr>
          <p:cNvPr id="24" name="Rectangle 28"/>
          <p:cNvSpPr>
            <a:spLocks/>
          </p:cNvSpPr>
          <p:nvPr/>
        </p:nvSpPr>
        <p:spPr bwMode="auto">
          <a:xfrm>
            <a:off x="1524000" y="1673045"/>
            <a:ext cx="73183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b="1" i="1" dirty="0">
                <a:latin typeface="Palatino" charset="0"/>
                <a:ea typeface="MS PGothic" charset="-128"/>
                <a:sym typeface="Palatino" charset="0"/>
              </a:rPr>
              <a:t>Test</a:t>
            </a:r>
          </a:p>
          <a:p>
            <a:pPr eaLnBrk="1" hangingPunct="1">
              <a:spcBef>
                <a:spcPct val="0"/>
              </a:spcBef>
              <a:buClrTx/>
              <a:buSzTx/>
              <a:buFontTx/>
              <a:buNone/>
            </a:pPr>
            <a:r>
              <a:rPr lang="en-US" altLang="x-none" sz="1800" b="1" i="1" dirty="0">
                <a:latin typeface="Palatino" charset="0"/>
                <a:ea typeface="MS PGothic" charset="-128"/>
                <a:sym typeface="Palatino" charset="0"/>
              </a:rPr>
              <a:t>Data:</a:t>
            </a:r>
          </a:p>
        </p:txBody>
      </p:sp>
      <p:sp>
        <p:nvSpPr>
          <p:cNvPr id="25" name="Rectangle 29"/>
          <p:cNvSpPr>
            <a:spLocks/>
          </p:cNvSpPr>
          <p:nvPr/>
        </p:nvSpPr>
        <p:spPr bwMode="auto">
          <a:xfrm>
            <a:off x="1524000" y="2985908"/>
            <a:ext cx="9763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b="1" i="1">
                <a:latin typeface="Palatino" charset="0"/>
                <a:ea typeface="MS PGothic" charset="-128"/>
                <a:sym typeface="Palatino" charset="0"/>
              </a:rPr>
              <a:t>Classes:</a:t>
            </a:r>
          </a:p>
        </p:txBody>
      </p:sp>
      <p:sp>
        <p:nvSpPr>
          <p:cNvPr id="26" name="Rectangle 30"/>
          <p:cNvSpPr>
            <a:spLocks/>
          </p:cNvSpPr>
          <p:nvPr/>
        </p:nvSpPr>
        <p:spPr bwMode="auto">
          <a:xfrm>
            <a:off x="3846513" y="2695395"/>
            <a:ext cx="5619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(AI)</a:t>
            </a:r>
          </a:p>
        </p:txBody>
      </p:sp>
      <p:sp>
        <p:nvSpPr>
          <p:cNvPr id="27" name="Rectangle 32"/>
          <p:cNvSpPr>
            <a:spLocks/>
          </p:cNvSpPr>
          <p:nvPr/>
        </p:nvSpPr>
        <p:spPr bwMode="auto">
          <a:xfrm>
            <a:off x="5867400" y="2695395"/>
            <a:ext cx="17176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(Programming)</a:t>
            </a:r>
          </a:p>
        </p:txBody>
      </p:sp>
      <p:sp>
        <p:nvSpPr>
          <p:cNvPr id="28" name="Rectangle 33"/>
          <p:cNvSpPr>
            <a:spLocks/>
          </p:cNvSpPr>
          <p:nvPr/>
        </p:nvSpPr>
        <p:spPr bwMode="auto">
          <a:xfrm>
            <a:off x="8875713" y="2695395"/>
            <a:ext cx="7350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(HCI)</a:t>
            </a:r>
          </a:p>
        </p:txBody>
      </p:sp>
      <p:sp>
        <p:nvSpPr>
          <p:cNvPr id="29" name="Line 34"/>
          <p:cNvSpPr>
            <a:spLocks noChangeShapeType="1"/>
          </p:cNvSpPr>
          <p:nvPr/>
        </p:nvSpPr>
        <p:spPr bwMode="auto">
          <a:xfrm flipH="1">
            <a:off x="4143375" y="2100083"/>
            <a:ext cx="2105025" cy="595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0" name="Line 35"/>
          <p:cNvSpPr>
            <a:spLocks noChangeShapeType="1"/>
          </p:cNvSpPr>
          <p:nvPr/>
        </p:nvSpPr>
        <p:spPr bwMode="auto">
          <a:xfrm>
            <a:off x="6248400" y="2100083"/>
            <a:ext cx="495300" cy="595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31" name="Line 36"/>
          <p:cNvSpPr>
            <a:spLocks noChangeShapeType="1"/>
          </p:cNvSpPr>
          <p:nvPr/>
        </p:nvSpPr>
        <p:spPr bwMode="auto">
          <a:xfrm>
            <a:off x="6248400" y="2100083"/>
            <a:ext cx="3011488" cy="5953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en-US"/>
          </a:p>
        </p:txBody>
      </p:sp>
      <p:cxnSp>
        <p:nvCxnSpPr>
          <p:cNvPr id="32" name="AutoShape 37"/>
          <p:cNvCxnSpPr>
            <a:cxnSpLocks noChangeShapeType="1"/>
            <a:stCxn id="26" idx="0"/>
            <a:endCxn id="12" idx="0"/>
          </p:cNvCxnSpPr>
          <p:nvPr/>
        </p:nvCxnSpPr>
        <p:spPr bwMode="auto">
          <a:xfrm>
            <a:off x="4148138" y="2877958"/>
            <a:ext cx="561975" cy="600075"/>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 name="AutoShape 38"/>
          <p:cNvCxnSpPr>
            <a:cxnSpLocks noChangeShapeType="1"/>
            <a:stCxn id="27" idx="0"/>
            <a:endCxn id="10" idx="0"/>
          </p:cNvCxnSpPr>
          <p:nvPr/>
        </p:nvCxnSpPr>
        <p:spPr bwMode="auto">
          <a:xfrm flipH="1">
            <a:off x="6029325" y="2877958"/>
            <a:ext cx="720725" cy="600075"/>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4" name="AutoShape 39"/>
          <p:cNvCxnSpPr>
            <a:cxnSpLocks noChangeShapeType="1"/>
            <a:stCxn id="27" idx="0"/>
            <a:endCxn id="9" idx="0"/>
          </p:cNvCxnSpPr>
          <p:nvPr/>
        </p:nvCxnSpPr>
        <p:spPr bwMode="auto">
          <a:xfrm>
            <a:off x="6750050" y="2877958"/>
            <a:ext cx="639763" cy="600075"/>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5" name="AutoShape 40"/>
          <p:cNvCxnSpPr>
            <a:cxnSpLocks noChangeShapeType="1"/>
            <a:stCxn id="28" idx="0"/>
            <a:endCxn id="7" idx="0"/>
          </p:cNvCxnSpPr>
          <p:nvPr/>
        </p:nvCxnSpPr>
        <p:spPr bwMode="auto">
          <a:xfrm flipH="1">
            <a:off x="8837613" y="2877958"/>
            <a:ext cx="427037" cy="600075"/>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6" name="AutoShape 41"/>
          <p:cNvCxnSpPr>
            <a:cxnSpLocks noChangeShapeType="1"/>
            <a:stCxn id="28" idx="0"/>
            <a:endCxn id="8" idx="0"/>
          </p:cNvCxnSpPr>
          <p:nvPr/>
        </p:nvCxnSpPr>
        <p:spPr bwMode="auto">
          <a:xfrm>
            <a:off x="9264650" y="2877958"/>
            <a:ext cx="715963" cy="600075"/>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7" name="AutoShape 42"/>
          <p:cNvCxnSpPr>
            <a:cxnSpLocks noChangeShapeType="1"/>
            <a:stCxn id="26" idx="0"/>
            <a:endCxn id="11" idx="0"/>
          </p:cNvCxnSpPr>
          <p:nvPr/>
        </p:nvCxnSpPr>
        <p:spPr bwMode="auto">
          <a:xfrm flipH="1">
            <a:off x="3425825" y="2877958"/>
            <a:ext cx="722313" cy="604837"/>
          </a:xfrm>
          <a:prstGeom prst="straightConnector1">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38" name="Rectangle 43"/>
          <p:cNvSpPr>
            <a:spLocks/>
          </p:cNvSpPr>
          <p:nvPr/>
        </p:nvSpPr>
        <p:spPr bwMode="auto">
          <a:xfrm>
            <a:off x="8267700" y="3835220"/>
            <a:ext cx="3254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a:t>
            </a:r>
          </a:p>
        </p:txBody>
      </p:sp>
      <p:sp>
        <p:nvSpPr>
          <p:cNvPr id="39" name="Rectangle 44"/>
          <p:cNvSpPr>
            <a:spLocks/>
          </p:cNvSpPr>
          <p:nvPr/>
        </p:nvSpPr>
        <p:spPr bwMode="auto">
          <a:xfrm>
            <a:off x="9702800" y="3852683"/>
            <a:ext cx="3254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800">
                <a:latin typeface="Palatino" charset="0"/>
                <a:ea typeface="MS PGothic" charset="-128"/>
                <a:sym typeface="Palatino" charset="0"/>
              </a:rPr>
              <a:t>...</a:t>
            </a:r>
          </a:p>
        </p:txBody>
      </p:sp>
    </p:spTree>
    <p:extLst>
      <p:ext uri="{BB962C8B-B14F-4D97-AF65-F5344CB8AC3E}">
        <p14:creationId xmlns:p14="http://schemas.microsoft.com/office/powerpoint/2010/main" val="2652812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Классификация документов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6</a:t>
            </a:fld>
            <a:endParaRPr lang="ru-RU" noProof="0" dirty="0"/>
          </a:p>
        </p:txBody>
      </p:sp>
      <p:pic>
        <p:nvPicPr>
          <p:cNvPr id="4" name="Рисунок 3"/>
          <p:cNvPicPr>
            <a:picLocks noChangeAspect="1"/>
          </p:cNvPicPr>
          <p:nvPr/>
        </p:nvPicPr>
        <p:blipFill>
          <a:blip r:embed="rId2"/>
          <a:stretch>
            <a:fillRect/>
          </a:stretch>
        </p:blipFill>
        <p:spPr>
          <a:xfrm>
            <a:off x="1272306" y="1038562"/>
            <a:ext cx="9267825" cy="5438775"/>
          </a:xfrm>
          <a:prstGeom prst="rect">
            <a:avLst/>
          </a:prstGeom>
        </p:spPr>
      </p:pic>
    </p:spTree>
    <p:extLst>
      <p:ext uri="{BB962C8B-B14F-4D97-AF65-F5344CB8AC3E}">
        <p14:creationId xmlns:p14="http://schemas.microsoft.com/office/powerpoint/2010/main" val="18204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Рисунок 12" descr="Рисунок">
            <a:extLst>
              <a:ext uri="{FF2B5EF4-FFF2-40B4-BE49-F238E27FC236}">
                <a16:creationId xmlns:a16="http://schemas.microsoft.com/office/drawing/2014/main" id="{588C9C3E-7C4B-EA46-9848-A17249AC33B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15" name="Полилиния 5" descr="Пустой контрастный элемент">
            <a:extLst>
              <a:ext uri="{FF2B5EF4-FFF2-40B4-BE49-F238E27FC236}">
                <a16:creationId xmlns:a16="http://schemas.microsoft.com/office/drawing/2014/main" id="{10117390-DCFE-4FAE-B3FD-DAECFE779A27}"/>
              </a:ext>
              <a:ext uri="{C183D7F6-B498-43B3-948B-1728B52AA6E4}">
                <adec:decorative xmlns="" xmlns:adec="http://schemas.microsoft.com/office/drawing/2017/decorative" val="1"/>
              </a:ext>
            </a:extLst>
          </p:cNvPr>
          <p:cNvSpPr>
            <a:spLocks noChangeAspect="1"/>
          </p:cNvSpPr>
          <p:nvPr/>
        </p:nvSpPr>
        <p:spPr bwMode="auto">
          <a:xfrm>
            <a:off x="8713227" y="20491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1" name="Надпись 30" descr="Акцент флага для заголовка">
            <a:extLst>
              <a:ext uri="{FF2B5EF4-FFF2-40B4-BE49-F238E27FC236}">
                <a16:creationId xmlns:a16="http://schemas.microsoft.com/office/drawing/2014/main" id="{8FC2E368-898A-440B-A15C-4C5FB13C57D2}"/>
              </a:ext>
              <a:ext uri="{C183D7F6-B498-43B3-948B-1728B52AA6E4}">
                <adec:decorative xmlns="" xmlns:adec="http://schemas.microsoft.com/office/drawing/2017/decorative" val="1"/>
              </a:ext>
            </a:extLst>
          </p:cNvPr>
          <p:cNvSpPr txBox="1">
            <a:spLocks/>
          </p:cNvSpPr>
          <p:nvPr/>
        </p:nvSpPr>
        <p:spPr>
          <a:xfrm flipH="1">
            <a:off x="1897242" y="2364840"/>
            <a:ext cx="2494930" cy="3139768"/>
          </a:xfrm>
          <a:custGeom>
            <a:avLst/>
            <a:gdLst>
              <a:gd name="connsiteX0" fmla="*/ 2000924 w 2494930"/>
              <a:gd name="connsiteY0" fmla="*/ 1087415 h 3139768"/>
              <a:gd name="connsiteX1" fmla="*/ 2072963 w 2494930"/>
              <a:gd name="connsiteY1" fmla="*/ 1129282 h 3139768"/>
              <a:gd name="connsiteX2" fmla="*/ 2304085 w 2494930"/>
              <a:gd name="connsiteY2" fmla="*/ 1529014 h 3139768"/>
              <a:gd name="connsiteX3" fmla="*/ 2304085 w 2494930"/>
              <a:gd name="connsiteY3" fmla="*/ 1610754 h 3139768"/>
              <a:gd name="connsiteX4" fmla="*/ 2072963 w 2494930"/>
              <a:gd name="connsiteY4" fmla="*/ 2010486 h 3139768"/>
              <a:gd name="connsiteX5" fmla="*/ 2000924 w 2494930"/>
              <a:gd name="connsiteY5" fmla="*/ 2052353 h 3139768"/>
              <a:gd name="connsiteX6" fmla="*/ 1537679 w 2494930"/>
              <a:gd name="connsiteY6" fmla="*/ 2052353 h 3139768"/>
              <a:gd name="connsiteX7" fmla="*/ 1466641 w 2494930"/>
              <a:gd name="connsiteY7" fmla="*/ 2010486 h 3139768"/>
              <a:gd name="connsiteX8" fmla="*/ 1234518 w 2494930"/>
              <a:gd name="connsiteY8" fmla="*/ 1610754 h 3139768"/>
              <a:gd name="connsiteX9" fmla="*/ 1234518 w 2494930"/>
              <a:gd name="connsiteY9" fmla="*/ 1529014 h 3139768"/>
              <a:gd name="connsiteX10" fmla="*/ 1466641 w 2494930"/>
              <a:gd name="connsiteY10" fmla="*/ 1129282 h 3139768"/>
              <a:gd name="connsiteX11" fmla="*/ 1537679 w 2494930"/>
              <a:gd name="connsiteY11" fmla="*/ 1087415 h 3139768"/>
              <a:gd name="connsiteX12" fmla="*/ 2000924 w 2494930"/>
              <a:gd name="connsiteY12" fmla="*/ 1087415 h 3139768"/>
              <a:gd name="connsiteX13" fmla="*/ 1516872 w 2494930"/>
              <a:gd name="connsiteY13" fmla="*/ 0 h 3139768"/>
              <a:gd name="connsiteX14" fmla="*/ 1481849 w 2494930"/>
              <a:gd name="connsiteY14" fmla="*/ 0 h 3139768"/>
              <a:gd name="connsiteX15" fmla="*/ 1237282 w 2494930"/>
              <a:gd name="connsiteY15" fmla="*/ 0 h 3139768"/>
              <a:gd name="connsiteX16" fmla="*/ 99481 w 2494930"/>
              <a:gd name="connsiteY16" fmla="*/ 0 h 3139768"/>
              <a:gd name="connsiteX17" fmla="*/ 0 w 2494930"/>
              <a:gd name="connsiteY17" fmla="*/ 100333 h 3139768"/>
              <a:gd name="connsiteX18" fmla="*/ 0 w 2494930"/>
              <a:gd name="connsiteY18" fmla="*/ 1039826 h 3139768"/>
              <a:gd name="connsiteX19" fmla="*/ 0 w 2494930"/>
              <a:gd name="connsiteY19" fmla="*/ 2099942 h 3139768"/>
              <a:gd name="connsiteX20" fmla="*/ 0 w 2494930"/>
              <a:gd name="connsiteY20" fmla="*/ 3039435 h 3139768"/>
              <a:gd name="connsiteX21" fmla="*/ 99481 w 2494930"/>
              <a:gd name="connsiteY21" fmla="*/ 3139768 h 3139768"/>
              <a:gd name="connsiteX22" fmla="*/ 1237282 w 2494930"/>
              <a:gd name="connsiteY22" fmla="*/ 3139768 h 3139768"/>
              <a:gd name="connsiteX23" fmla="*/ 1481849 w 2494930"/>
              <a:gd name="connsiteY23" fmla="*/ 3139768 h 3139768"/>
              <a:gd name="connsiteX24" fmla="*/ 1556045 w 2494930"/>
              <a:gd name="connsiteY24" fmla="*/ 3139768 h 3139768"/>
              <a:gd name="connsiteX25" fmla="*/ 1600213 w 2494930"/>
              <a:gd name="connsiteY25" fmla="*/ 3121251 h 3139768"/>
              <a:gd name="connsiteX26" fmla="*/ 1699900 w 2494930"/>
              <a:gd name="connsiteY26" fmla="*/ 3020706 h 3139768"/>
              <a:gd name="connsiteX27" fmla="*/ 2458009 w 2494930"/>
              <a:gd name="connsiteY27" fmla="*/ 1709539 h 3139768"/>
              <a:gd name="connsiteX28" fmla="*/ 2458009 w 2494930"/>
              <a:gd name="connsiteY28" fmla="*/ 1441420 h 3139768"/>
              <a:gd name="connsiteX29" fmla="*/ 1699900 w 2494930"/>
              <a:gd name="connsiteY29" fmla="*/ 130253 h 3139768"/>
              <a:gd name="connsiteX30" fmla="*/ 1535140 w 2494930"/>
              <a:gd name="connsiteY30" fmla="*/ 2427 h 313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94930" h="3139768">
                <a:moveTo>
                  <a:pt x="2000924" y="1087415"/>
                </a:moveTo>
                <a:cubicBezTo>
                  <a:pt x="2030940" y="1087415"/>
                  <a:pt x="2057955" y="1103365"/>
                  <a:pt x="2072963" y="1129282"/>
                </a:cubicBezTo>
                <a:cubicBezTo>
                  <a:pt x="2304085" y="1529014"/>
                  <a:pt x="2304085" y="1529014"/>
                  <a:pt x="2304085" y="1529014"/>
                </a:cubicBezTo>
                <a:cubicBezTo>
                  <a:pt x="2319093" y="1553935"/>
                  <a:pt x="2319093" y="1585834"/>
                  <a:pt x="2304085" y="1610754"/>
                </a:cubicBezTo>
                <a:cubicBezTo>
                  <a:pt x="2072963" y="2010486"/>
                  <a:pt x="2072963" y="2010486"/>
                  <a:pt x="2072963" y="2010486"/>
                </a:cubicBezTo>
                <a:cubicBezTo>
                  <a:pt x="2057955" y="2036404"/>
                  <a:pt x="2030940" y="2052353"/>
                  <a:pt x="2000924" y="2052353"/>
                </a:cubicBezTo>
                <a:cubicBezTo>
                  <a:pt x="1537679" y="2052353"/>
                  <a:pt x="1537679" y="2052353"/>
                  <a:pt x="1537679" y="2052353"/>
                </a:cubicBezTo>
                <a:cubicBezTo>
                  <a:pt x="1508663" y="2052353"/>
                  <a:pt x="1480649" y="2036404"/>
                  <a:pt x="1466641" y="2010486"/>
                </a:cubicBezTo>
                <a:cubicBezTo>
                  <a:pt x="1234518" y="1610754"/>
                  <a:pt x="1234518" y="1610754"/>
                  <a:pt x="1234518" y="1610754"/>
                </a:cubicBezTo>
                <a:cubicBezTo>
                  <a:pt x="1219510" y="1585834"/>
                  <a:pt x="1219510" y="1553935"/>
                  <a:pt x="1234518" y="1529014"/>
                </a:cubicBezTo>
                <a:cubicBezTo>
                  <a:pt x="1466641" y="1129282"/>
                  <a:pt x="1466641" y="1129282"/>
                  <a:pt x="1466641" y="1129282"/>
                </a:cubicBezTo>
                <a:cubicBezTo>
                  <a:pt x="1480649" y="1103365"/>
                  <a:pt x="1508663" y="1087415"/>
                  <a:pt x="1537679" y="1087415"/>
                </a:cubicBezTo>
                <a:cubicBezTo>
                  <a:pt x="2000924" y="1087415"/>
                  <a:pt x="2000924" y="1087415"/>
                  <a:pt x="2000924" y="1087415"/>
                </a:cubicBezTo>
                <a:close/>
                <a:moveTo>
                  <a:pt x="1516872" y="0"/>
                </a:moveTo>
                <a:lnTo>
                  <a:pt x="1481849" y="0"/>
                </a:lnTo>
                <a:lnTo>
                  <a:pt x="1237282" y="0"/>
                </a:lnTo>
                <a:lnTo>
                  <a:pt x="99481" y="0"/>
                </a:lnTo>
                <a:cubicBezTo>
                  <a:pt x="44540" y="0"/>
                  <a:pt x="0" y="44921"/>
                  <a:pt x="0" y="100333"/>
                </a:cubicBezTo>
                <a:lnTo>
                  <a:pt x="0" y="1039826"/>
                </a:lnTo>
                <a:lnTo>
                  <a:pt x="0" y="2099942"/>
                </a:lnTo>
                <a:lnTo>
                  <a:pt x="0" y="3039435"/>
                </a:lnTo>
                <a:cubicBezTo>
                  <a:pt x="0" y="3094847"/>
                  <a:pt x="44540" y="3139768"/>
                  <a:pt x="99481" y="3139768"/>
                </a:cubicBezTo>
                <a:lnTo>
                  <a:pt x="1237282" y="3139768"/>
                </a:lnTo>
                <a:lnTo>
                  <a:pt x="1481849" y="3139768"/>
                </a:lnTo>
                <a:lnTo>
                  <a:pt x="1556045" y="3139768"/>
                </a:lnTo>
                <a:lnTo>
                  <a:pt x="1600213" y="3121251"/>
                </a:lnTo>
                <a:cubicBezTo>
                  <a:pt x="1640826" y="3097545"/>
                  <a:pt x="1675286" y="3063213"/>
                  <a:pt x="1699900" y="3020706"/>
                </a:cubicBezTo>
                <a:cubicBezTo>
                  <a:pt x="1699900" y="3020706"/>
                  <a:pt x="1699900" y="3020706"/>
                  <a:pt x="2458009" y="1709539"/>
                </a:cubicBezTo>
                <a:cubicBezTo>
                  <a:pt x="2507237" y="1627796"/>
                  <a:pt x="2507237" y="1523164"/>
                  <a:pt x="2458009" y="1441420"/>
                </a:cubicBezTo>
                <a:cubicBezTo>
                  <a:pt x="2458009" y="1441420"/>
                  <a:pt x="2458009" y="1441420"/>
                  <a:pt x="1699900" y="130253"/>
                </a:cubicBezTo>
                <a:cubicBezTo>
                  <a:pt x="1662979" y="66493"/>
                  <a:pt x="1603905" y="21126"/>
                  <a:pt x="1535140" y="2427"/>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21" name="Равнобедренный треугольник 20" descr="Акцент тени для заголовка">
            <a:extLst>
              <a:ext uri="{FF2B5EF4-FFF2-40B4-BE49-F238E27FC236}">
                <a16:creationId xmlns:a16="http://schemas.microsoft.com/office/drawing/2014/main" id="{59A98ED3-718C-409B-BC1D-07842F9F58EB}"/>
              </a:ext>
              <a:ext uri="{C183D7F6-B498-43B3-948B-1728B52AA6E4}">
                <adec:decorative xmlns="" xmlns:adec="http://schemas.microsoft.com/office/drawing/2017/decorative" val="1"/>
              </a:ext>
            </a:extLst>
          </p:cNvPr>
          <p:cNvSpPr/>
          <p:nvPr/>
        </p:nvSpPr>
        <p:spPr>
          <a:xfrm rot="10800000" flipH="1">
            <a:off x="3915924" y="496252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3866117" y="1816509"/>
            <a:ext cx="4459766" cy="3146839"/>
          </a:xfrm>
        </p:spPr>
        <p:txBody>
          <a:bodyPr rtlCol="0"/>
          <a:lstStyle/>
          <a:p>
            <a:r>
              <a:rPr lang="ru-RU" dirty="0"/>
              <a:t>Методы классификации</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4048124" y="3795246"/>
            <a:ext cx="4000500" cy="997905"/>
          </a:xfrm>
        </p:spPr>
        <p:txBody>
          <a:bodyPr rtlCol="0"/>
          <a:lstStyle/>
          <a:p>
            <a:pPr rtl="0"/>
            <a:endParaRPr lang="ru-RU" dirty="0"/>
          </a:p>
        </p:txBody>
      </p:sp>
      <p:sp>
        <p:nvSpPr>
          <p:cNvPr id="5" name="Номер слайда 4">
            <a:extLst>
              <a:ext uri="{FF2B5EF4-FFF2-40B4-BE49-F238E27FC236}">
                <a16:creationId xmlns:a16="http://schemas.microsoft.com/office/drawing/2014/main" id="{F6964141-6F81-4947-A236-746D94ED3F6F}"/>
              </a:ext>
            </a:extLst>
          </p:cNvPr>
          <p:cNvSpPr>
            <a:spLocks noGrp="1"/>
          </p:cNvSpPr>
          <p:nvPr>
            <p:ph type="sldNum" sz="quarter" idx="12"/>
          </p:nvPr>
        </p:nvSpPr>
        <p:spPr>
          <a:xfrm>
            <a:off x="11727656" y="6277243"/>
            <a:ext cx="464344" cy="400188"/>
          </a:xfrm>
        </p:spPr>
        <p:txBody>
          <a:bodyPr rtlCol="0"/>
          <a:lstStyle/>
          <a:p>
            <a:pPr rtl="0"/>
            <a:fld id="{19B51A1E-902D-48AF-9020-955120F399B6}" type="slidenum">
              <a:rPr lang="ru-RU" smtClean="0"/>
              <a:pPr rtl="0"/>
              <a:t>7</a:t>
            </a:fld>
            <a:endParaRPr lang="ru-RU" dirty="0"/>
          </a:p>
        </p:txBody>
      </p:sp>
    </p:spTree>
    <p:extLst>
      <p:ext uri="{BB962C8B-B14F-4D97-AF65-F5344CB8AC3E}">
        <p14:creationId xmlns:p14="http://schemas.microsoft.com/office/powerpoint/2010/main" val="3959739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Ручная классификация</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fontAlgn="base"/>
            <a:r>
              <a:rPr lang="ru-RU" sz="3000" dirty="0" smtClean="0"/>
              <a:t>Использовалась ранними версиями </a:t>
            </a:r>
            <a:r>
              <a:rPr lang="ru-RU" sz="3000" dirty="0" err="1" smtClean="0"/>
              <a:t>Yahoo</a:t>
            </a:r>
            <a:r>
              <a:rPr lang="ru-RU" sz="3000" dirty="0" smtClean="0"/>
              <a:t>! И другими сервисами (</a:t>
            </a:r>
            <a:r>
              <a:rPr lang="ru-RU" sz="3000" dirty="0" err="1" smtClean="0"/>
              <a:t>Looksmart</a:t>
            </a:r>
            <a:r>
              <a:rPr lang="ru-RU" sz="3000" dirty="0"/>
              <a:t>, About.com, </a:t>
            </a:r>
            <a:r>
              <a:rPr lang="ru-RU" sz="3000" dirty="0" err="1"/>
              <a:t>Open</a:t>
            </a:r>
            <a:r>
              <a:rPr lang="ru-RU" sz="3000" dirty="0"/>
              <a:t> </a:t>
            </a:r>
            <a:r>
              <a:rPr lang="ru-RU" sz="3000" dirty="0" err="1"/>
              <a:t>Directory</a:t>
            </a:r>
            <a:r>
              <a:rPr lang="ru-RU" sz="3000" dirty="0"/>
              <a:t> </a:t>
            </a:r>
            <a:r>
              <a:rPr lang="ru-RU" sz="3000" dirty="0" err="1"/>
              <a:t>Project</a:t>
            </a:r>
            <a:r>
              <a:rPr lang="ru-RU" sz="3000" dirty="0"/>
              <a:t>, </a:t>
            </a:r>
            <a:r>
              <a:rPr lang="ru-RU" sz="3000" dirty="0" err="1" smtClean="0"/>
              <a:t>PubMed</a:t>
            </a:r>
            <a:r>
              <a:rPr lang="ru-RU" sz="3000" dirty="0" smtClean="0"/>
              <a:t>)</a:t>
            </a:r>
            <a:endParaRPr lang="ru-RU" sz="3000" dirty="0"/>
          </a:p>
          <a:p>
            <a:pPr fontAlgn="base"/>
            <a:r>
              <a:rPr lang="ru-RU" sz="3000" dirty="0" smtClean="0"/>
              <a:t>Точная</a:t>
            </a:r>
            <a:r>
              <a:rPr lang="ru-RU" sz="3000" dirty="0"/>
              <a:t>, когда работу выполняют эксперты</a:t>
            </a:r>
          </a:p>
          <a:p>
            <a:pPr fontAlgn="base"/>
            <a:r>
              <a:rPr lang="ru-RU" sz="3000" dirty="0" smtClean="0"/>
              <a:t>Непротиворечивая, </a:t>
            </a:r>
            <a:r>
              <a:rPr lang="ru-RU" sz="3000" dirty="0"/>
              <a:t>когда </a:t>
            </a:r>
            <a:r>
              <a:rPr lang="ru-RU" sz="3000" dirty="0" smtClean="0"/>
              <a:t>задача небольшая как и </a:t>
            </a:r>
            <a:r>
              <a:rPr lang="ru-RU" sz="3000" dirty="0"/>
              <a:t>команда </a:t>
            </a:r>
            <a:r>
              <a:rPr lang="ru-RU" sz="3000" dirty="0" smtClean="0"/>
              <a:t>проекта</a:t>
            </a:r>
            <a:endParaRPr lang="ru-RU" sz="3000" dirty="0"/>
          </a:p>
          <a:p>
            <a:pPr fontAlgn="base"/>
            <a:r>
              <a:rPr lang="ru-RU" sz="3000" dirty="0" smtClean="0"/>
              <a:t>Трудно </a:t>
            </a:r>
            <a:r>
              <a:rPr lang="ru-RU" sz="3000" dirty="0"/>
              <a:t>масштабируется и дорого обходится</a:t>
            </a:r>
          </a:p>
          <a:p>
            <a:pPr marL="0" indent="0" fontAlgn="base">
              <a:buNone/>
            </a:pPr>
            <a:r>
              <a:rPr lang="ru-RU" sz="3000" dirty="0" smtClean="0"/>
              <a:t>Значит </a:t>
            </a:r>
            <a:r>
              <a:rPr lang="ru-RU" sz="3000" dirty="0"/>
              <a:t>нам нужны автоматические методы классификации для больших </a:t>
            </a:r>
            <a:r>
              <a:rPr lang="ru-RU" sz="3000" dirty="0" smtClean="0"/>
              <a:t>задач.</a:t>
            </a:r>
            <a:endParaRPr lang="ru-RU" sz="3000" dirty="0"/>
          </a:p>
          <a:p>
            <a:pPr marL="0" indent="0" fontAlgn="base">
              <a:buNone/>
            </a:pPr>
            <a:endParaRPr lang="ru-RU" sz="3000" dirty="0"/>
          </a:p>
          <a:p>
            <a:pPr marL="0" indent="0" fontAlgn="base">
              <a:buNone/>
            </a:pPr>
            <a:endParaRPr lang="ru-RU" sz="3000" dirty="0"/>
          </a:p>
        </p:txBody>
      </p:sp>
    </p:spTree>
    <p:extLst>
      <p:ext uri="{BB962C8B-B14F-4D97-AF65-F5344CB8AC3E}">
        <p14:creationId xmlns:p14="http://schemas.microsoft.com/office/powerpoint/2010/main" val="2543359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Классификаторы, основанные на ручных правилах</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smtClean="0"/>
              <a:t>Один </a:t>
            </a:r>
            <a:r>
              <a:rPr lang="ru-RU" sz="3000" dirty="0"/>
              <a:t>метод, используемый информационными агентствами, разведывательными службами и др.</a:t>
            </a:r>
          </a:p>
          <a:p>
            <a:pPr marL="0" indent="0" fontAlgn="base">
              <a:buNone/>
            </a:pPr>
            <a:r>
              <a:rPr lang="ru-RU" sz="3000" dirty="0" smtClean="0"/>
              <a:t>Широко </a:t>
            </a:r>
            <a:r>
              <a:rPr lang="ru-RU" sz="3000" dirty="0"/>
              <a:t>применяется в государственных учреждениях и </a:t>
            </a:r>
            <a:r>
              <a:rPr lang="ru-RU" sz="3000" dirty="0" smtClean="0"/>
              <a:t>компаниях.</a:t>
            </a:r>
            <a:endParaRPr lang="ru-RU" sz="3000" dirty="0"/>
          </a:p>
          <a:p>
            <a:pPr marL="0" indent="0" fontAlgn="base">
              <a:buNone/>
            </a:pPr>
            <a:r>
              <a:rPr lang="ru-RU" sz="3000" dirty="0" smtClean="0"/>
              <a:t>Существуют IDE </a:t>
            </a:r>
            <a:r>
              <a:rPr lang="ru-RU" sz="3000" dirty="0"/>
              <a:t>для написания таких </a:t>
            </a:r>
            <a:r>
              <a:rPr lang="ru-RU" sz="3000" dirty="0" smtClean="0"/>
              <a:t>правил.</a:t>
            </a:r>
            <a:endParaRPr lang="ru-RU" sz="3000" dirty="0"/>
          </a:p>
          <a:p>
            <a:pPr marL="0" indent="0" fontAlgn="base">
              <a:buNone/>
            </a:pPr>
            <a:r>
              <a:rPr lang="ru-RU" sz="3000" dirty="0"/>
              <a:t>Автоматизированные классификаторы с ручными правилами</a:t>
            </a:r>
          </a:p>
          <a:p>
            <a:pPr marL="0" indent="0" fontAlgn="base">
              <a:buNone/>
            </a:pPr>
            <a:r>
              <a:rPr lang="ru-RU" sz="3000" dirty="0" smtClean="0"/>
              <a:t>Коммерческие </a:t>
            </a:r>
            <a:r>
              <a:rPr lang="ru-RU" sz="3000" dirty="0"/>
              <a:t>системы имеют сложный язык </a:t>
            </a:r>
            <a:r>
              <a:rPr lang="ru-RU" sz="3000" dirty="0" smtClean="0"/>
              <a:t>запросов.</a:t>
            </a:r>
            <a:endParaRPr lang="ru-RU" sz="3000" dirty="0"/>
          </a:p>
          <a:p>
            <a:pPr marL="0" indent="0" fontAlgn="base">
              <a:buNone/>
            </a:pPr>
            <a:r>
              <a:rPr lang="ru-RU" sz="3000" dirty="0" smtClean="0"/>
              <a:t>Высокая </a:t>
            </a:r>
            <a:r>
              <a:rPr lang="ru-RU" sz="3000" dirty="0"/>
              <a:t>точность возможна, если правило было </a:t>
            </a:r>
            <a:r>
              <a:rPr lang="ru-RU" sz="3000" dirty="0" smtClean="0"/>
              <a:t>разработано и проверено экспертом.</a:t>
            </a:r>
            <a:endParaRPr lang="ru-RU" sz="3000" dirty="0"/>
          </a:p>
          <a:p>
            <a:pPr marL="0" indent="0" fontAlgn="base">
              <a:buNone/>
            </a:pPr>
            <a:r>
              <a:rPr lang="ru-RU" sz="3000" dirty="0" smtClean="0"/>
              <a:t>Создание </a:t>
            </a:r>
            <a:r>
              <a:rPr lang="ru-RU" sz="3000" dirty="0"/>
              <a:t>и поддержание этих правил </a:t>
            </a:r>
            <a:r>
              <a:rPr lang="ru-RU" sz="3000" dirty="0" smtClean="0"/>
              <a:t>дорого стоит.</a:t>
            </a:r>
            <a:endParaRPr lang="ru-RU" sz="3000" dirty="0"/>
          </a:p>
        </p:txBody>
      </p:sp>
    </p:spTree>
    <p:extLst>
      <p:ext uri="{BB962C8B-B14F-4D97-AF65-F5344CB8AC3E}">
        <p14:creationId xmlns:p14="http://schemas.microsoft.com/office/powerpoint/2010/main" val="702271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Topic Information </a:t>
            </a:r>
            <a:r>
              <a:rPr lang="en-US" b="1" dirty="0" smtClean="0"/>
              <a:t>Server </a:t>
            </a:r>
            <a:r>
              <a:rPr lang="ru-RU" b="1" dirty="0" smtClean="0"/>
              <a:t>от </a:t>
            </a:r>
            <a:r>
              <a:rPr lang="en-US" b="1" dirty="0"/>
              <a:t>Verity</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10</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Фирма </a:t>
            </a:r>
            <a:r>
              <a:rPr lang="ru-RU" sz="3200" dirty="0" err="1"/>
              <a:t>Verity</a:t>
            </a:r>
            <a:r>
              <a:rPr lang="ru-RU" sz="3200" dirty="0"/>
              <a:t> создала интеллектуальных агентов для выборки </a:t>
            </a:r>
            <a:r>
              <a:rPr lang="ru-RU" sz="3200" dirty="0" smtClean="0"/>
              <a:t>текстов.</a:t>
            </a:r>
          </a:p>
          <a:p>
            <a:r>
              <a:rPr lang="ru-RU" sz="2400" dirty="0"/>
              <a:t>Фирма </a:t>
            </a:r>
            <a:r>
              <a:rPr lang="ru-RU" sz="2400" dirty="0" err="1"/>
              <a:t>Verity</a:t>
            </a:r>
            <a:r>
              <a:rPr lang="ru-RU" sz="2400" dirty="0"/>
              <a:t> (Маунтин-Вью, шт. Калифорния) выпустила систему выборки текстовых документов, выполненную на базе новой архитектуры. Для автоматизации операций поиска в базах данных она использует настраиваемых информационных агентов.</a:t>
            </a:r>
          </a:p>
          <a:p>
            <a:r>
              <a:rPr lang="ru-RU" sz="2400" dirty="0"/>
              <a:t>Система </a:t>
            </a:r>
            <a:r>
              <a:rPr lang="ru-RU" sz="2400" dirty="0" err="1"/>
              <a:t>Topic</a:t>
            </a:r>
            <a:r>
              <a:rPr lang="ru-RU" sz="2400" dirty="0"/>
              <a:t> </a:t>
            </a:r>
            <a:r>
              <a:rPr lang="ru-RU" sz="2400" dirty="0" err="1"/>
              <a:t>Information</a:t>
            </a:r>
            <a:r>
              <a:rPr lang="ru-RU" sz="2400" dirty="0"/>
              <a:t> </a:t>
            </a:r>
            <a:r>
              <a:rPr lang="ru-RU" sz="2400" dirty="0" err="1"/>
              <a:t>Server</a:t>
            </a:r>
            <a:r>
              <a:rPr lang="ru-RU" sz="2400" dirty="0"/>
              <a:t>, работающая со всеми основными операционными системами, предназначена для поиска документов, хранящихся в разных форматах.</a:t>
            </a:r>
          </a:p>
          <a:p>
            <a:r>
              <a:rPr lang="ru-RU" sz="2400" dirty="0"/>
              <a:t>"Мы применяем </a:t>
            </a:r>
            <a:r>
              <a:rPr lang="ru-RU" sz="2400" dirty="0" err="1"/>
              <a:t>Topic</a:t>
            </a:r>
            <a:r>
              <a:rPr lang="ru-RU" sz="2400" dirty="0"/>
              <a:t> фирмы </a:t>
            </a:r>
            <a:r>
              <a:rPr lang="ru-RU" sz="2400" dirty="0" err="1"/>
              <a:t>Verity</a:t>
            </a:r>
            <a:r>
              <a:rPr lang="ru-RU" sz="2400" dirty="0"/>
              <a:t> для работы с технической документацией по химической   технологии, электронной почтой и другими видами документов,  -  говорит Чарльз </a:t>
            </a:r>
            <a:r>
              <a:rPr lang="ru-RU" sz="2400" dirty="0" err="1"/>
              <a:t>Бауг</a:t>
            </a:r>
            <a:r>
              <a:rPr lang="ru-RU" sz="2400" dirty="0"/>
              <a:t>, директор по экспертным системам фирмы </a:t>
            </a:r>
            <a:r>
              <a:rPr lang="ru-RU" sz="2400" dirty="0" err="1"/>
              <a:t>Cisco</a:t>
            </a:r>
            <a:r>
              <a:rPr lang="ru-RU" sz="2400" dirty="0"/>
              <a:t> </a:t>
            </a:r>
            <a:r>
              <a:rPr lang="ru-RU" sz="2400" dirty="0" err="1"/>
              <a:t>Systems</a:t>
            </a:r>
            <a:r>
              <a:rPr lang="ru-RU" sz="2400" dirty="0"/>
              <a:t> (Сан-Хосе, шт. Калифорния).  -  Мы намерены внедрить архитектуру клиент-сервер и хотим соединить ее непосредственно с нашим сервером </a:t>
            </a:r>
            <a:r>
              <a:rPr lang="ru-RU" sz="2400" dirty="0" err="1"/>
              <a:t>Worldwide</a:t>
            </a:r>
            <a:r>
              <a:rPr lang="ru-RU" sz="2400" dirty="0"/>
              <a:t> </a:t>
            </a:r>
            <a:r>
              <a:rPr lang="ru-RU" sz="2400" dirty="0" err="1"/>
              <a:t>Web</a:t>
            </a:r>
            <a:r>
              <a:rPr lang="ru-RU" sz="2400" dirty="0" smtClean="0"/>
              <a:t>".</a:t>
            </a:r>
          </a:p>
          <a:p>
            <a:pPr marL="0" indent="0">
              <a:buNone/>
            </a:pPr>
            <a:r>
              <a:rPr lang="en-US" sz="2400" dirty="0">
                <a:hlinkClick r:id="rId2"/>
              </a:rPr>
              <a:t>https://</a:t>
            </a:r>
            <a:r>
              <a:rPr lang="en-US" sz="2400" dirty="0" smtClean="0">
                <a:hlinkClick r:id="rId2"/>
              </a:rPr>
              <a:t>www.itweek.ru/themes/detail.php?ID=77505</a:t>
            </a:r>
            <a:r>
              <a:rPr lang="ru-RU" sz="2400" dirty="0" smtClean="0"/>
              <a:t> </a:t>
            </a:r>
            <a:endParaRPr lang="ru-RU" sz="3200" dirty="0"/>
          </a:p>
        </p:txBody>
      </p:sp>
    </p:spTree>
    <p:extLst>
      <p:ext uri="{BB962C8B-B14F-4D97-AF65-F5344CB8AC3E}">
        <p14:creationId xmlns:p14="http://schemas.microsoft.com/office/powerpoint/2010/main" val="278803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Topic Information </a:t>
            </a:r>
            <a:r>
              <a:rPr lang="en-US" b="1" dirty="0" smtClean="0"/>
              <a:t>Server </a:t>
            </a:r>
            <a:r>
              <a:rPr lang="ru-RU" b="1" dirty="0" smtClean="0"/>
              <a:t>от </a:t>
            </a:r>
            <a:r>
              <a:rPr lang="en-US" b="1" dirty="0"/>
              <a:t>Verity</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11</a:t>
            </a:fld>
            <a:endParaRPr lang="ru-RU" noProof="0" dirty="0"/>
          </a:p>
        </p:txBody>
      </p:sp>
      <p:sp>
        <p:nvSpPr>
          <p:cNvPr id="4" name="Объект 3"/>
          <p:cNvSpPr>
            <a:spLocks noGrp="1"/>
          </p:cNvSpPr>
          <p:nvPr>
            <p:ph idx="1"/>
          </p:nvPr>
        </p:nvSpPr>
        <p:spPr>
          <a:xfrm>
            <a:off x="432000" y="1055715"/>
            <a:ext cx="6900785" cy="5318707"/>
          </a:xfrm>
        </p:spPr>
        <p:txBody>
          <a:bodyPr>
            <a:normAutofit/>
          </a:bodyPr>
          <a:lstStyle/>
          <a:p>
            <a:pPr marL="0" indent="0" fontAlgn="base">
              <a:buNone/>
            </a:pPr>
            <a:r>
              <a:rPr lang="ru-RU" dirty="0"/>
              <a:t>"</a:t>
            </a:r>
            <a:r>
              <a:rPr lang="ru-RU" dirty="0" err="1"/>
              <a:t>Topic</a:t>
            </a:r>
            <a:r>
              <a:rPr lang="ru-RU" dirty="0"/>
              <a:t> не только поддерживает гиперсвязи, что удобно для небольших документов, но и помогает в поиске специфической информации среди множества документов большого объема",  -  продолжил </a:t>
            </a:r>
            <a:r>
              <a:rPr lang="ru-RU" dirty="0" err="1"/>
              <a:t>Бауг</a:t>
            </a:r>
            <a:r>
              <a:rPr lang="ru-RU" dirty="0" smtClean="0"/>
              <a:t>.</a:t>
            </a:r>
          </a:p>
          <a:p>
            <a:pPr marL="0" indent="0">
              <a:buNone/>
            </a:pPr>
            <a:r>
              <a:rPr lang="ru-RU" dirty="0" smtClean="0"/>
              <a:t>По </a:t>
            </a:r>
            <a:r>
              <a:rPr lang="ru-RU" dirty="0"/>
              <a:t>его словам, </a:t>
            </a:r>
            <a:r>
              <a:rPr lang="ru-RU" dirty="0" err="1"/>
              <a:t>Cisco</a:t>
            </a:r>
            <a:r>
              <a:rPr lang="ru-RU" dirty="0"/>
              <a:t> будет применять этот продукт не только для поиска в локальной сети, но и сети масштаба предприятия, а также и при работе с документацией на CD-ROM.</a:t>
            </a:r>
          </a:p>
          <a:p>
            <a:pPr marL="0" indent="0">
              <a:buNone/>
            </a:pPr>
            <a:r>
              <a:rPr lang="ru-RU" dirty="0"/>
              <a:t>По мнению специалистов, автоматический поиск информации  -  перспективное направление для разработок. "Чем выше степень автоматизации подобных агентов поиска, тем интенсивнее они будут применяться. В прошлом  продукты  фирмы </a:t>
            </a:r>
            <a:r>
              <a:rPr lang="ru-RU" dirty="0" err="1"/>
              <a:t>Verity</a:t>
            </a:r>
            <a:r>
              <a:rPr lang="ru-RU" dirty="0"/>
              <a:t> еще требовали серьезной настройки,  -  </a:t>
            </a:r>
            <a:r>
              <a:rPr lang="ru-RU" dirty="0" smtClean="0"/>
              <a:t>полагает Линда </a:t>
            </a:r>
            <a:r>
              <a:rPr lang="ru-RU" dirty="0" err="1"/>
              <a:t>Майерз-Тирни</a:t>
            </a:r>
            <a:r>
              <a:rPr lang="ru-RU" dirty="0"/>
              <a:t>, аналитик из IDC (</a:t>
            </a:r>
            <a:r>
              <a:rPr lang="ru-RU" dirty="0" err="1"/>
              <a:t>Фрсймингхем</a:t>
            </a:r>
            <a:r>
              <a:rPr lang="ru-RU" dirty="0"/>
              <a:t>, шт. Массачусетс).  -  Электронные издания по мере коммерциализации  </a:t>
            </a:r>
            <a:r>
              <a:rPr lang="ru-RU" dirty="0" err="1"/>
              <a:t>Internet</a:t>
            </a:r>
            <a:r>
              <a:rPr lang="ru-RU" dirty="0"/>
              <a:t> станут очень эффективными, но прежде, чем это произойдет, электронная информация должна стать легкодоступной для управления и сортировки",  -  продолжила </a:t>
            </a:r>
            <a:r>
              <a:rPr lang="ru-RU" dirty="0" err="1"/>
              <a:t>Майерз-Тирни</a:t>
            </a:r>
            <a:r>
              <a:rPr lang="ru-RU" dirty="0" smtClean="0"/>
              <a:t>.</a:t>
            </a:r>
            <a:endParaRPr lang="ru-RU" sz="3200" dirty="0"/>
          </a:p>
        </p:txBody>
      </p:sp>
      <p:pic>
        <p:nvPicPr>
          <p:cNvPr id="44034" name="Picture 2" descr="https://www.itweek.ru/images/pcweek/archive/8002_963809661_3.rtf.files/image00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7197" y="976585"/>
            <a:ext cx="4246047" cy="3375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0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Topic Information </a:t>
            </a:r>
            <a:r>
              <a:rPr lang="en-US" b="1" dirty="0" smtClean="0"/>
              <a:t>Server </a:t>
            </a:r>
            <a:r>
              <a:rPr lang="ru-RU" b="1" dirty="0" smtClean="0"/>
              <a:t>от </a:t>
            </a:r>
            <a:r>
              <a:rPr lang="en-US" b="1" dirty="0"/>
              <a:t>Verity</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a:buNone/>
            </a:pPr>
            <a:r>
              <a:rPr lang="ru-RU" sz="2400" dirty="0"/>
              <a:t>Для пользователей интегрирующие издательские технологии чрезвычайно важны. Например, </a:t>
            </a:r>
            <a:r>
              <a:rPr lang="ru-RU" sz="2400" dirty="0" err="1"/>
              <a:t>Cisco</a:t>
            </a:r>
            <a:r>
              <a:rPr lang="ru-RU" sz="2400" dirty="0"/>
              <a:t> в настоящее время оценивает преимущества еще одной возможности в архитектуре </a:t>
            </a:r>
            <a:r>
              <a:rPr lang="ru-RU" sz="2400" dirty="0" err="1"/>
              <a:t>Topic</a:t>
            </a:r>
            <a:r>
              <a:rPr lang="ru-RU" sz="2400" dirty="0"/>
              <a:t>  -  ее интеграции с </a:t>
            </a:r>
            <a:r>
              <a:rPr lang="ru-RU" sz="2400" dirty="0" err="1"/>
              <a:t>многоплатформной</a:t>
            </a:r>
            <a:r>
              <a:rPr lang="ru-RU" sz="2400" dirty="0"/>
              <a:t> системой издания электронных документов </a:t>
            </a:r>
            <a:r>
              <a:rPr lang="ru-RU" sz="2400" dirty="0" err="1"/>
              <a:t>Acrobat</a:t>
            </a:r>
            <a:r>
              <a:rPr lang="ru-RU" sz="2400" dirty="0"/>
              <a:t> фирмы </a:t>
            </a:r>
            <a:r>
              <a:rPr lang="ru-RU" sz="2400" dirty="0" err="1"/>
              <a:t>Adobe</a:t>
            </a:r>
            <a:r>
              <a:rPr lang="ru-RU" sz="2400" dirty="0"/>
              <a:t> </a:t>
            </a:r>
            <a:r>
              <a:rPr lang="ru-RU" sz="2400" dirty="0" err="1"/>
              <a:t>Systems</a:t>
            </a:r>
            <a:r>
              <a:rPr lang="ru-RU" sz="2400" dirty="0"/>
              <a:t>. С помощью </a:t>
            </a:r>
            <a:r>
              <a:rPr lang="ru-RU" sz="2400" dirty="0" err="1"/>
              <a:t>Topic</a:t>
            </a:r>
            <a:r>
              <a:rPr lang="ru-RU" sz="2400" dirty="0"/>
              <a:t> пользователи смогут распространять документы в универсальном формате </a:t>
            </a:r>
            <a:r>
              <a:rPr lang="ru-RU" sz="2400" dirty="0" err="1"/>
              <a:t>Adobe</a:t>
            </a:r>
            <a:r>
              <a:rPr lang="ru-RU" sz="2400" dirty="0"/>
              <a:t> PDF (</a:t>
            </a:r>
            <a:r>
              <a:rPr lang="ru-RU" sz="2400" dirty="0" err="1"/>
              <a:t>Portable</a:t>
            </a:r>
            <a:r>
              <a:rPr lang="ru-RU" sz="2400" dirty="0"/>
              <a:t> </a:t>
            </a:r>
            <a:r>
              <a:rPr lang="ru-RU" sz="2400" dirty="0" err="1"/>
              <a:t>Document</a:t>
            </a:r>
            <a:r>
              <a:rPr lang="ru-RU" sz="2400" dirty="0"/>
              <a:t> </a:t>
            </a:r>
            <a:r>
              <a:rPr lang="ru-RU" sz="2400" dirty="0" err="1"/>
              <a:t>Format</a:t>
            </a:r>
            <a:r>
              <a:rPr lang="ru-RU" sz="2400" dirty="0"/>
              <a:t>), а также делить файлы PDF и передавать их частями, ускоряя таким образом процесс выборки крупных документов, хранящихся в этом формате.</a:t>
            </a:r>
          </a:p>
          <a:p>
            <a:pPr marL="0" indent="0">
              <a:buNone/>
            </a:pPr>
            <a:r>
              <a:rPr lang="ru-RU" sz="2400" dirty="0"/>
              <a:t>"Это удобный способ получения информации, например для нашего отдела сбыта",  -  говорит </a:t>
            </a:r>
            <a:r>
              <a:rPr lang="ru-RU" sz="2400" dirty="0" err="1"/>
              <a:t>Бауг</a:t>
            </a:r>
            <a:r>
              <a:rPr lang="ru-RU" sz="2400" dirty="0"/>
              <a:t>.</a:t>
            </a:r>
          </a:p>
          <a:p>
            <a:pPr marL="0" indent="0">
              <a:buNone/>
            </a:pPr>
            <a:r>
              <a:rPr lang="ru-RU" sz="2400" dirty="0" err="1"/>
              <a:t>Topic</a:t>
            </a:r>
            <a:r>
              <a:rPr lang="ru-RU" sz="2400" dirty="0"/>
              <a:t> </a:t>
            </a:r>
            <a:r>
              <a:rPr lang="ru-RU" sz="2400" dirty="0" err="1"/>
              <a:t>Information</a:t>
            </a:r>
            <a:r>
              <a:rPr lang="ru-RU" sz="2400" dirty="0"/>
              <a:t> </a:t>
            </a:r>
            <a:r>
              <a:rPr lang="ru-RU" sz="2400" dirty="0" err="1"/>
              <a:t>Server</a:t>
            </a:r>
            <a:r>
              <a:rPr lang="ru-RU" sz="2400" dirty="0"/>
              <a:t> 1.0 поставляется за $14995. Первоначальная стоимость версии для </a:t>
            </a:r>
            <a:r>
              <a:rPr lang="ru-RU" sz="2400" dirty="0" err="1"/>
              <a:t>World-Wide</a:t>
            </a:r>
            <a:r>
              <a:rPr lang="ru-RU" sz="2400" dirty="0"/>
              <a:t> </a:t>
            </a:r>
            <a:r>
              <a:rPr lang="ru-RU" sz="2400" dirty="0" err="1"/>
              <a:t>Web</a:t>
            </a:r>
            <a:r>
              <a:rPr lang="ru-RU" sz="2400" dirty="0"/>
              <a:t> - $7995. </a:t>
            </a:r>
            <a:r>
              <a:rPr lang="ru-RU" sz="2400" dirty="0" err="1"/>
              <a:t>Topic</a:t>
            </a:r>
            <a:r>
              <a:rPr lang="ru-RU" sz="2400" dirty="0"/>
              <a:t> </a:t>
            </a:r>
            <a:r>
              <a:rPr lang="ru-RU" sz="2400" dirty="0" err="1"/>
              <a:t>Agents</a:t>
            </a:r>
            <a:r>
              <a:rPr lang="ru-RU" sz="2400" dirty="0"/>
              <a:t> </a:t>
            </a:r>
            <a:r>
              <a:rPr lang="ru-RU" sz="2400" dirty="0" err="1"/>
              <a:t>for</a:t>
            </a:r>
            <a:r>
              <a:rPr lang="ru-RU" sz="2400" dirty="0"/>
              <a:t> </a:t>
            </a:r>
            <a:r>
              <a:rPr lang="ru-RU" sz="2400" dirty="0" err="1"/>
              <a:t>Windows</a:t>
            </a:r>
            <a:r>
              <a:rPr lang="ru-RU" sz="2400" dirty="0"/>
              <a:t> стоит $95, a </a:t>
            </a:r>
            <a:r>
              <a:rPr lang="ru-RU" sz="2400" dirty="0" err="1"/>
              <a:t>Topic</a:t>
            </a:r>
            <a:r>
              <a:rPr lang="ru-RU" sz="2400" dirty="0"/>
              <a:t> </a:t>
            </a:r>
            <a:r>
              <a:rPr lang="ru-RU" sz="2400" dirty="0" err="1"/>
              <a:t>Agents</a:t>
            </a:r>
            <a:r>
              <a:rPr lang="ru-RU" sz="2400" dirty="0"/>
              <a:t> </a:t>
            </a:r>
            <a:r>
              <a:rPr lang="ru-RU" sz="2400" dirty="0" err="1"/>
              <a:t>for</a:t>
            </a:r>
            <a:r>
              <a:rPr lang="ru-RU" sz="2400" dirty="0"/>
              <a:t> </a:t>
            </a:r>
            <a:r>
              <a:rPr lang="ru-RU" sz="2400" dirty="0" err="1"/>
              <a:t>Mosaic</a:t>
            </a:r>
            <a:r>
              <a:rPr lang="ru-RU" sz="2400" dirty="0"/>
              <a:t> и </a:t>
            </a:r>
            <a:r>
              <a:rPr lang="ru-RU" sz="2400" dirty="0" err="1"/>
              <a:t>Lotus</a:t>
            </a:r>
            <a:r>
              <a:rPr lang="ru-RU" sz="2400" dirty="0"/>
              <a:t> </a:t>
            </a:r>
            <a:r>
              <a:rPr lang="ru-RU" sz="2400" dirty="0" err="1"/>
              <a:t>Notes</a:t>
            </a:r>
            <a:r>
              <a:rPr lang="ru-RU" sz="2400" dirty="0"/>
              <a:t> начнут поставляться во втором квартале по цене до $100. Комплект разработчика стоит $4950</a:t>
            </a:r>
            <a:r>
              <a:rPr lang="ru-RU" sz="2400" dirty="0" smtClean="0"/>
              <a:t>.</a:t>
            </a:r>
          </a:p>
          <a:p>
            <a:pPr marL="0" indent="0">
              <a:buNone/>
            </a:pPr>
            <a:r>
              <a:rPr lang="ru-RU" dirty="0" err="1"/>
              <a:t>Лайза</a:t>
            </a:r>
            <a:r>
              <a:rPr lang="ru-RU" dirty="0"/>
              <a:t> </a:t>
            </a:r>
            <a:r>
              <a:rPr lang="ru-RU" dirty="0" err="1"/>
              <a:t>Нэдайл</a:t>
            </a:r>
            <a:r>
              <a:rPr lang="ru-RU" dirty="0"/>
              <a:t> | 29.05.1995</a:t>
            </a:r>
            <a:endParaRPr lang="ru-RU" sz="4000" dirty="0"/>
          </a:p>
        </p:txBody>
      </p:sp>
    </p:spTree>
    <p:extLst>
      <p:ext uri="{BB962C8B-B14F-4D97-AF65-F5344CB8AC3E}">
        <p14:creationId xmlns:p14="http://schemas.microsoft.com/office/powerpoint/2010/main" val="304146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err="1" smtClean="0"/>
              <a:t>eContext</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pic>
        <p:nvPicPr>
          <p:cNvPr id="6" name="Picture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08408" y="1055688"/>
            <a:ext cx="5375184" cy="513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7055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err="1"/>
              <a:t>eContext</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Отрасли: Розничная торговля, издательское дело, социальные сети, машинное обучение</a:t>
            </a:r>
            <a:r>
              <a:rPr lang="ru-RU" sz="3200" dirty="0" smtClean="0"/>
              <a:t>.</a:t>
            </a:r>
            <a:endParaRPr lang="en-US" sz="3200" dirty="0" smtClean="0"/>
          </a:p>
          <a:p>
            <a:pPr marL="0" indent="0" fontAlgn="base">
              <a:buNone/>
            </a:pPr>
            <a:r>
              <a:rPr lang="ru-RU" sz="3200" dirty="0" smtClean="0"/>
              <a:t>Преимущество</a:t>
            </a:r>
            <a:r>
              <a:rPr lang="ru-RU" sz="3200" dirty="0"/>
              <a:t>: низкое потребление ресурсов, высокая скорость</a:t>
            </a:r>
            <a:r>
              <a:rPr lang="ru-RU" sz="3200" dirty="0" smtClean="0"/>
              <a:t>!</a:t>
            </a:r>
            <a:endParaRPr lang="en-US" sz="3200" dirty="0" smtClean="0"/>
          </a:p>
          <a:p>
            <a:pPr marL="0" indent="0" fontAlgn="base">
              <a:buNone/>
            </a:pPr>
            <a:r>
              <a:rPr lang="ru-RU" sz="3200" dirty="0" smtClean="0"/>
              <a:t>Таксономия </a:t>
            </a:r>
            <a:r>
              <a:rPr lang="ru-RU" sz="3200" dirty="0" err="1"/>
              <a:t>eContext</a:t>
            </a:r>
            <a:r>
              <a:rPr lang="ru-RU" sz="3200" dirty="0"/>
              <a:t> разрабатывается реальными людьми, которые классифицируют текст так, как это делают люди, принимая во внимание языковые нюансы, контекстуальные значения, шутки и </a:t>
            </a:r>
            <a:r>
              <a:rPr lang="ru-RU" sz="3200" dirty="0" smtClean="0"/>
              <a:t>особенности поп-культуры</a:t>
            </a:r>
            <a:r>
              <a:rPr lang="ru-RU" sz="3200" dirty="0"/>
              <a:t>, влияющие </a:t>
            </a:r>
            <a:r>
              <a:rPr lang="ru-RU" sz="3200" dirty="0" smtClean="0"/>
              <a:t>на смысл.</a:t>
            </a:r>
          </a:p>
          <a:p>
            <a:pPr marL="0" indent="0" fontAlgn="base">
              <a:buNone/>
            </a:pPr>
            <a:r>
              <a:rPr lang="ru-RU" sz="3200" dirty="0" smtClean="0"/>
              <a:t>Мы </a:t>
            </a:r>
            <a:r>
              <a:rPr lang="ru-RU" sz="3200" dirty="0"/>
              <a:t>создали таксономию глубиной в 21 уровень с 450 000 категориями и 55 миллионами словарных правил.</a:t>
            </a:r>
          </a:p>
        </p:txBody>
      </p:sp>
    </p:spTree>
    <p:extLst>
      <p:ext uri="{BB962C8B-B14F-4D97-AF65-F5344CB8AC3E}">
        <p14:creationId xmlns:p14="http://schemas.microsoft.com/office/powerpoint/2010/main" val="250573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Методы </a:t>
            </a:r>
            <a:r>
              <a:rPr lang="ru-RU" b="1" dirty="0" smtClean="0"/>
              <a:t>классификации: </a:t>
            </a:r>
            <a:r>
              <a:rPr lang="ru-RU" b="1" dirty="0"/>
              <a:t>Обучение с учителем</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a:buNone/>
            </a:pPr>
            <a:r>
              <a:rPr lang="ru-RU" sz="3200" dirty="0">
                <a:solidFill>
                  <a:srgbClr val="00B050"/>
                </a:solidFill>
              </a:rPr>
              <a:t>Дано:</a:t>
            </a:r>
          </a:p>
          <a:p>
            <a:pPr lvl="1"/>
            <a:r>
              <a:rPr lang="ru-RU" sz="3000" dirty="0" smtClean="0"/>
              <a:t>Документ </a:t>
            </a:r>
            <a:r>
              <a:rPr lang="ru-RU" sz="3000" dirty="0"/>
              <a:t>d</a:t>
            </a:r>
          </a:p>
          <a:p>
            <a:pPr lvl="1"/>
            <a:r>
              <a:rPr lang="ru-RU" sz="3000" dirty="0" smtClean="0"/>
              <a:t>Фиксированный </a:t>
            </a:r>
            <a:r>
              <a:rPr lang="ru-RU" sz="3000" dirty="0"/>
              <a:t>набор классов: </a:t>
            </a:r>
            <a:r>
              <a:rPr lang="en-US" altLang="x-none" sz="3200" i="1" dirty="0"/>
              <a:t>C = {c</a:t>
            </a:r>
            <a:r>
              <a:rPr lang="en-US" altLang="x-none" sz="3200" i="1" baseline="-25000" dirty="0"/>
              <a:t>1</a:t>
            </a:r>
            <a:r>
              <a:rPr lang="en-US" altLang="x-none" sz="3200" i="1" dirty="0"/>
              <a:t>, c</a:t>
            </a:r>
            <a:r>
              <a:rPr lang="en-US" altLang="x-none" sz="3200" i="1" baseline="-25000" dirty="0"/>
              <a:t>2</a:t>
            </a:r>
            <a:r>
              <a:rPr lang="en-US" altLang="x-none" sz="3200" i="1" dirty="0"/>
              <a:t>,…, </a:t>
            </a:r>
            <a:r>
              <a:rPr lang="en-US" altLang="x-none" sz="3200" i="1" dirty="0" err="1"/>
              <a:t>c</a:t>
            </a:r>
            <a:r>
              <a:rPr lang="en-US" altLang="x-none" sz="3200" i="1" baseline="-25000" dirty="0" err="1"/>
              <a:t>J</a:t>
            </a:r>
            <a:r>
              <a:rPr lang="en-US" altLang="x-none" sz="3200" i="1" dirty="0" smtClean="0"/>
              <a:t>}</a:t>
            </a:r>
            <a:endParaRPr lang="ru-RU" altLang="x-none" sz="3200" i="1" dirty="0" smtClean="0"/>
          </a:p>
          <a:p>
            <a:pPr lvl="1"/>
            <a:r>
              <a:rPr lang="ru-RU" sz="3000" dirty="0" smtClean="0"/>
              <a:t>Обучающее множество </a:t>
            </a:r>
            <a:r>
              <a:rPr lang="ru-RU" sz="3000" dirty="0"/>
              <a:t>D документов каждый с меткой в </a:t>
            </a:r>
            <a:r>
              <a:rPr lang="ru-RU" sz="3000" dirty="0" smtClean="0"/>
              <a:t>C</a:t>
            </a:r>
            <a:endParaRPr lang="ru-RU" sz="3000" dirty="0"/>
          </a:p>
          <a:p>
            <a:pPr marL="0" indent="0">
              <a:buNone/>
            </a:pPr>
            <a:r>
              <a:rPr lang="ru-RU" sz="3200" dirty="0">
                <a:solidFill>
                  <a:srgbClr val="00B050"/>
                </a:solidFill>
              </a:rPr>
              <a:t>Определить:</a:t>
            </a:r>
          </a:p>
          <a:p>
            <a:pPr lvl="1"/>
            <a:r>
              <a:rPr lang="ru-RU" sz="3000" dirty="0"/>
              <a:t>Метод обучения или алгоритм, позволяющий нам научиться строить классификатор </a:t>
            </a:r>
            <a:r>
              <a:rPr lang="ru-RU" sz="3000" dirty="0" smtClean="0"/>
              <a:t>γ</a:t>
            </a:r>
            <a:endParaRPr lang="ru-RU" sz="3000" dirty="0"/>
          </a:p>
          <a:p>
            <a:pPr lvl="1"/>
            <a:r>
              <a:rPr lang="ru-RU" sz="3200" dirty="0"/>
              <a:t>Для тестового документа d мы присваиваем ему класс </a:t>
            </a:r>
            <a:r>
              <a:rPr lang="ru-RU" sz="3200" i="1" dirty="0" smtClean="0"/>
              <a:t>γ</a:t>
            </a:r>
            <a:r>
              <a:rPr lang="ru-RU" sz="3200" dirty="0" smtClean="0"/>
              <a:t>(</a:t>
            </a:r>
            <a:r>
              <a:rPr lang="ru-RU" sz="3200" i="1" dirty="0" smtClean="0"/>
              <a:t>d</a:t>
            </a:r>
            <a:r>
              <a:rPr lang="ru-RU" sz="3200" dirty="0"/>
              <a:t>)∈</a:t>
            </a:r>
            <a:r>
              <a:rPr lang="ru-RU" sz="3200" i="1" dirty="0"/>
              <a:t>C</a:t>
            </a:r>
            <a:r>
              <a:rPr lang="ru-RU" sz="3000" dirty="0" smtClean="0"/>
              <a:t>.</a:t>
            </a:r>
            <a:endParaRPr lang="ru-RU" sz="3000" dirty="0"/>
          </a:p>
          <a:p>
            <a:pPr marL="0" indent="0" fontAlgn="base">
              <a:buNone/>
            </a:pPr>
            <a:endParaRPr lang="ru-RU" sz="3000" dirty="0"/>
          </a:p>
        </p:txBody>
      </p:sp>
    </p:spTree>
    <p:extLst>
      <p:ext uri="{BB962C8B-B14F-4D97-AF65-F5344CB8AC3E}">
        <p14:creationId xmlns:p14="http://schemas.microsoft.com/office/powerpoint/2010/main" val="637665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Методы классификации: Обучение с учителем</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Простые и распространенные </a:t>
            </a:r>
            <a:r>
              <a:rPr lang="ru-RU" sz="3200" dirty="0" smtClean="0"/>
              <a:t>алгоритмы:</a:t>
            </a:r>
          </a:p>
          <a:p>
            <a:pPr lvl="1" fontAlgn="base"/>
            <a:r>
              <a:rPr lang="ru-RU" sz="3000" dirty="0" smtClean="0"/>
              <a:t>Байесовский </a:t>
            </a:r>
            <a:r>
              <a:rPr lang="ru-RU" sz="3000" dirty="0"/>
              <a:t>классификатор (</a:t>
            </a:r>
            <a:r>
              <a:rPr lang="ru-RU" sz="3000" dirty="0" err="1"/>
              <a:t>naive</a:t>
            </a:r>
            <a:r>
              <a:rPr lang="ru-RU" sz="3000" dirty="0"/>
              <a:t> </a:t>
            </a:r>
            <a:r>
              <a:rPr lang="ru-RU" sz="3000" dirty="0" err="1"/>
              <a:t>Bayes</a:t>
            </a:r>
            <a:r>
              <a:rPr lang="ru-RU" sz="3000" dirty="0"/>
              <a:t>)</a:t>
            </a:r>
          </a:p>
          <a:p>
            <a:pPr lvl="1" fontAlgn="base"/>
            <a:r>
              <a:rPr lang="ru-RU" sz="3000" dirty="0" smtClean="0"/>
              <a:t>K </a:t>
            </a:r>
            <a:r>
              <a:rPr lang="ru-RU" sz="3000" dirty="0"/>
              <a:t>ближайших соседей (простые, мощные)</a:t>
            </a:r>
          </a:p>
          <a:p>
            <a:pPr lvl="1" fontAlgn="base"/>
            <a:r>
              <a:rPr lang="en-US" sz="3000" dirty="0" smtClean="0"/>
              <a:t>SVM</a:t>
            </a:r>
            <a:r>
              <a:rPr lang="ru-RU" sz="3000" dirty="0" smtClean="0"/>
              <a:t> (чаще </a:t>
            </a:r>
            <a:r>
              <a:rPr lang="ru-RU" sz="3000" dirty="0"/>
              <a:t>более эффективные)</a:t>
            </a:r>
          </a:p>
          <a:p>
            <a:pPr lvl="1" fontAlgn="base"/>
            <a:r>
              <a:rPr lang="ru-RU" sz="3000" dirty="0" smtClean="0"/>
              <a:t>Деревья </a:t>
            </a:r>
            <a:r>
              <a:rPr lang="ru-RU" sz="3000" dirty="0"/>
              <a:t>решений → </a:t>
            </a:r>
            <a:r>
              <a:rPr lang="ru-RU" sz="3000" dirty="0" smtClean="0"/>
              <a:t>случайный лес </a:t>
            </a:r>
            <a:r>
              <a:rPr lang="ru-RU" sz="3000" dirty="0"/>
              <a:t>→ градиентно-</a:t>
            </a:r>
            <a:r>
              <a:rPr lang="ru-RU" sz="3000" dirty="0" err="1"/>
              <a:t>бустированные</a:t>
            </a:r>
            <a:r>
              <a:rPr lang="ru-RU" sz="3000" dirty="0"/>
              <a:t> деревья решений (например, </a:t>
            </a:r>
            <a:r>
              <a:rPr lang="ru-RU" sz="3000" dirty="0" err="1"/>
              <a:t>XGBoost</a:t>
            </a:r>
            <a:r>
              <a:rPr lang="ru-RU" sz="3000" dirty="0"/>
              <a:t>)</a:t>
            </a:r>
          </a:p>
          <a:p>
            <a:pPr lvl="1" fontAlgn="base"/>
            <a:r>
              <a:rPr lang="ru-RU" sz="3000" dirty="0" smtClean="0"/>
              <a:t>и </a:t>
            </a:r>
            <a:r>
              <a:rPr lang="ru-RU" sz="3000" dirty="0"/>
              <a:t>другие </a:t>
            </a:r>
            <a:r>
              <a:rPr lang="ru-RU" sz="3000" dirty="0" smtClean="0"/>
              <a:t>методы…</a:t>
            </a:r>
            <a:endParaRPr lang="ru-RU" sz="3000" dirty="0"/>
          </a:p>
          <a:p>
            <a:pPr marL="0" indent="0" fontAlgn="base">
              <a:buNone/>
            </a:pPr>
            <a:r>
              <a:rPr lang="ru-RU" sz="3200" dirty="0" smtClean="0"/>
              <a:t>Недостатки: </a:t>
            </a:r>
            <a:r>
              <a:rPr lang="ru-RU" sz="3200" dirty="0"/>
              <a:t>необходимы размеченные вручную </a:t>
            </a:r>
            <a:r>
              <a:rPr lang="ru-RU" sz="3200" dirty="0" smtClean="0"/>
              <a:t>данные</a:t>
            </a:r>
            <a:endParaRPr lang="ru-RU" sz="3200" dirty="0"/>
          </a:p>
          <a:p>
            <a:pPr marL="0" indent="0" fontAlgn="base">
              <a:buNone/>
            </a:pPr>
            <a:r>
              <a:rPr lang="ru-RU" sz="3200" dirty="0" smtClean="0"/>
              <a:t>Но </a:t>
            </a:r>
            <a:r>
              <a:rPr lang="ru-RU" sz="3200" dirty="0"/>
              <a:t>наборы данных могут создаваться непрофессионалами</a:t>
            </a:r>
          </a:p>
          <a:p>
            <a:pPr marL="0" indent="0" fontAlgn="base">
              <a:buNone/>
            </a:pPr>
            <a:r>
              <a:rPr lang="ru-RU" sz="3200" dirty="0" smtClean="0"/>
              <a:t>Многие </a:t>
            </a:r>
            <a:r>
              <a:rPr lang="ru-RU" sz="3200" dirty="0"/>
              <a:t>коммерческие системы используют смесь методов</a:t>
            </a:r>
          </a:p>
        </p:txBody>
      </p:sp>
    </p:spTree>
    <p:extLst>
      <p:ext uri="{BB962C8B-B14F-4D97-AF65-F5344CB8AC3E}">
        <p14:creationId xmlns:p14="http://schemas.microsoft.com/office/powerpoint/2010/main" val="225856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Признаки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Алгоритмы </a:t>
            </a:r>
            <a:r>
              <a:rPr lang="ru-RU" sz="3200" dirty="0"/>
              <a:t>обучения с учителем могут использовать любые </a:t>
            </a:r>
            <a:r>
              <a:rPr lang="ru-RU" sz="3200" dirty="0" smtClean="0"/>
              <a:t>признаки:</a:t>
            </a:r>
            <a:endParaRPr lang="ru-RU" sz="3200" dirty="0"/>
          </a:p>
          <a:p>
            <a:pPr lvl="1" fontAlgn="base"/>
            <a:r>
              <a:rPr lang="ru-RU" sz="3000" dirty="0" smtClean="0"/>
              <a:t>URL</a:t>
            </a:r>
            <a:r>
              <a:rPr lang="ru-RU" sz="3000" dirty="0"/>
              <a:t>, адрес электронной почты, пунктуация, заглавные буквы, словари, сетевые особенности</a:t>
            </a:r>
          </a:p>
          <a:p>
            <a:pPr marL="0" indent="0" fontAlgn="base">
              <a:buNone/>
            </a:pPr>
            <a:r>
              <a:rPr lang="ru-RU" sz="3200" dirty="0" smtClean="0"/>
              <a:t>В </a:t>
            </a:r>
            <a:r>
              <a:rPr lang="ru-RU" sz="3200" dirty="0"/>
              <a:t>простейшем представлении "мешок слов":</a:t>
            </a:r>
          </a:p>
          <a:p>
            <a:pPr lvl="1" fontAlgn="base"/>
            <a:r>
              <a:rPr lang="ru-RU" sz="3000" dirty="0" smtClean="0"/>
              <a:t>Мы </a:t>
            </a:r>
            <a:r>
              <a:rPr lang="ru-RU" sz="3000" dirty="0"/>
              <a:t>используем </a:t>
            </a:r>
            <a:r>
              <a:rPr lang="ru-RU" sz="3000" dirty="0">
                <a:solidFill>
                  <a:srgbClr val="FF0000"/>
                </a:solidFill>
              </a:rPr>
              <a:t>только</a:t>
            </a:r>
            <a:r>
              <a:rPr lang="ru-RU" sz="3000" dirty="0"/>
              <a:t> словоформы</a:t>
            </a:r>
          </a:p>
          <a:p>
            <a:pPr lvl="1" fontAlgn="base"/>
            <a:r>
              <a:rPr lang="ru-RU" sz="3000" dirty="0" smtClean="0"/>
              <a:t>Используем </a:t>
            </a:r>
            <a:r>
              <a:rPr lang="ru-RU" sz="3000" dirty="0">
                <a:solidFill>
                  <a:srgbClr val="FF0000"/>
                </a:solidFill>
              </a:rPr>
              <a:t>все</a:t>
            </a:r>
            <a:r>
              <a:rPr lang="ru-RU" sz="3000" dirty="0"/>
              <a:t> слова в тексте (не подмножество)</a:t>
            </a:r>
          </a:p>
        </p:txBody>
      </p:sp>
    </p:spTree>
    <p:extLst>
      <p:ext uri="{BB962C8B-B14F-4D97-AF65-F5344CB8AC3E}">
        <p14:creationId xmlns:p14="http://schemas.microsoft.com/office/powerpoint/2010/main" val="2318865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Представление "мешок слов"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endParaRPr lang="ru-RU" sz="3200" dirty="0"/>
          </a:p>
        </p:txBody>
      </p:sp>
      <p:grpSp>
        <p:nvGrpSpPr>
          <p:cNvPr id="6" name="Group 14"/>
          <p:cNvGrpSpPr>
            <a:grpSpLocks/>
          </p:cNvGrpSpPr>
          <p:nvPr/>
        </p:nvGrpSpPr>
        <p:grpSpPr bwMode="auto">
          <a:xfrm>
            <a:off x="3319732" y="1363452"/>
            <a:ext cx="4876800" cy="4368800"/>
            <a:chOff x="0" y="0"/>
            <a:chExt cx="3072" cy="2752"/>
          </a:xfrm>
        </p:grpSpPr>
        <p:sp>
          <p:nvSpPr>
            <p:cNvPr id="7" name="Rectangle 12"/>
            <p:cNvSpPr>
              <a:spLocks/>
            </p:cNvSpPr>
            <p:nvPr/>
          </p:nvSpPr>
          <p:spPr bwMode="auto">
            <a:xfrm>
              <a:off x="0" y="0"/>
              <a:ext cx="3072" cy="2752"/>
            </a:xfrm>
            <a:prstGeom prst="rect">
              <a:avLst/>
            </a:prstGeom>
            <a:solidFill>
              <a:srgbClr val="FCD5B5"/>
            </a:solidFill>
            <a:ln w="28575">
              <a:solidFill>
                <a:schemeClr val="tx1"/>
              </a:solidFill>
              <a:miter lim="800000"/>
              <a:headEnd/>
              <a:tailEnd/>
            </a:ln>
          </p:spPr>
          <p:txBody>
            <a:bodyPr lIns="0" tIns="0" rIns="0" bIns="0"/>
            <a:lstStyle>
              <a:lvl1pPr>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endParaRPr lang="x-none" altLang="x-none" sz="2400">
                <a:solidFill>
                  <a:srgbClr val="000000"/>
                </a:solidFill>
              </a:endParaRPr>
            </a:p>
          </p:txBody>
        </p:sp>
        <p:sp>
          <p:nvSpPr>
            <p:cNvPr id="8" name="Rectangle 13"/>
            <p:cNvSpPr>
              <a:spLocks/>
            </p:cNvSpPr>
            <p:nvPr/>
          </p:nvSpPr>
          <p:spPr bwMode="auto">
            <a:xfrm>
              <a:off x="0" y="0"/>
              <a:ext cx="3072"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39" bIns="0"/>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lnSpc>
                  <a:spcPct val="80000"/>
                </a:lnSpc>
                <a:spcBef>
                  <a:spcPts val="475"/>
                </a:spcBef>
                <a:buClrTx/>
                <a:buSzTx/>
                <a:buFontTx/>
                <a:buNone/>
              </a:pPr>
              <a:r>
                <a:rPr lang="en-US" altLang="x-none" sz="2000">
                  <a:latin typeface="Courier" charset="0"/>
                  <a:ea typeface="MS PGothic" charset="-128"/>
                  <a:sym typeface="Courier" charset="0"/>
                </a:rPr>
                <a:t>I love this movie! It's sweet, but with satirical humor. The dialogue is great and the adventure scenes are fun…  It manages to be whimsical and romantic while laughing at the conventions of the fairy tale genre. I would recommend it to just about anyone. I've seen it several times, and I'm always happy to see it again whenever I have a friend who hasn't seen it yet.</a:t>
              </a:r>
            </a:p>
          </p:txBody>
        </p:sp>
      </p:grpSp>
      <p:sp>
        <p:nvSpPr>
          <p:cNvPr id="9" name="Rectangle 15"/>
          <p:cNvSpPr>
            <a:spLocks/>
          </p:cNvSpPr>
          <p:nvPr/>
        </p:nvSpPr>
        <p:spPr bwMode="auto">
          <a:xfrm>
            <a:off x="1871932" y="1871452"/>
            <a:ext cx="13843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lIns="0" tIns="0" rIns="40639" bIns="0"/>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0600" dirty="0">
                <a:ea typeface="MS PGothic" charset="-128"/>
              </a:rPr>
              <a:t>γ(</a:t>
            </a:r>
          </a:p>
        </p:txBody>
      </p:sp>
      <p:sp>
        <p:nvSpPr>
          <p:cNvPr id="10" name="Rectangle 16"/>
          <p:cNvSpPr>
            <a:spLocks/>
          </p:cNvSpPr>
          <p:nvPr/>
        </p:nvSpPr>
        <p:spPr bwMode="auto">
          <a:xfrm>
            <a:off x="8147320" y="2011152"/>
            <a:ext cx="235108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0600">
                <a:ea typeface="MS PGothic" charset="-128"/>
              </a:rPr>
              <a:t>)=c</a:t>
            </a:r>
          </a:p>
        </p:txBody>
      </p:sp>
    </p:spTree>
    <p:extLst>
      <p:ext uri="{BB962C8B-B14F-4D97-AF65-F5344CB8AC3E}">
        <p14:creationId xmlns:p14="http://schemas.microsoft.com/office/powerpoint/2010/main" val="139068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Представление "мешок слов"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endParaRPr lang="ru-RU" sz="3200" dirty="0"/>
          </a:p>
        </p:txBody>
      </p:sp>
      <p:sp>
        <p:nvSpPr>
          <p:cNvPr id="11" name="Rectangle 12"/>
          <p:cNvSpPr>
            <a:spLocks/>
          </p:cNvSpPr>
          <p:nvPr/>
        </p:nvSpPr>
        <p:spPr bwMode="auto">
          <a:xfrm>
            <a:off x="3449129" y="1294441"/>
            <a:ext cx="4876800" cy="4368800"/>
          </a:xfrm>
          <a:prstGeom prst="rect">
            <a:avLst/>
          </a:prstGeom>
          <a:solidFill>
            <a:srgbClr val="FCD5B5"/>
          </a:solidFill>
          <a:ln w="28575">
            <a:solidFill>
              <a:schemeClr val="tx1"/>
            </a:solidFill>
            <a:miter lim="800000"/>
            <a:headEnd/>
            <a:tailEnd/>
          </a:ln>
        </p:spPr>
        <p:txBody>
          <a:bodyPr lIns="0" tIns="0" rIns="0" bIns="0"/>
          <a:lstStyle>
            <a:lvl1pPr>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endParaRPr lang="x-none" altLang="x-none" sz="2400">
              <a:solidFill>
                <a:srgbClr val="000000"/>
              </a:solidFill>
            </a:endParaRPr>
          </a:p>
        </p:txBody>
      </p:sp>
      <p:sp>
        <p:nvSpPr>
          <p:cNvPr id="12" name="Rectangle 13"/>
          <p:cNvSpPr>
            <a:spLocks/>
          </p:cNvSpPr>
          <p:nvPr/>
        </p:nvSpPr>
        <p:spPr bwMode="auto">
          <a:xfrm>
            <a:off x="2001329" y="1802441"/>
            <a:ext cx="13843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lIns="0" tIns="0" rIns="40639" bIns="0"/>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0600">
                <a:ea typeface="MS PGothic" charset="-128"/>
              </a:rPr>
              <a:t>γ(</a:t>
            </a:r>
          </a:p>
        </p:txBody>
      </p:sp>
      <p:sp>
        <p:nvSpPr>
          <p:cNvPr id="13" name="Rectangle 14"/>
          <p:cNvSpPr>
            <a:spLocks/>
          </p:cNvSpPr>
          <p:nvPr/>
        </p:nvSpPr>
        <p:spPr bwMode="auto">
          <a:xfrm>
            <a:off x="8276717" y="1942141"/>
            <a:ext cx="235108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wrap="none" lIns="0" tIns="0" rIns="40639" bIns="0">
            <a:spAutoFit/>
          </a:bodyPr>
          <a:lstStyle>
            <a:lvl1pPr marL="39688">
              <a:spcBef>
                <a:spcPts val="700"/>
              </a:spcBef>
              <a:buClr>
                <a:srgbClr val="437085"/>
              </a:buClr>
              <a:buSzPct val="100000"/>
              <a:buFont typeface="Wingdings" charset="2"/>
              <a:buChar char="§"/>
              <a:defRPr sz="2800">
                <a:solidFill>
                  <a:schemeClr val="tx1"/>
                </a:solidFill>
                <a:latin typeface="Lucida Grande" charset="0"/>
                <a:ea typeface="ヒラギノ角ゴ ProN W3" charset="-128"/>
                <a:sym typeface="Lucida Grande" charset="0"/>
              </a:defRPr>
            </a:lvl1pPr>
            <a:lvl2pPr marL="742950" indent="-285750">
              <a:spcBef>
                <a:spcPts val="600"/>
              </a:spcBef>
              <a:buClr>
                <a:srgbClr val="357E69"/>
              </a:buClr>
              <a:buSzPct val="100000"/>
              <a:buFont typeface="Wingdings" charset="2"/>
              <a:buChar char="§"/>
              <a:defRPr sz="2400">
                <a:solidFill>
                  <a:schemeClr val="tx1"/>
                </a:solidFill>
                <a:latin typeface="Lucida Grande" charset="0"/>
                <a:ea typeface="ヒラギノ角ゴ ProN W3" charset="-128"/>
                <a:sym typeface="Lucida Grande" charset="0"/>
              </a:defRPr>
            </a:lvl2pPr>
            <a:lvl3pPr marL="1143000" indent="-228600">
              <a:spcBef>
                <a:spcPts val="500"/>
              </a:spcBef>
              <a:buClr>
                <a:srgbClr val="918BA3"/>
              </a:buClr>
              <a:buSzPct val="100000"/>
              <a:buFont typeface="Wingdings" charset="2"/>
              <a:buChar char="§"/>
              <a:defRPr sz="2000">
                <a:solidFill>
                  <a:schemeClr val="tx1"/>
                </a:solidFill>
                <a:latin typeface="Lucida Grande" charset="0"/>
                <a:ea typeface="ヒラギノ角ゴ ProN W3" charset="-128"/>
                <a:sym typeface="Lucida Grande" charset="0"/>
              </a:defRPr>
            </a:lvl3pPr>
            <a:lvl4pPr marL="1600200" indent="-228600">
              <a:spcBef>
                <a:spcPts val="500"/>
              </a:spcBef>
              <a:buClr>
                <a:srgbClr val="2F6E7E"/>
              </a:buClr>
              <a:buSzPct val="100000"/>
              <a:buFont typeface="Wingdings" charset="2"/>
              <a:buChar char="§"/>
              <a:defRPr sz="2000">
                <a:solidFill>
                  <a:schemeClr val="tx1"/>
                </a:solidFill>
                <a:latin typeface="Lucida Grande" charset="0"/>
                <a:ea typeface="ヒラギノ角ゴ ProN W3" charset="-128"/>
                <a:sym typeface="Lucida Grande" charset="0"/>
              </a:defRPr>
            </a:lvl4pPr>
            <a:lvl5pPr marL="2057400" indent="-228600">
              <a:spcBef>
                <a:spcPts val="500"/>
              </a:spcBef>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5pPr>
            <a:lvl6pPr marL="25146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6pPr>
            <a:lvl7pPr marL="29718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7pPr>
            <a:lvl8pPr marL="34290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8pPr>
            <a:lvl9pPr marL="3886200" indent="-228600" eaLnBrk="0" fontAlgn="base" hangingPunct="0">
              <a:spcBef>
                <a:spcPts val="500"/>
              </a:spcBef>
              <a:spcAft>
                <a:spcPct val="0"/>
              </a:spcAft>
              <a:buClr>
                <a:srgbClr val="233337"/>
              </a:buClr>
              <a:buSzPct val="100000"/>
              <a:buFont typeface="Wingdings" charset="2"/>
              <a:buChar char="§"/>
              <a:defRPr sz="2000">
                <a:solidFill>
                  <a:schemeClr val="tx1"/>
                </a:solidFill>
                <a:latin typeface="Lucida Grande" charset="0"/>
                <a:ea typeface="ヒラギノ角ゴ ProN W3" charset="-128"/>
                <a:sym typeface="Lucida Grande" charset="0"/>
              </a:defRPr>
            </a:lvl9pPr>
          </a:lstStyle>
          <a:p>
            <a:pPr eaLnBrk="1" hangingPunct="1">
              <a:spcBef>
                <a:spcPct val="0"/>
              </a:spcBef>
              <a:buClrTx/>
              <a:buSzTx/>
              <a:buFontTx/>
              <a:buNone/>
            </a:pPr>
            <a:r>
              <a:rPr lang="en-US" altLang="x-none" sz="10600">
                <a:ea typeface="MS PGothic" charset="-128"/>
              </a:rPr>
              <a:t>)=c</a:t>
            </a:r>
          </a:p>
        </p:txBody>
      </p:sp>
      <p:graphicFrame>
        <p:nvGraphicFramePr>
          <p:cNvPr id="14" name="Group 15"/>
          <p:cNvGraphicFramePr>
            <a:graphicFrameLocks noGrp="1"/>
          </p:cNvGraphicFramePr>
          <p:nvPr>
            <p:extLst>
              <p:ext uri="{D42A27DB-BD31-4B8C-83A1-F6EECF244321}">
                <p14:modId xmlns:p14="http://schemas.microsoft.com/office/powerpoint/2010/main" val="3763413939"/>
              </p:ext>
            </p:extLst>
          </p:nvPr>
        </p:nvGraphicFramePr>
        <p:xfrm>
          <a:off x="3449129" y="1294441"/>
          <a:ext cx="4876800" cy="4387851"/>
        </p:xfrm>
        <a:graphic>
          <a:graphicData uri="http://schemas.openxmlformats.org/drawingml/2006/table">
            <a:tbl>
              <a:tblPr/>
              <a:tblGrid>
                <a:gridCol w="2925763">
                  <a:extLst>
                    <a:ext uri="{9D8B030D-6E8A-4147-A177-3AD203B41FA5}">
                      <a16:colId xmlns:a16="http://schemas.microsoft.com/office/drawing/2014/main" val="20000"/>
                    </a:ext>
                  </a:extLst>
                </a:gridCol>
                <a:gridCol w="1951037">
                  <a:extLst>
                    <a:ext uri="{9D8B030D-6E8A-4147-A177-3AD203B41FA5}">
                      <a16:colId xmlns:a16="http://schemas.microsoft.com/office/drawing/2014/main" val="20001"/>
                    </a:ext>
                  </a:extLst>
                </a:gridCol>
              </a:tblGrid>
              <a:tr h="665462">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great</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2</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3275">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love</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2</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1531">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recommend</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1</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5462">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laugh</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1</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2328">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happy</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1</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9793">
                <a:tc>
                  <a:txBody>
                    <a:bodyPr/>
                    <a:lstStyle/>
                    <a:p>
                      <a:pPr marL="39688" marR="0" lvl="0" indent="0" algn="ctr"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a:t>
                      </a:r>
                    </a:p>
                  </a:txBody>
                  <a:tcPr marL="50800" marR="50800" marT="50791" marB="5079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39688" marR="0" lvl="0" indent="0" algn="l" defTabSz="914400" rtl="0" eaLnBrk="1" fontAlgn="base" latinLnBrk="0" hangingPunct="1">
                        <a:lnSpc>
                          <a:spcPct val="100000"/>
                        </a:lnSpc>
                        <a:spcBef>
                          <a:spcPct val="0"/>
                        </a:spcBef>
                        <a:spcAft>
                          <a:spcPct val="0"/>
                        </a:spcAft>
                        <a:buClr>
                          <a:srgbClr val="437085"/>
                        </a:buClr>
                        <a:buSzPct val="100000"/>
                        <a:buFont typeface="Wingdings" charset="0"/>
                        <a:buNone/>
                        <a:tabLst/>
                      </a:pPr>
                      <a:r>
                        <a:rPr kumimoji="0" lang="en-US" sz="3700" b="0" i="0" u="none" strike="noStrike" cap="none" normalizeH="0" baseline="0">
                          <a:ln>
                            <a:noFill/>
                          </a:ln>
                          <a:solidFill>
                            <a:schemeClr val="tx1"/>
                          </a:solidFill>
                          <a:effectLst/>
                          <a:latin typeface="Courier" charset="0"/>
                          <a:ea typeface="ヒラギノ角ゴ ProN W3" charset="0"/>
                          <a:cs typeface="Courier" charset="0"/>
                          <a:sym typeface="Courier" charset="0"/>
                        </a:rPr>
                        <a:t>...</a:t>
                      </a:r>
                    </a:p>
                  </a:txBody>
                  <a:tcPr marL="50800" marR="50800" marT="50791" marB="5079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7575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Отбор </a:t>
            </a:r>
            <a:r>
              <a:rPr lang="ru-RU" b="1" dirty="0"/>
              <a:t>признаков: </a:t>
            </a:r>
            <a:r>
              <a:rPr lang="ru-RU" b="1" dirty="0" smtClean="0"/>
              <a:t>Зачем?</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sp>
        <p:nvSpPr>
          <p:cNvPr id="4" name="Объект 3"/>
          <p:cNvSpPr>
            <a:spLocks noGrp="1"/>
          </p:cNvSpPr>
          <p:nvPr>
            <p:ph idx="1"/>
          </p:nvPr>
        </p:nvSpPr>
        <p:spPr>
          <a:xfrm>
            <a:off x="432000" y="1055716"/>
            <a:ext cx="11328000" cy="5135534"/>
          </a:xfrm>
        </p:spPr>
        <p:txBody>
          <a:bodyPr>
            <a:normAutofit fontScale="92500" lnSpcReduction="10000"/>
          </a:bodyPr>
          <a:lstStyle/>
          <a:p>
            <a:pPr marL="0" indent="0" fontAlgn="base">
              <a:buNone/>
            </a:pPr>
            <a:r>
              <a:rPr lang="ru-RU" sz="3200" dirty="0" smtClean="0"/>
              <a:t>Корпуса текстов содержат </a:t>
            </a:r>
            <a:r>
              <a:rPr lang="ru-RU" sz="3200" dirty="0"/>
              <a:t>большое количество признаков</a:t>
            </a:r>
          </a:p>
          <a:p>
            <a:pPr lvl="1" fontAlgn="base"/>
            <a:r>
              <a:rPr lang="ru-RU" sz="3000" dirty="0" smtClean="0"/>
              <a:t>От </a:t>
            </a:r>
            <a:r>
              <a:rPr lang="ru-RU" sz="3000" dirty="0"/>
              <a:t>10 000 до 1 000 000 уникальных слов и больше</a:t>
            </a:r>
          </a:p>
          <a:p>
            <a:pPr marL="0" indent="0" fontAlgn="base">
              <a:buNone/>
            </a:pPr>
            <a:r>
              <a:rPr lang="ru-RU" sz="3200" dirty="0" smtClean="0"/>
              <a:t>Выбор </a:t>
            </a:r>
            <a:r>
              <a:rPr lang="ru-RU" sz="3200" dirty="0"/>
              <a:t>признаков может сделать возможным использование конкретного классификатора</a:t>
            </a:r>
          </a:p>
          <a:p>
            <a:pPr lvl="1" fontAlgn="base"/>
            <a:r>
              <a:rPr lang="ru-RU" sz="3000" dirty="0" smtClean="0"/>
              <a:t>Некоторые </a:t>
            </a:r>
            <a:r>
              <a:rPr lang="ru-RU" sz="3000" dirty="0"/>
              <a:t>классификаторы не справляются с миллионом признаков</a:t>
            </a:r>
          </a:p>
          <a:p>
            <a:pPr marL="0" indent="0" fontAlgn="base">
              <a:buNone/>
            </a:pPr>
            <a:r>
              <a:rPr lang="ru-RU" sz="3200" dirty="0" smtClean="0"/>
              <a:t>Сокращает </a:t>
            </a:r>
            <a:r>
              <a:rPr lang="ru-RU" sz="3200" dirty="0"/>
              <a:t>время обучения</a:t>
            </a:r>
          </a:p>
          <a:p>
            <a:pPr lvl="1" fontAlgn="base"/>
            <a:r>
              <a:rPr lang="ru-RU" sz="3000" dirty="0" smtClean="0"/>
              <a:t>Время </a:t>
            </a:r>
            <a:r>
              <a:rPr lang="ru-RU" sz="3000" dirty="0"/>
              <a:t>обучения некоторых методов квадратично или хуже зависит от числа признаков</a:t>
            </a:r>
          </a:p>
          <a:p>
            <a:pPr marL="0" indent="0" fontAlgn="base">
              <a:buNone/>
            </a:pPr>
            <a:r>
              <a:rPr lang="ru-RU" sz="3200" dirty="0" smtClean="0"/>
              <a:t>Уменьшает </a:t>
            </a:r>
            <a:r>
              <a:rPr lang="ru-RU" sz="3200" dirty="0"/>
              <a:t>размеры моделей и ускоряет выполнение</a:t>
            </a:r>
          </a:p>
          <a:p>
            <a:pPr marL="0" indent="0" fontAlgn="base">
              <a:buNone/>
            </a:pPr>
            <a:r>
              <a:rPr lang="ru-RU" sz="3200" dirty="0" smtClean="0"/>
              <a:t>Может </a:t>
            </a:r>
            <a:r>
              <a:rPr lang="ru-RU" sz="3200" dirty="0"/>
              <a:t>повысить </a:t>
            </a:r>
            <a:r>
              <a:rPr lang="ru-RU" sz="3200" dirty="0" err="1"/>
              <a:t>обобщаемость</a:t>
            </a:r>
            <a:r>
              <a:rPr lang="ru-RU" sz="3200" dirty="0"/>
              <a:t> (производительность)</a:t>
            </a:r>
          </a:p>
          <a:p>
            <a:pPr lvl="1" fontAlgn="base"/>
            <a:r>
              <a:rPr lang="ru-RU" sz="3000" dirty="0" smtClean="0"/>
              <a:t>Устраняет </a:t>
            </a:r>
            <a:r>
              <a:rPr lang="ru-RU" sz="3000" dirty="0"/>
              <a:t>шумовые признаки</a:t>
            </a:r>
          </a:p>
          <a:p>
            <a:pPr lvl="1" fontAlgn="base"/>
            <a:r>
              <a:rPr lang="ru-RU" sz="3000" dirty="0" smtClean="0"/>
              <a:t>Предотвращает </a:t>
            </a:r>
            <a:r>
              <a:rPr lang="ru-RU" sz="3000" dirty="0"/>
              <a:t>переобучение</a:t>
            </a:r>
          </a:p>
        </p:txBody>
      </p:sp>
    </p:spTree>
    <p:extLst>
      <p:ext uri="{BB962C8B-B14F-4D97-AF65-F5344CB8AC3E}">
        <p14:creationId xmlns:p14="http://schemas.microsoft.com/office/powerpoint/2010/main" val="825300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Отбор признаков</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Самый </a:t>
            </a:r>
            <a:r>
              <a:rPr lang="ru-RU" sz="3200" dirty="0"/>
              <a:t>простой метод отбора признаков:</a:t>
            </a:r>
          </a:p>
          <a:p>
            <a:pPr lvl="1" fontAlgn="base"/>
            <a:r>
              <a:rPr lang="ru-RU" sz="3000" dirty="0" smtClean="0"/>
              <a:t>Просто </a:t>
            </a:r>
            <a:r>
              <a:rPr lang="ru-RU" sz="3000" dirty="0"/>
              <a:t>используйте наиболее часто встречающиеся термины</a:t>
            </a:r>
          </a:p>
          <a:p>
            <a:pPr lvl="1" fontAlgn="base"/>
            <a:r>
              <a:rPr lang="ru-RU" sz="3000" dirty="0" smtClean="0"/>
              <a:t>Без </a:t>
            </a:r>
            <a:r>
              <a:rPr lang="ru-RU" sz="3000" dirty="0"/>
              <a:t>особого обоснования</a:t>
            </a:r>
          </a:p>
          <a:p>
            <a:pPr lvl="1" fontAlgn="base"/>
            <a:r>
              <a:rPr lang="ru-RU" sz="3000" dirty="0" smtClean="0"/>
              <a:t>Интуитивно понятно </a:t>
            </a:r>
            <a:r>
              <a:rPr lang="ru-RU" sz="3000" dirty="0"/>
              <a:t>почему это работает</a:t>
            </a:r>
          </a:p>
          <a:p>
            <a:pPr lvl="2" fontAlgn="base">
              <a:buFont typeface="Wingdings" panose="05000000000000000000" pitchFamily="2" charset="2"/>
              <a:buChar char="§"/>
            </a:pPr>
            <a:r>
              <a:rPr lang="ru-RU" sz="2800" dirty="0" smtClean="0"/>
              <a:t>Они </a:t>
            </a:r>
            <a:r>
              <a:rPr lang="ru-RU" sz="2800" dirty="0"/>
              <a:t>являются словами, которые можно хорошо оценить и которые чаще всего используются в качестве доказательств</a:t>
            </a:r>
          </a:p>
          <a:p>
            <a:pPr lvl="1" fontAlgn="base"/>
            <a:r>
              <a:rPr lang="ru-RU" sz="3000" dirty="0" smtClean="0"/>
              <a:t>На практике </a:t>
            </a:r>
            <a:r>
              <a:rPr lang="ru-RU" sz="3000" dirty="0"/>
              <a:t>это </a:t>
            </a:r>
            <a:r>
              <a:rPr lang="ru-RU" sz="3000" dirty="0" smtClean="0"/>
              <a:t>дает результат в 90</a:t>
            </a:r>
            <a:r>
              <a:rPr lang="ru-RU" sz="3000" dirty="0"/>
              <a:t>% </a:t>
            </a:r>
            <a:r>
              <a:rPr lang="ru-RU" sz="3000" dirty="0" smtClean="0"/>
              <a:t>от качества </a:t>
            </a:r>
            <a:r>
              <a:rPr lang="ru-RU" sz="3000" dirty="0"/>
              <a:t>лучших методов</a:t>
            </a:r>
          </a:p>
          <a:p>
            <a:pPr marL="0" indent="0" fontAlgn="base">
              <a:buNone/>
            </a:pPr>
            <a:r>
              <a:rPr lang="ru-RU" sz="3200" dirty="0" smtClean="0"/>
              <a:t>Более </a:t>
            </a:r>
            <a:r>
              <a:rPr lang="ru-RU" sz="3200" dirty="0"/>
              <a:t>умный отбор признаков:</a:t>
            </a:r>
          </a:p>
          <a:p>
            <a:pPr lvl="1" fontAlgn="base"/>
            <a:r>
              <a:rPr lang="ru-RU" sz="3000" dirty="0" smtClean="0"/>
              <a:t>хи-квадрат </a:t>
            </a:r>
            <a:r>
              <a:rPr lang="ru-RU" sz="3000" dirty="0"/>
              <a:t>и другие</a:t>
            </a:r>
          </a:p>
        </p:txBody>
      </p:sp>
    </p:spTree>
    <p:extLst>
      <p:ext uri="{BB962C8B-B14F-4D97-AF65-F5344CB8AC3E}">
        <p14:creationId xmlns:p14="http://schemas.microsoft.com/office/powerpoint/2010/main" val="602848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smtClean="0"/>
              <a:t>Na</a:t>
            </a:r>
            <a:r>
              <a:rPr lang="en-US" b="1" dirty="0"/>
              <a:t>i</a:t>
            </a:r>
            <a:r>
              <a:rPr lang="en-US" b="1" dirty="0" smtClean="0"/>
              <a:t>ve </a:t>
            </a:r>
            <a:r>
              <a:rPr lang="en-US" b="1" dirty="0"/>
              <a:t>Bayes</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22</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Вероятность того, что документ d относится к классу </a:t>
            </a:r>
            <a:r>
              <a:rPr lang="ru-RU" sz="3200" dirty="0" smtClean="0"/>
              <a:t>c</a:t>
            </a:r>
            <a:r>
              <a:rPr lang="ru-RU" sz="3200" dirty="0"/>
              <a:t>:</a:t>
            </a:r>
          </a:p>
          <a:p>
            <a:pPr marL="0" indent="0" fontAlgn="base">
              <a:buNone/>
            </a:pPr>
            <a:endParaRPr lang="ru-RU" sz="3200" dirty="0" smtClean="0"/>
          </a:p>
          <a:p>
            <a:pPr marL="0" indent="0" fontAlgn="base">
              <a:buNone/>
            </a:pPr>
            <a:endParaRPr lang="ru-RU" sz="3200" dirty="0" smtClean="0"/>
          </a:p>
          <a:p>
            <a:pPr marL="0" indent="0" fontAlgn="base">
              <a:buNone/>
            </a:pPr>
            <a:r>
              <a:rPr lang="ru-RU" sz="3200" dirty="0" smtClean="0"/>
              <a:t>P(</a:t>
            </a:r>
            <a:r>
              <a:rPr lang="ru-RU" sz="3200" dirty="0" err="1" smtClean="0"/>
              <a:t>t</a:t>
            </a:r>
            <a:r>
              <a:rPr lang="ru-RU" sz="3200" baseline="-25000" dirty="0" err="1" smtClean="0"/>
              <a:t>k</a:t>
            </a:r>
            <a:r>
              <a:rPr lang="ru-RU" sz="3200" dirty="0" err="1" smtClean="0"/>
              <a:t>|c</a:t>
            </a:r>
            <a:r>
              <a:rPr lang="ru-RU" sz="3200" dirty="0"/>
              <a:t>) </a:t>
            </a:r>
            <a:r>
              <a:rPr lang="ru-RU" sz="3200" dirty="0" smtClean="0"/>
              <a:t>показатель </a:t>
            </a:r>
            <a:r>
              <a:rPr lang="ru-RU" sz="3200" dirty="0"/>
              <a:t>того, насколько </a:t>
            </a:r>
            <a:r>
              <a:rPr lang="ru-RU" sz="3200" dirty="0" err="1"/>
              <a:t>t</a:t>
            </a:r>
            <a:r>
              <a:rPr lang="ru-RU" sz="3200" baseline="-25000" dirty="0" err="1"/>
              <a:t>k</a:t>
            </a:r>
            <a:r>
              <a:rPr lang="ru-RU" sz="3200" dirty="0"/>
              <a:t> свидетельствует о том, что c является правильным классом.</a:t>
            </a:r>
            <a:endParaRPr lang="ru-RU" sz="3200" dirty="0" smtClean="0"/>
          </a:p>
          <a:p>
            <a:pPr marL="0" indent="0" fontAlgn="base">
              <a:buNone/>
            </a:pPr>
            <a:r>
              <a:rPr lang="ru-RU" sz="3200" dirty="0"/>
              <a:t>При классификации текста наша цель - найти наилучший класс для документа. Наилучший класс в классификации NB - это наиболее вероятный или максимальный апостериорный (картографический) класс c</a:t>
            </a:r>
            <a:r>
              <a:rPr lang="ru-RU" sz="3200" dirty="0" smtClean="0"/>
              <a:t>:</a:t>
            </a:r>
            <a:endParaRPr lang="ru-RU" sz="3200" dirty="0"/>
          </a:p>
          <a:p>
            <a:pPr marL="0" indent="0" fontAlgn="base">
              <a:buNone/>
            </a:pPr>
            <a:endParaRPr lang="ru-RU" sz="3200" dirty="0"/>
          </a:p>
        </p:txBody>
      </p:sp>
      <p:pic>
        <p:nvPicPr>
          <p:cNvPr id="3" name="Рисунок 2"/>
          <p:cNvPicPr>
            <a:picLocks noChangeAspect="1"/>
          </p:cNvPicPr>
          <p:nvPr/>
        </p:nvPicPr>
        <p:blipFill>
          <a:blip r:embed="rId2"/>
          <a:stretch>
            <a:fillRect/>
          </a:stretch>
        </p:blipFill>
        <p:spPr>
          <a:xfrm>
            <a:off x="4306288" y="1572254"/>
            <a:ext cx="3286125" cy="866775"/>
          </a:xfrm>
          <a:prstGeom prst="rect">
            <a:avLst/>
          </a:prstGeom>
        </p:spPr>
      </p:pic>
      <p:pic>
        <p:nvPicPr>
          <p:cNvPr id="6" name="Рисунок 5"/>
          <p:cNvPicPr>
            <a:picLocks noChangeAspect="1"/>
          </p:cNvPicPr>
          <p:nvPr/>
        </p:nvPicPr>
        <p:blipFill>
          <a:blip r:embed="rId3"/>
          <a:stretch>
            <a:fillRect/>
          </a:stretch>
        </p:blipFill>
        <p:spPr>
          <a:xfrm>
            <a:off x="2690722" y="5591512"/>
            <a:ext cx="6172200" cy="885825"/>
          </a:xfrm>
          <a:prstGeom prst="rect">
            <a:avLst/>
          </a:prstGeom>
        </p:spPr>
      </p:pic>
    </p:spTree>
    <p:extLst>
      <p:ext uri="{BB962C8B-B14F-4D97-AF65-F5344CB8AC3E}">
        <p14:creationId xmlns:p14="http://schemas.microsoft.com/office/powerpoint/2010/main" val="2016609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smtClean="0"/>
              <a:t>Na</a:t>
            </a:r>
            <a:r>
              <a:rPr lang="en-US" b="1" dirty="0"/>
              <a:t>i</a:t>
            </a:r>
            <a:r>
              <a:rPr lang="en-US" b="1" dirty="0" smtClean="0"/>
              <a:t>ve </a:t>
            </a:r>
            <a:r>
              <a:rPr lang="en-US" b="1" dirty="0"/>
              <a:t>Bayes</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Классифицируем </a:t>
            </a:r>
            <a:r>
              <a:rPr lang="ru-RU" sz="3200" dirty="0"/>
              <a:t>на основе </a:t>
            </a:r>
            <a:r>
              <a:rPr lang="ru-RU" sz="3200" dirty="0" smtClean="0"/>
              <a:t>предварительного </a:t>
            </a:r>
            <a:r>
              <a:rPr lang="ru-RU" sz="3200" dirty="0"/>
              <a:t>веса класса и условного параметра для </a:t>
            </a:r>
            <a:r>
              <a:rPr lang="ru-RU" sz="3200" dirty="0" smtClean="0"/>
              <a:t>того чтобы учесть вклад каждого слова:</a:t>
            </a:r>
          </a:p>
          <a:p>
            <a:pPr marL="0" indent="0" fontAlgn="base">
              <a:buNone/>
            </a:pPr>
            <a:endParaRPr lang="ru-RU" sz="3200" dirty="0"/>
          </a:p>
          <a:p>
            <a:pPr marL="0" indent="0" fontAlgn="base">
              <a:buNone/>
            </a:pPr>
            <a:endParaRPr lang="ru-RU" sz="3200" dirty="0" smtClean="0"/>
          </a:p>
          <a:p>
            <a:pPr marL="0" indent="0" fontAlgn="base">
              <a:buNone/>
            </a:pPr>
            <a:r>
              <a:rPr lang="ru-RU" sz="3200" dirty="0"/>
              <a:t>Обучение осуществляется путем подсчета и </a:t>
            </a:r>
            <a:r>
              <a:rPr lang="ru-RU" sz="3200" dirty="0" smtClean="0"/>
              <a:t>деления:</a:t>
            </a:r>
          </a:p>
          <a:p>
            <a:pPr marL="0" indent="0" fontAlgn="base">
              <a:buNone/>
            </a:pPr>
            <a:endParaRPr lang="ru-RU" sz="3200" dirty="0"/>
          </a:p>
          <a:p>
            <a:pPr marL="0" indent="0" fontAlgn="base">
              <a:buNone/>
            </a:pPr>
            <a:endParaRPr lang="ru-RU" sz="3200" dirty="0" smtClean="0"/>
          </a:p>
          <a:p>
            <a:pPr marL="0" indent="0" fontAlgn="base">
              <a:buNone/>
            </a:pPr>
            <a:r>
              <a:rPr lang="ru-RU" sz="3200" dirty="0" smtClean="0"/>
              <a:t>Можно добавить сглаживание…</a:t>
            </a:r>
          </a:p>
          <a:p>
            <a:pPr marL="0" indent="0" fontAlgn="base">
              <a:buNone/>
            </a:pPr>
            <a:endParaRPr lang="ru-RU" sz="3200" dirty="0"/>
          </a:p>
        </p:txBody>
      </p:sp>
      <p:pic>
        <p:nvPicPr>
          <p:cNvPr id="7" name="Рисунок 6"/>
          <p:cNvPicPr>
            <a:picLocks noChangeAspect="1"/>
          </p:cNvPicPr>
          <p:nvPr/>
        </p:nvPicPr>
        <p:blipFill>
          <a:blip r:embed="rId2"/>
          <a:stretch>
            <a:fillRect/>
          </a:stretch>
        </p:blipFill>
        <p:spPr>
          <a:xfrm>
            <a:off x="3433762" y="2138632"/>
            <a:ext cx="5324475" cy="838200"/>
          </a:xfrm>
          <a:prstGeom prst="rect">
            <a:avLst/>
          </a:prstGeom>
        </p:spPr>
      </p:pic>
      <p:pic>
        <p:nvPicPr>
          <p:cNvPr id="8" name="Рисунок 7"/>
          <p:cNvPicPr>
            <a:picLocks noChangeAspect="1"/>
          </p:cNvPicPr>
          <p:nvPr/>
        </p:nvPicPr>
        <p:blipFill>
          <a:blip r:embed="rId3"/>
          <a:stretch>
            <a:fillRect/>
          </a:stretch>
        </p:blipFill>
        <p:spPr>
          <a:xfrm>
            <a:off x="3672338" y="3831565"/>
            <a:ext cx="1638300" cy="752475"/>
          </a:xfrm>
          <a:prstGeom prst="rect">
            <a:avLst/>
          </a:prstGeom>
        </p:spPr>
      </p:pic>
      <p:pic>
        <p:nvPicPr>
          <p:cNvPr id="9" name="Рисунок 8"/>
          <p:cNvPicPr>
            <a:picLocks noChangeAspect="1"/>
          </p:cNvPicPr>
          <p:nvPr/>
        </p:nvPicPr>
        <p:blipFill>
          <a:blip r:embed="rId4"/>
          <a:stretch>
            <a:fillRect/>
          </a:stretch>
        </p:blipFill>
        <p:spPr>
          <a:xfrm>
            <a:off x="6237906" y="3811887"/>
            <a:ext cx="2162175" cy="819150"/>
          </a:xfrm>
          <a:prstGeom prst="rect">
            <a:avLst/>
          </a:prstGeom>
        </p:spPr>
      </p:pic>
    </p:spTree>
    <p:extLst>
      <p:ext uri="{BB962C8B-B14F-4D97-AF65-F5344CB8AC3E}">
        <p14:creationId xmlns:p14="http://schemas.microsoft.com/office/powerpoint/2010/main" val="985495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Apache </a:t>
            </a:r>
            <a:r>
              <a:rPr lang="en-US" b="1" dirty="0" err="1"/>
              <a:t>SpamAssassin</a:t>
            </a:r>
            <a:r>
              <a:rPr lang="en-US" b="1" dirty="0"/>
              <a:t> </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lvl="1" indent="0" fontAlgn="base">
              <a:buNone/>
            </a:pPr>
            <a:r>
              <a:rPr lang="ru-RU" sz="2800" dirty="0" smtClean="0"/>
              <a:t>Признаки спама </a:t>
            </a:r>
            <a:r>
              <a:rPr lang="ru-RU" sz="2800" dirty="0"/>
              <a:t>(Байесовский подход</a:t>
            </a:r>
            <a:r>
              <a:rPr lang="ru-RU" sz="2800" dirty="0" smtClean="0"/>
              <a:t>)</a:t>
            </a:r>
            <a:endParaRPr lang="ru-RU" sz="2800" dirty="0"/>
          </a:p>
          <a:p>
            <a:pPr marL="457200" lvl="1" indent="-457200" fontAlgn="base"/>
            <a:r>
              <a:rPr lang="ru-RU" sz="2800" dirty="0" smtClean="0"/>
              <a:t>Упоминания</a:t>
            </a:r>
            <a:r>
              <a:rPr lang="ru-RU" sz="2800" dirty="0"/>
              <a:t>: </a:t>
            </a:r>
            <a:r>
              <a:rPr lang="ru-RU" sz="2800" dirty="0" err="1"/>
              <a:t>Generic</a:t>
            </a:r>
            <a:r>
              <a:rPr lang="ru-RU" sz="2800" dirty="0"/>
              <a:t> </a:t>
            </a:r>
            <a:r>
              <a:rPr lang="ru-RU" sz="2800" dirty="0" err="1"/>
              <a:t>Viagra</a:t>
            </a:r>
            <a:endParaRPr lang="ru-RU" sz="2800" dirty="0"/>
          </a:p>
          <a:p>
            <a:pPr marL="457200" lvl="1" indent="-457200" fontAlgn="base"/>
            <a:r>
              <a:rPr lang="ru-RU" sz="2800" dirty="0" smtClean="0"/>
              <a:t>Регулярное </a:t>
            </a:r>
            <a:r>
              <a:rPr lang="ru-RU" sz="2800" dirty="0"/>
              <a:t>выражение: миллионы ($ $$NN,NNN,NNN.NN)</a:t>
            </a:r>
          </a:p>
          <a:p>
            <a:pPr marL="457200" lvl="1" indent="-457200" fontAlgn="base"/>
            <a:r>
              <a:rPr lang="ru-RU" sz="2800" dirty="0" smtClean="0"/>
              <a:t>Фраза</a:t>
            </a:r>
            <a:r>
              <a:rPr lang="ru-RU" sz="2800" dirty="0"/>
              <a:t>: впечатлить девушку</a:t>
            </a:r>
          </a:p>
          <a:p>
            <a:pPr marL="457200" lvl="1" indent="-457200" fontAlgn="base"/>
            <a:r>
              <a:rPr lang="ru-RU" sz="2800" dirty="0" smtClean="0"/>
              <a:t>Фраза</a:t>
            </a:r>
            <a:r>
              <a:rPr lang="ru-RU" sz="2800" dirty="0"/>
              <a:t>: престижные непризнанные университеты</a:t>
            </a:r>
          </a:p>
          <a:p>
            <a:pPr marL="457200" lvl="1" indent="-457200" fontAlgn="base"/>
            <a:r>
              <a:rPr lang="ru-RU" sz="2800" dirty="0" smtClean="0"/>
              <a:t>Отправлено с </a:t>
            </a:r>
            <a:r>
              <a:rPr lang="ru-RU" sz="2800" dirty="0"/>
              <a:t>адреса, начинающегося с </a:t>
            </a:r>
            <a:r>
              <a:rPr lang="ru-RU" sz="2800" dirty="0" smtClean="0"/>
              <a:t>нескольких </a:t>
            </a:r>
            <a:r>
              <a:rPr lang="ru-RU" sz="2800" dirty="0"/>
              <a:t>чисел</a:t>
            </a:r>
          </a:p>
          <a:p>
            <a:pPr marL="457200" lvl="1" indent="-457200" fontAlgn="base"/>
            <a:r>
              <a:rPr lang="ru-RU" sz="2800" dirty="0" smtClean="0"/>
              <a:t>Заголовок </a:t>
            </a:r>
            <a:r>
              <a:rPr lang="ru-RU" sz="2800" dirty="0"/>
              <a:t>написан прописными буквами</a:t>
            </a:r>
          </a:p>
          <a:p>
            <a:pPr marL="457200" lvl="1" indent="-457200" fontAlgn="base"/>
            <a:r>
              <a:rPr lang="ru-RU" sz="2800" dirty="0" smtClean="0"/>
              <a:t>HTML </a:t>
            </a:r>
            <a:r>
              <a:rPr lang="ru-RU" sz="2800" dirty="0"/>
              <a:t>содержит низкий коэффициент соотношения текста к площади изображений</a:t>
            </a:r>
          </a:p>
          <a:p>
            <a:pPr marL="457200" lvl="1" indent="-457200" fontAlgn="base"/>
            <a:r>
              <a:rPr lang="ru-RU" sz="2800" dirty="0" smtClean="0"/>
              <a:t>Повторение </a:t>
            </a:r>
            <a:r>
              <a:rPr lang="ru-RU" sz="2800" dirty="0"/>
              <a:t>IP-адреса в черном списке, см. http://</a:t>
            </a:r>
            <a:r>
              <a:rPr lang="ru-RU" sz="2800" dirty="0" smtClean="0"/>
              <a:t>www.mail-abuse.com/enduserinfo_rbl.html</a:t>
            </a:r>
            <a:endParaRPr lang="ru-RU" sz="2800" dirty="0"/>
          </a:p>
        </p:txBody>
      </p:sp>
    </p:spTree>
    <p:extLst>
      <p:ext uri="{BB962C8B-B14F-4D97-AF65-F5344CB8AC3E}">
        <p14:creationId xmlns:p14="http://schemas.microsoft.com/office/powerpoint/2010/main" val="2325260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Naive </a:t>
            </a:r>
            <a:r>
              <a:rPr lang="en-US" b="1" dirty="0" smtClean="0"/>
              <a:t>Bayes</a:t>
            </a:r>
            <a:r>
              <a:rPr lang="ru-RU" b="1" dirty="0" smtClean="0"/>
              <a:t> не такой уж и наивный</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Очень быстрое обучение и тестирование (по сути, просто подсчет слов</a:t>
            </a:r>
            <a:r>
              <a:rPr lang="ru-RU" sz="3200" dirty="0" smtClean="0"/>
              <a:t>)</a:t>
            </a:r>
          </a:p>
          <a:p>
            <a:pPr marL="0" indent="0" fontAlgn="base">
              <a:buNone/>
            </a:pPr>
            <a:r>
              <a:rPr lang="ru-RU" sz="3200" dirty="0" smtClean="0"/>
              <a:t>Низкие </a:t>
            </a:r>
            <a:r>
              <a:rPr lang="ru-RU" sz="3200" dirty="0"/>
              <a:t>требования к хранилищу </a:t>
            </a:r>
            <a:r>
              <a:rPr lang="ru-RU" sz="3200" dirty="0" smtClean="0"/>
              <a:t>данных</a:t>
            </a:r>
          </a:p>
          <a:p>
            <a:pPr marL="0" indent="0" fontAlgn="base">
              <a:buNone/>
            </a:pPr>
            <a:r>
              <a:rPr lang="ru-RU" sz="3200" dirty="0" smtClean="0"/>
              <a:t>Очень </a:t>
            </a:r>
            <a:r>
              <a:rPr lang="ru-RU" sz="3200" dirty="0"/>
              <a:t>эффективен в областях со многими одинаково важными </a:t>
            </a:r>
            <a:r>
              <a:rPr lang="ru-RU" sz="3200" dirty="0" smtClean="0"/>
              <a:t>признаками</a:t>
            </a:r>
          </a:p>
          <a:p>
            <a:pPr marL="0" indent="0" fontAlgn="base">
              <a:buNone/>
            </a:pPr>
            <a:r>
              <a:rPr lang="ru-RU" sz="3200" dirty="0" smtClean="0"/>
              <a:t>Более </a:t>
            </a:r>
            <a:r>
              <a:rPr lang="ru-RU" sz="3200" dirty="0"/>
              <a:t>устойчив к нерелевантным функциям, чем многие методы обучения	</a:t>
            </a:r>
            <a:endParaRPr lang="ru-RU" sz="3200" dirty="0" smtClean="0"/>
          </a:p>
          <a:p>
            <a:pPr lvl="1" fontAlgn="base"/>
            <a:r>
              <a:rPr lang="ru-RU" sz="3000" dirty="0" smtClean="0"/>
              <a:t>Нерелевантные </a:t>
            </a:r>
            <a:r>
              <a:rPr lang="ru-RU" sz="3000" dirty="0"/>
              <a:t>функции устраняются, не влияя на результаты</a:t>
            </a:r>
          </a:p>
        </p:txBody>
      </p:sp>
    </p:spTree>
    <p:extLst>
      <p:ext uri="{BB962C8B-B14F-4D97-AF65-F5344CB8AC3E}">
        <p14:creationId xmlns:p14="http://schemas.microsoft.com/office/powerpoint/2010/main" val="588499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Оценка категоризации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Оценка </a:t>
            </a:r>
            <a:r>
              <a:rPr lang="ru-RU" sz="3200" dirty="0"/>
              <a:t>должна проводиться на тестовом наборе данных, независимом от обучающих </a:t>
            </a:r>
            <a:r>
              <a:rPr lang="ru-RU" sz="3200" dirty="0" smtClean="0"/>
              <a:t>данных</a:t>
            </a:r>
            <a:endParaRPr lang="ru-RU" sz="3200" dirty="0"/>
          </a:p>
          <a:p>
            <a:pPr marL="0" indent="0" fontAlgn="base">
              <a:buNone/>
            </a:pPr>
            <a:r>
              <a:rPr lang="ru-RU" sz="3200" dirty="0"/>
              <a:t>Иногда используется </a:t>
            </a:r>
            <a:r>
              <a:rPr lang="ru-RU" sz="3200" dirty="0" smtClean="0"/>
              <a:t>кросс-валидация (усреднение результатов по нескольким выборкам обучающего и </a:t>
            </a:r>
            <a:r>
              <a:rPr lang="ru-RU" sz="3200" dirty="0"/>
              <a:t>тестового набора)</a:t>
            </a:r>
          </a:p>
          <a:p>
            <a:pPr marL="0" indent="0" fontAlgn="base">
              <a:buNone/>
            </a:pPr>
            <a:r>
              <a:rPr lang="ru-RU" sz="3200" dirty="0" smtClean="0"/>
              <a:t>Легко переобучиться</a:t>
            </a:r>
            <a:endParaRPr lang="ru-RU" sz="3200" dirty="0"/>
          </a:p>
        </p:txBody>
      </p:sp>
    </p:spTree>
    <p:extLst>
      <p:ext uri="{BB962C8B-B14F-4D97-AF65-F5344CB8AC3E}">
        <p14:creationId xmlns:p14="http://schemas.microsoft.com/office/powerpoint/2010/main" val="2330337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Оценка категоризации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27</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Метрики</a:t>
            </a:r>
            <a:r>
              <a:rPr lang="en-US" sz="3200" dirty="0" smtClean="0"/>
              <a:t>: </a:t>
            </a:r>
            <a:r>
              <a:rPr lang="en-US" sz="3200" dirty="0"/>
              <a:t>precision, recall, F1, classification accuracy</a:t>
            </a:r>
          </a:p>
          <a:p>
            <a:pPr marL="0" indent="0" fontAlgn="base">
              <a:buNone/>
            </a:pPr>
            <a:r>
              <a:rPr lang="en-US" sz="3200" dirty="0"/>
              <a:t>Classification accuracy: r/n </a:t>
            </a:r>
            <a:r>
              <a:rPr lang="ru-RU" sz="3200" dirty="0"/>
              <a:t>где n - общее количество тестовых документов, а r - количество правильно классифицированных тестовых документов</a:t>
            </a:r>
            <a:endParaRPr lang="en-US" sz="3200" dirty="0"/>
          </a:p>
        </p:txBody>
      </p:sp>
    </p:spTree>
    <p:extLst>
      <p:ext uri="{BB962C8B-B14F-4D97-AF65-F5344CB8AC3E}">
        <p14:creationId xmlns:p14="http://schemas.microsoft.com/office/powerpoint/2010/main" val="402297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Вспомним представление пространства вектора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Каждый </a:t>
            </a:r>
            <a:r>
              <a:rPr lang="ru-RU" sz="3200" dirty="0"/>
              <a:t>документ представлен вектором, одним компонентом для каждого термина (слова).</a:t>
            </a:r>
          </a:p>
          <a:p>
            <a:pPr marL="0" indent="0" fontAlgn="base">
              <a:buNone/>
            </a:pPr>
            <a:r>
              <a:rPr lang="ru-RU" sz="3200" dirty="0" smtClean="0"/>
              <a:t>Обычно </a:t>
            </a:r>
            <a:r>
              <a:rPr lang="ru-RU" sz="3200" dirty="0"/>
              <a:t>нормализуют векторы до единичной длины.</a:t>
            </a:r>
          </a:p>
          <a:p>
            <a:pPr marL="0" indent="0" fontAlgn="base">
              <a:buNone/>
            </a:pPr>
            <a:r>
              <a:rPr lang="ru-RU" sz="3200" dirty="0" err="1" smtClean="0"/>
              <a:t>Высокомерностное</a:t>
            </a:r>
            <a:r>
              <a:rPr lang="ru-RU" sz="3200" dirty="0" smtClean="0"/>
              <a:t> </a:t>
            </a:r>
            <a:r>
              <a:rPr lang="ru-RU" sz="3200" dirty="0"/>
              <a:t>векторное пространство:</a:t>
            </a:r>
          </a:p>
          <a:p>
            <a:pPr marL="0" indent="0" fontAlgn="base">
              <a:buNone/>
            </a:pPr>
            <a:r>
              <a:rPr lang="ru-RU" sz="3200" dirty="0" smtClean="0"/>
              <a:t>Термины </a:t>
            </a:r>
            <a:r>
              <a:rPr lang="ru-RU" sz="3200" dirty="0"/>
              <a:t>являются осями</a:t>
            </a:r>
          </a:p>
          <a:p>
            <a:pPr marL="0" indent="0" fontAlgn="base">
              <a:buNone/>
            </a:pPr>
            <a:r>
              <a:rPr lang="ru-RU" sz="3200" dirty="0" smtClean="0"/>
              <a:t>10 </a:t>
            </a:r>
            <a:r>
              <a:rPr lang="ru-RU" sz="3200" dirty="0"/>
              <a:t>000+ измерений, иногда даже 100 000+</a:t>
            </a:r>
          </a:p>
          <a:p>
            <a:pPr marL="0" indent="0" fontAlgn="base">
              <a:buNone/>
            </a:pPr>
            <a:r>
              <a:rPr lang="ru-RU" sz="3200" dirty="0" smtClean="0"/>
              <a:t>Документы </a:t>
            </a:r>
            <a:r>
              <a:rPr lang="ru-RU" sz="3200" dirty="0"/>
              <a:t>представлены в пространстве векторами</a:t>
            </a:r>
          </a:p>
          <a:p>
            <a:pPr marL="0" indent="0" fontAlgn="base">
              <a:buNone/>
            </a:pPr>
            <a:r>
              <a:rPr lang="ru-RU" sz="3200" dirty="0" smtClean="0"/>
              <a:t>Как </a:t>
            </a:r>
            <a:r>
              <a:rPr lang="ru-RU" sz="3200" dirty="0"/>
              <a:t>мы можем проводить классификацию в таком пространстве?</a:t>
            </a:r>
          </a:p>
        </p:txBody>
      </p:sp>
    </p:spTree>
    <p:extLst>
      <p:ext uri="{BB962C8B-B14F-4D97-AF65-F5344CB8AC3E}">
        <p14:creationId xmlns:p14="http://schemas.microsoft.com/office/powerpoint/2010/main" val="380552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Классификация с использованием векторного пространства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smtClean="0"/>
              <a:t>Векторное </a:t>
            </a:r>
            <a:r>
              <a:rPr lang="ru-RU" sz="3000" dirty="0"/>
              <a:t>пространство представляет собой совокупность точек (эквивалентно векторам), соответствующих обучающему набору.</a:t>
            </a:r>
          </a:p>
          <a:p>
            <a:pPr marL="0" indent="0" fontAlgn="base">
              <a:buNone/>
            </a:pPr>
            <a:r>
              <a:rPr lang="ru-RU" sz="3000" dirty="0" smtClean="0"/>
              <a:t>Основная </a:t>
            </a:r>
            <a:r>
              <a:rPr lang="ru-RU" sz="3000" dirty="0"/>
              <a:t>предпосылка 1: Документы одной категории образуют непрерывную область пространства.</a:t>
            </a:r>
          </a:p>
          <a:p>
            <a:pPr marL="0" indent="0" fontAlgn="base">
              <a:buNone/>
            </a:pPr>
            <a:r>
              <a:rPr lang="ru-RU" sz="3000" dirty="0" smtClean="0"/>
              <a:t>Предпосылка </a:t>
            </a:r>
            <a:r>
              <a:rPr lang="ru-RU" sz="3000" dirty="0"/>
              <a:t>2: Документы разных категорий не перекрываются (или почти не пересекаются).</a:t>
            </a:r>
          </a:p>
          <a:p>
            <a:pPr marL="0" indent="0" fontAlgn="base">
              <a:buNone/>
            </a:pPr>
            <a:r>
              <a:rPr lang="ru-RU" sz="3000" dirty="0" smtClean="0"/>
              <a:t>Задача </a:t>
            </a:r>
            <a:r>
              <a:rPr lang="ru-RU" sz="3000" dirty="0"/>
              <a:t>построения классификатора заключается в построении поверхностей, определяющих границы классов в пространстве.</a:t>
            </a:r>
          </a:p>
        </p:txBody>
      </p:sp>
    </p:spTree>
    <p:extLst>
      <p:ext uri="{BB962C8B-B14F-4D97-AF65-F5344CB8AC3E}">
        <p14:creationId xmlns:p14="http://schemas.microsoft.com/office/powerpoint/2010/main" val="3761469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Документы в векторном пространстве</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30</a:t>
            </a:fld>
            <a:endParaRPr lang="ru-RU" noProof="0" dirty="0"/>
          </a:p>
        </p:txBody>
      </p:sp>
      <p:pic>
        <p:nvPicPr>
          <p:cNvPr id="3" name="Объект 2"/>
          <p:cNvPicPr>
            <a:picLocks noGrp="1" noChangeAspect="1"/>
          </p:cNvPicPr>
          <p:nvPr>
            <p:ph idx="1"/>
          </p:nvPr>
        </p:nvPicPr>
        <p:blipFill>
          <a:blip r:embed="rId2"/>
          <a:stretch>
            <a:fillRect/>
          </a:stretch>
        </p:blipFill>
        <p:spPr>
          <a:xfrm>
            <a:off x="2428875" y="1399381"/>
            <a:ext cx="7334250" cy="4448175"/>
          </a:xfrm>
          <a:prstGeom prst="rect">
            <a:avLst/>
          </a:prstGeom>
        </p:spPr>
      </p:pic>
    </p:spTree>
    <p:extLst>
      <p:ext uri="{BB962C8B-B14F-4D97-AF65-F5344CB8AC3E}">
        <p14:creationId xmlns:p14="http://schemas.microsoft.com/office/powerpoint/2010/main" val="198860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Документы в векторном пространстве</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31</a:t>
            </a:fld>
            <a:endParaRPr lang="ru-RU" noProof="0" dirty="0"/>
          </a:p>
        </p:txBody>
      </p:sp>
      <p:pic>
        <p:nvPicPr>
          <p:cNvPr id="6" name="Объект 5"/>
          <p:cNvPicPr>
            <a:picLocks noGrp="1" noChangeAspect="1"/>
          </p:cNvPicPr>
          <p:nvPr>
            <p:ph idx="1"/>
          </p:nvPr>
        </p:nvPicPr>
        <p:blipFill>
          <a:blip r:embed="rId2"/>
          <a:stretch>
            <a:fillRect/>
          </a:stretch>
        </p:blipFill>
        <p:spPr>
          <a:xfrm>
            <a:off x="2558291" y="1511300"/>
            <a:ext cx="7075418" cy="4679950"/>
          </a:xfrm>
          <a:prstGeom prst="rect">
            <a:avLst/>
          </a:prstGeom>
        </p:spPr>
      </p:pic>
    </p:spTree>
    <p:extLst>
      <p:ext uri="{BB962C8B-B14F-4D97-AF65-F5344CB8AC3E}">
        <p14:creationId xmlns:p14="http://schemas.microsoft.com/office/powerpoint/2010/main" val="3257365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Документы в векторном пространстве</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32</a:t>
            </a:fld>
            <a:endParaRPr lang="ru-RU" noProof="0" dirty="0"/>
          </a:p>
        </p:txBody>
      </p:sp>
      <p:pic>
        <p:nvPicPr>
          <p:cNvPr id="4" name="Объект 3"/>
          <p:cNvPicPr>
            <a:picLocks noGrp="1" noChangeAspect="1"/>
          </p:cNvPicPr>
          <p:nvPr>
            <p:ph idx="1"/>
          </p:nvPr>
        </p:nvPicPr>
        <p:blipFill>
          <a:blip r:embed="rId2"/>
          <a:stretch>
            <a:fillRect/>
          </a:stretch>
        </p:blipFill>
        <p:spPr>
          <a:xfrm>
            <a:off x="2524125" y="1570037"/>
            <a:ext cx="7143750" cy="4562475"/>
          </a:xfrm>
          <a:prstGeom prst="rect">
            <a:avLst/>
          </a:prstGeom>
        </p:spPr>
      </p:pic>
    </p:spTree>
    <p:extLst>
      <p:ext uri="{BB962C8B-B14F-4D97-AF65-F5344CB8AC3E}">
        <p14:creationId xmlns:p14="http://schemas.microsoft.com/office/powerpoint/2010/main" val="1988446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err="1"/>
              <a:t>Центроид</a:t>
            </a:r>
            <a:r>
              <a:rPr lang="ru-RU" b="1" dirty="0"/>
              <a:t> класса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endParaRPr lang="ru-RU" sz="3200" dirty="0" smtClean="0"/>
          </a:p>
          <a:p>
            <a:pPr marL="0" indent="0" fontAlgn="base">
              <a:buNone/>
            </a:pPr>
            <a:endParaRPr lang="ru-RU" sz="3200" dirty="0" smtClean="0"/>
          </a:p>
          <a:p>
            <a:pPr marL="0" indent="0" fontAlgn="base">
              <a:buNone/>
            </a:pPr>
            <a:r>
              <a:rPr lang="ru-RU" sz="3200" dirty="0"/>
              <a:t>Где </a:t>
            </a:r>
            <a:r>
              <a:rPr lang="en-US" altLang="x-none" sz="3200" i="1" dirty="0">
                <a:latin typeface="Calibri" charset="0"/>
                <a:ea typeface="MS PGothic" charset="-128"/>
              </a:rPr>
              <a:t>D</a:t>
            </a:r>
            <a:r>
              <a:rPr lang="en-US" altLang="x-none" sz="3200" i="1" baseline="-25000" dirty="0">
                <a:latin typeface="Calibri" charset="0"/>
                <a:ea typeface="MS PGothic" charset="-128"/>
              </a:rPr>
              <a:t>c</a:t>
            </a:r>
            <a:r>
              <a:rPr lang="ru-RU" sz="3200" dirty="0" smtClean="0"/>
              <a:t>  </a:t>
            </a:r>
            <a:r>
              <a:rPr lang="ru-RU" sz="3200" dirty="0"/>
              <a:t>— множество всех документов, принадлежащих классу </a:t>
            </a:r>
            <a:r>
              <a:rPr lang="ru-RU" sz="3200" dirty="0" smtClean="0"/>
              <a:t>c, </a:t>
            </a:r>
            <a:r>
              <a:rPr lang="ru-RU" sz="3200" dirty="0"/>
              <a:t>а </a:t>
            </a:r>
            <a:r>
              <a:rPr lang="ru-RU" sz="3200" i="1" dirty="0" smtClean="0"/>
              <a:t>v</a:t>
            </a:r>
            <a:r>
              <a:rPr lang="ru-RU" sz="3200" dirty="0" smtClean="0"/>
              <a:t>(d</a:t>
            </a:r>
            <a:r>
              <a:rPr lang="ru-RU" sz="3200" dirty="0"/>
              <a:t>) — векторное представление документа </a:t>
            </a:r>
            <a:r>
              <a:rPr lang="ru-RU" sz="3200" dirty="0" smtClean="0"/>
              <a:t>d.</a:t>
            </a:r>
            <a:endParaRPr lang="ru-RU" sz="3200" dirty="0"/>
          </a:p>
          <a:p>
            <a:pPr marL="0" indent="0" fontAlgn="base">
              <a:buNone/>
            </a:pPr>
            <a:r>
              <a:rPr lang="ru-RU" sz="3200" dirty="0" smtClean="0"/>
              <a:t>Обратите </a:t>
            </a:r>
            <a:r>
              <a:rPr lang="ru-RU" sz="3200" dirty="0"/>
              <a:t>внимание, что </a:t>
            </a:r>
            <a:r>
              <a:rPr lang="ru-RU" sz="3200" dirty="0" err="1"/>
              <a:t>центроид</a:t>
            </a:r>
            <a:r>
              <a:rPr lang="ru-RU" sz="3200" dirty="0"/>
              <a:t> в общем случае не будет </a:t>
            </a:r>
            <a:r>
              <a:rPr lang="ru-RU" sz="3200" dirty="0" smtClean="0"/>
              <a:t>единичным вектором, </a:t>
            </a:r>
            <a:r>
              <a:rPr lang="ru-RU" sz="3200" dirty="0"/>
              <a:t>даже если входные данные были нормированы.</a:t>
            </a:r>
          </a:p>
          <a:p>
            <a:pPr marL="0" indent="0" fontAlgn="base">
              <a:buNone/>
            </a:pPr>
            <a:endParaRPr lang="ru-RU" sz="3200" dirty="0"/>
          </a:p>
        </p:txBody>
      </p:sp>
      <p:pic>
        <p:nvPicPr>
          <p:cNvPr id="3" name="Рисунок 2"/>
          <p:cNvPicPr>
            <a:picLocks noChangeAspect="1"/>
          </p:cNvPicPr>
          <p:nvPr/>
        </p:nvPicPr>
        <p:blipFill>
          <a:blip r:embed="rId2"/>
          <a:stretch>
            <a:fillRect/>
          </a:stretch>
        </p:blipFill>
        <p:spPr>
          <a:xfrm>
            <a:off x="4350768" y="1055716"/>
            <a:ext cx="2666478" cy="686820"/>
          </a:xfrm>
          <a:prstGeom prst="rect">
            <a:avLst/>
          </a:prstGeom>
        </p:spPr>
      </p:pic>
    </p:spTree>
    <p:extLst>
      <p:ext uri="{BB962C8B-B14F-4D97-AF65-F5344CB8AC3E}">
        <p14:creationId xmlns:p14="http://schemas.microsoft.com/office/powerpoint/2010/main" val="2602315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err="1"/>
              <a:t>Rocchio</a:t>
            </a:r>
            <a:r>
              <a:rPr lang="en-US" b="1" dirty="0"/>
              <a:t>-</a:t>
            </a:r>
            <a:r>
              <a:rPr lang="ru-RU" b="1" dirty="0"/>
              <a:t>классификация</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err="1"/>
              <a:t>Rocchio</a:t>
            </a:r>
            <a:r>
              <a:rPr lang="ru-RU" sz="3200" dirty="0"/>
              <a:t>-классификация </a:t>
            </a:r>
            <a:r>
              <a:rPr lang="ru-RU" sz="3200" dirty="0" smtClean="0"/>
              <a:t>- </a:t>
            </a:r>
            <a:r>
              <a:rPr lang="ru-RU" sz="3200" dirty="0"/>
              <a:t>это метод машинного обучения, используемый для классификации текстов, основанный на построении прототипа (</a:t>
            </a:r>
            <a:r>
              <a:rPr lang="ru-RU" sz="3200" dirty="0" err="1"/>
              <a:t>центроида</a:t>
            </a:r>
            <a:r>
              <a:rPr lang="ru-RU" sz="3200" dirty="0"/>
              <a:t>) для каждого класса. Вектор класса формируется как среднее арифметическое векторов документов (обычно TF-IDF) с учетом положительных и отрицательных примеров. Новый документ классифицируется по близости (например, косинусной) к </a:t>
            </a:r>
            <a:r>
              <a:rPr lang="ru-RU" sz="3200" dirty="0" err="1"/>
              <a:t>центроидам</a:t>
            </a:r>
            <a:r>
              <a:rPr lang="ru-RU" sz="3200" dirty="0"/>
              <a:t>. </a:t>
            </a:r>
          </a:p>
        </p:txBody>
      </p:sp>
    </p:spTree>
    <p:extLst>
      <p:ext uri="{BB962C8B-B14F-4D97-AF65-F5344CB8AC3E}">
        <p14:creationId xmlns:p14="http://schemas.microsoft.com/office/powerpoint/2010/main" val="1861774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err="1"/>
              <a:t>Rocchio</a:t>
            </a:r>
            <a:r>
              <a:rPr lang="en-US" b="1" dirty="0"/>
              <a:t>-</a:t>
            </a:r>
            <a:r>
              <a:rPr lang="ru-RU" b="1" dirty="0"/>
              <a:t>классификация</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35</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Формирует </a:t>
            </a:r>
            <a:r>
              <a:rPr lang="ru-RU" sz="3200" dirty="0"/>
              <a:t>простое представительство для каждой категории: </a:t>
            </a:r>
            <a:r>
              <a:rPr lang="ru-RU" sz="3200" dirty="0" err="1" smtClean="0"/>
              <a:t>центроид</a:t>
            </a:r>
            <a:r>
              <a:rPr lang="ru-RU" sz="3200" dirty="0" smtClean="0"/>
              <a:t>-прототип.</a:t>
            </a:r>
            <a:endParaRPr lang="ru-RU" sz="3200" dirty="0"/>
          </a:p>
          <a:p>
            <a:pPr marL="0" indent="0" fontAlgn="base">
              <a:buNone/>
            </a:pPr>
            <a:r>
              <a:rPr lang="ru-RU" sz="3200" dirty="0" smtClean="0"/>
              <a:t>Классификация</a:t>
            </a:r>
            <a:r>
              <a:rPr lang="ru-RU" sz="3200" dirty="0"/>
              <a:t>: ближайший прототип/</a:t>
            </a:r>
            <a:r>
              <a:rPr lang="ru-RU" sz="3200" dirty="0" err="1"/>
              <a:t>центроид</a:t>
            </a:r>
            <a:endParaRPr lang="ru-RU" sz="3200" dirty="0"/>
          </a:p>
          <a:p>
            <a:pPr marL="0" indent="0" fontAlgn="base">
              <a:buNone/>
            </a:pPr>
            <a:r>
              <a:rPr lang="ru-RU" sz="3200" dirty="0" smtClean="0"/>
              <a:t>Это </a:t>
            </a:r>
            <a:r>
              <a:rPr lang="ru-RU" sz="3200" dirty="0"/>
              <a:t>не гарантирует согласованность классификаций с заданными обучающими данными</a:t>
            </a:r>
          </a:p>
          <a:p>
            <a:pPr marL="0" indent="0" fontAlgn="base">
              <a:buNone/>
            </a:pPr>
            <a:r>
              <a:rPr lang="ru-RU" sz="3200" dirty="0" smtClean="0"/>
              <a:t>Почему</a:t>
            </a:r>
            <a:r>
              <a:rPr lang="ru-RU" sz="3200" dirty="0"/>
              <a:t>? </a:t>
            </a:r>
          </a:p>
        </p:txBody>
      </p:sp>
    </p:spTree>
    <p:extLst>
      <p:ext uri="{BB962C8B-B14F-4D97-AF65-F5344CB8AC3E}">
        <p14:creationId xmlns:p14="http://schemas.microsoft.com/office/powerpoint/2010/main" val="707980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Линейный классификатор </a:t>
            </a:r>
            <a:r>
              <a:rPr lang="en-US" b="1" dirty="0" err="1"/>
              <a:t>Rocchio</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36</a:t>
            </a:fld>
            <a:endParaRPr lang="ru-RU" noProof="0" dirty="0"/>
          </a:p>
        </p:txBody>
      </p:sp>
      <mc:AlternateContent xmlns:mc="http://schemas.openxmlformats.org/markup-compatibility/2006" xmlns:a14="http://schemas.microsoft.com/office/drawing/2010/main">
        <mc:Choice Requires="a14">
          <p:sp>
            <p:nvSpPr>
              <p:cNvPr id="4" name="Объект 3"/>
              <p:cNvSpPr>
                <a:spLocks noGrp="1"/>
              </p:cNvSpPr>
              <p:nvPr>
                <p:ph idx="1"/>
              </p:nvPr>
            </p:nvSpPr>
            <p:spPr>
              <a:xfrm>
                <a:off x="399656" y="1341803"/>
                <a:ext cx="11328000" cy="5135534"/>
              </a:xfrm>
            </p:spPr>
            <p:txBody>
              <a:bodyPr>
                <a:normAutofit/>
              </a:bodyPr>
              <a:lstStyle/>
              <a:p>
                <a:pPr marL="0" indent="0" fontAlgn="base">
                  <a:buNone/>
                </a:pPr>
                <a:r>
                  <a:rPr lang="ru-RU" sz="3200" dirty="0" smtClean="0"/>
                  <a:t>Линия или гиперплоскость определяется уравнением:</a:t>
                </a:r>
              </a:p>
              <a:p>
                <a:pPr marL="0" indent="0" fontAlgn="base">
                  <a:buNone/>
                </a:pPr>
                <a14:m>
                  <m:oMathPara xmlns:m="http://schemas.openxmlformats.org/officeDocument/2006/math">
                    <m:oMathParaPr>
                      <m:jc m:val="centerGroup"/>
                    </m:oMathParaPr>
                    <m:oMath xmlns:m="http://schemas.openxmlformats.org/officeDocument/2006/math">
                      <m:nary>
                        <m:naryPr>
                          <m:chr m:val="∑"/>
                          <m:ctrlPr>
                            <a:rPr lang="ru-RU" sz="3200" i="1" smtClean="0">
                              <a:latin typeface="Cambria Math" panose="02040503050406030204" pitchFamily="18" charset="0"/>
                            </a:rPr>
                          </m:ctrlPr>
                        </m:naryPr>
                        <m:sub>
                          <m:r>
                            <m:rPr>
                              <m:brk m:alnAt="23"/>
                            </m:rPr>
                            <a:rPr lang="en-US" sz="3200" b="0" i="1" smtClean="0">
                              <a:latin typeface="Cambria Math" panose="02040503050406030204" pitchFamily="18" charset="0"/>
                            </a:rPr>
                            <m:t>𝑖</m:t>
                          </m:r>
                          <m:r>
                            <a:rPr lang="en-US" sz="3200" b="0" i="1" smtClean="0">
                              <a:latin typeface="Cambria Math" panose="02040503050406030204" pitchFamily="18" charset="0"/>
                            </a:rPr>
                            <m:t>=1</m:t>
                          </m:r>
                        </m:sub>
                        <m:sup>
                          <m:r>
                            <a:rPr lang="en-US" sz="3200" b="0" i="1" smtClean="0">
                              <a:latin typeface="Cambria Math" panose="02040503050406030204" pitchFamily="18" charset="0"/>
                            </a:rPr>
                            <m:t>𝑀</m:t>
                          </m:r>
                        </m:sup>
                        <m:e>
                          <m:sSub>
                            <m:sSubPr>
                              <m:ctrlPr>
                                <a:rPr lang="ru-RU" sz="320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𝑖</m:t>
                              </m:r>
                            </m:sub>
                          </m:sSub>
                        </m:e>
                      </m:nary>
                      <m:sSub>
                        <m:sSubPr>
                          <m:ctrlPr>
                            <a:rPr lang="ru-RU" sz="3200" i="1">
                              <a:latin typeface="Cambria Math" panose="02040503050406030204" pitchFamily="18" charset="0"/>
                            </a:rPr>
                          </m:ctrlPr>
                        </m:sSubPr>
                        <m:e>
                          <m:r>
                            <a:rPr lang="en-US" sz="3200" b="0" i="1" smtClean="0">
                              <a:latin typeface="Cambria Math" panose="02040503050406030204" pitchFamily="18" charset="0"/>
                            </a:rPr>
                            <m:t>𝑑</m:t>
                          </m:r>
                        </m:e>
                        <m:sub>
                          <m:r>
                            <a:rPr lang="en-US" sz="3200" i="1">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𝜃</m:t>
                      </m:r>
                    </m:oMath>
                  </m:oMathPara>
                </a14:m>
                <a:endParaRPr lang="ru-RU" sz="3200" dirty="0"/>
              </a:p>
              <a:p>
                <a:pPr marL="0" indent="0" fontAlgn="base">
                  <a:buNone/>
                </a:pPr>
                <a:r>
                  <a:rPr lang="ru-RU" sz="3200" dirty="0" smtClean="0"/>
                  <a:t>Для классификации по </a:t>
                </a:r>
                <a:r>
                  <a:rPr lang="en-US" sz="3200" dirty="0" err="1" smtClean="0"/>
                  <a:t>Rocchio</a:t>
                </a:r>
                <a:r>
                  <a:rPr lang="ru-RU" sz="3200" dirty="0" smtClean="0"/>
                  <a:t>:</a:t>
                </a:r>
              </a:p>
              <a:p>
                <a:pPr marL="0" indent="0" fontAlgn="base">
                  <a:buNone/>
                </a:pPr>
                <a:endParaRPr lang="ru-RU" sz="3200" dirty="0"/>
              </a:p>
            </p:txBody>
          </p:sp>
        </mc:Choice>
        <mc:Fallback xmlns="">
          <p:sp>
            <p:nvSpPr>
              <p:cNvPr id="4" name="Объект 3"/>
              <p:cNvSpPr>
                <a:spLocks noGrp="1" noRot="1" noChangeAspect="1" noMove="1" noResize="1" noEditPoints="1" noAdjustHandles="1" noChangeArrowheads="1" noChangeShapeType="1" noTextEdit="1"/>
              </p:cNvSpPr>
              <p:nvPr>
                <p:ph idx="1"/>
              </p:nvPr>
            </p:nvSpPr>
            <p:spPr>
              <a:xfrm>
                <a:off x="399656" y="1341803"/>
                <a:ext cx="11328000" cy="5135534"/>
              </a:xfrm>
              <a:blipFill>
                <a:blip r:embed="rId3"/>
                <a:stretch>
                  <a:fillRect l="-2207" t="-3321"/>
                </a:stretch>
              </a:blipFill>
            </p:spPr>
            <p:txBody>
              <a:bodyPr/>
              <a:lstStyle/>
              <a:p>
                <a:r>
                  <a:rPr lang="ru-RU">
                    <a:noFill/>
                  </a:rPr>
                  <a:t> </a:t>
                </a:r>
              </a:p>
            </p:txBody>
          </p:sp>
        </mc:Fallback>
      </mc:AlternateContent>
      <p:graphicFrame>
        <p:nvGraphicFramePr>
          <p:cNvPr id="6" name="Object 3"/>
          <p:cNvGraphicFramePr>
            <a:graphicFrameLocks noChangeAspect="1"/>
          </p:cNvGraphicFramePr>
          <p:nvPr>
            <p:extLst>
              <p:ext uri="{D42A27DB-BD31-4B8C-83A1-F6EECF244321}">
                <p14:modId xmlns:p14="http://schemas.microsoft.com/office/powerpoint/2010/main" val="2236369330"/>
              </p:ext>
            </p:extLst>
          </p:nvPr>
        </p:nvGraphicFramePr>
        <p:xfrm>
          <a:off x="3682041" y="3782683"/>
          <a:ext cx="4356100" cy="1066800"/>
        </p:xfrm>
        <a:graphic>
          <a:graphicData uri="http://schemas.openxmlformats.org/presentationml/2006/ole">
            <mc:AlternateContent xmlns:mc="http://schemas.openxmlformats.org/markup-compatibility/2006">
              <mc:Choice xmlns:v="urn:schemas-microsoft-com:vml" Requires="v">
                <p:oleObj spid="_x0000_s3083" name="Equation" r:id="rId4" imgW="1866900" imgH="457200" progId="Equation.3">
                  <p:embed/>
                </p:oleObj>
              </mc:Choice>
              <mc:Fallback>
                <p:oleObj name="Equation" r:id="rId4" imgW="1866900" imgH="457200" progId="Equation.3">
                  <p:embed/>
                  <p:pic>
                    <p:nvPicPr>
                      <p:cNvPr id="19251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2041" y="3782683"/>
                        <a:ext cx="43561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829800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Приложение линейного классификатора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37</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en-US" altLang="x-none" sz="3200" dirty="0">
                <a:ea typeface="ＭＳ Ｐゴシック" charset="-128"/>
              </a:rPr>
              <a:t>Class: </a:t>
            </a:r>
            <a:r>
              <a:rPr lang="en-US" altLang="ja-JP" sz="3200" dirty="0">
                <a:ea typeface="ＭＳ Ｐゴシック" charset="-128"/>
              </a:rPr>
              <a:t>“interest</a:t>
            </a:r>
            <a:r>
              <a:rPr lang="en-US" altLang="ja-JP" sz="3200" dirty="0" smtClean="0">
                <a:ea typeface="ＭＳ Ｐゴシック" charset="-128"/>
              </a:rPr>
              <a:t>”</a:t>
            </a:r>
          </a:p>
          <a:p>
            <a:pPr marL="0" indent="0" fontAlgn="base">
              <a:buNone/>
            </a:pPr>
            <a:r>
              <a:rPr lang="ru-RU" sz="3200" dirty="0" smtClean="0"/>
              <a:t>Примеры значений</a:t>
            </a:r>
            <a:r>
              <a:rPr lang="en-US" sz="3200" dirty="0" smtClean="0"/>
              <a:t> </a:t>
            </a:r>
            <a:r>
              <a:rPr lang="ru-RU" sz="3200" dirty="0"/>
              <a:t>линейного </a:t>
            </a:r>
            <a:r>
              <a:rPr lang="ru-RU" sz="3200" dirty="0" smtClean="0"/>
              <a:t>классификатора</a:t>
            </a:r>
          </a:p>
          <a:p>
            <a:pPr marL="0" indent="0" fontAlgn="base">
              <a:buNone/>
            </a:pPr>
            <a:endParaRPr lang="ru-RU" sz="3200" dirty="0"/>
          </a:p>
          <a:p>
            <a:pPr marL="0" indent="0" fontAlgn="base">
              <a:buNone/>
            </a:pPr>
            <a:endParaRPr lang="ru-RU" sz="3200" dirty="0" smtClean="0"/>
          </a:p>
          <a:p>
            <a:pPr marL="0" indent="0" fontAlgn="base">
              <a:buNone/>
            </a:pPr>
            <a:endParaRPr lang="ru-RU" sz="3200" dirty="0"/>
          </a:p>
          <a:p>
            <a:pPr marL="0" indent="0" fontAlgn="base">
              <a:buNone/>
            </a:pPr>
            <a:endParaRPr lang="ru-RU" sz="3200" dirty="0" smtClean="0"/>
          </a:p>
          <a:p>
            <a:pPr marL="0" indent="0" fontAlgn="base">
              <a:buNone/>
            </a:pPr>
            <a:endParaRPr lang="ru-RU" sz="3200" dirty="0"/>
          </a:p>
          <a:p>
            <a:pPr marL="0" indent="0" fontAlgn="base">
              <a:buNone/>
            </a:pPr>
            <a:r>
              <a:rPr lang="ru-RU" sz="3200" dirty="0"/>
              <a:t>Чтобы классифицировать, </a:t>
            </a:r>
            <a:r>
              <a:rPr lang="ru-RU" sz="3200" dirty="0" smtClean="0"/>
              <a:t>найдем </a:t>
            </a:r>
            <a:r>
              <a:rPr lang="ru-RU" sz="3200" dirty="0"/>
              <a:t>скалярное произведение вектора признаков и весов.</a:t>
            </a:r>
            <a:endParaRPr lang="ru-RU" sz="3200" dirty="0" smtClean="0"/>
          </a:p>
          <a:p>
            <a:pPr marL="0" indent="0" fontAlgn="base">
              <a:buNone/>
            </a:pPr>
            <a:endParaRPr lang="ru-RU" sz="3200" dirty="0"/>
          </a:p>
        </p:txBody>
      </p:sp>
      <p:sp>
        <p:nvSpPr>
          <p:cNvPr id="6" name="Text Box 4"/>
          <p:cNvSpPr txBox="1">
            <a:spLocks noChangeArrowheads="1"/>
          </p:cNvSpPr>
          <p:nvPr/>
        </p:nvSpPr>
        <p:spPr bwMode="auto">
          <a:xfrm>
            <a:off x="2855344" y="2333445"/>
            <a:ext cx="3095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37085"/>
              </a:buClr>
              <a:buFont typeface="Wingdings" charset="2"/>
              <a:buChar char="§"/>
              <a:defRPr sz="2800">
                <a:solidFill>
                  <a:schemeClr val="tx1"/>
                </a:solidFill>
                <a:latin typeface="Calibri" charset="0"/>
                <a:ea typeface="ＭＳ Ｐゴシック" charset="-128"/>
              </a:defRPr>
            </a:lvl1pPr>
            <a:lvl2pPr marL="742950" indent="-285750">
              <a:spcBef>
                <a:spcPct val="20000"/>
              </a:spcBef>
              <a:buClr>
                <a:srgbClr val="357E69"/>
              </a:buClr>
              <a:buFont typeface="Wingdings" charset="2"/>
              <a:buChar char="§"/>
              <a:defRPr sz="2400">
                <a:solidFill>
                  <a:schemeClr val="tx1"/>
                </a:solidFill>
                <a:latin typeface="Calibri" charset="0"/>
                <a:ea typeface="ＭＳ Ｐゴシック" charset="-128"/>
              </a:defRPr>
            </a:lvl2pPr>
            <a:lvl3pPr marL="1143000" indent="-228600">
              <a:spcBef>
                <a:spcPct val="20000"/>
              </a:spcBef>
              <a:buClr>
                <a:srgbClr val="918BA3"/>
              </a:buClr>
              <a:buFont typeface="Wingdings" charset="2"/>
              <a:buChar char="§"/>
              <a:defRPr sz="2000">
                <a:solidFill>
                  <a:schemeClr val="tx1"/>
                </a:solidFill>
                <a:latin typeface="Calibri" charset="0"/>
                <a:ea typeface="ＭＳ Ｐゴシック" charset="-128"/>
              </a:defRPr>
            </a:lvl3pPr>
            <a:lvl4pPr marL="1600200" indent="-228600">
              <a:spcBef>
                <a:spcPct val="20000"/>
              </a:spcBef>
              <a:buClr>
                <a:srgbClr val="2F6E7E"/>
              </a:buClr>
              <a:buFont typeface="Wingdings" charset="2"/>
              <a:buChar char="§"/>
              <a:defRPr sz="2000">
                <a:solidFill>
                  <a:schemeClr val="tx1"/>
                </a:solidFill>
                <a:latin typeface="Calibri" charset="0"/>
                <a:ea typeface="ＭＳ Ｐゴシック" charset="-128"/>
              </a:defRPr>
            </a:lvl4pPr>
            <a:lvl5pPr marL="2057400" indent="-228600">
              <a:spcBef>
                <a:spcPct val="20000"/>
              </a:spcBef>
              <a:buClr>
                <a:srgbClr val="233337"/>
              </a:buClr>
              <a:buFont typeface="Wingdings" charset="2"/>
              <a:buChar char="§"/>
              <a:defRPr sz="2000">
                <a:solidFill>
                  <a:schemeClr val="tx1"/>
                </a:solidFill>
                <a:latin typeface="Calibri" charset="0"/>
                <a:ea typeface="ＭＳ Ｐゴシック" charset="-128"/>
              </a:defRPr>
            </a:lvl5pPr>
            <a:lvl6pPr marL="25146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6pPr>
            <a:lvl7pPr marL="29718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7pPr>
            <a:lvl8pPr marL="34290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8pPr>
            <a:lvl9pPr marL="38862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9pPr>
          </a:lstStyle>
          <a:p>
            <a:pPr>
              <a:spcBef>
                <a:spcPct val="0"/>
              </a:spcBef>
              <a:buClrTx/>
              <a:buFontTx/>
              <a:buChar char="•"/>
            </a:pPr>
            <a:r>
              <a:rPr lang="en-US" altLang="x-none" sz="2400" dirty="0">
                <a:solidFill>
                  <a:srgbClr val="000000"/>
                </a:solidFill>
                <a:latin typeface="Lucida Sans" charset="0"/>
                <a:ea typeface="ヒラギノ角ゴ ProN W3" charset="-128"/>
              </a:rPr>
              <a:t> 0.70 prime</a:t>
            </a:r>
          </a:p>
          <a:p>
            <a:pPr>
              <a:spcBef>
                <a:spcPct val="0"/>
              </a:spcBef>
              <a:buClrTx/>
              <a:buFontTx/>
              <a:buChar char="•"/>
            </a:pPr>
            <a:r>
              <a:rPr lang="en-US" altLang="x-none" sz="2400" dirty="0">
                <a:solidFill>
                  <a:srgbClr val="000000"/>
                </a:solidFill>
                <a:latin typeface="Lucida Sans" charset="0"/>
                <a:ea typeface="ヒラギノ角ゴ ProN W3" charset="-128"/>
              </a:rPr>
              <a:t> 0.67 rate</a:t>
            </a:r>
          </a:p>
          <a:p>
            <a:pPr>
              <a:spcBef>
                <a:spcPct val="0"/>
              </a:spcBef>
              <a:buClrTx/>
              <a:buFontTx/>
              <a:buChar char="•"/>
            </a:pPr>
            <a:r>
              <a:rPr lang="en-US" altLang="x-none" sz="2400" dirty="0">
                <a:solidFill>
                  <a:srgbClr val="000000"/>
                </a:solidFill>
                <a:latin typeface="Lucida Sans" charset="0"/>
                <a:ea typeface="ヒラギノ角ゴ ProN W3" charset="-128"/>
              </a:rPr>
              <a:t> 0.63 interest</a:t>
            </a:r>
          </a:p>
          <a:p>
            <a:pPr>
              <a:spcBef>
                <a:spcPct val="0"/>
              </a:spcBef>
              <a:buClrTx/>
              <a:buFontTx/>
              <a:buChar char="•"/>
            </a:pPr>
            <a:r>
              <a:rPr lang="en-US" altLang="x-none" sz="2400" dirty="0">
                <a:solidFill>
                  <a:srgbClr val="000000"/>
                </a:solidFill>
                <a:latin typeface="Lucida Sans" charset="0"/>
                <a:ea typeface="ヒラギノ角ゴ ProN W3" charset="-128"/>
              </a:rPr>
              <a:t> 0.60 rates</a:t>
            </a:r>
          </a:p>
          <a:p>
            <a:pPr>
              <a:spcBef>
                <a:spcPct val="0"/>
              </a:spcBef>
              <a:buClrTx/>
              <a:buFontTx/>
              <a:buChar char="•"/>
            </a:pPr>
            <a:r>
              <a:rPr lang="en-US" altLang="x-none" sz="2400" dirty="0">
                <a:solidFill>
                  <a:srgbClr val="000000"/>
                </a:solidFill>
                <a:latin typeface="Lucida Sans" charset="0"/>
                <a:ea typeface="ヒラギノ角ゴ ProN W3" charset="-128"/>
              </a:rPr>
              <a:t> 0.46 discount</a:t>
            </a:r>
          </a:p>
          <a:p>
            <a:pPr>
              <a:spcBef>
                <a:spcPct val="0"/>
              </a:spcBef>
              <a:buClrTx/>
              <a:buFontTx/>
              <a:buChar char="•"/>
            </a:pPr>
            <a:r>
              <a:rPr lang="en-US" altLang="x-none" sz="2400" dirty="0">
                <a:solidFill>
                  <a:srgbClr val="000000"/>
                </a:solidFill>
                <a:latin typeface="Lucida Sans" charset="0"/>
                <a:ea typeface="ヒラギノ角ゴ ProN W3" charset="-128"/>
              </a:rPr>
              <a:t> 0.43 </a:t>
            </a:r>
            <a:r>
              <a:rPr lang="en-US" altLang="x-none" sz="2400" dirty="0" err="1">
                <a:solidFill>
                  <a:srgbClr val="000000"/>
                </a:solidFill>
                <a:latin typeface="Lucida Sans" charset="0"/>
                <a:ea typeface="ヒラギノ角ゴ ProN W3" charset="-128"/>
              </a:rPr>
              <a:t>bundesbank</a:t>
            </a:r>
            <a:endParaRPr lang="en-US" altLang="x-none" sz="2400" dirty="0">
              <a:solidFill>
                <a:srgbClr val="000000"/>
              </a:solidFill>
              <a:latin typeface="Lucida Sans" charset="0"/>
              <a:ea typeface="ヒラギノ角ゴ ProN W3" charset="-128"/>
            </a:endParaRPr>
          </a:p>
        </p:txBody>
      </p:sp>
      <p:sp>
        <p:nvSpPr>
          <p:cNvPr id="7" name="Text Box 5"/>
          <p:cNvSpPr txBox="1">
            <a:spLocks noChangeArrowheads="1"/>
          </p:cNvSpPr>
          <p:nvPr/>
        </p:nvSpPr>
        <p:spPr bwMode="auto">
          <a:xfrm>
            <a:off x="5979544" y="2350908"/>
            <a:ext cx="23002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37085"/>
              </a:buClr>
              <a:buFont typeface="Wingdings" charset="2"/>
              <a:buChar char="§"/>
              <a:defRPr sz="2800">
                <a:solidFill>
                  <a:schemeClr val="tx1"/>
                </a:solidFill>
                <a:latin typeface="Calibri" charset="0"/>
                <a:ea typeface="ＭＳ Ｐゴシック" charset="-128"/>
              </a:defRPr>
            </a:lvl1pPr>
            <a:lvl2pPr marL="742950" indent="-285750">
              <a:spcBef>
                <a:spcPct val="20000"/>
              </a:spcBef>
              <a:buClr>
                <a:srgbClr val="357E69"/>
              </a:buClr>
              <a:buFont typeface="Wingdings" charset="2"/>
              <a:buChar char="§"/>
              <a:defRPr sz="2400">
                <a:solidFill>
                  <a:schemeClr val="tx1"/>
                </a:solidFill>
                <a:latin typeface="Calibri" charset="0"/>
                <a:ea typeface="ＭＳ Ｐゴシック" charset="-128"/>
              </a:defRPr>
            </a:lvl2pPr>
            <a:lvl3pPr marL="1143000" indent="-228600">
              <a:spcBef>
                <a:spcPct val="20000"/>
              </a:spcBef>
              <a:buClr>
                <a:srgbClr val="918BA3"/>
              </a:buClr>
              <a:buFont typeface="Wingdings" charset="2"/>
              <a:buChar char="§"/>
              <a:defRPr sz="2000">
                <a:solidFill>
                  <a:schemeClr val="tx1"/>
                </a:solidFill>
                <a:latin typeface="Calibri" charset="0"/>
                <a:ea typeface="ＭＳ Ｐゴシック" charset="-128"/>
              </a:defRPr>
            </a:lvl3pPr>
            <a:lvl4pPr marL="1600200" indent="-228600">
              <a:spcBef>
                <a:spcPct val="20000"/>
              </a:spcBef>
              <a:buClr>
                <a:srgbClr val="2F6E7E"/>
              </a:buClr>
              <a:buFont typeface="Wingdings" charset="2"/>
              <a:buChar char="§"/>
              <a:defRPr sz="2000">
                <a:solidFill>
                  <a:schemeClr val="tx1"/>
                </a:solidFill>
                <a:latin typeface="Calibri" charset="0"/>
                <a:ea typeface="ＭＳ Ｐゴシック" charset="-128"/>
              </a:defRPr>
            </a:lvl4pPr>
            <a:lvl5pPr marL="2057400" indent="-228600">
              <a:spcBef>
                <a:spcPct val="20000"/>
              </a:spcBef>
              <a:buClr>
                <a:srgbClr val="233337"/>
              </a:buClr>
              <a:buFont typeface="Wingdings" charset="2"/>
              <a:buChar char="§"/>
              <a:defRPr sz="2000">
                <a:solidFill>
                  <a:schemeClr val="tx1"/>
                </a:solidFill>
                <a:latin typeface="Calibri" charset="0"/>
                <a:ea typeface="ＭＳ Ｐゴシック" charset="-128"/>
              </a:defRPr>
            </a:lvl5pPr>
            <a:lvl6pPr marL="25146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6pPr>
            <a:lvl7pPr marL="29718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7pPr>
            <a:lvl8pPr marL="34290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8pPr>
            <a:lvl9pPr marL="3886200" indent="-228600" eaLnBrk="0" fontAlgn="base" hangingPunct="0">
              <a:spcBef>
                <a:spcPct val="20000"/>
              </a:spcBef>
              <a:spcAft>
                <a:spcPct val="0"/>
              </a:spcAft>
              <a:buClr>
                <a:srgbClr val="233337"/>
              </a:buClr>
              <a:buFont typeface="Wingdings" charset="2"/>
              <a:buChar char="§"/>
              <a:defRPr sz="2000">
                <a:solidFill>
                  <a:schemeClr val="tx1"/>
                </a:solidFill>
                <a:latin typeface="Calibri" charset="0"/>
                <a:ea typeface="ＭＳ Ｐゴシック" charset="-128"/>
              </a:defRPr>
            </a:lvl9pPr>
          </a:lstStyle>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cs typeface="ヒラギノ角ゴ ProN W3" charset="-128"/>
              </a:rPr>
              <a:t>−</a:t>
            </a:r>
            <a:r>
              <a:rPr lang="en-US" altLang="x-none" sz="2400">
                <a:solidFill>
                  <a:srgbClr val="000000"/>
                </a:solidFill>
                <a:latin typeface="Lucida Sans" charset="0"/>
                <a:ea typeface="ヒラギノ角ゴ ProN W3" charset="-128"/>
              </a:rPr>
              <a:t>0.71 dlrs</a:t>
            </a:r>
          </a:p>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rPr>
              <a:t>−</a:t>
            </a:r>
            <a:r>
              <a:rPr lang="en-US" altLang="x-none" sz="2400">
                <a:solidFill>
                  <a:srgbClr val="000000"/>
                </a:solidFill>
                <a:latin typeface="Lucida Sans" charset="0"/>
                <a:ea typeface="ヒラギノ角ゴ ProN W3" charset="-128"/>
              </a:rPr>
              <a:t>0.35 world</a:t>
            </a:r>
          </a:p>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rPr>
              <a:t>−</a:t>
            </a:r>
            <a:r>
              <a:rPr lang="en-US" altLang="x-none" sz="2400">
                <a:solidFill>
                  <a:srgbClr val="000000"/>
                </a:solidFill>
                <a:latin typeface="Lucida Sans" charset="0"/>
                <a:ea typeface="ヒラギノ角ゴ ProN W3" charset="-128"/>
              </a:rPr>
              <a:t>0.33 sees</a:t>
            </a:r>
          </a:p>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rPr>
              <a:t>−</a:t>
            </a:r>
            <a:r>
              <a:rPr lang="en-US" altLang="x-none" sz="2400">
                <a:solidFill>
                  <a:srgbClr val="000000"/>
                </a:solidFill>
                <a:latin typeface="Lucida Sans" charset="0"/>
                <a:ea typeface="ヒラギノ角ゴ ProN W3" charset="-128"/>
              </a:rPr>
              <a:t>0.25 year</a:t>
            </a:r>
          </a:p>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rPr>
              <a:t>−</a:t>
            </a:r>
            <a:r>
              <a:rPr lang="en-US" altLang="x-none" sz="2400">
                <a:solidFill>
                  <a:srgbClr val="000000"/>
                </a:solidFill>
                <a:latin typeface="Lucida Sans" charset="0"/>
                <a:ea typeface="ヒラギノ角ゴ ProN W3" charset="-128"/>
              </a:rPr>
              <a:t>0.24 group</a:t>
            </a:r>
          </a:p>
          <a:p>
            <a:pPr>
              <a:spcBef>
                <a:spcPct val="0"/>
              </a:spcBef>
              <a:buClrTx/>
              <a:buFontTx/>
              <a:buChar char="•"/>
            </a:pPr>
            <a:r>
              <a:rPr lang="en-US" altLang="x-none" sz="2400">
                <a:solidFill>
                  <a:srgbClr val="000000"/>
                </a:solidFill>
                <a:latin typeface="Lucida Sans" charset="0"/>
                <a:ea typeface="ヒラギノ角ゴ ProN W3" charset="-128"/>
              </a:rPr>
              <a:t> </a:t>
            </a:r>
            <a:r>
              <a:rPr lang="en-US" altLang="x-none" sz="2400">
                <a:solidFill>
                  <a:srgbClr val="000000"/>
                </a:solidFill>
                <a:latin typeface="ＭＳ ゴシック" charset="-128"/>
                <a:ea typeface="ＭＳ ゴシック" charset="-128"/>
              </a:rPr>
              <a:t>−</a:t>
            </a:r>
            <a:r>
              <a:rPr lang="en-US" altLang="x-none" sz="2400">
                <a:solidFill>
                  <a:srgbClr val="000000"/>
                </a:solidFill>
                <a:latin typeface="Lucida Sans" charset="0"/>
                <a:ea typeface="ヒラギノ角ゴ ProN W3" charset="-128"/>
              </a:rPr>
              <a:t>0.24 dlr</a:t>
            </a:r>
          </a:p>
        </p:txBody>
      </p:sp>
    </p:spTree>
    <p:extLst>
      <p:ext uri="{BB962C8B-B14F-4D97-AF65-F5344CB8AC3E}">
        <p14:creationId xmlns:p14="http://schemas.microsoft.com/office/powerpoint/2010/main" val="3462253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Приложение линейного классификатора</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Редко </a:t>
            </a:r>
            <a:r>
              <a:rPr lang="ru-RU" sz="3200" dirty="0"/>
              <a:t>используемая за пределами текстовой </a:t>
            </a:r>
            <a:r>
              <a:rPr lang="ru-RU" sz="3200" dirty="0" smtClean="0"/>
              <a:t>классификации</a:t>
            </a:r>
          </a:p>
          <a:p>
            <a:pPr marL="0" indent="0" fontAlgn="base">
              <a:buNone/>
            </a:pPr>
            <a:r>
              <a:rPr lang="ru-RU" sz="3200" dirty="0" smtClean="0"/>
              <a:t>Она </a:t>
            </a:r>
            <a:r>
              <a:rPr lang="ru-RU" sz="3200" dirty="0"/>
              <a:t>довольно эффективно использовалась для классификации </a:t>
            </a:r>
            <a:r>
              <a:rPr lang="ru-RU" sz="3200" dirty="0" smtClean="0"/>
              <a:t>текстов</a:t>
            </a:r>
          </a:p>
          <a:p>
            <a:pPr marL="0" indent="0" fontAlgn="base">
              <a:buNone/>
            </a:pPr>
            <a:r>
              <a:rPr lang="ru-RU" sz="3200" dirty="0" smtClean="0"/>
              <a:t>Но </a:t>
            </a:r>
            <a:r>
              <a:rPr lang="ru-RU" sz="3200" dirty="0"/>
              <a:t>в целом хуже, чем наивный байесовский </a:t>
            </a:r>
            <a:r>
              <a:rPr lang="ru-RU" sz="3200" dirty="0" smtClean="0"/>
              <a:t>метод</a:t>
            </a:r>
          </a:p>
          <a:p>
            <a:pPr marL="0" indent="0" fontAlgn="base">
              <a:buNone/>
            </a:pPr>
            <a:r>
              <a:rPr lang="ru-RU" sz="3200" dirty="0" smtClean="0"/>
              <a:t>Опять </a:t>
            </a:r>
            <a:r>
              <a:rPr lang="ru-RU" sz="3200" dirty="0"/>
              <a:t>же, </a:t>
            </a:r>
            <a:r>
              <a:rPr lang="ru-RU" sz="3200" dirty="0" smtClean="0"/>
              <a:t>проста </a:t>
            </a:r>
            <a:r>
              <a:rPr lang="ru-RU" sz="3200" dirty="0"/>
              <a:t>в обучении и тестировании документов</a:t>
            </a:r>
          </a:p>
        </p:txBody>
      </p:sp>
    </p:spTree>
    <p:extLst>
      <p:ext uri="{BB962C8B-B14F-4D97-AF65-F5344CB8AC3E}">
        <p14:creationId xmlns:p14="http://schemas.microsoft.com/office/powerpoint/2010/main" val="3704939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k-</a:t>
            </a:r>
            <a:r>
              <a:rPr lang="ru-RU" b="1" dirty="0"/>
              <a:t>ближайших соседей (</a:t>
            </a:r>
            <a:r>
              <a:rPr lang="en-US" b="1" dirty="0"/>
              <a:t>KNN)</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Чтобы </a:t>
            </a:r>
            <a:r>
              <a:rPr lang="ru-RU" sz="3200" dirty="0"/>
              <a:t>классифицировать документ </a:t>
            </a:r>
            <a:r>
              <a:rPr lang="ru-RU" sz="3200" dirty="0" smtClean="0"/>
              <a:t>d</a:t>
            </a:r>
            <a:r>
              <a:rPr lang="ru-RU" sz="3200" dirty="0"/>
              <a:t>:</a:t>
            </a:r>
          </a:p>
          <a:p>
            <a:pPr marL="0" indent="0" fontAlgn="base">
              <a:buNone/>
            </a:pPr>
            <a:r>
              <a:rPr lang="ru-RU" sz="3200" dirty="0" smtClean="0"/>
              <a:t>Определите </a:t>
            </a:r>
            <a:r>
              <a:rPr lang="ru-RU" sz="3200" dirty="0"/>
              <a:t>окрестность </a:t>
            </a:r>
            <a:r>
              <a:rPr lang="ru-RU" sz="3200" dirty="0" smtClean="0"/>
              <a:t>k-ближайших </a:t>
            </a:r>
            <a:r>
              <a:rPr lang="ru-RU" sz="3200" dirty="0"/>
              <a:t>соседей </a:t>
            </a:r>
            <a:r>
              <a:rPr lang="ru-RU" sz="3200" dirty="0" smtClean="0"/>
              <a:t>d</a:t>
            </a:r>
            <a:r>
              <a:rPr lang="ru-RU" sz="3200" dirty="0"/>
              <a:t>.</a:t>
            </a:r>
          </a:p>
          <a:p>
            <a:pPr marL="0" indent="0" fontAlgn="base">
              <a:buNone/>
            </a:pPr>
            <a:r>
              <a:rPr lang="ru-RU" sz="3200" dirty="0" smtClean="0"/>
              <a:t>Выберите </a:t>
            </a:r>
            <a:r>
              <a:rPr lang="ru-RU" sz="3200" dirty="0"/>
              <a:t>большинство меток класса среди этих соседей.</a:t>
            </a:r>
          </a:p>
        </p:txBody>
      </p:sp>
    </p:spTree>
    <p:extLst>
      <p:ext uri="{BB962C8B-B14F-4D97-AF65-F5344CB8AC3E}">
        <p14:creationId xmlns:p14="http://schemas.microsoft.com/office/powerpoint/2010/main" val="12781544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k-</a:t>
            </a:r>
            <a:r>
              <a:rPr lang="ru-RU" b="1" dirty="0"/>
              <a:t>ближайших соседей (</a:t>
            </a:r>
            <a:r>
              <a:rPr lang="en-US" b="1" dirty="0"/>
              <a:t>KNN)</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40</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en-US" sz="3200" dirty="0"/>
              <a:t>Test Document = Science</a:t>
            </a:r>
            <a:endParaRPr lang="ru-RU" sz="3200" dirty="0"/>
          </a:p>
        </p:txBody>
      </p:sp>
      <p:pic>
        <p:nvPicPr>
          <p:cNvPr id="3" name="Рисунок 2"/>
          <p:cNvPicPr>
            <a:picLocks noChangeAspect="1"/>
          </p:cNvPicPr>
          <p:nvPr/>
        </p:nvPicPr>
        <p:blipFill>
          <a:blip r:embed="rId2"/>
          <a:stretch>
            <a:fillRect/>
          </a:stretch>
        </p:blipFill>
        <p:spPr>
          <a:xfrm>
            <a:off x="2229298" y="1705243"/>
            <a:ext cx="7267575" cy="4572000"/>
          </a:xfrm>
          <a:prstGeom prst="rect">
            <a:avLst/>
          </a:prstGeom>
        </p:spPr>
      </p:pic>
    </p:spTree>
    <p:extLst>
      <p:ext uri="{BB962C8B-B14F-4D97-AF65-F5344CB8AC3E}">
        <p14:creationId xmlns:p14="http://schemas.microsoft.com/office/powerpoint/2010/main" val="1473215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k-</a:t>
            </a:r>
            <a:r>
              <a:rPr lang="ru-RU" b="1" dirty="0"/>
              <a:t>ближайших соседей (</a:t>
            </a:r>
            <a:r>
              <a:rPr lang="en-US" b="1" dirty="0"/>
              <a:t>KNN)</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41</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Случай ближайшего соседа (1NN)</a:t>
            </a:r>
          </a:p>
          <a:p>
            <a:pPr marL="0" indent="0" fontAlgn="base">
              <a:buNone/>
            </a:pPr>
            <a:r>
              <a:rPr lang="ru-RU" sz="3200" dirty="0" smtClean="0"/>
              <a:t>Найти </a:t>
            </a:r>
            <a:r>
              <a:rPr lang="ru-RU" sz="3200" dirty="0"/>
              <a:t>ближайшую точку и присвоить ей категорию ближайшей точки.</a:t>
            </a:r>
          </a:p>
          <a:p>
            <a:pPr marL="0" indent="0" fontAlgn="base">
              <a:buNone/>
            </a:pPr>
            <a:r>
              <a:rPr lang="ru-RU" sz="3200" dirty="0" smtClean="0"/>
              <a:t>Проблемы </a:t>
            </a:r>
            <a:r>
              <a:rPr lang="ru-RU" sz="3200" dirty="0"/>
              <a:t>метода 1NN:</a:t>
            </a:r>
          </a:p>
          <a:p>
            <a:pPr lvl="1" fontAlgn="base"/>
            <a:r>
              <a:rPr lang="ru-RU" sz="3000" dirty="0" smtClean="0"/>
              <a:t>Выброс.</a:t>
            </a:r>
            <a:endParaRPr lang="ru-RU" sz="3000" dirty="0"/>
          </a:p>
          <a:p>
            <a:pPr lvl="1" fontAlgn="base"/>
            <a:r>
              <a:rPr lang="ru-RU" sz="3000" dirty="0" smtClean="0"/>
              <a:t>Шум </a:t>
            </a:r>
            <a:r>
              <a:rPr lang="ru-RU" sz="3000" dirty="0"/>
              <a:t>(ошибка) в метке класса единственного примера.</a:t>
            </a:r>
          </a:p>
          <a:p>
            <a:pPr marL="0" indent="0" fontAlgn="base">
              <a:buNone/>
            </a:pPr>
            <a:r>
              <a:rPr lang="ru-RU" sz="3200" dirty="0" smtClean="0"/>
              <a:t>Более </a:t>
            </a:r>
            <a:r>
              <a:rPr lang="ru-RU" sz="3200" dirty="0" smtClean="0"/>
              <a:t>надежный </a:t>
            </a:r>
            <a:r>
              <a:rPr lang="ru-RU" sz="3200" dirty="0"/>
              <a:t>вариант: найдем </a:t>
            </a:r>
            <a:r>
              <a:rPr lang="ru-RU" sz="3200" dirty="0" smtClean="0"/>
              <a:t>k </a:t>
            </a:r>
            <a:r>
              <a:rPr lang="ru-RU" sz="3200" dirty="0"/>
              <a:t>примеров и вернем доминирующую категорию среди этих </a:t>
            </a:r>
            <a:r>
              <a:rPr lang="ru-RU" sz="3200" dirty="0" smtClean="0"/>
              <a:t>k</a:t>
            </a:r>
            <a:r>
              <a:rPr lang="ru-RU" sz="3200" dirty="0"/>
              <a:t>.</a:t>
            </a:r>
          </a:p>
          <a:p>
            <a:pPr marL="0" indent="0" fontAlgn="base">
              <a:buNone/>
            </a:pPr>
            <a:r>
              <a:rPr lang="ru-RU" sz="3200" dirty="0" smtClean="0"/>
              <a:t>Обычно k </a:t>
            </a:r>
            <a:r>
              <a:rPr lang="ru-RU" sz="3200" dirty="0"/>
              <a:t>выбирается </a:t>
            </a:r>
            <a:r>
              <a:rPr lang="ru-RU" sz="3200" dirty="0" smtClean="0"/>
              <a:t>нечетным </a:t>
            </a:r>
            <a:r>
              <a:rPr lang="ru-RU" sz="3200" dirty="0"/>
              <a:t>числом, чтобы избежать равенства голосов; наиболее распространены значения 3 и 5.</a:t>
            </a:r>
          </a:p>
        </p:txBody>
      </p:sp>
    </p:spTree>
    <p:extLst>
      <p:ext uri="{BB962C8B-B14F-4D97-AF65-F5344CB8AC3E}">
        <p14:creationId xmlns:p14="http://schemas.microsoft.com/office/powerpoint/2010/main" val="257372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k-</a:t>
            </a:r>
            <a:r>
              <a:rPr lang="ru-RU" b="1" dirty="0"/>
              <a:t>ближайших соседей (</a:t>
            </a:r>
            <a:r>
              <a:rPr lang="en-US" b="1" dirty="0"/>
              <a:t>KNN)</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42</a:t>
            </a:fld>
            <a:endParaRPr lang="ru-RU" noProof="0" dirty="0"/>
          </a:p>
        </p:txBody>
      </p:sp>
      <p:sp>
        <p:nvSpPr>
          <p:cNvPr id="4" name="Объект 3"/>
          <p:cNvSpPr>
            <a:spLocks noGrp="1"/>
          </p:cNvSpPr>
          <p:nvPr>
            <p:ph idx="1"/>
          </p:nvPr>
        </p:nvSpPr>
        <p:spPr>
          <a:xfrm>
            <a:off x="432000" y="1055716"/>
            <a:ext cx="11328000" cy="5135534"/>
          </a:xfrm>
        </p:spPr>
        <p:txBody>
          <a:bodyPr>
            <a:normAutofit fontScale="92500"/>
          </a:bodyPr>
          <a:lstStyle/>
          <a:p>
            <a:pPr marL="0" indent="0" fontAlgn="base">
              <a:buNone/>
            </a:pPr>
            <a:r>
              <a:rPr lang="ru-RU" sz="3200" dirty="0"/>
              <a:t>Простой поиск ближайших соседей требует линейного поиска по |D| </a:t>
            </a:r>
            <a:r>
              <a:rPr lang="ru-RU" sz="3200" dirty="0" smtClean="0"/>
              <a:t>документам </a:t>
            </a:r>
            <a:r>
              <a:rPr lang="ru-RU" sz="3200" dirty="0"/>
              <a:t>в </a:t>
            </a:r>
            <a:r>
              <a:rPr lang="ru-RU" sz="3200" dirty="0" smtClean="0"/>
              <a:t>коллекции.</a:t>
            </a:r>
          </a:p>
          <a:p>
            <a:pPr marL="0" indent="0" fontAlgn="base">
              <a:buNone/>
            </a:pPr>
            <a:r>
              <a:rPr lang="ru-RU" sz="3200" dirty="0" smtClean="0"/>
              <a:t>Но </a:t>
            </a:r>
            <a:r>
              <a:rPr lang="ru-RU" sz="3200" dirty="0"/>
              <a:t>определение k ближайших соседей аналогично определению k наилучших результатов поиска с использованием тестового документа в качестве запроса к базе данных обучающих документов</a:t>
            </a:r>
            <a:r>
              <a:rPr lang="ru-RU" sz="3200" dirty="0" smtClean="0"/>
              <a:t>.</a:t>
            </a:r>
          </a:p>
          <a:p>
            <a:pPr marL="0" indent="0" fontAlgn="base">
              <a:buNone/>
            </a:pPr>
            <a:r>
              <a:rPr lang="ru-RU" sz="3200" dirty="0" smtClean="0"/>
              <a:t>Для </a:t>
            </a:r>
            <a:r>
              <a:rPr lang="ru-RU" sz="3200" dirty="0"/>
              <a:t>поиска k ближайших соседей используйте стандартные методы инвертированного индекса векторного пространства</a:t>
            </a:r>
            <a:r>
              <a:rPr lang="ru-RU" sz="3200" dirty="0" smtClean="0"/>
              <a:t>.</a:t>
            </a:r>
          </a:p>
          <a:p>
            <a:pPr marL="0" indent="0" fontAlgn="base">
              <a:buNone/>
            </a:pPr>
            <a:r>
              <a:rPr lang="ru-RU" sz="3200" dirty="0" smtClean="0"/>
              <a:t>Время </a:t>
            </a:r>
            <a:r>
              <a:rPr lang="ru-RU" sz="3200" dirty="0"/>
              <a:t>тестирования: O(</a:t>
            </a:r>
            <a:r>
              <a:rPr lang="ru-RU" sz="3200" dirty="0" err="1"/>
              <a:t>B|V</a:t>
            </a:r>
            <a:r>
              <a:rPr lang="ru-RU" sz="3200" baseline="-25000" dirty="0" err="1"/>
              <a:t>t</a:t>
            </a:r>
            <a:r>
              <a:rPr lang="ru-RU" sz="3200" dirty="0"/>
              <a:t>|), где B - среднее количество </a:t>
            </a:r>
            <a:r>
              <a:rPr lang="ru-RU" sz="3200" dirty="0" smtClean="0"/>
              <a:t>документов</a:t>
            </a:r>
            <a:r>
              <a:rPr lang="ru-RU" sz="3200" dirty="0"/>
              <a:t>, в которых встречается слово из тестового документа</a:t>
            </a:r>
            <a:r>
              <a:rPr lang="ru-RU" sz="3200" dirty="0" smtClean="0"/>
              <a:t>.</a:t>
            </a:r>
          </a:p>
          <a:p>
            <a:pPr marL="0" indent="0" fontAlgn="base">
              <a:buNone/>
            </a:pPr>
            <a:r>
              <a:rPr lang="ru-RU" sz="3200" dirty="0" smtClean="0"/>
              <a:t>Обычно </a:t>
            </a:r>
            <a:r>
              <a:rPr lang="ru-RU" sz="3200" dirty="0"/>
              <a:t>B &lt;&lt; |D|</a:t>
            </a:r>
          </a:p>
        </p:txBody>
      </p:sp>
    </p:spTree>
    <p:extLst>
      <p:ext uri="{BB962C8B-B14F-4D97-AF65-F5344CB8AC3E}">
        <p14:creationId xmlns:p14="http://schemas.microsoft.com/office/powerpoint/2010/main" val="2642342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smtClean="0"/>
              <a:t>Аномалии </a:t>
            </a:r>
            <a:r>
              <a:rPr lang="en-US" b="1" dirty="0" err="1" smtClean="0"/>
              <a:t>Rocchio</a:t>
            </a:r>
            <a:endParaRPr lang="en-US"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3200" dirty="0" err="1"/>
              <a:t>Прототипные</a:t>
            </a:r>
            <a:r>
              <a:rPr lang="ru-RU" sz="3200" dirty="0"/>
              <a:t> модели имеют проблемы с полиморфными (дизъюнктивными) категориями.</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43</a:t>
            </a:fld>
            <a:endParaRPr lang="ru-RU" noProof="0" dirty="0"/>
          </a:p>
        </p:txBody>
      </p:sp>
      <p:grpSp>
        <p:nvGrpSpPr>
          <p:cNvPr id="2" name="Группа 1"/>
          <p:cNvGrpSpPr/>
          <p:nvPr/>
        </p:nvGrpSpPr>
        <p:grpSpPr>
          <a:xfrm>
            <a:off x="2071157" y="2224355"/>
            <a:ext cx="7366000" cy="4052888"/>
            <a:chOff x="901700" y="2286000"/>
            <a:chExt cx="7366000" cy="4052888"/>
          </a:xfrm>
        </p:grpSpPr>
        <p:grpSp>
          <p:nvGrpSpPr>
            <p:cNvPr id="8" name="Group 4"/>
            <p:cNvGrpSpPr>
              <a:grpSpLocks/>
            </p:cNvGrpSpPr>
            <p:nvPr/>
          </p:nvGrpSpPr>
          <p:grpSpPr bwMode="auto">
            <a:xfrm>
              <a:off x="914400" y="2286000"/>
              <a:ext cx="7353300" cy="4046538"/>
              <a:chOff x="623" y="1104"/>
              <a:chExt cx="4632" cy="2549"/>
            </a:xfrm>
          </p:grpSpPr>
          <p:sp>
            <p:nvSpPr>
              <p:cNvPr id="9" name="Line 5"/>
              <p:cNvSpPr>
                <a:spLocks noChangeShapeType="1"/>
              </p:cNvSpPr>
              <p:nvPr/>
            </p:nvSpPr>
            <p:spPr bwMode="auto">
              <a:xfrm flipV="1">
                <a:off x="624" y="1104"/>
                <a:ext cx="0" cy="25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0" name="Line 6"/>
              <p:cNvSpPr>
                <a:spLocks noChangeShapeType="1"/>
              </p:cNvSpPr>
              <p:nvPr/>
            </p:nvSpPr>
            <p:spPr bwMode="auto">
              <a:xfrm>
                <a:off x="623" y="3653"/>
                <a:ext cx="46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sp>
          <p:nvSpPr>
            <p:cNvPr id="11" name="Line 7"/>
            <p:cNvSpPr>
              <a:spLocks noChangeShapeType="1"/>
            </p:cNvSpPr>
            <p:nvPr/>
          </p:nvSpPr>
          <p:spPr bwMode="auto">
            <a:xfrm flipV="1">
              <a:off x="901700" y="4767263"/>
              <a:ext cx="414338" cy="15525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2" name="Line 8"/>
            <p:cNvSpPr>
              <a:spLocks noChangeShapeType="1"/>
            </p:cNvSpPr>
            <p:nvPr/>
          </p:nvSpPr>
          <p:spPr bwMode="auto">
            <a:xfrm flipV="1">
              <a:off x="901700" y="5118100"/>
              <a:ext cx="565150" cy="120173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3" name="Line 9"/>
            <p:cNvSpPr>
              <a:spLocks noChangeShapeType="1"/>
            </p:cNvSpPr>
            <p:nvPr/>
          </p:nvSpPr>
          <p:spPr bwMode="auto">
            <a:xfrm flipV="1">
              <a:off x="914400" y="5505450"/>
              <a:ext cx="588963" cy="827088"/>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4" name="Line 10"/>
            <p:cNvSpPr>
              <a:spLocks noChangeShapeType="1"/>
            </p:cNvSpPr>
            <p:nvPr/>
          </p:nvSpPr>
          <p:spPr bwMode="auto">
            <a:xfrm flipV="1">
              <a:off x="914400" y="5638800"/>
              <a:ext cx="1295400" cy="693738"/>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15" name="Line 11"/>
            <p:cNvSpPr>
              <a:spLocks noChangeShapeType="1"/>
            </p:cNvSpPr>
            <p:nvPr/>
          </p:nvSpPr>
          <p:spPr bwMode="auto">
            <a:xfrm flipV="1">
              <a:off x="901700" y="5743575"/>
              <a:ext cx="1290638" cy="58896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6" name="Line 12"/>
            <p:cNvSpPr>
              <a:spLocks noChangeShapeType="1"/>
            </p:cNvSpPr>
            <p:nvPr/>
          </p:nvSpPr>
          <p:spPr bwMode="auto">
            <a:xfrm flipV="1">
              <a:off x="901700" y="6032500"/>
              <a:ext cx="1616075" cy="28733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7" name="Line 13"/>
            <p:cNvSpPr>
              <a:spLocks noChangeShapeType="1"/>
            </p:cNvSpPr>
            <p:nvPr/>
          </p:nvSpPr>
          <p:spPr bwMode="auto">
            <a:xfrm flipV="1">
              <a:off x="901700" y="4859338"/>
              <a:ext cx="1866900" cy="146685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8" name="Line 14"/>
            <p:cNvSpPr>
              <a:spLocks noChangeShapeType="1"/>
            </p:cNvSpPr>
            <p:nvPr/>
          </p:nvSpPr>
          <p:spPr bwMode="auto">
            <a:xfrm flipV="1">
              <a:off x="901700" y="3432175"/>
              <a:ext cx="2943225" cy="290671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9" name="Line 15"/>
            <p:cNvSpPr>
              <a:spLocks noChangeShapeType="1"/>
            </p:cNvSpPr>
            <p:nvPr/>
          </p:nvSpPr>
          <p:spPr bwMode="auto">
            <a:xfrm flipV="1">
              <a:off x="901700" y="5122863"/>
              <a:ext cx="1052513" cy="11906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nvGrpSpPr>
            <p:cNvPr id="20" name="Group 16"/>
            <p:cNvGrpSpPr>
              <a:grpSpLocks/>
            </p:cNvGrpSpPr>
            <p:nvPr/>
          </p:nvGrpSpPr>
          <p:grpSpPr bwMode="auto">
            <a:xfrm>
              <a:off x="1676400" y="5257800"/>
              <a:ext cx="371475" cy="190500"/>
              <a:chOff x="1056" y="3312"/>
              <a:chExt cx="234" cy="120"/>
            </a:xfrm>
          </p:grpSpPr>
          <p:sp>
            <p:nvSpPr>
              <p:cNvPr id="21" name="Freeform 17"/>
              <p:cNvSpPr>
                <a:spLocks/>
              </p:cNvSpPr>
              <p:nvPr/>
            </p:nvSpPr>
            <p:spPr bwMode="auto">
              <a:xfrm>
                <a:off x="1056" y="3395"/>
                <a:ext cx="69" cy="37"/>
              </a:xfrm>
              <a:custGeom>
                <a:avLst/>
                <a:gdLst>
                  <a:gd name="T0" fmla="*/ 0 w 69"/>
                  <a:gd name="T1" fmla="*/ 13 h 37"/>
                  <a:gd name="T2" fmla="*/ 48 w 69"/>
                  <a:gd name="T3" fmla="*/ 4 h 37"/>
                  <a:gd name="T4" fmla="*/ 69 w 69"/>
                  <a:gd name="T5" fmla="*/ 37 h 37"/>
                  <a:gd name="T6" fmla="*/ 0 60000 65536"/>
                  <a:gd name="T7" fmla="*/ 0 60000 65536"/>
                  <a:gd name="T8" fmla="*/ 0 60000 65536"/>
                  <a:gd name="T9" fmla="*/ 0 w 69"/>
                  <a:gd name="T10" fmla="*/ 0 h 37"/>
                  <a:gd name="T11" fmla="*/ 69 w 69"/>
                  <a:gd name="T12" fmla="*/ 37 h 37"/>
                </a:gdLst>
                <a:ahLst/>
                <a:cxnLst>
                  <a:cxn ang="T6">
                    <a:pos x="T0" y="T1"/>
                  </a:cxn>
                  <a:cxn ang="T7">
                    <a:pos x="T2" y="T3"/>
                  </a:cxn>
                  <a:cxn ang="T8">
                    <a:pos x="T4" y="T5"/>
                  </a:cxn>
                </a:cxnLst>
                <a:rect l="T9" t="T10" r="T11" b="T12"/>
                <a:pathLst>
                  <a:path w="69" h="37">
                    <a:moveTo>
                      <a:pt x="0" y="13"/>
                    </a:moveTo>
                    <a:cubicBezTo>
                      <a:pt x="18" y="6"/>
                      <a:pt x="37" y="0"/>
                      <a:pt x="48" y="4"/>
                    </a:cubicBezTo>
                    <a:cubicBezTo>
                      <a:pt x="59" y="8"/>
                      <a:pt x="64" y="22"/>
                      <a:pt x="69" y="37"/>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p>
                <a:endParaRPr lang="en-US"/>
              </a:p>
            </p:txBody>
          </p:sp>
          <p:sp>
            <p:nvSpPr>
              <p:cNvPr id="22" name="Freeform 18"/>
              <p:cNvSpPr>
                <a:spLocks/>
              </p:cNvSpPr>
              <p:nvPr/>
            </p:nvSpPr>
            <p:spPr bwMode="auto">
              <a:xfrm>
                <a:off x="1134" y="3312"/>
                <a:ext cx="156" cy="105"/>
              </a:xfrm>
              <a:custGeom>
                <a:avLst/>
                <a:gdLst>
                  <a:gd name="T0" fmla="*/ 18 w 156"/>
                  <a:gd name="T1" fmla="*/ 0 h 105"/>
                  <a:gd name="T2" fmla="*/ 0 w 156"/>
                  <a:gd name="T3" fmla="*/ 21 h 105"/>
                  <a:gd name="T4" fmla="*/ 66 w 156"/>
                  <a:gd name="T5" fmla="*/ 15 h 105"/>
                  <a:gd name="T6" fmla="*/ 135 w 156"/>
                  <a:gd name="T7" fmla="*/ 39 h 105"/>
                  <a:gd name="T8" fmla="*/ 156 w 156"/>
                  <a:gd name="T9" fmla="*/ 105 h 105"/>
                  <a:gd name="T10" fmla="*/ 0 60000 65536"/>
                  <a:gd name="T11" fmla="*/ 0 60000 65536"/>
                  <a:gd name="T12" fmla="*/ 0 60000 65536"/>
                  <a:gd name="T13" fmla="*/ 0 60000 65536"/>
                  <a:gd name="T14" fmla="*/ 0 60000 65536"/>
                  <a:gd name="T15" fmla="*/ 0 w 156"/>
                  <a:gd name="T16" fmla="*/ 0 h 105"/>
                  <a:gd name="T17" fmla="*/ 156 w 156"/>
                  <a:gd name="T18" fmla="*/ 105 h 105"/>
                </a:gdLst>
                <a:ahLst/>
                <a:cxnLst>
                  <a:cxn ang="T10">
                    <a:pos x="T0" y="T1"/>
                  </a:cxn>
                  <a:cxn ang="T11">
                    <a:pos x="T2" y="T3"/>
                  </a:cxn>
                  <a:cxn ang="T12">
                    <a:pos x="T4" y="T5"/>
                  </a:cxn>
                  <a:cxn ang="T13">
                    <a:pos x="T6" y="T7"/>
                  </a:cxn>
                  <a:cxn ang="T14">
                    <a:pos x="T8" y="T9"/>
                  </a:cxn>
                </a:cxnLst>
                <a:rect l="T15" t="T16" r="T17" b="T18"/>
                <a:pathLst>
                  <a:path w="156" h="105">
                    <a:moveTo>
                      <a:pt x="18" y="0"/>
                    </a:moveTo>
                    <a:lnTo>
                      <a:pt x="0" y="21"/>
                    </a:lnTo>
                    <a:cubicBezTo>
                      <a:pt x="8" y="24"/>
                      <a:pt x="44" y="12"/>
                      <a:pt x="66" y="15"/>
                    </a:cubicBezTo>
                    <a:cubicBezTo>
                      <a:pt x="88" y="18"/>
                      <a:pt x="120" y="24"/>
                      <a:pt x="135" y="39"/>
                    </a:cubicBezTo>
                    <a:cubicBezTo>
                      <a:pt x="150" y="54"/>
                      <a:pt x="153" y="79"/>
                      <a:pt x="156" y="10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p>
                <a:endParaRPr lang="en-US"/>
              </a:p>
            </p:txBody>
          </p:sp>
        </p:grpSp>
        <p:sp>
          <p:nvSpPr>
            <p:cNvPr id="23" name="Line 19"/>
            <p:cNvSpPr>
              <a:spLocks noChangeShapeType="1"/>
            </p:cNvSpPr>
            <p:nvPr/>
          </p:nvSpPr>
          <p:spPr bwMode="auto">
            <a:xfrm flipV="1">
              <a:off x="914400" y="5105400"/>
              <a:ext cx="1052513" cy="1190625"/>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spTree>
    <p:extLst>
      <p:ext uri="{BB962C8B-B14F-4D97-AF65-F5344CB8AC3E}">
        <p14:creationId xmlns:p14="http://schemas.microsoft.com/office/powerpoint/2010/main" val="41488222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a:t>Аномалии </a:t>
            </a:r>
            <a:r>
              <a:rPr lang="en-US" b="1" dirty="0" err="1"/>
              <a:t>Rocchio</a:t>
            </a:r>
            <a:endParaRPr lang="en-US"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800" dirty="0" err="1"/>
              <a:t>Прототипные</a:t>
            </a:r>
            <a:r>
              <a:rPr lang="ru-RU" sz="2800" dirty="0"/>
              <a:t> модели представляют классы с помощью центральных представителей (прототипов), таких как </a:t>
            </a:r>
            <a:r>
              <a:rPr lang="ru-RU" sz="2800" dirty="0" err="1"/>
              <a:t>центроиды</a:t>
            </a:r>
            <a:r>
              <a:rPr lang="ru-RU" sz="2800" dirty="0"/>
              <a:t> или средние значения признаков, характерные для группы документов внутри класса. Например, в задаче классификации текстов документы определенной категории группируются вокруг своего центра («среднего представителя</a:t>
            </a:r>
            <a:r>
              <a:rPr lang="ru-RU" sz="2800" dirty="0" smtClean="0"/>
              <a:t>»).</a:t>
            </a:r>
          </a:p>
          <a:p>
            <a:pPr marL="0" indent="0">
              <a:buNone/>
            </a:pPr>
            <a:r>
              <a:rPr lang="ru-RU" sz="2400" dirty="0"/>
              <a:t>Полиморфизм в данном контексте относится к ситуации, когда объекты одной категории сильно различаются между собой и принадлежат разным кластерам в пространстве признаков. Другими словами, такие категории состоят из множества отдельных подгрупп (</a:t>
            </a:r>
            <a:r>
              <a:rPr lang="ru-RU" sz="2400" dirty="0" err="1"/>
              <a:t>субкатегорий</a:t>
            </a:r>
            <a:r>
              <a:rPr lang="ru-RU" sz="2400" dirty="0"/>
              <a:t>), каждая из которых имеет собственное распределение признаков.</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44</a:t>
            </a:fld>
            <a:endParaRPr lang="ru-RU" noProof="0" dirty="0"/>
          </a:p>
        </p:txBody>
      </p:sp>
    </p:spTree>
    <p:extLst>
      <p:ext uri="{BB962C8B-B14F-4D97-AF65-F5344CB8AC3E}">
        <p14:creationId xmlns:p14="http://schemas.microsoft.com/office/powerpoint/2010/main" val="64231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a:t>Аномалии </a:t>
            </a:r>
            <a:r>
              <a:rPr lang="en-US" b="1" dirty="0" err="1"/>
              <a:t>Rocchio</a:t>
            </a:r>
            <a:endParaRPr lang="en-US"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400" dirty="0"/>
              <a:t>Например, рассмотрим категорию фильмов:</a:t>
            </a:r>
          </a:p>
          <a:p>
            <a:pPr marL="0" indent="0">
              <a:buNone/>
            </a:pPr>
            <a:r>
              <a:rPr lang="ru-RU" sz="2400" dirty="0" smtClean="0"/>
              <a:t>Подгруппа </a:t>
            </a:r>
            <a:r>
              <a:rPr lang="ru-RU" sz="2400" dirty="0"/>
              <a:t>1: романтические комедии</a:t>
            </a:r>
          </a:p>
          <a:p>
            <a:pPr marL="0" indent="0">
              <a:buNone/>
            </a:pPr>
            <a:r>
              <a:rPr lang="ru-RU" sz="2400" dirty="0"/>
              <a:t>Подгруппа 2: научно-фантастические фильмы</a:t>
            </a:r>
          </a:p>
          <a:p>
            <a:pPr marL="0" indent="0">
              <a:buNone/>
            </a:pPr>
            <a:r>
              <a:rPr lang="ru-RU" sz="2400" dirty="0"/>
              <a:t>Подгруппа 3: исторические драмы</a:t>
            </a:r>
          </a:p>
          <a:p>
            <a:pPr marL="0" indent="0">
              <a:buNone/>
            </a:pPr>
            <a:r>
              <a:rPr lang="ru-RU" sz="2400" dirty="0"/>
              <a:t>Эти три типа фильмов совершенно разные по сюжету, стилю повествования и другим характеристикам, однако все они относятся к общей категории «фильмов».</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45</a:t>
            </a:fld>
            <a:endParaRPr lang="ru-RU" noProof="0" dirty="0"/>
          </a:p>
        </p:txBody>
      </p:sp>
    </p:spTree>
    <p:extLst>
      <p:ext uri="{BB962C8B-B14F-4D97-AF65-F5344CB8AC3E}">
        <p14:creationId xmlns:p14="http://schemas.microsoft.com/office/powerpoint/2010/main" val="2132301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a:t>Аномалии </a:t>
            </a:r>
            <a:r>
              <a:rPr lang="en-US" b="1" dirty="0" err="1"/>
              <a:t>Rocchio</a:t>
            </a:r>
            <a:endParaRPr lang="en-US"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400" dirty="0"/>
              <a:t>Проблема полиморфизма</a:t>
            </a:r>
          </a:p>
          <a:p>
            <a:pPr marL="0" indent="0">
              <a:buNone/>
            </a:pPr>
            <a:r>
              <a:rPr lang="ru-RU" sz="2400" dirty="0"/>
              <a:t>Поскольку </a:t>
            </a:r>
            <a:r>
              <a:rPr lang="ru-RU" sz="2400" dirty="0" err="1"/>
              <a:t>прототипные</a:t>
            </a:r>
            <a:r>
              <a:rPr lang="ru-RU" sz="2400" dirty="0"/>
              <a:t> модели основаны на одном центральном представителе, они сталкиваются с трудностью, когда пытаются описать категорию, состоящую из существенно различающихся подгрупп. Центральный представитель оказывается средним значением, которое слабо отражает реальную структуру категории, особенно если различия между подгруппами велики.</a:t>
            </a:r>
          </a:p>
          <a:p>
            <a:pPr marL="0" indent="0">
              <a:buNone/>
            </a:pPr>
            <a:r>
              <a:rPr lang="ru-RU" sz="2400" dirty="0" smtClean="0"/>
              <a:t>Таким </a:t>
            </a:r>
            <a:r>
              <a:rPr lang="ru-RU" sz="2400" dirty="0"/>
              <a:t>образом, попытка применить одну центральную точку (прототип) для описания всей категории приведет к ошибочным результатам классификации, поскольку отдельные </a:t>
            </a:r>
            <a:r>
              <a:rPr lang="ru-RU" sz="2400" dirty="0" err="1"/>
              <a:t>подкластеры</a:t>
            </a:r>
            <a:r>
              <a:rPr lang="ru-RU" sz="2400" dirty="0"/>
              <a:t> будут плохо распознаваться моделью.</a:t>
            </a:r>
          </a:p>
          <a:p>
            <a:pPr marL="0" indent="0">
              <a:buNone/>
            </a:pPr>
            <a:r>
              <a:rPr lang="ru-RU" sz="2400" dirty="0" smtClean="0"/>
              <a:t>Итог</a:t>
            </a:r>
            <a:r>
              <a:rPr lang="ru-RU" sz="2400" dirty="0"/>
              <a:t>: </a:t>
            </a:r>
            <a:r>
              <a:rPr lang="ru-RU" sz="2400" dirty="0" err="1"/>
              <a:t>прототипные</a:t>
            </a:r>
            <a:r>
              <a:rPr lang="ru-RU" sz="2400" dirty="0"/>
              <a:t> модели подходят для однородных категорий, но испытывают трудности с полиморфными категориями, которые включают разнородные подгруппы.</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46</a:t>
            </a:fld>
            <a:endParaRPr lang="ru-RU" noProof="0" dirty="0"/>
          </a:p>
        </p:txBody>
      </p:sp>
    </p:spTree>
    <p:extLst>
      <p:ext uri="{BB962C8B-B14F-4D97-AF65-F5344CB8AC3E}">
        <p14:creationId xmlns:p14="http://schemas.microsoft.com/office/powerpoint/2010/main" val="1699616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endParaRPr lang="ru-RU"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600" dirty="0" smtClean="0"/>
              <a:t>Метод ближайших соседей, </a:t>
            </a:r>
            <a:r>
              <a:rPr lang="ru-RU" sz="2600" dirty="0"/>
              <a:t>как правило, лучше справляется с полиморфными категориями, чем </a:t>
            </a:r>
            <a:r>
              <a:rPr lang="ru-RU" sz="2600" dirty="0" err="1"/>
              <a:t>Rocchio</a:t>
            </a:r>
            <a:r>
              <a:rPr lang="ru-RU" sz="2600" dirty="0"/>
              <a:t>/NB.</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47</a:t>
            </a:fld>
            <a:endParaRPr lang="ru-RU" noProof="0" dirty="0"/>
          </a:p>
        </p:txBody>
      </p:sp>
      <p:grpSp>
        <p:nvGrpSpPr>
          <p:cNvPr id="2" name="Группа 1"/>
          <p:cNvGrpSpPr/>
          <p:nvPr/>
        </p:nvGrpSpPr>
        <p:grpSpPr>
          <a:xfrm>
            <a:off x="2168346" y="2112034"/>
            <a:ext cx="7366000" cy="4046538"/>
            <a:chOff x="977900" y="2362200"/>
            <a:chExt cx="7366000" cy="4046538"/>
          </a:xfrm>
        </p:grpSpPr>
        <p:grpSp>
          <p:nvGrpSpPr>
            <p:cNvPr id="7" name="Group 4"/>
            <p:cNvGrpSpPr>
              <a:grpSpLocks/>
            </p:cNvGrpSpPr>
            <p:nvPr/>
          </p:nvGrpSpPr>
          <p:grpSpPr bwMode="auto">
            <a:xfrm>
              <a:off x="990600" y="2362200"/>
              <a:ext cx="7353300" cy="4046538"/>
              <a:chOff x="623" y="1104"/>
              <a:chExt cx="4632" cy="2549"/>
            </a:xfrm>
          </p:grpSpPr>
          <p:sp>
            <p:nvSpPr>
              <p:cNvPr id="8" name="Line 5"/>
              <p:cNvSpPr>
                <a:spLocks noChangeShapeType="1"/>
              </p:cNvSpPr>
              <p:nvPr/>
            </p:nvSpPr>
            <p:spPr bwMode="auto">
              <a:xfrm flipV="1">
                <a:off x="624" y="1104"/>
                <a:ext cx="0" cy="25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9" name="Line 6"/>
              <p:cNvSpPr>
                <a:spLocks noChangeShapeType="1"/>
              </p:cNvSpPr>
              <p:nvPr/>
            </p:nvSpPr>
            <p:spPr bwMode="auto">
              <a:xfrm>
                <a:off x="623" y="3653"/>
                <a:ext cx="46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sp>
          <p:nvSpPr>
            <p:cNvPr id="10" name="Line 7"/>
            <p:cNvSpPr>
              <a:spLocks noChangeShapeType="1"/>
            </p:cNvSpPr>
            <p:nvPr/>
          </p:nvSpPr>
          <p:spPr bwMode="auto">
            <a:xfrm flipV="1">
              <a:off x="977900" y="4843463"/>
              <a:ext cx="414338" cy="15525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1" name="Line 8"/>
            <p:cNvSpPr>
              <a:spLocks noChangeShapeType="1"/>
            </p:cNvSpPr>
            <p:nvPr/>
          </p:nvSpPr>
          <p:spPr bwMode="auto">
            <a:xfrm flipV="1">
              <a:off x="977900" y="5194300"/>
              <a:ext cx="565150" cy="120173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2" name="Line 9"/>
            <p:cNvSpPr>
              <a:spLocks noChangeShapeType="1"/>
            </p:cNvSpPr>
            <p:nvPr/>
          </p:nvSpPr>
          <p:spPr bwMode="auto">
            <a:xfrm flipV="1">
              <a:off x="990600" y="5581650"/>
              <a:ext cx="588963" cy="82708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3" name="Line 10"/>
            <p:cNvSpPr>
              <a:spLocks noChangeShapeType="1"/>
            </p:cNvSpPr>
            <p:nvPr/>
          </p:nvSpPr>
          <p:spPr bwMode="auto">
            <a:xfrm flipV="1">
              <a:off x="977900" y="5562600"/>
              <a:ext cx="1309688" cy="84613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14" name="Line 11"/>
            <p:cNvSpPr>
              <a:spLocks noChangeShapeType="1"/>
            </p:cNvSpPr>
            <p:nvPr/>
          </p:nvSpPr>
          <p:spPr bwMode="auto">
            <a:xfrm flipV="1">
              <a:off x="977900" y="5819775"/>
              <a:ext cx="1290638" cy="5889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5" name="Line 12"/>
            <p:cNvSpPr>
              <a:spLocks noChangeShapeType="1"/>
            </p:cNvSpPr>
            <p:nvPr/>
          </p:nvSpPr>
          <p:spPr bwMode="auto">
            <a:xfrm flipV="1">
              <a:off x="977900" y="6108700"/>
              <a:ext cx="1616075" cy="28733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6" name="Line 13"/>
            <p:cNvSpPr>
              <a:spLocks noChangeShapeType="1"/>
            </p:cNvSpPr>
            <p:nvPr/>
          </p:nvSpPr>
          <p:spPr bwMode="auto">
            <a:xfrm flipV="1">
              <a:off x="992188" y="5181600"/>
              <a:ext cx="1052512" cy="11906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17" name="Line 14"/>
            <p:cNvSpPr>
              <a:spLocks noChangeShapeType="1"/>
            </p:cNvSpPr>
            <p:nvPr/>
          </p:nvSpPr>
          <p:spPr bwMode="auto">
            <a:xfrm flipV="1">
              <a:off x="992188" y="5181600"/>
              <a:ext cx="1052512" cy="1190625"/>
            </a:xfrm>
            <a:prstGeom prst="line">
              <a:avLst/>
            </a:prstGeom>
            <a:noFill/>
            <a:ln w="28575">
              <a:solidFill>
                <a:srgbClr val="3333FF"/>
              </a:solidFill>
              <a:prstDash val="dash"/>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nvGrpSpPr>
            <p:cNvPr id="18" name="Group 15"/>
            <p:cNvGrpSpPr>
              <a:grpSpLocks/>
            </p:cNvGrpSpPr>
            <p:nvPr/>
          </p:nvGrpSpPr>
          <p:grpSpPr bwMode="auto">
            <a:xfrm>
              <a:off x="1406525" y="5432425"/>
              <a:ext cx="376238" cy="458788"/>
              <a:chOff x="885" y="3038"/>
              <a:chExt cx="237" cy="289"/>
            </a:xfrm>
          </p:grpSpPr>
          <p:sp>
            <p:nvSpPr>
              <p:cNvPr id="19" name="Freeform 16"/>
              <p:cNvSpPr>
                <a:spLocks/>
              </p:cNvSpPr>
              <p:nvPr/>
            </p:nvSpPr>
            <p:spPr bwMode="auto">
              <a:xfrm>
                <a:off x="912" y="3239"/>
                <a:ext cx="33" cy="22"/>
              </a:xfrm>
              <a:custGeom>
                <a:avLst/>
                <a:gdLst>
                  <a:gd name="T0" fmla="*/ 0 w 33"/>
                  <a:gd name="T1" fmla="*/ 16 h 22"/>
                  <a:gd name="T2" fmla="*/ 18 w 33"/>
                  <a:gd name="T3" fmla="*/ 1 h 22"/>
                  <a:gd name="T4" fmla="*/ 33 w 33"/>
                  <a:gd name="T5" fmla="*/ 22 h 22"/>
                  <a:gd name="T6" fmla="*/ 0 60000 65536"/>
                  <a:gd name="T7" fmla="*/ 0 60000 65536"/>
                  <a:gd name="T8" fmla="*/ 0 60000 65536"/>
                  <a:gd name="T9" fmla="*/ 0 w 33"/>
                  <a:gd name="T10" fmla="*/ 0 h 22"/>
                  <a:gd name="T11" fmla="*/ 33 w 33"/>
                  <a:gd name="T12" fmla="*/ 22 h 22"/>
                </a:gdLst>
                <a:ahLst/>
                <a:cxnLst>
                  <a:cxn ang="T6">
                    <a:pos x="T0" y="T1"/>
                  </a:cxn>
                  <a:cxn ang="T7">
                    <a:pos x="T2" y="T3"/>
                  </a:cxn>
                  <a:cxn ang="T8">
                    <a:pos x="T4" y="T5"/>
                  </a:cxn>
                </a:cxnLst>
                <a:rect l="T9" t="T10" r="T11" b="T12"/>
                <a:pathLst>
                  <a:path w="33" h="22">
                    <a:moveTo>
                      <a:pt x="0" y="16"/>
                    </a:moveTo>
                    <a:cubicBezTo>
                      <a:pt x="6" y="8"/>
                      <a:pt x="13" y="0"/>
                      <a:pt x="18" y="1"/>
                    </a:cubicBezTo>
                    <a:cubicBezTo>
                      <a:pt x="23" y="2"/>
                      <a:pt x="28" y="12"/>
                      <a:pt x="33" y="22"/>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p>
                <a:endParaRPr lang="en-US"/>
              </a:p>
            </p:txBody>
          </p:sp>
          <p:sp>
            <p:nvSpPr>
              <p:cNvPr id="20" name="Freeform 17"/>
              <p:cNvSpPr>
                <a:spLocks/>
              </p:cNvSpPr>
              <p:nvPr/>
            </p:nvSpPr>
            <p:spPr bwMode="auto">
              <a:xfrm>
                <a:off x="981" y="3219"/>
                <a:ext cx="141" cy="108"/>
              </a:xfrm>
              <a:custGeom>
                <a:avLst/>
                <a:gdLst>
                  <a:gd name="T0" fmla="*/ 0 w 162"/>
                  <a:gd name="T1" fmla="*/ 3 h 114"/>
                  <a:gd name="T2" fmla="*/ 12 w 162"/>
                  <a:gd name="T3" fmla="*/ 6 h 114"/>
                  <a:gd name="T4" fmla="*/ 50 w 162"/>
                  <a:gd name="T5" fmla="*/ 3 h 114"/>
                  <a:gd name="T6" fmla="*/ 64 w 162"/>
                  <a:gd name="T7" fmla="*/ 19 h 114"/>
                  <a:gd name="T8" fmla="*/ 77 w 162"/>
                  <a:gd name="T9" fmla="*/ 48 h 114"/>
                  <a:gd name="T10" fmla="*/ 81 w 162"/>
                  <a:gd name="T11" fmla="*/ 87 h 114"/>
                  <a:gd name="T12" fmla="*/ 0 60000 65536"/>
                  <a:gd name="T13" fmla="*/ 0 60000 65536"/>
                  <a:gd name="T14" fmla="*/ 0 60000 65536"/>
                  <a:gd name="T15" fmla="*/ 0 60000 65536"/>
                  <a:gd name="T16" fmla="*/ 0 60000 65536"/>
                  <a:gd name="T17" fmla="*/ 0 60000 65536"/>
                  <a:gd name="T18" fmla="*/ 0 w 162"/>
                  <a:gd name="T19" fmla="*/ 0 h 114"/>
                  <a:gd name="T20" fmla="*/ 162 w 162"/>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162" h="114">
                    <a:moveTo>
                      <a:pt x="0" y="3"/>
                    </a:moveTo>
                    <a:lnTo>
                      <a:pt x="24" y="6"/>
                    </a:lnTo>
                    <a:cubicBezTo>
                      <a:pt x="40" y="6"/>
                      <a:pt x="82" y="0"/>
                      <a:pt x="99" y="3"/>
                    </a:cubicBezTo>
                    <a:cubicBezTo>
                      <a:pt x="116" y="6"/>
                      <a:pt x="120" y="14"/>
                      <a:pt x="129" y="24"/>
                    </a:cubicBezTo>
                    <a:cubicBezTo>
                      <a:pt x="138" y="34"/>
                      <a:pt x="148" y="48"/>
                      <a:pt x="153" y="63"/>
                    </a:cubicBezTo>
                    <a:cubicBezTo>
                      <a:pt x="158" y="78"/>
                      <a:pt x="160" y="96"/>
                      <a:pt x="162" y="114"/>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en-US"/>
              </a:p>
            </p:txBody>
          </p:sp>
          <p:sp>
            <p:nvSpPr>
              <p:cNvPr id="21" name="Freeform 18"/>
              <p:cNvSpPr>
                <a:spLocks/>
              </p:cNvSpPr>
              <p:nvPr/>
            </p:nvSpPr>
            <p:spPr bwMode="auto">
              <a:xfrm>
                <a:off x="885" y="3038"/>
                <a:ext cx="174" cy="91"/>
              </a:xfrm>
              <a:custGeom>
                <a:avLst/>
                <a:gdLst>
                  <a:gd name="T0" fmla="*/ 0 w 195"/>
                  <a:gd name="T1" fmla="*/ 34 h 91"/>
                  <a:gd name="T2" fmla="*/ 46 w 195"/>
                  <a:gd name="T3" fmla="*/ 4 h 91"/>
                  <a:gd name="T4" fmla="*/ 79 w 195"/>
                  <a:gd name="T5" fmla="*/ 7 h 91"/>
                  <a:gd name="T6" fmla="*/ 102 w 195"/>
                  <a:gd name="T7" fmla="*/ 34 h 91"/>
                  <a:gd name="T8" fmla="*/ 110 w 195"/>
                  <a:gd name="T9" fmla="*/ 91 h 91"/>
                  <a:gd name="T10" fmla="*/ 0 60000 65536"/>
                  <a:gd name="T11" fmla="*/ 0 60000 65536"/>
                  <a:gd name="T12" fmla="*/ 0 60000 65536"/>
                  <a:gd name="T13" fmla="*/ 0 60000 65536"/>
                  <a:gd name="T14" fmla="*/ 0 60000 65536"/>
                  <a:gd name="T15" fmla="*/ 0 w 195"/>
                  <a:gd name="T16" fmla="*/ 0 h 91"/>
                  <a:gd name="T17" fmla="*/ 195 w 195"/>
                  <a:gd name="T18" fmla="*/ 91 h 91"/>
                </a:gdLst>
                <a:ahLst/>
                <a:cxnLst>
                  <a:cxn ang="T10">
                    <a:pos x="T0" y="T1"/>
                  </a:cxn>
                  <a:cxn ang="T11">
                    <a:pos x="T2" y="T3"/>
                  </a:cxn>
                  <a:cxn ang="T12">
                    <a:pos x="T4" y="T5"/>
                  </a:cxn>
                  <a:cxn ang="T13">
                    <a:pos x="T6" y="T7"/>
                  </a:cxn>
                  <a:cxn ang="T14">
                    <a:pos x="T8" y="T9"/>
                  </a:cxn>
                </a:cxnLst>
                <a:rect l="T15" t="T16" r="T17" b="T18"/>
                <a:pathLst>
                  <a:path w="195" h="91">
                    <a:moveTo>
                      <a:pt x="0" y="34"/>
                    </a:moveTo>
                    <a:cubicBezTo>
                      <a:pt x="29" y="21"/>
                      <a:pt x="58" y="8"/>
                      <a:pt x="81" y="4"/>
                    </a:cubicBezTo>
                    <a:cubicBezTo>
                      <a:pt x="104" y="0"/>
                      <a:pt x="125" y="2"/>
                      <a:pt x="141" y="7"/>
                    </a:cubicBezTo>
                    <a:cubicBezTo>
                      <a:pt x="157" y="12"/>
                      <a:pt x="171" y="20"/>
                      <a:pt x="180" y="34"/>
                    </a:cubicBezTo>
                    <a:cubicBezTo>
                      <a:pt x="189" y="48"/>
                      <a:pt x="192" y="69"/>
                      <a:pt x="195" y="91"/>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p>
                <a:endParaRPr lang="en-US"/>
              </a:p>
            </p:txBody>
          </p:sp>
        </p:grpSp>
      </p:grpSp>
    </p:spTree>
    <p:extLst>
      <p:ext uri="{BB962C8B-B14F-4D97-AF65-F5344CB8AC3E}">
        <p14:creationId xmlns:p14="http://schemas.microsoft.com/office/powerpoint/2010/main" val="29660090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smtClean="0"/>
              <a:t>Смещение и дисперсия</a:t>
            </a:r>
            <a:endParaRPr lang="ru-RU" b="1" dirty="0"/>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400" dirty="0"/>
              <a:t>Подумайте о том, </a:t>
            </a:r>
            <a:r>
              <a:rPr lang="ru-RU" sz="2400" dirty="0" smtClean="0"/>
              <a:t>как </a:t>
            </a:r>
            <a:r>
              <a:rPr lang="ru-RU" sz="2400" dirty="0"/>
              <a:t>спросить ботаника: является ли объект </a:t>
            </a:r>
            <a:r>
              <a:rPr lang="ru-RU" sz="2400" dirty="0">
                <a:solidFill>
                  <a:srgbClr val="00B050"/>
                </a:solidFill>
              </a:rPr>
              <a:t>деревом</a:t>
            </a:r>
            <a:r>
              <a:rPr lang="ru-RU" sz="2400" dirty="0"/>
              <a:t>? </a:t>
            </a:r>
            <a:endParaRPr lang="ru-RU" sz="2400" dirty="0" smtClean="0"/>
          </a:p>
          <a:p>
            <a:pPr marL="0" indent="0">
              <a:buNone/>
            </a:pPr>
            <a:r>
              <a:rPr lang="ru-RU" sz="2400" dirty="0" smtClean="0"/>
              <a:t>Слишком большая дисперсия, низкое смещение</a:t>
            </a:r>
          </a:p>
          <a:p>
            <a:pPr marL="619125" lvl="1" indent="-342900"/>
            <a:r>
              <a:rPr lang="ru-RU" sz="2200" dirty="0" smtClean="0"/>
              <a:t>Наш ботаник просто запоминает, поэтому </a:t>
            </a:r>
            <a:r>
              <a:rPr lang="ru-RU" sz="2200" dirty="0"/>
              <a:t>в</a:t>
            </a:r>
            <a:r>
              <a:rPr lang="ru-RU" sz="2200" dirty="0" smtClean="0"/>
              <a:t>сегда </a:t>
            </a:r>
            <a:r>
              <a:rPr lang="ru-RU" sz="2200" dirty="0"/>
              <a:t>скажет “нет” новому объекту (например, </a:t>
            </a:r>
            <a:r>
              <a:rPr lang="ru-RU" sz="2200" dirty="0" smtClean="0"/>
              <a:t>отличается по </a:t>
            </a:r>
            <a:r>
              <a:rPr lang="ru-RU" sz="2200" dirty="0"/>
              <a:t>количеству листьев</a:t>
            </a:r>
            <a:r>
              <a:rPr lang="ru-RU" sz="2200" dirty="0" smtClean="0"/>
              <a:t>)</a:t>
            </a:r>
          </a:p>
          <a:p>
            <a:pPr marL="0" indent="0">
              <a:buNone/>
            </a:pPr>
            <a:r>
              <a:rPr lang="ru-RU" sz="2400" dirty="0" smtClean="0"/>
              <a:t>Низкая дисперсия, высокое смещение</a:t>
            </a:r>
          </a:p>
          <a:p>
            <a:pPr lvl="1"/>
            <a:r>
              <a:rPr lang="ru-RU" sz="2200" dirty="0" smtClean="0"/>
              <a:t>Ленивый ботаник</a:t>
            </a:r>
          </a:p>
          <a:p>
            <a:pPr lvl="1"/>
            <a:r>
              <a:rPr lang="ru-RU" sz="2200" dirty="0" smtClean="0"/>
              <a:t>Говорит </a:t>
            </a:r>
            <a:r>
              <a:rPr lang="ru-RU" sz="2200" dirty="0"/>
              <a:t>“да”, если объект </a:t>
            </a:r>
            <a:r>
              <a:rPr lang="ru-RU" sz="2200" dirty="0" smtClean="0"/>
              <a:t>зеленый</a:t>
            </a:r>
          </a:p>
          <a:p>
            <a:pPr marL="0" indent="0">
              <a:buNone/>
            </a:pPr>
            <a:r>
              <a:rPr lang="ru-RU" sz="2400" dirty="0" smtClean="0"/>
              <a:t>Нам </a:t>
            </a:r>
            <a:r>
              <a:rPr lang="ru-RU" sz="2400" dirty="0"/>
              <a:t>нужна золотая середина</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48</a:t>
            </a:fld>
            <a:endParaRPr lang="ru-RU" noProof="0" dirty="0"/>
          </a:p>
        </p:txBody>
      </p:sp>
    </p:spTree>
    <p:extLst>
      <p:ext uri="{BB962C8B-B14F-4D97-AF65-F5344CB8AC3E}">
        <p14:creationId xmlns:p14="http://schemas.microsoft.com/office/powerpoint/2010/main" val="2279409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46243" cy="432000"/>
          </a:xfrm>
        </p:spPr>
        <p:txBody>
          <a:bodyPr/>
          <a:lstStyle/>
          <a:p>
            <a:r>
              <a:rPr lang="ru-RU" sz="2400" b="1" dirty="0"/>
              <a:t>Параметрические индексы и индексы зон (</a:t>
            </a:r>
            <a:r>
              <a:rPr lang="ru-RU" sz="2400" b="1" dirty="0" err="1"/>
              <a:t>Parametric</a:t>
            </a:r>
            <a:r>
              <a:rPr lang="ru-RU" sz="2400" b="1" dirty="0"/>
              <a:t> </a:t>
            </a:r>
            <a:r>
              <a:rPr lang="ru-RU" sz="2400" b="1" dirty="0" err="1"/>
              <a:t>and</a:t>
            </a:r>
            <a:r>
              <a:rPr lang="ru-RU" sz="2400" b="1" dirty="0"/>
              <a:t> </a:t>
            </a:r>
            <a:r>
              <a:rPr lang="ru-RU" sz="2400" b="1" dirty="0" err="1"/>
              <a:t>Zone</a:t>
            </a:r>
            <a:r>
              <a:rPr lang="ru-RU" sz="2400" b="1" dirty="0"/>
              <a:t> </a:t>
            </a:r>
            <a:r>
              <a:rPr lang="ru-RU" sz="2400" b="1" dirty="0" err="1"/>
              <a:t>Indexes</a:t>
            </a:r>
            <a:r>
              <a:rPr lang="ru-RU" sz="2400" b="1" dirty="0"/>
              <a:t>)</a:t>
            </a:r>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400" dirty="0"/>
              <a:t>Компромисс между смещением и </a:t>
            </a:r>
            <a:r>
              <a:rPr lang="ru-RU" sz="2400" dirty="0" smtClean="0"/>
              <a:t>дисперсией.</a:t>
            </a:r>
          </a:p>
          <a:p>
            <a:pPr lvl="1"/>
            <a:r>
              <a:rPr lang="ru-RU" sz="2200" dirty="0" smtClean="0"/>
              <a:t>Дисперсия </a:t>
            </a:r>
            <a:r>
              <a:rPr lang="ru-RU" sz="2200" dirty="0"/>
              <a:t>≈ </a:t>
            </a:r>
            <a:r>
              <a:rPr lang="ru-RU" sz="2200" dirty="0" smtClean="0"/>
              <a:t>емкость.</a:t>
            </a:r>
          </a:p>
          <a:p>
            <a:pPr marL="0" indent="0">
              <a:buNone/>
            </a:pPr>
            <a:r>
              <a:rPr lang="ru-RU" sz="2400" dirty="0" err="1" smtClean="0"/>
              <a:t>kNN</a:t>
            </a:r>
            <a:r>
              <a:rPr lang="ru-RU" sz="2400" dirty="0" smtClean="0"/>
              <a:t> </a:t>
            </a:r>
            <a:r>
              <a:rPr lang="ru-RU" sz="2400" dirty="0"/>
              <a:t>имеет высокую дисперсию и </a:t>
            </a:r>
            <a:r>
              <a:rPr lang="ru-RU" sz="2400" dirty="0" smtClean="0"/>
              <a:t>низкое смещение.</a:t>
            </a:r>
          </a:p>
          <a:p>
            <a:pPr lvl="1"/>
            <a:r>
              <a:rPr lang="ru-RU" sz="2200" dirty="0" smtClean="0"/>
              <a:t>Бесконечная память.</a:t>
            </a:r>
          </a:p>
          <a:p>
            <a:pPr marL="0" indent="0">
              <a:buNone/>
            </a:pPr>
            <a:r>
              <a:rPr lang="ru-RU" sz="2400" dirty="0" err="1" smtClean="0"/>
              <a:t>Rocchio</a:t>
            </a:r>
            <a:r>
              <a:rPr lang="ru-RU" sz="2400" dirty="0" smtClean="0"/>
              <a:t>/NB </a:t>
            </a:r>
            <a:r>
              <a:rPr lang="ru-RU" sz="2400" dirty="0"/>
              <a:t>имеет низкую дисперсию и </a:t>
            </a:r>
            <a:r>
              <a:rPr lang="ru-RU" sz="2400" dirty="0" smtClean="0"/>
              <a:t>высокое смещение.</a:t>
            </a:r>
          </a:p>
          <a:p>
            <a:pPr lvl="1"/>
            <a:r>
              <a:rPr lang="ru-RU" sz="2200" dirty="0" smtClean="0"/>
              <a:t>Линейная </a:t>
            </a:r>
            <a:r>
              <a:rPr lang="ru-RU" sz="2200" dirty="0"/>
              <a:t>поверхность принятия решений между </a:t>
            </a:r>
            <a:r>
              <a:rPr lang="ru-RU" sz="2200" dirty="0" smtClean="0"/>
              <a:t>классами.</a:t>
            </a:r>
            <a:endParaRPr lang="ru-RU" sz="2200" dirty="0"/>
          </a:p>
          <a:p>
            <a:pPr marL="0" lvl="1" indent="0">
              <a:buNone/>
            </a:pPr>
            <a:r>
              <a:rPr lang="ru-RU" sz="2200" dirty="0"/>
              <a:t>В статистике и машинном обучении компромисс между смещением и дисперсией описывает взаимосвязь между сложностью модели и точностью ее </a:t>
            </a:r>
            <a:r>
              <a:rPr lang="ru-RU" sz="2200" dirty="0" smtClean="0"/>
              <a:t>прогнозов.</a:t>
            </a:r>
            <a:endParaRPr lang="ru-RU" sz="22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49</a:t>
            </a:fld>
            <a:endParaRPr lang="ru-RU" noProof="0" dirty="0"/>
          </a:p>
        </p:txBody>
      </p:sp>
    </p:spTree>
    <p:extLst>
      <p:ext uri="{BB962C8B-B14F-4D97-AF65-F5344CB8AC3E}">
        <p14:creationId xmlns:p14="http://schemas.microsoft.com/office/powerpoint/2010/main" val="2930911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9695411" cy="432000"/>
          </a:xfrm>
        </p:spPr>
        <p:txBody>
          <a:bodyPr/>
          <a:lstStyle/>
          <a:p>
            <a:r>
              <a:rPr lang="ru-RU" dirty="0"/>
              <a:t>С</a:t>
            </a:r>
            <a:r>
              <a:rPr lang="ru-RU" dirty="0" smtClean="0"/>
              <a:t>мещение </a:t>
            </a:r>
            <a:r>
              <a:rPr lang="en-US" dirty="0" smtClean="0"/>
              <a:t>vs</a:t>
            </a:r>
            <a:r>
              <a:rPr lang="ru-RU" dirty="0" smtClean="0"/>
              <a:t> дисперсия</a:t>
            </a:r>
            <a:endParaRPr lang="en-US" b="1"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800" dirty="0" smtClean="0"/>
              <a:t>Выберите правильную модель</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50</a:t>
            </a:fld>
            <a:endParaRPr lang="ru-RU" noProof="0" dirty="0"/>
          </a:p>
        </p:txBody>
      </p:sp>
      <p:grpSp>
        <p:nvGrpSpPr>
          <p:cNvPr id="2" name="Группа 1"/>
          <p:cNvGrpSpPr/>
          <p:nvPr/>
        </p:nvGrpSpPr>
        <p:grpSpPr>
          <a:xfrm>
            <a:off x="3255034" y="1870584"/>
            <a:ext cx="5561162" cy="3822850"/>
            <a:chOff x="3255034" y="1870584"/>
            <a:chExt cx="4876800" cy="3381375"/>
          </a:xfrm>
        </p:grpSpPr>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278847" y="1870584"/>
              <a:ext cx="4829175" cy="3381375"/>
            </a:xfrm>
            <a:prstGeom prst="rect">
              <a:avLst/>
            </a:prstGeom>
          </p:spPr>
        </p:pic>
        <p:sp>
          <p:nvSpPr>
            <p:cNvPr id="9" name="Line 4"/>
            <p:cNvSpPr>
              <a:spLocks noChangeShapeType="1"/>
            </p:cNvSpPr>
            <p:nvPr/>
          </p:nvSpPr>
          <p:spPr bwMode="auto">
            <a:xfrm flipV="1">
              <a:off x="3255034" y="1961071"/>
              <a:ext cx="4876800" cy="2819400"/>
            </a:xfrm>
            <a:prstGeom prst="line">
              <a:avLst/>
            </a:prstGeom>
            <a:noFill/>
            <a:ln w="19050">
              <a:solidFill>
                <a:srgbClr val="A50021"/>
              </a:solidFill>
              <a:miter lim="800000"/>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989398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9695411" cy="432000"/>
          </a:xfrm>
        </p:spPr>
        <p:txBody>
          <a:bodyPr/>
          <a:lstStyle/>
          <a:p>
            <a:r>
              <a:rPr lang="ru-RU" b="1" dirty="0" smtClean="0"/>
              <a:t>Резюме</a:t>
            </a:r>
            <a:endParaRPr lang="en-US" b="1"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3200" dirty="0"/>
              <a:t>Представления признаков </a:t>
            </a:r>
            <a:r>
              <a:rPr lang="ru-RU" sz="3200" dirty="0" smtClean="0"/>
              <a:t>текстов </a:t>
            </a:r>
            <a:r>
              <a:rPr lang="ru-RU" sz="3200" dirty="0"/>
              <a:t>обычно </a:t>
            </a:r>
            <a:r>
              <a:rPr lang="ru-RU" sz="3200" dirty="0" smtClean="0"/>
              <a:t>имеют очень высокую размерность.</a:t>
            </a:r>
            <a:endParaRPr lang="ru-RU" sz="3200" dirty="0"/>
          </a:p>
          <a:p>
            <a:pPr lvl="1"/>
            <a:r>
              <a:rPr lang="ru-RU" sz="3000" dirty="0" smtClean="0"/>
              <a:t>Проклятие </a:t>
            </a:r>
            <a:r>
              <a:rPr lang="ru-RU" sz="3000" dirty="0"/>
              <a:t>размерности</a:t>
            </a:r>
          </a:p>
          <a:p>
            <a:pPr marL="0" indent="0">
              <a:buNone/>
            </a:pPr>
            <a:r>
              <a:rPr lang="ru-RU" sz="3200" dirty="0" smtClean="0"/>
              <a:t>Алгоритмы </a:t>
            </a:r>
            <a:r>
              <a:rPr lang="ru-RU" sz="3200" dirty="0"/>
              <a:t>с высоким смещением (</a:t>
            </a:r>
            <a:r>
              <a:rPr lang="ru-RU" sz="3200" dirty="0" err="1"/>
              <a:t>bias</a:t>
            </a:r>
            <a:r>
              <a:rPr lang="ru-RU" sz="3200" dirty="0"/>
              <a:t>) обычно лучше работают в пространствах высокой размерности.</a:t>
            </a:r>
          </a:p>
          <a:p>
            <a:pPr lvl="1"/>
            <a:r>
              <a:rPr lang="ru-RU" sz="3000" dirty="0" smtClean="0"/>
              <a:t>Они </a:t>
            </a:r>
            <a:r>
              <a:rPr lang="ru-RU" sz="3000" dirty="0"/>
              <a:t>предотвращают переобучение</a:t>
            </a:r>
          </a:p>
          <a:p>
            <a:pPr lvl="1"/>
            <a:r>
              <a:rPr lang="ru-RU" sz="3000" dirty="0" smtClean="0"/>
              <a:t>Обобщают лучше</a:t>
            </a:r>
            <a:endParaRPr lang="ru-RU" sz="3000" dirty="0"/>
          </a:p>
          <a:p>
            <a:pPr marL="0" indent="0">
              <a:buNone/>
            </a:pPr>
            <a:r>
              <a:rPr lang="ru-RU" sz="3200" dirty="0" smtClean="0"/>
              <a:t>Для </a:t>
            </a:r>
            <a:r>
              <a:rPr lang="ru-RU" sz="3200" dirty="0"/>
              <a:t>большинства задач текстовой классификации имеется много значимых признаков и много незначимых.</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51</a:t>
            </a:fld>
            <a:endParaRPr lang="ru-RU" noProof="0" dirty="0"/>
          </a:p>
        </p:txBody>
      </p:sp>
    </p:spTree>
    <p:extLst>
      <p:ext uri="{BB962C8B-B14F-4D97-AF65-F5344CB8AC3E}">
        <p14:creationId xmlns:p14="http://schemas.microsoft.com/office/powerpoint/2010/main" val="40131044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9695411" cy="432000"/>
          </a:xfrm>
        </p:spPr>
        <p:txBody>
          <a:bodyPr/>
          <a:lstStyle/>
          <a:p>
            <a:r>
              <a:rPr lang="ru-RU" b="1" dirty="0" smtClean="0"/>
              <a:t>Резюме</a:t>
            </a:r>
            <a:endParaRPr lang="en-US" b="1" dirty="0"/>
          </a:p>
        </p:txBody>
      </p:sp>
      <p:sp>
        <p:nvSpPr>
          <p:cNvPr id="5" name="Объект 4"/>
          <p:cNvSpPr>
            <a:spLocks noGrp="1"/>
          </p:cNvSpPr>
          <p:nvPr>
            <p:ph sz="half" idx="1"/>
          </p:nvPr>
        </p:nvSpPr>
        <p:spPr>
          <a:xfrm>
            <a:off x="431999" y="1055715"/>
            <a:ext cx="11031252" cy="5221528"/>
          </a:xfrm>
        </p:spPr>
        <p:txBody>
          <a:bodyPr>
            <a:normAutofit fontScale="92500" lnSpcReduction="20000"/>
          </a:bodyPr>
          <a:lstStyle/>
          <a:p>
            <a:pPr marL="0" indent="0">
              <a:buNone/>
            </a:pPr>
            <a:r>
              <a:rPr lang="ru-RU" sz="3200" dirty="0"/>
              <a:t>Какой классификатор выбрать для конкретной задачи текстовой классификации?</a:t>
            </a:r>
          </a:p>
          <a:p>
            <a:pPr marL="0" indent="0">
              <a:buNone/>
            </a:pPr>
            <a:r>
              <a:rPr lang="ru-RU" sz="3200" dirty="0"/>
              <a:t>Существует ли оптимальный метод обучения для всех задач текстовой классификации?</a:t>
            </a:r>
          </a:p>
          <a:p>
            <a:pPr marL="0" indent="0">
              <a:buNone/>
            </a:pPr>
            <a:r>
              <a:rPr lang="ru-RU" sz="3200" dirty="0" smtClean="0"/>
              <a:t>Нет</a:t>
            </a:r>
            <a:r>
              <a:rPr lang="ru-RU" sz="3200" dirty="0"/>
              <a:t>, потому что существует компромисс между смещением и дисперсией.</a:t>
            </a:r>
          </a:p>
          <a:p>
            <a:pPr marL="0" indent="0">
              <a:buNone/>
            </a:pPr>
            <a:r>
              <a:rPr lang="ru-RU" sz="3200" dirty="0" smtClean="0"/>
              <a:t>Факторы</a:t>
            </a:r>
            <a:r>
              <a:rPr lang="ru-RU" sz="3200" dirty="0"/>
              <a:t>, которые следует учитывать:</a:t>
            </a:r>
          </a:p>
          <a:p>
            <a:pPr lvl="1"/>
            <a:r>
              <a:rPr lang="ru-RU" sz="3000" dirty="0" smtClean="0"/>
              <a:t>Сколько тренировочных данных </a:t>
            </a:r>
            <a:r>
              <a:rPr lang="ru-RU" sz="3000" dirty="0"/>
              <a:t>доступно?</a:t>
            </a:r>
          </a:p>
          <a:p>
            <a:pPr lvl="1"/>
            <a:r>
              <a:rPr lang="ru-RU" sz="3000" dirty="0" smtClean="0"/>
              <a:t>Насколько </a:t>
            </a:r>
            <a:r>
              <a:rPr lang="ru-RU" sz="3000" dirty="0"/>
              <a:t>проста/сложна проблема? (линейная граница принятия решения против нелинейной)</a:t>
            </a:r>
          </a:p>
          <a:p>
            <a:pPr lvl="1"/>
            <a:r>
              <a:rPr lang="ru-RU" sz="3000" dirty="0" smtClean="0"/>
              <a:t>Насколько </a:t>
            </a:r>
            <a:r>
              <a:rPr lang="ru-RU" sz="3000" dirty="0"/>
              <a:t>зашумлены данные?</a:t>
            </a:r>
          </a:p>
          <a:p>
            <a:pPr lvl="1"/>
            <a:r>
              <a:rPr lang="ru-RU" sz="3000" dirty="0" smtClean="0"/>
              <a:t>Насколько </a:t>
            </a:r>
            <a:r>
              <a:rPr lang="ru-RU" sz="3000" dirty="0"/>
              <a:t>стабильна </a:t>
            </a:r>
            <a:r>
              <a:rPr lang="ru-RU" sz="3000" dirty="0" smtClean="0"/>
              <a:t>задача </a:t>
            </a:r>
            <a:r>
              <a:rPr lang="ru-RU" sz="3000" dirty="0"/>
              <a:t>во времени?</a:t>
            </a:r>
          </a:p>
          <a:p>
            <a:pPr lvl="2">
              <a:buFont typeface="Wingdings" panose="05000000000000000000" pitchFamily="2" charset="2"/>
              <a:buChar char="§"/>
            </a:pPr>
            <a:r>
              <a:rPr lang="ru-RU" sz="2800" dirty="0" smtClean="0"/>
              <a:t>Для </a:t>
            </a:r>
            <a:r>
              <a:rPr lang="ru-RU" sz="2800" dirty="0"/>
              <a:t>нестабильной </a:t>
            </a:r>
            <a:r>
              <a:rPr lang="ru-RU" sz="2800" dirty="0" smtClean="0"/>
              <a:t>задачи </a:t>
            </a:r>
            <a:r>
              <a:rPr lang="ru-RU" sz="2800" dirty="0"/>
              <a:t>лучше использовать простой и </a:t>
            </a:r>
            <a:r>
              <a:rPr lang="ru-RU" sz="2800" dirty="0" smtClean="0"/>
              <a:t>робастный </a:t>
            </a:r>
            <a:r>
              <a:rPr lang="ru-RU" sz="2800" dirty="0"/>
              <a:t>классификатор.</a:t>
            </a:r>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52</a:t>
            </a:fld>
            <a:endParaRPr lang="ru-RU" noProof="0" dirty="0"/>
          </a:p>
        </p:txBody>
      </p:sp>
    </p:spTree>
    <p:extLst>
      <p:ext uri="{BB962C8B-B14F-4D97-AF65-F5344CB8AC3E}">
        <p14:creationId xmlns:p14="http://schemas.microsoft.com/office/powerpoint/2010/main" val="3481442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descr="Изображение">
            <a:extLst>
              <a:ext uri="{FF2B5EF4-FFF2-40B4-BE49-F238E27FC236}">
                <a16:creationId xmlns:a16="http://schemas.microsoft.com/office/drawing/2014/main" id="{C4330FBA-FEA8-B941-8864-B3DEDDE8040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8" name="Надпись 37" descr="Акцент для блока заголовка">
            <a:extLst>
              <a:ext uri="{FF2B5EF4-FFF2-40B4-BE49-F238E27FC236}">
                <a16:creationId xmlns:a16="http://schemas.microsoft.com/office/drawing/2014/main" id="{B231FB9C-F234-41D0-A4CE-8C29A5F2F553}"/>
              </a:ext>
              <a:ext uri="{C183D7F6-B498-43B3-948B-1728B52AA6E4}">
                <adec:decorative xmlns="" xmlns:adec="http://schemas.microsoft.com/office/drawing/2017/decorative" val="1"/>
              </a:ext>
            </a:extLst>
          </p:cNvPr>
          <p:cNvSpPr txBox="1">
            <a:spLocks/>
          </p:cNvSpPr>
          <p:nvPr/>
        </p:nvSpPr>
        <p:spPr>
          <a:xfrm>
            <a:off x="11354303" y="3842399"/>
            <a:ext cx="846997" cy="2200275"/>
          </a:xfrm>
          <a:custGeom>
            <a:avLst/>
            <a:gdLst>
              <a:gd name="connsiteX0" fmla="*/ 99480 w 846997"/>
              <a:gd name="connsiteY0" fmla="*/ 0 h 2200275"/>
              <a:gd name="connsiteX1" fmla="*/ 846997 w 846997"/>
              <a:gd name="connsiteY1" fmla="*/ 0 h 2200275"/>
              <a:gd name="connsiteX2" fmla="*/ 846997 w 846997"/>
              <a:gd name="connsiteY2" fmla="*/ 2200275 h 2200275"/>
              <a:gd name="connsiteX3" fmla="*/ 99480 w 846997"/>
              <a:gd name="connsiteY3" fmla="*/ 2200275 h 2200275"/>
              <a:gd name="connsiteX4" fmla="*/ 0 w 846997"/>
              <a:gd name="connsiteY4" fmla="*/ 2099942 h 2200275"/>
              <a:gd name="connsiteX5" fmla="*/ 0 w 846997"/>
              <a:gd name="connsiteY5" fmla="*/ 100333 h 2200275"/>
              <a:gd name="connsiteX6" fmla="*/ 99480 w 846997"/>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997" h="2200275">
                <a:moveTo>
                  <a:pt x="99480" y="0"/>
                </a:moveTo>
                <a:lnTo>
                  <a:pt x="846997" y="0"/>
                </a:lnTo>
                <a:lnTo>
                  <a:pt x="846997" y="2200275"/>
                </a:lnTo>
                <a:lnTo>
                  <a:pt x="99480" y="2200275"/>
                </a:lnTo>
                <a:cubicBezTo>
                  <a:pt x="44539" y="2200275"/>
                  <a:pt x="0" y="2155354"/>
                  <a:pt x="0" y="2099942"/>
                </a:cubicBezTo>
                <a:lnTo>
                  <a:pt x="0" y="100333"/>
                </a:lnTo>
                <a:cubicBezTo>
                  <a:pt x="0" y="44921"/>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5" name="Равнобедренный треугольник 34" descr="Тень для блока заголовка">
            <a:extLst>
              <a:ext uri="{FF2B5EF4-FFF2-40B4-BE49-F238E27FC236}">
                <a16:creationId xmlns:a16="http://schemas.microsoft.com/office/drawing/2014/main" id="{FE193317-B8BD-46CA-B0A6-8A7511B086D9}"/>
              </a:ext>
              <a:ext uri="{C183D7F6-B498-43B3-948B-1728B52AA6E4}">
                <adec:decorative xmlns="" xmlns:adec="http://schemas.microsoft.com/office/drawing/2017/decorative" val="1"/>
              </a:ext>
            </a:extLst>
          </p:cNvPr>
          <p:cNvSpPr/>
          <p:nvPr/>
        </p:nvSpPr>
        <p:spPr>
          <a:xfrm rot="10800000">
            <a:off x="11359065" y="5556894"/>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2" name="Полилиния 5" descr="Сплошной контрастный блок">
            <a:extLst>
              <a:ext uri="{FF2B5EF4-FFF2-40B4-BE49-F238E27FC236}">
                <a16:creationId xmlns:a16="http://schemas.microsoft.com/office/drawing/2014/main" id="{85E0D4E1-E389-4671-B0E7-165A10A05425}"/>
              </a:ext>
              <a:ext uri="{C183D7F6-B498-43B3-948B-1728B52AA6E4}">
                <adec:decorative xmlns="" xmlns:adec="http://schemas.microsoft.com/office/drawing/2017/decorative" val="1"/>
              </a:ext>
            </a:extLst>
          </p:cNvPr>
          <p:cNvSpPr>
            <a:spLocks noChangeAspect="1"/>
          </p:cNvSpPr>
          <p:nvPr/>
        </p:nvSpPr>
        <p:spPr bwMode="auto">
          <a:xfrm>
            <a:off x="4257349" y="2355010"/>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3" name="Полилиния 5" descr="Пустой контрастный блок">
            <a:extLst>
              <a:ext uri="{FF2B5EF4-FFF2-40B4-BE49-F238E27FC236}">
                <a16:creationId xmlns:a16="http://schemas.microsoft.com/office/drawing/2014/main" id="{8186FEAF-6E1E-4258-94C3-5C589D4B5ADE}"/>
              </a:ext>
              <a:ext uri="{C183D7F6-B498-43B3-948B-1728B52AA6E4}">
                <adec:decorative xmlns="" xmlns:adec="http://schemas.microsoft.com/office/drawing/2017/decorative"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20" name="Заголовок 19">
            <a:extLst>
              <a:ext uri="{FF2B5EF4-FFF2-40B4-BE49-F238E27FC236}">
                <a16:creationId xmlns:a16="http://schemas.microsoft.com/office/drawing/2014/main" id="{7C11A64B-7EA5-442C-8405-73273A5331D1}"/>
              </a:ext>
            </a:extLst>
          </p:cNvPr>
          <p:cNvSpPr>
            <a:spLocks noGrp="1"/>
          </p:cNvSpPr>
          <p:nvPr>
            <p:ph type="ctrTitle"/>
          </p:nvPr>
        </p:nvSpPr>
        <p:spPr/>
        <p:txBody>
          <a:bodyPr rtlCol="0"/>
          <a:lstStyle/>
          <a:p>
            <a:pPr rtl="0"/>
            <a:r>
              <a:rPr lang="ru-RU" dirty="0"/>
              <a:t>Спасибо за внимание!</a:t>
            </a:r>
          </a:p>
        </p:txBody>
      </p:sp>
      <p:pic>
        <p:nvPicPr>
          <p:cNvPr id="8" name="Графический объект 7" descr="Пользователь" title="Значок — имя докладчика">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7678512" y="3859066"/>
            <a:ext cx="218900" cy="218900"/>
          </a:xfrm>
          <a:prstGeom prst="rect">
            <a:avLst/>
          </a:prstGeom>
        </p:spPr>
      </p:pic>
      <p:sp>
        <p:nvSpPr>
          <p:cNvPr id="4" name="Текст 3">
            <a:extLst>
              <a:ext uri="{FF2B5EF4-FFF2-40B4-BE49-F238E27FC236}">
                <a16:creationId xmlns:a16="http://schemas.microsoft.com/office/drawing/2014/main" id="{60828E04-9C2A-4859-8050-C2DF67A249CB}"/>
              </a:ext>
            </a:extLst>
          </p:cNvPr>
          <p:cNvSpPr>
            <a:spLocks noGrp="1"/>
          </p:cNvSpPr>
          <p:nvPr>
            <p:ph type="body" sz="quarter" idx="15"/>
          </p:nvPr>
        </p:nvSpPr>
        <p:spPr/>
        <p:txBody>
          <a:bodyPr rtlCol="0"/>
          <a:lstStyle/>
          <a:p>
            <a:pPr rtl="0"/>
            <a:r>
              <a:rPr lang="ru-RU" sz="1800" dirty="0" smtClean="0"/>
              <a:t>Сергей Ткаченко</a:t>
            </a:r>
            <a:endParaRPr lang="ru-RU" sz="1800" dirty="0"/>
          </a:p>
        </p:txBody>
      </p:sp>
      <p:pic>
        <p:nvPicPr>
          <p:cNvPr id="9" name="Графический объект 8" descr="Конверт" title="Значок — адрес электронной почты докладчика">
            <a:extLst>
              <a:ext uri="{FF2B5EF4-FFF2-40B4-BE49-F238E27FC236}">
                <a16:creationId xmlns:a16="http://schemas.microsoft.com/office/drawing/2014/main" id="{773C1382-ACE1-460F-A1B6-AB761A7D2E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xmlns="" r:embed="rId9"/>
              </a:ext>
            </a:extLst>
          </a:blip>
          <a:stretch>
            <a:fillRect/>
          </a:stretch>
        </p:blipFill>
        <p:spPr>
          <a:xfrm>
            <a:off x="7678512" y="4253359"/>
            <a:ext cx="218900" cy="218900"/>
          </a:xfrm>
          <a:prstGeom prst="rect">
            <a:avLst/>
          </a:prstGeom>
        </p:spPr>
      </p:pic>
      <p:sp>
        <p:nvSpPr>
          <p:cNvPr id="6" name="Текст 5">
            <a:extLst>
              <a:ext uri="{FF2B5EF4-FFF2-40B4-BE49-F238E27FC236}">
                <a16:creationId xmlns:a16="http://schemas.microsoft.com/office/drawing/2014/main" id="{50A3BCC3-A277-4C0B-9EBA-EB53990D8EBD}"/>
              </a:ext>
            </a:extLst>
          </p:cNvPr>
          <p:cNvSpPr>
            <a:spLocks noGrp="1"/>
          </p:cNvSpPr>
          <p:nvPr>
            <p:ph type="body" sz="quarter" idx="17"/>
          </p:nvPr>
        </p:nvSpPr>
        <p:spPr>
          <a:xfrm>
            <a:off x="8034849" y="4246905"/>
            <a:ext cx="3521514" cy="288000"/>
          </a:xfrm>
        </p:spPr>
        <p:txBody>
          <a:bodyPr rtlCol="0"/>
          <a:lstStyle/>
          <a:p>
            <a:pPr rtl="0"/>
            <a:r>
              <a:rPr lang="en-US" sz="1800" dirty="0" err="1" smtClean="0"/>
              <a:t>SNTkachenko</a:t>
            </a:r>
            <a:r>
              <a:rPr lang="ru-RU" sz="1800" dirty="0" smtClean="0"/>
              <a:t>@</a:t>
            </a:r>
            <a:r>
              <a:rPr lang="en-US" sz="1800" dirty="0" err="1" smtClean="0"/>
              <a:t>kantiana</a:t>
            </a:r>
            <a:r>
              <a:rPr lang="ru-RU" sz="1800" dirty="0" smtClean="0"/>
              <a:t>.</a:t>
            </a:r>
            <a:r>
              <a:rPr lang="en-US" sz="1800" dirty="0" err="1" smtClean="0"/>
              <a:t>ru</a:t>
            </a:r>
            <a:endParaRPr lang="ru-RU" sz="1800"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Тема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552_TF16411253.potx" id="{484AC4F0-DFB1-44B1-A48A-4A4E5B9BAE55}" vid="{642D7752-446B-4E16-8C1E-EACC99EB30B7}"/>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D4F06F66-218D-4D1C-873A-158A1848B8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8A50AA-654B-45CA-B6AD-FDA9E9535EF9}">
  <ds:schemaRef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fb0879af-3eba-417a-a55a-ffe6dcd6ca77"/>
    <ds:schemaRef ds:uri="6dc4bcd6-49db-4c07-9060-8acfc67cef9f"/>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Геометрическая презентация</Template>
  <TotalTime>0</TotalTime>
  <Words>2808</Words>
  <Application>Microsoft Office PowerPoint</Application>
  <PresentationFormat>Широкоэкранный</PresentationFormat>
  <Paragraphs>399</Paragraphs>
  <Slides>53</Slides>
  <Notes>3</Notes>
  <HiddenSlides>0</HiddenSlides>
  <MMClips>0</MMClips>
  <ScaleCrop>false</ScaleCrop>
  <HeadingPairs>
    <vt:vector size="8" baseType="variant">
      <vt:variant>
        <vt:lpstr>Использованные шрифты</vt:lpstr>
      </vt:variant>
      <vt:variant>
        <vt:i4>17</vt:i4>
      </vt:variant>
      <vt:variant>
        <vt:lpstr>Тема</vt:lpstr>
      </vt:variant>
      <vt:variant>
        <vt:i4>1</vt:i4>
      </vt:variant>
      <vt:variant>
        <vt:lpstr>Внедренные серверы OLE</vt:lpstr>
      </vt:variant>
      <vt:variant>
        <vt:i4>1</vt:i4>
      </vt:variant>
      <vt:variant>
        <vt:lpstr>Заголовки слайдов</vt:lpstr>
      </vt:variant>
      <vt:variant>
        <vt:i4>53</vt:i4>
      </vt:variant>
    </vt:vector>
  </HeadingPairs>
  <TitlesOfParts>
    <vt:vector size="72" baseType="lpstr">
      <vt:lpstr>ＭＳ ゴシック</vt:lpstr>
      <vt:lpstr>ＭＳ Ｐゴシック</vt:lpstr>
      <vt:lpstr>ＭＳ Ｐゴシック</vt:lpstr>
      <vt:lpstr>Arial</vt:lpstr>
      <vt:lpstr>Calibri</vt:lpstr>
      <vt:lpstr>Calibri Light</vt:lpstr>
      <vt:lpstr>Cambria Math</vt:lpstr>
      <vt:lpstr>Corbel</vt:lpstr>
      <vt:lpstr>Courier</vt:lpstr>
      <vt:lpstr>Courier New</vt:lpstr>
      <vt:lpstr>Lucida Grande</vt:lpstr>
      <vt:lpstr>Lucida Sans</vt:lpstr>
      <vt:lpstr>Palatino</vt:lpstr>
      <vt:lpstr>Symbol</vt:lpstr>
      <vt:lpstr>Times New Roman</vt:lpstr>
      <vt:lpstr>Wingdings</vt:lpstr>
      <vt:lpstr>ヒラギノ角ゴ ProN W3</vt:lpstr>
      <vt:lpstr>Тема Office</vt:lpstr>
      <vt:lpstr>Equation</vt:lpstr>
      <vt:lpstr>Классификация текстов</vt:lpstr>
      <vt:lpstr>Постоянные запросы</vt:lpstr>
      <vt:lpstr>Фильтрация спама</vt:lpstr>
      <vt:lpstr>Категоризация / Классификация</vt:lpstr>
      <vt:lpstr>Классификация документов</vt:lpstr>
      <vt:lpstr>Классификация документов</vt:lpstr>
      <vt:lpstr>Методы классификации</vt:lpstr>
      <vt:lpstr>Ручная классификация</vt:lpstr>
      <vt:lpstr>Классификаторы, основанные на ручных правилах</vt:lpstr>
      <vt:lpstr>Topic Information Server от Verity</vt:lpstr>
      <vt:lpstr>Topic Information Server от Verity</vt:lpstr>
      <vt:lpstr>Topic Information Server от Verity</vt:lpstr>
      <vt:lpstr>eContext</vt:lpstr>
      <vt:lpstr>eContext</vt:lpstr>
      <vt:lpstr>Методы классификации: Обучение с учителем</vt:lpstr>
      <vt:lpstr>Методы классификации: Обучение с учителем</vt:lpstr>
      <vt:lpstr>Признаки</vt:lpstr>
      <vt:lpstr>Представление "мешок слов"</vt:lpstr>
      <vt:lpstr>Представление "мешок слов"</vt:lpstr>
      <vt:lpstr>Отбор признаков: Зачем?</vt:lpstr>
      <vt:lpstr>Отбор признаков</vt:lpstr>
      <vt:lpstr>Naive Bayes</vt:lpstr>
      <vt:lpstr>Naive Bayes</vt:lpstr>
      <vt:lpstr>Apache SpamAssassin </vt:lpstr>
      <vt:lpstr>Naive Bayes не такой уж и наивный</vt:lpstr>
      <vt:lpstr>Оценка категоризации</vt:lpstr>
      <vt:lpstr>Оценка категоризации</vt:lpstr>
      <vt:lpstr>Вспомним представление пространства вектора</vt:lpstr>
      <vt:lpstr>Классификация с использованием векторного пространства</vt:lpstr>
      <vt:lpstr>Документы в векторном пространстве</vt:lpstr>
      <vt:lpstr>Документы в векторном пространстве</vt:lpstr>
      <vt:lpstr>Документы в векторном пространстве</vt:lpstr>
      <vt:lpstr>Центроид класса</vt:lpstr>
      <vt:lpstr>Rocchio-классификация</vt:lpstr>
      <vt:lpstr>Rocchio-классификация</vt:lpstr>
      <vt:lpstr>Линейный классификатор Rocchio</vt:lpstr>
      <vt:lpstr>Приложение линейного классификатора</vt:lpstr>
      <vt:lpstr>Приложение линейного классификатора</vt:lpstr>
      <vt:lpstr>k-ближайших соседей (KNN)</vt:lpstr>
      <vt:lpstr>k-ближайших соседей (KNN)</vt:lpstr>
      <vt:lpstr>k-ближайших соседей (KNN)</vt:lpstr>
      <vt:lpstr>k-ближайших соседей (KNN)</vt:lpstr>
      <vt:lpstr>Аномалии Rocchio</vt:lpstr>
      <vt:lpstr>Аномалии Rocchio</vt:lpstr>
      <vt:lpstr>Аномалии Rocchio</vt:lpstr>
      <vt:lpstr>Аномалии Rocchio</vt:lpstr>
      <vt:lpstr>Презентация PowerPoint</vt:lpstr>
      <vt:lpstr>Смещение и дисперсия</vt:lpstr>
      <vt:lpstr>Параметрические индексы и индексы зон (Parametric and Zone Indexes)</vt:lpstr>
      <vt:lpstr>Смещение vs дисперсия</vt:lpstr>
      <vt:lpstr>Резюме</vt:lpstr>
      <vt:lpstr>Резюме</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2025-08-26T15:19:12Z</dcterms:created>
  <dcterms:modified xsi:type="dcterms:W3CDTF">2026-02-09T16:12:34Z</dcterms:modified>
</cp:coreProperties>
</file>