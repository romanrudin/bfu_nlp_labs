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37"/>
  </p:notesMasterIdLst>
  <p:handoutMasterIdLst>
    <p:handoutMasterId r:id="rId38"/>
  </p:handoutMasterIdLst>
  <p:sldIdLst>
    <p:sldId id="282" r:id="rId4"/>
    <p:sldId id="380" r:id="rId5"/>
    <p:sldId id="447" r:id="rId6"/>
    <p:sldId id="508" r:id="rId7"/>
    <p:sldId id="509" r:id="rId8"/>
    <p:sldId id="486" r:id="rId9"/>
    <p:sldId id="510" r:id="rId10"/>
    <p:sldId id="511" r:id="rId11"/>
    <p:sldId id="512" r:id="rId12"/>
    <p:sldId id="513" r:id="rId13"/>
    <p:sldId id="515" r:id="rId14"/>
    <p:sldId id="516" r:id="rId15"/>
    <p:sldId id="517" r:id="rId16"/>
    <p:sldId id="487" r:id="rId17"/>
    <p:sldId id="518" r:id="rId18"/>
    <p:sldId id="520" r:id="rId19"/>
    <p:sldId id="519" r:id="rId20"/>
    <p:sldId id="521" r:id="rId21"/>
    <p:sldId id="524" r:id="rId22"/>
    <p:sldId id="522" r:id="rId23"/>
    <p:sldId id="523" r:id="rId24"/>
    <p:sldId id="525" r:id="rId25"/>
    <p:sldId id="527" r:id="rId26"/>
    <p:sldId id="526" r:id="rId27"/>
    <p:sldId id="532" r:id="rId28"/>
    <p:sldId id="528" r:id="rId29"/>
    <p:sldId id="530" r:id="rId30"/>
    <p:sldId id="514" r:id="rId31"/>
    <p:sldId id="529" r:id="rId32"/>
    <p:sldId id="531" r:id="rId33"/>
    <p:sldId id="448" r:id="rId34"/>
    <p:sldId id="450" r:id="rId35"/>
    <p:sldId id="296" r:id="rId3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31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8DD750-E9C8-498E-B02F-A465CB2BB798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C6E7-B645-4B70-AC63-7A575D94CEB1}" type="datetime1">
              <a:rPr lang="ru-RU" smtClean="0"/>
              <a:pPr/>
              <a:t>21.03.2026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0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148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764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693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451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92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 rtlCol="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3" name="Полилиния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4" name="Полилиния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5" name="Полилиния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Сравнение слева — заполнитель 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2" name="Сравнение слева — заполнитель 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ое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rtlCol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ru-RU" noProof="0" dirty="0"/>
              <a:t>Введите подпись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благодар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Спасибо за внимание!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Полное имя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Номер телефона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Электронная почта или контакт в социальной сети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Веб-сайт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5" name="Прямоугольник: Скругленные углы 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56" r:id="rId13"/>
    <p:sldLayoutId id="2147483657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5.14165" TargetMode="Externa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36.sv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слайда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Надпись 24" descr="Акцент слайда для поля заголовка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59766" cy="251463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 rtlCol="0"/>
          <a:lstStyle/>
          <a:p>
            <a:r>
              <a:rPr lang="en-US" sz="5000" dirty="0" smtClean="0"/>
              <a:t>L</a:t>
            </a:r>
            <a:r>
              <a:rPr lang="en-US" sz="5000" dirty="0" smtClean="0"/>
              <a:t>LM </a:t>
            </a:r>
            <a:r>
              <a:rPr lang="ru-RU" sz="5000" dirty="0" smtClean="0"/>
              <a:t>часть 1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420" y="4938518"/>
            <a:ext cx="4000500" cy="690752"/>
          </a:xfrm>
        </p:spPr>
        <p:txBody>
          <a:bodyPr rtlCol="0"/>
          <a:lstStyle/>
          <a:p>
            <a:r>
              <a:rPr lang="ru-RU" dirty="0"/>
              <a:t>Основы обработки текстов</a:t>
            </a:r>
          </a:p>
        </p:txBody>
      </p:sp>
      <p:sp>
        <p:nvSpPr>
          <p:cNvPr id="20" name="Равнобедренный треугольник 19" descr="Тень на слайде для поля заголовка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Три основных типа NLP задач</a:t>
            </a:r>
            <a:endParaRPr lang="en-US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1) классификация/кластеризация текстов.</a:t>
            </a:r>
          </a:p>
          <a:p>
            <a:pPr marL="0" indent="0" fontAlgn="base"/>
            <a:r>
              <a:rPr lang="ru-RU" sz="3200" dirty="0" smtClean="0"/>
              <a:t>текст </a:t>
            </a:r>
            <a:r>
              <a:rPr lang="ru-RU" sz="3200" dirty="0"/>
              <a:t>→ метка, несколько меток</a:t>
            </a:r>
          </a:p>
          <a:p>
            <a:pPr marL="0" indent="0" fontAlgn="base"/>
            <a:r>
              <a:rPr lang="ru-RU" sz="3200" dirty="0" smtClean="0"/>
              <a:t>2</a:t>
            </a:r>
            <a:r>
              <a:rPr lang="ru-RU" sz="3200" dirty="0"/>
              <a:t>) классификация последовательности</a:t>
            </a:r>
          </a:p>
          <a:p>
            <a:pPr marL="0" indent="0" fontAlgn="base"/>
            <a:r>
              <a:rPr lang="ru-RU" sz="3200" dirty="0"/>
              <a:t>(</a:t>
            </a:r>
            <a:r>
              <a:rPr lang="ru-RU" sz="3200" dirty="0" err="1"/>
              <a:t>sequence</a:t>
            </a:r>
            <a:r>
              <a:rPr lang="ru-RU" sz="3200" dirty="0"/>
              <a:t> </a:t>
            </a:r>
            <a:r>
              <a:rPr lang="ru-RU" sz="3200" dirty="0" err="1"/>
              <a:t>labeling</a:t>
            </a:r>
            <a:r>
              <a:rPr lang="ru-RU" sz="3200" dirty="0"/>
              <a:t>).</a:t>
            </a:r>
          </a:p>
          <a:p>
            <a:pPr marL="0" indent="0" fontAlgn="base"/>
            <a:r>
              <a:rPr lang="ru-RU" sz="3200" dirty="0"/>
              <a:t>каждое слово в тексте → метка</a:t>
            </a:r>
          </a:p>
          <a:p>
            <a:pPr marL="0" indent="0" fontAlgn="base"/>
            <a:r>
              <a:rPr lang="ru-RU" sz="3200" dirty="0"/>
              <a:t>3) </a:t>
            </a:r>
            <a:r>
              <a:rPr lang="ru-RU" sz="3200" dirty="0" err="1"/>
              <a:t>sequence</a:t>
            </a:r>
            <a:r>
              <a:rPr lang="ru-RU" sz="3200" dirty="0"/>
              <a:t> </a:t>
            </a:r>
            <a:r>
              <a:rPr lang="ru-RU" sz="3200" dirty="0" err="1"/>
              <a:t>to</a:t>
            </a:r>
            <a:r>
              <a:rPr lang="ru-RU" sz="3200" dirty="0"/>
              <a:t> </a:t>
            </a:r>
            <a:r>
              <a:rPr lang="ru-RU" sz="3200" dirty="0" err="1"/>
              <a:t>sequence</a:t>
            </a:r>
            <a:r>
              <a:rPr lang="ru-RU" sz="3200" dirty="0"/>
              <a:t> (seq2seq).</a:t>
            </a:r>
          </a:p>
          <a:p>
            <a:pPr marL="0" indent="0" fontAlgn="base"/>
            <a:r>
              <a:rPr lang="ru-RU" sz="3200" dirty="0"/>
              <a:t>текст → текст</a:t>
            </a:r>
          </a:p>
          <a:p>
            <a:pPr marL="0" indent="0" fontAlgn="base"/>
            <a:r>
              <a:rPr lang="ru-RU" sz="3200" dirty="0"/>
              <a:t>+ Иногда требуется:</a:t>
            </a:r>
          </a:p>
          <a:p>
            <a:pPr marL="0" indent="0" fontAlgn="base"/>
            <a:r>
              <a:rPr lang="ru-RU" sz="3200" dirty="0"/>
              <a:t>текст → число и текст → расстояние </a:t>
            </a:r>
            <a:r>
              <a:rPr lang="ru-RU" sz="3200" dirty="0" smtClean="0"/>
              <a:t>до других </a:t>
            </a:r>
            <a:r>
              <a:rPr lang="ru-RU" sz="3200" dirty="0"/>
              <a:t>текстов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30337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Классификация/кластеризация текстов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Классификация</a:t>
            </a:r>
          </a:p>
          <a:p>
            <a:pPr marL="0" indent="0" fontAlgn="base"/>
            <a:r>
              <a:rPr lang="ru-RU" sz="3200" dirty="0"/>
              <a:t>• Фильтрация спама</a:t>
            </a:r>
          </a:p>
          <a:p>
            <a:pPr marL="0" indent="0" fontAlgn="base"/>
            <a:r>
              <a:rPr lang="ru-RU" sz="3200" dirty="0"/>
              <a:t>• Анализ тональности</a:t>
            </a:r>
          </a:p>
          <a:p>
            <a:pPr marL="0" indent="0" fontAlgn="base"/>
            <a:r>
              <a:rPr lang="ru-RU" sz="3200" dirty="0"/>
              <a:t>• </a:t>
            </a:r>
            <a:r>
              <a:rPr lang="ru-RU" sz="3200" dirty="0" smtClean="0"/>
              <a:t>Жанр</a:t>
            </a:r>
          </a:p>
          <a:p>
            <a:pPr marL="0" indent="0" fontAlgn="base"/>
            <a:r>
              <a:rPr lang="ru-RU" sz="3200" dirty="0" smtClean="0"/>
              <a:t>Кластеризация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1436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Классификация последовательности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POS-</a:t>
            </a:r>
            <a:r>
              <a:rPr lang="ru-RU" sz="3200" dirty="0" err="1"/>
              <a:t>Tagging</a:t>
            </a:r>
            <a:r>
              <a:rPr lang="ru-RU" sz="3200" dirty="0"/>
              <a:t> – разметка по </a:t>
            </a:r>
            <a:r>
              <a:rPr lang="ru-RU" sz="3200" dirty="0" smtClean="0"/>
              <a:t>частям речи</a:t>
            </a:r>
            <a:endParaRPr lang="ru-RU" sz="3200" dirty="0"/>
          </a:p>
          <a:p>
            <a:pPr marL="0" indent="0" fontAlgn="base"/>
            <a:r>
              <a:rPr lang="ru-RU" sz="3200" dirty="0"/>
              <a:t>NER – </a:t>
            </a:r>
            <a:r>
              <a:rPr lang="ru-RU" sz="3200" dirty="0" smtClean="0"/>
              <a:t>распознавание именованных </a:t>
            </a:r>
            <a:r>
              <a:rPr lang="ru-RU" sz="3200" dirty="0"/>
              <a:t>сущностей</a:t>
            </a:r>
          </a:p>
          <a:p>
            <a:pPr marL="0" indent="0" fontAlgn="base"/>
            <a:r>
              <a:rPr lang="ru-RU" sz="3200" dirty="0"/>
              <a:t>Извлечение фактов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40" y="2861483"/>
            <a:ext cx="5400675" cy="1524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929" y="2861483"/>
            <a:ext cx="4981575" cy="26574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272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Seq2seq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smtClean="0"/>
              <a:t>• </a:t>
            </a:r>
            <a:r>
              <a:rPr lang="ru-RU" sz="3200" dirty="0"/>
              <a:t>Машинный перевод</a:t>
            </a:r>
          </a:p>
          <a:p>
            <a:pPr marL="0" indent="0" fontAlgn="base"/>
            <a:r>
              <a:rPr lang="ru-RU" sz="3200" dirty="0"/>
              <a:t>• Вопросно-ответные системы</a:t>
            </a:r>
          </a:p>
          <a:p>
            <a:pPr marL="0" indent="0" fontAlgn="base"/>
            <a:r>
              <a:rPr lang="ru-RU" sz="3200" dirty="0"/>
              <a:t>• </a:t>
            </a:r>
            <a:r>
              <a:rPr lang="ru-RU" sz="3200" dirty="0" err="1"/>
              <a:t>Text</a:t>
            </a:r>
            <a:r>
              <a:rPr lang="ru-RU" sz="3200" dirty="0"/>
              <a:t> </a:t>
            </a:r>
            <a:r>
              <a:rPr lang="ru-RU" sz="3200" dirty="0" err="1"/>
              <a:t>Autocomplete</a:t>
            </a:r>
            <a:endParaRPr lang="ru-RU" sz="3200" dirty="0"/>
          </a:p>
          <a:p>
            <a:pPr marL="0" indent="0" fontAlgn="base"/>
            <a:r>
              <a:rPr lang="ru-RU" sz="3200" dirty="0"/>
              <a:t>• Парафраз текста</a:t>
            </a:r>
          </a:p>
          <a:p>
            <a:pPr marL="0" indent="0" fontAlgn="base"/>
            <a:r>
              <a:rPr lang="ru-RU" sz="3200" dirty="0"/>
              <a:t>• </a:t>
            </a:r>
            <a:r>
              <a:rPr lang="ru-RU" sz="3200" dirty="0" err="1"/>
              <a:t>Суммаризация</a:t>
            </a:r>
            <a:r>
              <a:rPr lang="ru-RU" sz="3200" dirty="0"/>
              <a:t> текста</a:t>
            </a:r>
          </a:p>
          <a:p>
            <a:pPr marL="0" indent="0" fontAlgn="base"/>
            <a:r>
              <a:rPr lang="ru-RU" sz="3200" dirty="0"/>
              <a:t>• </a:t>
            </a:r>
            <a:r>
              <a:rPr lang="ru-RU" sz="3200" dirty="0" err="1"/>
              <a:t>To</a:t>
            </a:r>
            <a:r>
              <a:rPr lang="ru-RU" sz="3200" dirty="0"/>
              <a:t> </a:t>
            </a:r>
            <a:r>
              <a:rPr lang="ru-RU" sz="3200" dirty="0" err="1"/>
              <a:t>be</a:t>
            </a:r>
            <a:r>
              <a:rPr lang="ru-RU" sz="3200" dirty="0"/>
              <a:t> </a:t>
            </a:r>
            <a:r>
              <a:rPr lang="ru-RU" sz="3200" dirty="0" err="1"/>
              <a:t>continued</a:t>
            </a:r>
            <a:r>
              <a:rPr lang="ru-RU" sz="3200" dirty="0"/>
              <a:t>….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7255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marL="0" indent="0" fontAlgn="base"/>
            <a:r>
              <a:rPr lang="ru-RU" sz="4000" dirty="0"/>
              <a:t>Новая </a:t>
            </a:r>
            <a:r>
              <a:rPr lang="ru-RU" sz="4000" dirty="0" smtClean="0"/>
              <a:t>эра</a:t>
            </a:r>
            <a:endParaRPr lang="ru-RU" sz="4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08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7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lnSpcReduction="10000"/>
          </a:bodyPr>
          <a:lstStyle/>
          <a:p>
            <a:pPr marL="0" indent="0" fontAlgn="base"/>
            <a:r>
              <a:rPr lang="ru-RU" sz="3200" dirty="0" smtClean="0"/>
              <a:t>Большие </a:t>
            </a:r>
            <a:r>
              <a:rPr lang="ru-RU" sz="3200" dirty="0"/>
              <a:t>языковые модели = </a:t>
            </a:r>
            <a:r>
              <a:rPr lang="ru-RU" sz="3200" dirty="0" err="1"/>
              <a:t>Large</a:t>
            </a:r>
            <a:r>
              <a:rPr lang="ru-RU" sz="3200" dirty="0"/>
              <a:t> </a:t>
            </a:r>
            <a:r>
              <a:rPr lang="ru-RU" sz="3200" dirty="0" err="1" smtClean="0"/>
              <a:t>Language</a:t>
            </a:r>
            <a:r>
              <a:rPr lang="ru-RU" sz="3200" dirty="0" smtClean="0"/>
              <a:t> </a:t>
            </a:r>
            <a:r>
              <a:rPr lang="ru-RU" sz="3200" dirty="0" err="1" smtClean="0"/>
              <a:t>Models</a:t>
            </a:r>
            <a:r>
              <a:rPr lang="ru-RU" sz="3200" dirty="0" smtClean="0"/>
              <a:t> </a:t>
            </a:r>
            <a:r>
              <a:rPr lang="ru-RU" sz="3200" dirty="0"/>
              <a:t>= </a:t>
            </a:r>
            <a:r>
              <a:rPr lang="ru-RU" sz="3200" dirty="0" err="1"/>
              <a:t>LLMs</a:t>
            </a:r>
            <a:r>
              <a:rPr lang="ru-RU" sz="3200" dirty="0"/>
              <a:t> (</a:t>
            </a:r>
            <a:r>
              <a:rPr lang="ru-RU" sz="3200" dirty="0" smtClean="0"/>
              <a:t>GPT, </a:t>
            </a:r>
            <a:r>
              <a:rPr lang="ru-RU" sz="3200" dirty="0" err="1"/>
              <a:t>ChatGPT</a:t>
            </a:r>
            <a:r>
              <a:rPr lang="ru-RU" sz="3200" dirty="0"/>
              <a:t>, </a:t>
            </a:r>
            <a:r>
              <a:rPr lang="ru-RU" sz="3200" dirty="0" err="1"/>
              <a:t>GigaChat</a:t>
            </a:r>
            <a:r>
              <a:rPr lang="ru-RU" sz="3200" dirty="0" smtClean="0"/>
              <a:t>) открыли </a:t>
            </a:r>
            <a:r>
              <a:rPr lang="ru-RU" sz="3200" dirty="0"/>
              <a:t>новые горизонты в области NLP и </a:t>
            </a:r>
            <a:r>
              <a:rPr lang="ru-RU" sz="3200" dirty="0" smtClean="0"/>
              <a:t>повлияли на </a:t>
            </a:r>
            <a:r>
              <a:rPr lang="ru-RU" sz="3200" dirty="0"/>
              <a:t>нас во всем.</a:t>
            </a:r>
          </a:p>
          <a:p>
            <a:pPr marL="0" indent="0" fontAlgn="base"/>
            <a:r>
              <a:rPr lang="ru-RU" sz="3200" dirty="0"/>
              <a:t>Облегчают труд в самых разных сферах:</a:t>
            </a:r>
          </a:p>
          <a:p>
            <a:pPr marL="0" indent="0" fontAlgn="base"/>
            <a:r>
              <a:rPr lang="ru-RU" sz="3200" dirty="0"/>
              <a:t>• написание текста/переписывание текста, </a:t>
            </a:r>
            <a:r>
              <a:rPr lang="ru-RU" sz="3200" dirty="0" smtClean="0"/>
              <a:t>в нужном стиле/шаблоне</a:t>
            </a:r>
            <a:r>
              <a:rPr lang="ru-RU" sz="3200" dirty="0"/>
              <a:t>,</a:t>
            </a:r>
          </a:p>
          <a:p>
            <a:pPr marL="0" indent="0" fontAlgn="base"/>
            <a:r>
              <a:rPr lang="ru-RU" sz="3200" dirty="0"/>
              <a:t>• поиск необходимой информации,</a:t>
            </a:r>
          </a:p>
          <a:p>
            <a:pPr marL="0" indent="0" fontAlgn="base"/>
            <a:r>
              <a:rPr lang="ru-RU" sz="3200" dirty="0"/>
              <a:t>• быстрая </a:t>
            </a:r>
            <a:r>
              <a:rPr lang="ru-RU" sz="3200" dirty="0" err="1"/>
              <a:t>суммаризация</a:t>
            </a:r>
            <a:r>
              <a:rPr lang="ru-RU" sz="3200" dirty="0"/>
              <a:t> </a:t>
            </a:r>
            <a:r>
              <a:rPr lang="ru-RU" sz="3200" dirty="0" smtClean="0"/>
              <a:t>информации,</a:t>
            </a:r>
            <a:endParaRPr lang="ru-RU" sz="3200" dirty="0"/>
          </a:p>
          <a:p>
            <a:pPr marL="0" indent="0" fontAlgn="base"/>
            <a:r>
              <a:rPr lang="ru-RU" sz="3200" dirty="0"/>
              <a:t>• написание программного кода,</a:t>
            </a:r>
          </a:p>
          <a:p>
            <a:pPr marL="0" indent="0" fontAlgn="base"/>
            <a:r>
              <a:rPr lang="ru-RU" sz="3200" dirty="0"/>
              <a:t>• создание презентаций.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410" y="3667753"/>
            <a:ext cx="1472692" cy="170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5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Языковое моделирование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8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Языковые модели (</a:t>
            </a:r>
            <a:r>
              <a:rPr lang="ru-RU" sz="3200" dirty="0" err="1"/>
              <a:t>Language</a:t>
            </a:r>
            <a:r>
              <a:rPr lang="ru-RU" sz="3200" dirty="0"/>
              <a:t> </a:t>
            </a:r>
            <a:r>
              <a:rPr lang="ru-RU" sz="3200" dirty="0" err="1"/>
              <a:t>Models</a:t>
            </a:r>
            <a:r>
              <a:rPr lang="ru-RU" sz="3200" dirty="0"/>
              <a:t> или </a:t>
            </a:r>
            <a:r>
              <a:rPr lang="ru-RU" sz="3200" dirty="0" err="1"/>
              <a:t>LMs</a:t>
            </a:r>
            <a:r>
              <a:rPr lang="ru-RU" sz="3200" dirty="0"/>
              <a:t>) способны </a:t>
            </a:r>
            <a:r>
              <a:rPr lang="ru-RU" sz="3200" dirty="0" smtClean="0"/>
              <a:t>оценивать вероятность </a:t>
            </a:r>
            <a:r>
              <a:rPr lang="ru-RU" sz="3200" dirty="0"/>
              <a:t>разных языковых единиц (</a:t>
            </a:r>
            <a:r>
              <a:rPr lang="ru-RU" sz="3200" dirty="0" err="1"/>
              <a:t>токенов</a:t>
            </a:r>
            <a:r>
              <a:rPr lang="ru-RU" sz="3200" dirty="0"/>
              <a:t>):</a:t>
            </a:r>
          </a:p>
          <a:p>
            <a:pPr marL="0" indent="0" fontAlgn="base"/>
            <a:r>
              <a:rPr lang="ru-RU" sz="3200" dirty="0"/>
              <a:t>• символов</a:t>
            </a:r>
          </a:p>
          <a:p>
            <a:pPr marL="0" indent="0" fontAlgn="base"/>
            <a:r>
              <a:rPr lang="ru-RU" sz="3200" dirty="0"/>
              <a:t>• слов</a:t>
            </a:r>
          </a:p>
          <a:p>
            <a:pPr marL="0" indent="0" fontAlgn="base"/>
            <a:r>
              <a:rPr lang="ru-RU" sz="3200" dirty="0"/>
              <a:t>• последовательностей слов</a:t>
            </a:r>
          </a:p>
          <a:p>
            <a:pPr marL="0" indent="0" fontAlgn="base"/>
            <a:r>
              <a:rPr lang="ru-RU" sz="3200" dirty="0"/>
              <a:t>• и </a:t>
            </a:r>
            <a:r>
              <a:rPr lang="ru-RU" sz="3200" dirty="0" smtClean="0"/>
              <a:t>т.д</a:t>
            </a:r>
            <a:r>
              <a:rPr lang="ru-RU" sz="3200" dirty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4429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Языковое моделирование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9</a:t>
            </a:fld>
            <a:endParaRPr lang="ru-RU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59322EA0-4F06-4DC1-08FD-3296BB86A2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2000" y="1055716"/>
                <a:ext cx="11328000" cy="5135534"/>
              </a:xfrm>
            </p:spPr>
            <p:txBody>
              <a:bodyPr>
                <a:normAutofit/>
              </a:bodyPr>
              <a:lstStyle/>
              <a:p>
                <a:pPr marL="0" indent="0" fontAlgn="base"/>
                <a:r>
                  <a:rPr lang="ru-RU" sz="3200" dirty="0" smtClean="0"/>
                  <a:t>Задача </a:t>
                </a:r>
                <a:r>
                  <a:rPr lang="ru-RU" sz="3200" dirty="0"/>
                  <a:t>языкового моделирования: предсказать вероятность</a:t>
                </a:r>
              </a:p>
              <a:p>
                <a:pPr marL="0" indent="0" fontAlgn="base"/>
                <a:r>
                  <a:rPr lang="ru-RU" sz="3200" dirty="0"/>
                  <a:t>следующего слова в последовательности</a:t>
                </a:r>
                <a:r>
                  <a:rPr lang="ru-RU" sz="3200" dirty="0" smtClean="0"/>
                  <a:t>.</a:t>
                </a:r>
              </a:p>
              <a:p>
                <a:pPr marL="0" indent="0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200" dirty="0"/>
              </a:p>
              <a:p>
                <a:pPr marL="0" indent="0" fontAlgn="base"/>
                <a:r>
                  <a:rPr lang="ru-RU" sz="3200" dirty="0" smtClean="0"/>
                  <a:t>Старый </a:t>
                </a:r>
                <a:r>
                  <a:rPr lang="ru-RU" sz="3200" dirty="0"/>
                  <a:t>добрый T9 это, по сути, языковая модель</a:t>
                </a:r>
                <a:r>
                  <a:rPr lang="ru-RU" sz="3200" dirty="0" smtClean="0"/>
                  <a:t>!</a:t>
                </a:r>
                <a:endParaRPr lang="ru-RU" sz="3200" dirty="0"/>
              </a:p>
            </p:txBody>
          </p:sp>
        </mc:Choice>
        <mc:Fallback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59322EA0-4F06-4DC1-08FD-3296BB86A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055716"/>
                <a:ext cx="11328000" cy="5135534"/>
              </a:xfrm>
              <a:blipFill>
                <a:blip r:embed="rId2"/>
                <a:stretch>
                  <a:fillRect l="-2207" t="-33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858" y="3429000"/>
            <a:ext cx="37052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967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Языковое моделирование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10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Мы не знаем истинные вероятности предложения</a:t>
            </a:r>
          </a:p>
          <a:p>
            <a:pPr marL="0" indent="0" fontAlgn="base"/>
            <a:r>
              <a:rPr lang="ru-RU" sz="3200" dirty="0"/>
              <a:t>(= последовательности </a:t>
            </a:r>
            <a:r>
              <a:rPr lang="ru-RU" sz="3200" dirty="0" err="1"/>
              <a:t>токенов</a:t>
            </a:r>
            <a:r>
              <a:rPr lang="ru-RU" sz="3200" dirty="0"/>
              <a:t>).</a:t>
            </a:r>
          </a:p>
          <a:p>
            <a:pPr marL="0" indent="0" fontAlgn="base"/>
            <a:r>
              <a:rPr lang="ru-RU" sz="3200" dirty="0"/>
              <a:t>• Но мы можем обучить языковую </a:t>
            </a:r>
            <a:r>
              <a:rPr lang="ru-RU" sz="3200" dirty="0" smtClean="0"/>
              <a:t>модель</a:t>
            </a:r>
            <a:r>
              <a:rPr lang="en-US" sz="3200" dirty="0" smtClean="0"/>
              <a:t> </a:t>
            </a:r>
            <a:r>
              <a:rPr lang="ru-RU" sz="3200" dirty="0" smtClean="0"/>
              <a:t>оценивать </a:t>
            </a:r>
            <a:r>
              <a:rPr lang="ru-RU" sz="3200" dirty="0"/>
              <a:t>эти вероятности.</a:t>
            </a:r>
          </a:p>
          <a:p>
            <a:pPr marL="0" indent="0" fontAlgn="base"/>
            <a:r>
              <a:rPr lang="ru-RU" sz="3200" dirty="0"/>
              <a:t>• Обучаем модель на корпусе текстов, чтобы она </a:t>
            </a:r>
            <a:r>
              <a:rPr lang="ru-RU" sz="3200" dirty="0" smtClean="0"/>
              <a:t>могла</a:t>
            </a:r>
            <a:r>
              <a:rPr lang="en-US" sz="3200" dirty="0" smtClean="0"/>
              <a:t> </a:t>
            </a:r>
            <a:r>
              <a:rPr lang="ru-RU" sz="3200" dirty="0" smtClean="0"/>
              <a:t>оценить </a:t>
            </a:r>
            <a:r>
              <a:rPr lang="ru-RU" sz="3200" dirty="0"/>
              <a:t>вероятность предложения</a:t>
            </a:r>
            <a:r>
              <a:rPr lang="ru-RU" sz="3200" dirty="0" smtClean="0"/>
              <a:t>.</a:t>
            </a:r>
            <a:endParaRPr lang="en-US" sz="3200" dirty="0" smtClean="0"/>
          </a:p>
          <a:p>
            <a:pPr marL="0" indent="0" fontAlgn="base"/>
            <a:r>
              <a:rPr lang="ru-RU" sz="3200" dirty="0"/>
              <a:t>Имея такую языковую модель, мы можем генерировать текст.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5501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Языковое моделирование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11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4571321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Как теперь генерировать текст?</a:t>
            </a:r>
          </a:p>
          <a:p>
            <a:pPr marL="0" indent="0" fontAlgn="base"/>
            <a:r>
              <a:rPr lang="ru-RU" sz="3200" dirty="0"/>
              <a:t>Самое простое: </a:t>
            </a:r>
            <a:r>
              <a:rPr lang="ru-RU" sz="3200" dirty="0" smtClean="0"/>
              <a:t>жадный</a:t>
            </a:r>
            <a:r>
              <a:rPr lang="en-US" sz="3200" dirty="0" smtClean="0"/>
              <a:t> </a:t>
            </a:r>
            <a:r>
              <a:rPr lang="ru-RU" sz="3200" dirty="0" smtClean="0"/>
              <a:t>алгоритм</a:t>
            </a:r>
            <a:r>
              <a:rPr lang="ru-RU" sz="3200" dirty="0"/>
              <a:t>.</a:t>
            </a:r>
          </a:p>
          <a:p>
            <a:pPr marL="0" indent="0" fontAlgn="base"/>
            <a:r>
              <a:rPr lang="ru-RU" sz="3200" dirty="0"/>
              <a:t>Идея: на каждом шаге </a:t>
            </a:r>
            <a:r>
              <a:rPr lang="ru-RU" sz="3200" dirty="0" smtClean="0"/>
              <a:t>выбираем</a:t>
            </a:r>
            <a:r>
              <a:rPr lang="en-US" sz="3200" dirty="0" smtClean="0"/>
              <a:t> </a:t>
            </a:r>
            <a:r>
              <a:rPr lang="ru-RU" sz="3200" dirty="0" smtClean="0"/>
              <a:t>самое </a:t>
            </a:r>
            <a:r>
              <a:rPr lang="ru-RU" sz="3200" dirty="0"/>
              <a:t>вероятное слово.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985" y="1055716"/>
            <a:ext cx="607695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67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Языковое моделирование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12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err="1"/>
              <a:t>Beam</a:t>
            </a:r>
            <a:r>
              <a:rPr lang="ru-RU" sz="3200" dirty="0"/>
              <a:t> </a:t>
            </a:r>
            <a:r>
              <a:rPr lang="ru-RU" sz="3200" dirty="0" err="1"/>
              <a:t>search</a:t>
            </a:r>
            <a:r>
              <a:rPr lang="ru-RU" sz="3200" dirty="0"/>
              <a:t> – чуть более </a:t>
            </a:r>
            <a:r>
              <a:rPr lang="ru-RU" sz="3200" dirty="0" smtClean="0"/>
              <a:t>продвинутый</a:t>
            </a:r>
            <a:r>
              <a:rPr lang="en-US" sz="3200" dirty="0" smtClean="0"/>
              <a:t> </a:t>
            </a:r>
            <a:r>
              <a:rPr lang="ru-RU" sz="3200" dirty="0" smtClean="0"/>
              <a:t>вариант</a:t>
            </a:r>
            <a:endParaRPr lang="ru-RU" sz="3200" dirty="0"/>
          </a:p>
          <a:p>
            <a:pPr marL="0" indent="0" fontAlgn="base"/>
            <a:r>
              <a:rPr lang="ru-RU" sz="3200" dirty="0"/>
              <a:t>Следим за n лучами – наиболее вероятными гипотезами (4-10)</a:t>
            </a:r>
          </a:p>
          <a:p>
            <a:pPr marL="0" indent="0" fontAlgn="base"/>
            <a:r>
              <a:rPr lang="ru-RU" sz="3200" dirty="0"/>
              <a:t>На каждом шаге оставляем n наиболее вероятных вариантов.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2676793"/>
            <a:ext cx="8172450" cy="36004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76222" y="6382966"/>
            <a:ext cx="102395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214"/>
              </a:rPr>
              <a:t>Images from: https://</a:t>
            </a:r>
            <a:r>
              <a:rPr lang="en-US" sz="1200" dirty="0" smtClean="0">
                <a:latin typeface="214"/>
              </a:rPr>
              <a:t>www.researchgate.net/figure/An-illustration-of-beam-search-beam-size2_fig8_333855081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584250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Языковое моделирование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13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err="1"/>
              <a:t>Сэмплирование</a:t>
            </a:r>
            <a:r>
              <a:rPr lang="ru-RU" sz="3200" dirty="0"/>
              <a:t> (</a:t>
            </a:r>
            <a:r>
              <a:rPr lang="ru-RU" sz="3200" dirty="0" err="1"/>
              <a:t>Sampling</a:t>
            </a:r>
            <a:r>
              <a:rPr lang="ru-RU" sz="3200" dirty="0"/>
              <a:t>)</a:t>
            </a:r>
          </a:p>
          <a:p>
            <a:pPr marL="0" indent="0" fontAlgn="base"/>
            <a:r>
              <a:rPr lang="ru-RU" sz="3200" dirty="0"/>
              <a:t>Вопрос: как добавить случайности в генерацию</a:t>
            </a:r>
          </a:p>
          <a:p>
            <a:pPr marL="0" indent="0" fontAlgn="base"/>
            <a:r>
              <a:rPr lang="ru-RU" sz="3200" dirty="0"/>
              <a:t>(например, для вариативности)?</a:t>
            </a:r>
          </a:p>
          <a:p>
            <a:pPr marL="0" indent="0" fontAlgn="base"/>
            <a:r>
              <a:rPr lang="ru-RU" sz="3200" dirty="0"/>
              <a:t>Ответ: на каждом шаге случайным образом выбирать одно из </a:t>
            </a:r>
            <a:r>
              <a:rPr lang="ru-RU" sz="3200" dirty="0" smtClean="0"/>
              <a:t>наиболее</a:t>
            </a:r>
            <a:r>
              <a:rPr lang="en-US" sz="3200" dirty="0" smtClean="0"/>
              <a:t> </a:t>
            </a:r>
            <a:r>
              <a:rPr lang="ru-RU" sz="3200" dirty="0" smtClean="0"/>
              <a:t>вероятных </a:t>
            </a:r>
            <a:r>
              <a:rPr lang="ru-RU" sz="3200" dirty="0"/>
              <a:t>слов (с учетом вероятностей этих слов).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749794"/>
            <a:ext cx="2743200" cy="22955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225" y="3749794"/>
            <a:ext cx="3124200" cy="23145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587" y="3735506"/>
            <a:ext cx="4667250" cy="23431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306128" y="6277243"/>
            <a:ext cx="90721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214"/>
              </a:rPr>
              <a:t>Images from: https://</a:t>
            </a:r>
            <a:r>
              <a:rPr lang="en-US" sz="1200" dirty="0" smtClean="0">
                <a:latin typeface="214"/>
              </a:rPr>
              <a:t>lena-voita.github.io/nlp_course/language_modeling.html#generation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973623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ru-RU" sz="3200" spc="0" dirty="0" smtClean="0"/>
              <a:t>Трансформеры</a:t>
            </a:r>
            <a:endParaRPr lang="ru-RU" sz="32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4030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Внимание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15</a:t>
            </a:fld>
            <a:endParaRPr lang="ru-RU" noProof="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124" y="1350767"/>
            <a:ext cx="7636424" cy="241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00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Внимание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16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Механизм внимания имитирует </a:t>
            </a:r>
            <a:r>
              <a:rPr lang="ru-RU" sz="3200" dirty="0" smtClean="0"/>
              <a:t>внимание человека </a:t>
            </a:r>
            <a:r>
              <a:rPr lang="ru-RU" sz="3200" dirty="0"/>
              <a:t>при чтении текста, </a:t>
            </a:r>
            <a:r>
              <a:rPr lang="ru-RU" sz="3200" dirty="0" smtClean="0"/>
              <a:t>позволяя фокусироваться </a:t>
            </a:r>
            <a:r>
              <a:rPr lang="ru-RU" sz="3200" dirty="0"/>
              <a:t>на важных </a:t>
            </a:r>
            <a:r>
              <a:rPr lang="ru-RU" sz="3200" dirty="0" smtClean="0"/>
              <a:t>для понимания текущего </a:t>
            </a:r>
            <a:r>
              <a:rPr lang="ru-RU" sz="3200" dirty="0"/>
              <a:t>слова контекстных словах.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527539"/>
            <a:ext cx="5877966" cy="240659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574" y="1922004"/>
            <a:ext cx="3114710" cy="435523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570" y="5019943"/>
            <a:ext cx="3981450" cy="12573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27495" y="644049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214"/>
              </a:rPr>
              <a:t>https://</a:t>
            </a:r>
            <a:r>
              <a:rPr lang="en-US" sz="1100" dirty="0" smtClean="0">
                <a:latin typeface="214"/>
              </a:rPr>
              <a:t>lena-voita.github.io/nlp_course/seq2seq_and_attention.html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617343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Зоопарк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17</a:t>
            </a:fld>
            <a:endParaRPr lang="ru-RU" noProof="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768" y="1055688"/>
            <a:ext cx="9742463" cy="513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98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Дорогой зоопарк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18</a:t>
            </a:fld>
            <a:endParaRPr lang="ru-RU" noProof="0" dirty="0"/>
          </a:p>
        </p:txBody>
      </p:sp>
      <p:pic>
        <p:nvPicPr>
          <p:cNvPr id="1026" name="Picture 2" descr="Avengers-Pro оптимизирует компромисс между точностью и стоимостью. (A) Изменяя параметр α, Avengers‑Pro формирует границу Парето: по сравнению с любыми одиночными моделями достигает максимальной точности при заданной стоимости и минимальной стоимости при заданной точности. (B) При сопоставимой стоимости Avengers‑Pro превосходит сильнейшую одиночную модель GPT‑5‑medium на 7.1%; при сопоставимой точности снижает стоимость на 26.9% по сравнению с GPT‑5‑medium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07" y="985946"/>
            <a:ext cx="10168478" cy="456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864706" y="5677078"/>
            <a:ext cx="103065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>
                <a:solidFill>
                  <a:srgbClr val="333333"/>
                </a:solidFill>
                <a:latin typeface="-apple-system"/>
              </a:rPr>
              <a:t>Avengers‑Pro</a:t>
            </a:r>
            <a:r>
              <a:rPr lang="ru-RU" dirty="0" smtClean="0">
                <a:solidFill>
                  <a:srgbClr val="333333"/>
                </a:solidFill>
                <a:latin typeface="-apple-system"/>
              </a:rPr>
              <a:t>: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объединяет несколько моделей разных семейств в единую систему и учит </a:t>
            </a:r>
            <a:r>
              <a:rPr lang="ru-RU" dirty="0" smtClean="0">
                <a:solidFill>
                  <a:srgbClr val="333333"/>
                </a:solidFill>
                <a:latin typeface="-apple-system"/>
              </a:rPr>
              <a:t>ее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стабильно держать баланс между точностью и стоимостью, не завися от одной большой модели.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0530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ru-RU" sz="3600" dirty="0" smtClean="0"/>
              <a:t>Дообучение предобученных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 smtClean="0"/>
              <a:t>моделей (</a:t>
            </a:r>
            <a:r>
              <a:rPr lang="ru-RU" sz="3600" dirty="0" err="1"/>
              <a:t>Pretraining</a:t>
            </a:r>
            <a:r>
              <a:rPr lang="ru-RU" sz="3600" dirty="0"/>
              <a:t> + </a:t>
            </a:r>
            <a:r>
              <a:rPr lang="ru-RU" sz="3600" dirty="0" err="1"/>
              <a:t>fine-tuning</a:t>
            </a:r>
            <a:r>
              <a:rPr lang="ru-RU" sz="3600" dirty="0" smtClean="0"/>
              <a:t>)</a:t>
            </a:r>
            <a:endParaRPr lang="ru-RU" sz="28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3264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Бывает и такое…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20</a:t>
            </a:fld>
            <a:endParaRPr lang="ru-RU" noProof="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6402" y="158541"/>
            <a:ext cx="3207809" cy="64288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649600" y="6277243"/>
            <a:ext cx="31501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https://www.mdpi.com/1424-8220/22/11/4157</a:t>
            </a:r>
          </a:p>
        </p:txBody>
      </p:sp>
    </p:spTree>
    <p:extLst>
      <p:ext uri="{BB962C8B-B14F-4D97-AF65-F5344CB8AC3E}">
        <p14:creationId xmlns:p14="http://schemas.microsoft.com/office/powerpoint/2010/main" val="2903730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Основная концепция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21</a:t>
            </a:fld>
            <a:endParaRPr lang="ru-RU" noProof="0" dirty="0"/>
          </a:p>
        </p:txBody>
      </p:sp>
      <p:pic>
        <p:nvPicPr>
          <p:cNvPr id="3074" name="Picture 2" descr="Mastering Transfer Learning: Fine-Tuning BERT and Vision Transformer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794" y="1232604"/>
            <a:ext cx="9437984" cy="388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631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 err="1"/>
              <a:t>Pretrain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22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smtClean="0"/>
              <a:t>• </a:t>
            </a:r>
            <a:r>
              <a:rPr lang="ru-RU" sz="3200" dirty="0" err="1"/>
              <a:t>Предобучить</a:t>
            </a:r>
            <a:r>
              <a:rPr lang="ru-RU" sz="3200" dirty="0"/>
              <a:t> модель на </a:t>
            </a:r>
            <a:r>
              <a:rPr lang="ru-RU" sz="3200" dirty="0" smtClean="0"/>
              <a:t>задачу языкового </a:t>
            </a:r>
            <a:r>
              <a:rPr lang="ru-RU" sz="3200" dirty="0"/>
              <a:t>моделирования.</a:t>
            </a:r>
          </a:p>
          <a:p>
            <a:pPr marL="0" indent="0" fontAlgn="base"/>
            <a:r>
              <a:rPr lang="ru-RU" sz="3200" dirty="0"/>
              <a:t>• Обучить модель языку </a:t>
            </a:r>
            <a:r>
              <a:rPr lang="ru-RU" sz="3200" dirty="0" smtClean="0"/>
              <a:t>на огромном корпусе неразмеченных </a:t>
            </a:r>
            <a:r>
              <a:rPr lang="ru-RU" sz="3200" dirty="0"/>
              <a:t>текстов.</a:t>
            </a:r>
          </a:p>
          <a:p>
            <a:pPr marL="0" indent="0" fontAlgn="base"/>
            <a:r>
              <a:rPr lang="ru-RU" sz="3200" dirty="0"/>
              <a:t>• Сохранить параметры модели.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59747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Fine-tune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23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smtClean="0"/>
              <a:t>• </a:t>
            </a:r>
            <a:r>
              <a:rPr lang="ru-RU" sz="3200" dirty="0"/>
              <a:t>Взять </a:t>
            </a:r>
            <a:r>
              <a:rPr lang="ru-RU" sz="3200" dirty="0" err="1"/>
              <a:t>предобученную</a:t>
            </a:r>
            <a:r>
              <a:rPr lang="ru-RU" sz="3200" dirty="0"/>
              <a:t> модель.</a:t>
            </a:r>
          </a:p>
          <a:p>
            <a:pPr marL="0" indent="0" fontAlgn="base"/>
            <a:r>
              <a:rPr lang="ru-RU" sz="3200" dirty="0"/>
              <a:t>• Дообучить под </a:t>
            </a:r>
            <a:r>
              <a:rPr lang="ru-RU" sz="3200" dirty="0" smtClean="0"/>
              <a:t>конкретную задачу </a:t>
            </a:r>
            <a:r>
              <a:rPr lang="ru-RU" sz="3200" dirty="0"/>
              <a:t>на небольшом объеме</a:t>
            </a:r>
          </a:p>
          <a:p>
            <a:pPr marL="0" indent="0" fontAlgn="base"/>
            <a:r>
              <a:rPr lang="ru-RU" sz="3200" dirty="0"/>
              <a:t>данных.</a:t>
            </a:r>
          </a:p>
          <a:p>
            <a:pPr marL="0" indent="0" fontAlgn="base"/>
            <a:r>
              <a:rPr lang="ru-RU" sz="3200" dirty="0"/>
              <a:t>• Получить высокий </a:t>
            </a:r>
            <a:r>
              <a:rPr lang="ru-RU" sz="3200" dirty="0" smtClean="0"/>
              <a:t>результат благодаря </a:t>
            </a:r>
            <a:r>
              <a:rPr lang="ru-RU" sz="3200" dirty="0"/>
              <a:t>знаниям модели,</a:t>
            </a:r>
          </a:p>
          <a:p>
            <a:pPr marL="0" indent="0" fontAlgn="base"/>
            <a:r>
              <a:rPr lang="ru-RU" sz="3200" dirty="0"/>
              <a:t>полученным на </a:t>
            </a:r>
            <a:r>
              <a:rPr lang="ru-RU" sz="3200" dirty="0" smtClean="0"/>
              <a:t>этапе </a:t>
            </a:r>
            <a:r>
              <a:rPr lang="ru-RU" sz="3200" dirty="0" err="1" smtClean="0"/>
              <a:t>предобучения</a:t>
            </a:r>
            <a:r>
              <a:rPr lang="ru-RU" sz="3200" dirty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27798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BERT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24</a:t>
            </a:fld>
            <a:endParaRPr lang="ru-RU" noProof="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000" y="975967"/>
            <a:ext cx="9163050" cy="3000375"/>
          </a:xfrm>
          <a:prstGeom prst="rect">
            <a:avLst/>
          </a:prstGeom>
        </p:spPr>
      </p:pic>
      <p:pic>
        <p:nvPicPr>
          <p:cNvPr id="4098" name="Picture 2" descr="BERT Explained: SOTA Language Model For NLP [Updated]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32" r="14569"/>
          <a:stretch/>
        </p:blipFill>
        <p:spPr bwMode="auto">
          <a:xfrm>
            <a:off x="6565002" y="4088309"/>
            <a:ext cx="5054780" cy="260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782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BERT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25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ru-RU" sz="3200" dirty="0"/>
              <a:t>Классика </a:t>
            </a:r>
            <a:r>
              <a:rPr lang="en-US" sz="3200" dirty="0"/>
              <a:t>BERT - </a:t>
            </a:r>
            <a:r>
              <a:rPr lang="ru-RU" sz="3200" dirty="0"/>
              <a:t>надёжная точка отсчёта.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/>
              <a:t>Distil/Tiny </a:t>
            </a:r>
            <a:r>
              <a:rPr lang="ru-RU" sz="3200" dirty="0"/>
              <a:t>экономят ресурсы, чуть теряя качество.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 err="1"/>
              <a:t>RoBERTa</a:t>
            </a:r>
            <a:r>
              <a:rPr lang="en-US" sz="3200" dirty="0"/>
              <a:t>/</a:t>
            </a:r>
            <a:r>
              <a:rPr lang="en-US" sz="3200" dirty="0" err="1"/>
              <a:t>DeBERTa</a:t>
            </a:r>
            <a:r>
              <a:rPr lang="en-US" sz="3200" dirty="0"/>
              <a:t> - </a:t>
            </a:r>
            <a:r>
              <a:rPr lang="ru-RU" sz="3200" dirty="0"/>
              <a:t>породистые улучшения, </a:t>
            </a:r>
            <a:r>
              <a:rPr lang="ru-RU" sz="3200" dirty="0" smtClean="0"/>
              <a:t>если</a:t>
            </a:r>
            <a:r>
              <a:rPr lang="en-US" sz="3200" dirty="0" smtClean="0"/>
              <a:t> </a:t>
            </a:r>
            <a:r>
              <a:rPr lang="ru-RU" sz="3200" dirty="0" smtClean="0"/>
              <a:t>важен </a:t>
            </a:r>
            <a:r>
              <a:rPr lang="en-US" sz="3200" dirty="0"/>
              <a:t>SOTA (State-of-the-art).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/>
              <a:t>SBERT </a:t>
            </a:r>
            <a:r>
              <a:rPr lang="ru-RU" sz="3200" dirty="0"/>
              <a:t>уникальна тем, что сразу выдаёт </a:t>
            </a:r>
            <a:r>
              <a:rPr lang="ru-RU" sz="3200" dirty="0" smtClean="0"/>
              <a:t>готовые</a:t>
            </a:r>
            <a:r>
              <a:rPr lang="en-US" sz="3200" dirty="0" smtClean="0"/>
              <a:t> sentence-</a:t>
            </a:r>
            <a:r>
              <a:rPr lang="ru-RU" sz="3200" dirty="0" err="1"/>
              <a:t>эмбеддинги</a:t>
            </a:r>
            <a:r>
              <a:rPr lang="ru-RU" sz="3200" dirty="0"/>
              <a:t>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/>
              <a:t>ALBERT - </a:t>
            </a:r>
            <a:r>
              <a:rPr lang="ru-RU" sz="3200" dirty="0"/>
              <a:t>когда память критична, а качество </a:t>
            </a:r>
            <a:r>
              <a:rPr lang="ru-RU" sz="3200" dirty="0" smtClean="0"/>
              <a:t>хочется</a:t>
            </a:r>
            <a:r>
              <a:rPr lang="en-US" sz="3200" dirty="0" smtClean="0"/>
              <a:t> </a:t>
            </a:r>
            <a:r>
              <a:rPr lang="ru-RU" sz="3200" dirty="0" smtClean="0"/>
              <a:t>близкое </a:t>
            </a:r>
            <a:r>
              <a:rPr lang="ru-RU" sz="3200" dirty="0"/>
              <a:t>к </a:t>
            </a:r>
            <a:r>
              <a:rPr lang="en-US" sz="3200" dirty="0"/>
              <a:t>BERT Large.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09631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BERT </a:t>
            </a:r>
            <a:r>
              <a:rPr lang="ru-RU" b="1" dirty="0" smtClean="0"/>
              <a:t>побеждает всех!</a:t>
            </a: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26</a:t>
            </a:fld>
            <a:endParaRPr lang="ru-RU" noProof="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837" y="2943689"/>
            <a:ext cx="9458325" cy="20669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366837" y="1126838"/>
            <a:ext cx="93126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dirty="0">
                <a:solidFill>
                  <a:srgbClr val="3C4043"/>
                </a:solidFill>
              </a:rPr>
              <a:t>Trained on </a:t>
            </a:r>
            <a:r>
              <a:rPr lang="en-US" sz="2800" dirty="0" err="1">
                <a:solidFill>
                  <a:srgbClr val="3C4043"/>
                </a:solidFill>
              </a:rPr>
              <a:t>BookCorpus</a:t>
            </a:r>
            <a:r>
              <a:rPr lang="en-US" sz="2800" dirty="0">
                <a:solidFill>
                  <a:srgbClr val="3C4043"/>
                </a:solidFill>
              </a:rPr>
              <a:t> and English Wikipedia (800M and 2,500M words respectively</a:t>
            </a:r>
            <a:r>
              <a:rPr lang="en-US" sz="2800" dirty="0" smtClean="0">
                <a:solidFill>
                  <a:srgbClr val="3C4043"/>
                </a:solidFill>
              </a:rPr>
              <a:t>).</a:t>
            </a:r>
          </a:p>
          <a:p>
            <a:pPr fontAlgn="base"/>
            <a:r>
              <a:rPr lang="en-US" sz="2800" dirty="0" smtClean="0">
                <a:solidFill>
                  <a:srgbClr val="3C4043"/>
                </a:solidFill>
              </a:rPr>
              <a:t>Training </a:t>
            </a:r>
            <a:r>
              <a:rPr lang="en-US" sz="2800" dirty="0">
                <a:solidFill>
                  <a:srgbClr val="3C4043"/>
                </a:solidFill>
              </a:rPr>
              <a:t>time approx. about a week using 64 GPUs.</a:t>
            </a:r>
            <a:endParaRPr lang="en-US" sz="2800" b="0" i="0" dirty="0">
              <a:solidFill>
                <a:srgbClr val="3C404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4845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fontAlgn="base">
              <a:lnSpc>
                <a:spcPct val="100000"/>
              </a:lnSpc>
            </a:pPr>
            <a:r>
              <a:rPr lang="en-US" sz="3600" dirty="0" smtClean="0"/>
              <a:t>GPT</a:t>
            </a:r>
            <a:endParaRPr lang="ru-RU" sz="2800" spc="0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1984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28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err="1"/>
              <a:t>Language</a:t>
            </a:r>
            <a:r>
              <a:rPr lang="ru-RU" sz="3200" dirty="0"/>
              <a:t> </a:t>
            </a:r>
            <a:r>
              <a:rPr lang="ru-RU" sz="3200" dirty="0" err="1"/>
              <a:t>Models</a:t>
            </a:r>
            <a:r>
              <a:rPr lang="ru-RU" sz="3200" dirty="0"/>
              <a:t> </a:t>
            </a:r>
            <a:r>
              <a:rPr lang="ru-RU" sz="3200" dirty="0" err="1"/>
              <a:t>are</a:t>
            </a:r>
            <a:r>
              <a:rPr lang="ru-RU" sz="3200" dirty="0"/>
              <a:t> </a:t>
            </a:r>
            <a:r>
              <a:rPr lang="ru-RU" sz="3200" dirty="0" err="1"/>
              <a:t>Few-Shot</a:t>
            </a:r>
            <a:r>
              <a:rPr lang="ru-RU" sz="3200" dirty="0"/>
              <a:t> </a:t>
            </a:r>
            <a:r>
              <a:rPr lang="ru-RU" sz="3200" dirty="0" err="1"/>
              <a:t>Learners</a:t>
            </a:r>
            <a:r>
              <a:rPr lang="ru-RU" sz="3200" dirty="0"/>
              <a:t>, </a:t>
            </a:r>
            <a:r>
              <a:rPr lang="ru-RU" sz="3200" dirty="0" err="1"/>
              <a:t>Brown</a:t>
            </a:r>
            <a:r>
              <a:rPr lang="ru-RU" sz="3200" dirty="0"/>
              <a:t> </a:t>
            </a:r>
            <a:r>
              <a:rPr lang="ru-RU" sz="3200" dirty="0" err="1"/>
              <a:t>et</a:t>
            </a:r>
            <a:r>
              <a:rPr lang="ru-RU" sz="3200" dirty="0"/>
              <a:t> </a:t>
            </a:r>
            <a:r>
              <a:rPr lang="ru-RU" sz="3200" dirty="0" err="1"/>
              <a:t>al</a:t>
            </a:r>
            <a:r>
              <a:rPr lang="ru-RU" sz="3200" dirty="0"/>
              <a:t>, 2020</a:t>
            </a:r>
          </a:p>
          <a:p>
            <a:pPr marL="0" indent="0" fontAlgn="base"/>
            <a:r>
              <a:rPr lang="ru-RU" sz="3200" dirty="0" err="1"/>
              <a:t>ОООООчень</a:t>
            </a:r>
            <a:r>
              <a:rPr lang="ru-RU" sz="3200" dirty="0"/>
              <a:t> большая: училась на 570GB текстов</a:t>
            </a:r>
            <a:r>
              <a:rPr lang="ru-RU" sz="3200" dirty="0" smtClean="0"/>
              <a:t>,</a:t>
            </a:r>
            <a:r>
              <a:rPr lang="en-US" sz="3200" dirty="0" smtClean="0"/>
              <a:t> </a:t>
            </a:r>
            <a:r>
              <a:rPr lang="ru-RU" sz="3200" dirty="0" smtClean="0"/>
              <a:t>размер </a:t>
            </a:r>
            <a:r>
              <a:rPr lang="ru-RU" sz="3200" dirty="0"/>
              <a:t>- 175B </a:t>
            </a:r>
            <a:r>
              <a:rPr lang="ru-RU" sz="3200" dirty="0" err="1"/>
              <a:t>parameters</a:t>
            </a:r>
            <a:r>
              <a:rPr lang="ru-RU" sz="3200" dirty="0"/>
              <a:t> </a:t>
            </a:r>
            <a:r>
              <a:rPr lang="ru-RU" sz="3200" dirty="0" smtClean="0"/>
              <a:t>(!!!)</a:t>
            </a:r>
            <a:r>
              <a:rPr lang="en-US" sz="3200" dirty="0" smtClean="0"/>
              <a:t> </a:t>
            </a:r>
            <a:r>
              <a:rPr lang="ru-RU" sz="3200" dirty="0" smtClean="0">
                <a:hlinkClick r:id="rId2"/>
              </a:rPr>
              <a:t>https</a:t>
            </a:r>
            <a:r>
              <a:rPr lang="ru-RU" sz="3200" dirty="0">
                <a:hlinkClick r:id="rId2"/>
              </a:rPr>
              <a:t>://</a:t>
            </a:r>
            <a:r>
              <a:rPr lang="ru-RU" sz="3200" dirty="0" smtClean="0">
                <a:hlinkClick r:id="rId2"/>
              </a:rPr>
              <a:t>arxiv.org/abs/2005.1416</a:t>
            </a:r>
            <a:r>
              <a:rPr lang="en-US" sz="3200" dirty="0" smtClean="0">
                <a:hlinkClick r:id="rId2"/>
              </a:rPr>
              <a:t>5</a:t>
            </a:r>
            <a:r>
              <a:rPr lang="en-US" sz="3200" dirty="0" smtClean="0"/>
              <a:t> </a:t>
            </a:r>
            <a:endParaRPr lang="ru-RU" sz="3200" dirty="0"/>
          </a:p>
          <a:p>
            <a:pPr marL="0" indent="0" fontAlgn="base"/>
            <a:r>
              <a:rPr lang="ru-RU" sz="3200" dirty="0" smtClean="0"/>
              <a:t>1</a:t>
            </a:r>
            <a:r>
              <a:rPr lang="ru-RU" sz="3200" dirty="0"/>
              <a:t>) Переформулируем задание в виде </a:t>
            </a:r>
            <a:r>
              <a:rPr lang="ru-RU" sz="3200" dirty="0" smtClean="0"/>
              <a:t>инструкции</a:t>
            </a:r>
            <a:r>
              <a:rPr lang="en-US" sz="3200" dirty="0" smtClean="0"/>
              <a:t> </a:t>
            </a:r>
            <a:r>
              <a:rPr lang="ru-RU" sz="3200" dirty="0" smtClean="0"/>
              <a:t>(</a:t>
            </a:r>
            <a:r>
              <a:rPr lang="ru-RU" sz="3200" dirty="0" err="1"/>
              <a:t>промпта</a:t>
            </a:r>
            <a:r>
              <a:rPr lang="ru-RU" sz="3200" dirty="0"/>
              <a:t>) на естественном языке.</a:t>
            </a:r>
          </a:p>
          <a:p>
            <a:pPr marL="0" indent="0" fontAlgn="base"/>
            <a:r>
              <a:rPr lang="ru-RU" sz="3200" dirty="0"/>
              <a:t>2) Применяем модель к задаче без </a:t>
            </a:r>
            <a:r>
              <a:rPr lang="ru-RU" sz="3200" dirty="0" err="1"/>
              <a:t>дообучения</a:t>
            </a:r>
            <a:r>
              <a:rPr lang="ru-RU" sz="3200" dirty="0" smtClean="0"/>
              <a:t>,</a:t>
            </a:r>
            <a:r>
              <a:rPr lang="en-US" sz="3200" dirty="0" smtClean="0"/>
              <a:t> </a:t>
            </a:r>
            <a:r>
              <a:rPr lang="ru-RU" sz="3200" dirty="0" smtClean="0"/>
              <a:t>показывая </a:t>
            </a:r>
            <a:r>
              <a:rPr lang="ru-RU" sz="3200" dirty="0"/>
              <a:t>ей отдельные примеры-образцы.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60058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29</a:t>
            </a:fld>
            <a:endParaRPr lang="ru-RU" noProof="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000" y="1253810"/>
            <a:ext cx="5344662" cy="22226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3810"/>
            <a:ext cx="5411638" cy="337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6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CC98-B887-AEDB-B629-7448185E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B06DD-CBD8-8DB8-C727-47F197C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096C9A-FC71-0C21-F745-EC4C0999B39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30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322EA0-4F06-4DC1-08FD-3296BB8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2800" dirty="0"/>
              <a:t>Основная идея: задача языкового моделирования </a:t>
            </a:r>
            <a:r>
              <a:rPr lang="ru-RU" sz="2800" dirty="0" err="1"/>
              <a:t>несогласована</a:t>
            </a:r>
            <a:endParaRPr lang="ru-RU" sz="2800" dirty="0"/>
          </a:p>
          <a:p>
            <a:pPr marL="0" indent="0" fontAlgn="base"/>
            <a:r>
              <a:rPr lang="ru-RU" sz="2800" dirty="0"/>
              <a:t>(</a:t>
            </a:r>
            <a:r>
              <a:rPr lang="ru-RU" sz="2800" dirty="0" err="1"/>
              <a:t>misaligned</a:t>
            </a:r>
            <a:r>
              <a:rPr lang="ru-RU" sz="2800" dirty="0"/>
              <a:t>) с тем, что ждут люди от языковых моделей.</a:t>
            </a:r>
          </a:p>
          <a:p>
            <a:pPr marL="0" indent="0" fontAlgn="base"/>
            <a:r>
              <a:rPr lang="ru-RU" sz="2800" dirty="0"/>
              <a:t>Мы хотим, чтобы модель понимала наши намерения и следовала</a:t>
            </a:r>
          </a:p>
          <a:p>
            <a:pPr marL="0" indent="0" fontAlgn="base"/>
            <a:r>
              <a:rPr lang="ru-RU" sz="2800" dirty="0"/>
              <a:t>инструкциям, а не просто предсказывала самое вероятное слово.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26" y="3116708"/>
            <a:ext cx="6207335" cy="326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77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1A46F-773C-290C-2981-FD0DB167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65B12-06B4-8F97-10FD-46078EAF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741726-E2A4-84C7-2195-93E31647199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31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AB2FBD-40A4-0BE3-1B11-94DD74A6D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/>
              <a:t>Обучение на инструкциях</a:t>
            </a:r>
          </a:p>
          <a:p>
            <a:pPr marL="0" indent="0" fontAlgn="base"/>
            <a:r>
              <a:rPr lang="ru-RU" sz="2000" dirty="0" err="1"/>
              <a:t>Training</a:t>
            </a:r>
            <a:r>
              <a:rPr lang="ru-RU" sz="2000" dirty="0"/>
              <a:t> </a:t>
            </a:r>
            <a:r>
              <a:rPr lang="ru-RU" sz="2000" dirty="0" err="1"/>
              <a:t>language</a:t>
            </a:r>
            <a:r>
              <a:rPr lang="ru-RU" sz="2000" dirty="0"/>
              <a:t> </a:t>
            </a:r>
            <a:r>
              <a:rPr lang="ru-RU" sz="2000" dirty="0" err="1"/>
              <a:t>models</a:t>
            </a:r>
            <a:r>
              <a:rPr lang="ru-RU" sz="2000" dirty="0"/>
              <a:t> </a:t>
            </a:r>
            <a:r>
              <a:rPr lang="ru-RU" sz="2000" dirty="0" err="1"/>
              <a:t>to</a:t>
            </a:r>
            <a:r>
              <a:rPr lang="ru-RU" sz="2000" dirty="0"/>
              <a:t> </a:t>
            </a:r>
            <a:r>
              <a:rPr lang="ru-RU" sz="2000" dirty="0" err="1"/>
              <a:t>follow</a:t>
            </a:r>
            <a:r>
              <a:rPr lang="ru-RU" sz="2000" dirty="0"/>
              <a:t> </a:t>
            </a:r>
            <a:r>
              <a:rPr lang="ru-RU" sz="2000" dirty="0" err="1"/>
              <a:t>instructions</a:t>
            </a:r>
            <a:r>
              <a:rPr lang="ru-RU" sz="2000" dirty="0"/>
              <a:t> </a:t>
            </a:r>
            <a:r>
              <a:rPr lang="ru-RU" sz="2000" dirty="0" err="1"/>
              <a:t>with</a:t>
            </a:r>
            <a:r>
              <a:rPr lang="ru-RU" sz="2000" dirty="0"/>
              <a:t> </a:t>
            </a:r>
            <a:r>
              <a:rPr lang="ru-RU" sz="2000" dirty="0" err="1"/>
              <a:t>human</a:t>
            </a:r>
            <a:r>
              <a:rPr lang="ru-RU" sz="2000" dirty="0"/>
              <a:t> </a:t>
            </a:r>
            <a:r>
              <a:rPr lang="ru-RU" sz="2000" dirty="0" err="1"/>
              <a:t>feedback</a:t>
            </a:r>
            <a:r>
              <a:rPr lang="ru-RU" sz="2000" dirty="0"/>
              <a:t>. </a:t>
            </a:r>
            <a:r>
              <a:rPr lang="ru-RU" sz="2000" dirty="0" err="1"/>
              <a:t>Ouyang</a:t>
            </a:r>
            <a:r>
              <a:rPr lang="ru-RU" sz="2000" dirty="0"/>
              <a:t> </a:t>
            </a:r>
            <a:r>
              <a:rPr lang="ru-RU" sz="2000" dirty="0" err="1"/>
              <a:t>et</a:t>
            </a:r>
            <a:r>
              <a:rPr lang="ru-RU" sz="2000" dirty="0"/>
              <a:t> </a:t>
            </a:r>
            <a:r>
              <a:rPr lang="ru-RU" sz="2000" dirty="0" err="1"/>
              <a:t>al</a:t>
            </a:r>
            <a:r>
              <a:rPr lang="ru-RU" sz="2000" dirty="0"/>
              <a:t>., 2022 </a:t>
            </a:r>
            <a:endParaRPr lang="en-US" sz="2000" dirty="0" smtClean="0"/>
          </a:p>
          <a:p>
            <a:pPr marL="0" indent="0" fontAlgn="base"/>
            <a:r>
              <a:rPr lang="ru-RU" sz="3200" dirty="0" smtClean="0"/>
              <a:t>• </a:t>
            </a:r>
            <a:r>
              <a:rPr lang="ru-RU" sz="3200" dirty="0">
                <a:solidFill>
                  <a:srgbClr val="FF0000"/>
                </a:solidFill>
              </a:rPr>
              <a:t>Ручная</a:t>
            </a:r>
            <a:r>
              <a:rPr lang="ru-RU" sz="3200" dirty="0"/>
              <a:t> разметка качественного </a:t>
            </a:r>
            <a:r>
              <a:rPr lang="ru-RU" sz="3200" dirty="0" smtClean="0"/>
              <a:t>и</a:t>
            </a:r>
            <a:r>
              <a:rPr lang="en-US" sz="3200" dirty="0" smtClean="0"/>
              <a:t> </a:t>
            </a:r>
            <a:r>
              <a:rPr lang="ru-RU" sz="3200" dirty="0" smtClean="0"/>
              <a:t>разнообразного </a:t>
            </a:r>
            <a:r>
              <a:rPr lang="ru-RU" sz="3200" dirty="0"/>
              <a:t>инструктивного датасета</a:t>
            </a:r>
          </a:p>
          <a:p>
            <a:pPr marL="0" indent="0" fontAlgn="base"/>
            <a:r>
              <a:rPr lang="ru-RU" sz="3200" dirty="0"/>
              <a:t>• большая доля </a:t>
            </a:r>
            <a:r>
              <a:rPr lang="ru-RU" sz="3200" dirty="0">
                <a:solidFill>
                  <a:srgbClr val="FF0000"/>
                </a:solidFill>
              </a:rPr>
              <a:t>ручного</a:t>
            </a:r>
            <a:r>
              <a:rPr lang="ru-RU" sz="3200" dirty="0"/>
              <a:t> труда</a:t>
            </a:r>
          </a:p>
          <a:p>
            <a:pPr marL="0" indent="0" fontAlgn="base"/>
            <a:r>
              <a:rPr lang="ru-RU" sz="3200" dirty="0"/>
              <a:t>• высокое требование к качеству инструкций</a:t>
            </a:r>
          </a:p>
          <a:p>
            <a:pPr marL="0" indent="0" fontAlgn="base"/>
            <a:r>
              <a:rPr lang="ru-RU" sz="3200" dirty="0"/>
              <a:t>• обучаем модель (GPT3) на </a:t>
            </a:r>
            <a:r>
              <a:rPr lang="ru-RU" sz="3200" dirty="0" smtClean="0"/>
              <a:t>качественном</a:t>
            </a:r>
            <a:r>
              <a:rPr lang="en-US" sz="3200" dirty="0" smtClean="0"/>
              <a:t> </a:t>
            </a:r>
            <a:r>
              <a:rPr lang="ru-RU" sz="3200" dirty="0" smtClean="0"/>
              <a:t>датасете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42821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11F61-6F31-D108-C358-1F5CB6B2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B00B0-468B-1EA0-51B0-3FDAD4F7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Движение в сторону </a:t>
            </a:r>
            <a:r>
              <a:rPr lang="ru-RU" b="1" dirty="0" err="1"/>
              <a:t>омнимодальности</a:t>
            </a:r>
            <a:endParaRPr lang="ru-RU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40AB0C-2555-A853-BBE0-897E667192A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32</a:t>
            </a:fld>
            <a:endParaRPr lang="ru-RU" noProof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9B0141-2CFE-7358-A4F9-26CDEB198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55716"/>
            <a:ext cx="4968136" cy="5135534"/>
          </a:xfrm>
        </p:spPr>
        <p:txBody>
          <a:bodyPr>
            <a:normAutofit/>
          </a:bodyPr>
          <a:lstStyle/>
          <a:p>
            <a:pPr marL="0" indent="0" fontAlgn="base"/>
            <a:r>
              <a:rPr lang="ru-RU" sz="3200" dirty="0" err="1" smtClean="0"/>
              <a:t>Омнимодальные</a:t>
            </a:r>
            <a:r>
              <a:rPr lang="en-US" sz="3200" dirty="0" smtClean="0"/>
              <a:t> </a:t>
            </a:r>
            <a:r>
              <a:rPr lang="ru-RU" sz="3200" dirty="0" smtClean="0"/>
              <a:t>модели </a:t>
            </a:r>
            <a:r>
              <a:rPr lang="ru-RU" sz="3200" dirty="0"/>
              <a:t>можно </a:t>
            </a:r>
            <a:r>
              <a:rPr lang="ru-RU" sz="3200" dirty="0" smtClean="0"/>
              <a:t>рассматривать</a:t>
            </a:r>
            <a:r>
              <a:rPr lang="en-US" sz="3200" dirty="0" smtClean="0"/>
              <a:t> </a:t>
            </a:r>
            <a:r>
              <a:rPr lang="ru-RU" sz="3200" dirty="0" smtClean="0"/>
              <a:t>как эволюцию</a:t>
            </a:r>
            <a:r>
              <a:rPr lang="en-US" sz="3200" dirty="0" smtClean="0"/>
              <a:t> </a:t>
            </a:r>
            <a:r>
              <a:rPr lang="ru-RU" sz="3200" dirty="0" smtClean="0"/>
              <a:t>мультимодальных </a:t>
            </a:r>
            <a:r>
              <a:rPr lang="ru-RU" sz="3200" dirty="0"/>
              <a:t>моделей </a:t>
            </a:r>
            <a:r>
              <a:rPr lang="ru-RU" sz="3200" dirty="0" smtClean="0"/>
              <a:t>с</a:t>
            </a:r>
            <a:r>
              <a:rPr lang="en-US" sz="3200" dirty="0" smtClean="0"/>
              <a:t> </a:t>
            </a:r>
            <a:r>
              <a:rPr lang="ru-RU" sz="3200" dirty="0" smtClean="0"/>
              <a:t>более </a:t>
            </a:r>
            <a:r>
              <a:rPr lang="ru-RU" sz="3200" dirty="0"/>
              <a:t>широкой и </a:t>
            </a:r>
            <a:r>
              <a:rPr lang="ru-RU" sz="3200" dirty="0" smtClean="0"/>
              <a:t>глубокой</a:t>
            </a:r>
            <a:r>
              <a:rPr lang="en-US" sz="3200" dirty="0" smtClean="0"/>
              <a:t> </a:t>
            </a:r>
            <a:r>
              <a:rPr lang="ru-RU" sz="3200" dirty="0" smtClean="0"/>
              <a:t>интеграцией различных</a:t>
            </a:r>
            <a:r>
              <a:rPr lang="en-US" sz="3200" dirty="0" smtClean="0"/>
              <a:t> </a:t>
            </a:r>
            <a:r>
              <a:rPr lang="ru-RU" sz="3200" dirty="0" smtClean="0"/>
              <a:t>модальностей</a:t>
            </a:r>
            <a:r>
              <a:rPr lang="ru-RU" sz="3200" dirty="0"/>
              <a:t>.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432" y="1055716"/>
            <a:ext cx="6131050" cy="485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20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Надпись 37" descr="Акцент для блока заголовка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2200275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5" name="Равнобедренный треугольник 34" descr="Тень для блока заголовка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59065" y="5556894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2" name="Полилиния 5" descr="Сплошной контрастный блок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3" name="Полилиния 5" descr="Пустой контрастный блок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8" name="Графический объект 7" descr="Пользователь" title="Значок — имя докладчика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8512" y="3859066"/>
            <a:ext cx="218900" cy="2189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sz="1800" dirty="0"/>
              <a:t>Сергей Ткаченко</a:t>
            </a:r>
          </a:p>
        </p:txBody>
      </p:sp>
      <p:pic>
        <p:nvPicPr>
          <p:cNvPr id="9" name="Графический объект 8" descr="Конверт" title="Значок — адрес электронной почты докладчика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8512" y="4253359"/>
            <a:ext cx="218900" cy="2189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4849" y="4246905"/>
            <a:ext cx="3521514" cy="288000"/>
          </a:xfrm>
        </p:spPr>
        <p:txBody>
          <a:bodyPr rtlCol="0"/>
          <a:lstStyle/>
          <a:p>
            <a:pPr rtl="0"/>
            <a:r>
              <a:rPr lang="en-US" sz="1800" dirty="0" err="1"/>
              <a:t>SNTkachenko</a:t>
            </a:r>
            <a:r>
              <a:rPr lang="ru-RU" sz="1800" dirty="0"/>
              <a:t>@</a:t>
            </a:r>
            <a:r>
              <a:rPr lang="en-US" sz="1800" dirty="0" err="1"/>
              <a:t>kantiana</a:t>
            </a:r>
            <a:r>
              <a:rPr lang="ru-RU" sz="1800" dirty="0"/>
              <a:t>.</a:t>
            </a:r>
            <a:r>
              <a:rPr lang="en-US" sz="1800" dirty="0" err="1"/>
              <a:t>ru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552_TF16411253.potx" id="{484AC4F0-DFB1-44B1-A48A-4A4E5B9BAE55}" vid="{642D7752-446B-4E16-8C1E-EACC99EB30B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8A50AA-654B-45CA-B6AD-FDA9E9535EF9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b0879af-3eba-417a-a55a-ffe6dcd6ca77"/>
    <ds:schemaRef ds:uri="6dc4bcd6-49db-4c07-9060-8acfc67cef9f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4F06F66-218D-4D1C-873A-158A1848B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Геометрическая презентация</Template>
  <TotalTime>0</TotalTime>
  <Words>830</Words>
  <Application>Microsoft Office PowerPoint</Application>
  <PresentationFormat>Широкоэкранный</PresentationFormat>
  <Paragraphs>158</Paragraphs>
  <Slides>33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2" baseType="lpstr">
      <vt:lpstr>214</vt:lpstr>
      <vt:lpstr>-apple-system</vt:lpstr>
      <vt:lpstr>Arial</vt:lpstr>
      <vt:lpstr>Calibri</vt:lpstr>
      <vt:lpstr>Calibri Light</vt:lpstr>
      <vt:lpstr>Cambria Math</vt:lpstr>
      <vt:lpstr>Corbel</vt:lpstr>
      <vt:lpstr>Times New Roman</vt:lpstr>
      <vt:lpstr>Тема Office</vt:lpstr>
      <vt:lpstr>LLM часть 1</vt:lpstr>
      <vt:lpstr>Три основных типа NLP задач</vt:lpstr>
      <vt:lpstr>Классификация/кластеризация текстов</vt:lpstr>
      <vt:lpstr>Классификация последовательности</vt:lpstr>
      <vt:lpstr>Seq2seq</vt:lpstr>
      <vt:lpstr>Новая эра</vt:lpstr>
      <vt:lpstr>Презентация PowerPoint</vt:lpstr>
      <vt:lpstr>Языковое моделирование</vt:lpstr>
      <vt:lpstr>Языковое моделирование</vt:lpstr>
      <vt:lpstr>Языковое моделирование</vt:lpstr>
      <vt:lpstr>Языковое моделирование</vt:lpstr>
      <vt:lpstr>Языковое моделирование</vt:lpstr>
      <vt:lpstr>Языковое моделирование</vt:lpstr>
      <vt:lpstr>Трансформеры</vt:lpstr>
      <vt:lpstr>Внимание</vt:lpstr>
      <vt:lpstr>Внимание</vt:lpstr>
      <vt:lpstr>Зоопарк</vt:lpstr>
      <vt:lpstr>Дорогой зоопарк</vt:lpstr>
      <vt:lpstr>Дообучение предобученных моделей (Pretraining + fine-tuning)</vt:lpstr>
      <vt:lpstr>Бывает и такое…</vt:lpstr>
      <vt:lpstr>Основная концепция</vt:lpstr>
      <vt:lpstr>Pretrain</vt:lpstr>
      <vt:lpstr>Fine-tune</vt:lpstr>
      <vt:lpstr>BERT</vt:lpstr>
      <vt:lpstr>BERT</vt:lpstr>
      <vt:lpstr>BERT побеждает всех!</vt:lpstr>
      <vt:lpstr>GPT</vt:lpstr>
      <vt:lpstr>Презентация PowerPoint</vt:lpstr>
      <vt:lpstr>Презентация PowerPoint</vt:lpstr>
      <vt:lpstr>Презентация PowerPoint</vt:lpstr>
      <vt:lpstr>Презентация PowerPoint</vt:lpstr>
      <vt:lpstr>Движение в сторону омнимодальности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2025-08-26T15:19:12Z</dcterms:created>
  <dcterms:modified xsi:type="dcterms:W3CDTF">2026-03-21T13:08:55Z</dcterms:modified>
</cp:coreProperties>
</file>