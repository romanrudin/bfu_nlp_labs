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3"/>
  </p:sldMasterIdLst>
  <p:notesMasterIdLst>
    <p:notesMasterId r:id="rId62"/>
  </p:notesMasterIdLst>
  <p:handoutMasterIdLst>
    <p:handoutMasterId r:id="rId63"/>
  </p:handoutMasterIdLst>
  <p:sldIdLst>
    <p:sldId id="282" r:id="rId4"/>
    <p:sldId id="292" r:id="rId5"/>
    <p:sldId id="299" r:id="rId6"/>
    <p:sldId id="300" r:id="rId7"/>
    <p:sldId id="301" r:id="rId8"/>
    <p:sldId id="302" r:id="rId9"/>
    <p:sldId id="332" r:id="rId10"/>
    <p:sldId id="333" r:id="rId11"/>
    <p:sldId id="293" r:id="rId12"/>
    <p:sldId id="303" r:id="rId13"/>
    <p:sldId id="305" r:id="rId14"/>
    <p:sldId id="310" r:id="rId15"/>
    <p:sldId id="334" r:id="rId16"/>
    <p:sldId id="311" r:id="rId17"/>
    <p:sldId id="312" r:id="rId18"/>
    <p:sldId id="335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36" r:id="rId28"/>
    <p:sldId id="322" r:id="rId29"/>
    <p:sldId id="323" r:id="rId30"/>
    <p:sldId id="325" r:id="rId31"/>
    <p:sldId id="326" r:id="rId32"/>
    <p:sldId id="337" r:id="rId33"/>
    <p:sldId id="328" r:id="rId34"/>
    <p:sldId id="329" r:id="rId35"/>
    <p:sldId id="338" r:id="rId36"/>
    <p:sldId id="339" r:id="rId37"/>
    <p:sldId id="340" r:id="rId38"/>
    <p:sldId id="342" r:id="rId39"/>
    <p:sldId id="341" r:id="rId40"/>
    <p:sldId id="343" r:id="rId41"/>
    <p:sldId id="345" r:id="rId42"/>
    <p:sldId id="344" r:id="rId43"/>
    <p:sldId id="347" r:id="rId44"/>
    <p:sldId id="346" r:id="rId45"/>
    <p:sldId id="349" r:id="rId46"/>
    <p:sldId id="350" r:id="rId47"/>
    <p:sldId id="351" r:id="rId48"/>
    <p:sldId id="352" r:id="rId49"/>
    <p:sldId id="353" r:id="rId50"/>
    <p:sldId id="348" r:id="rId51"/>
    <p:sldId id="354" r:id="rId52"/>
    <p:sldId id="356" r:id="rId53"/>
    <p:sldId id="357" r:id="rId54"/>
    <p:sldId id="359" r:id="rId55"/>
    <p:sldId id="355" r:id="rId56"/>
    <p:sldId id="361" r:id="rId57"/>
    <p:sldId id="358" r:id="rId58"/>
    <p:sldId id="360" r:id="rId59"/>
    <p:sldId id="362" r:id="rId60"/>
    <p:sldId id="296" r:id="rId6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31" autoAdjust="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handoutMaster" Target="handoutMasters/handoutMaster1.xml"/><Relationship Id="rId68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8DD750-E9C8-498E-B02F-A465CB2BB798}" type="datetime1">
              <a:rPr lang="ru-RU" smtClean="0"/>
              <a:t>20.01.2026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C6E7-B645-4B70-AC63-7A575D94CEB1}" type="datetime1">
              <a:rPr lang="ru-RU" smtClean="0"/>
              <a:pPr/>
              <a:t>20.01.2026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00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4466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7841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770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148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9013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7758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2392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92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45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 rtlCol="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62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</p:spTree>
    <p:extLst>
      <p:ext uri="{BB962C8B-B14F-4D97-AF65-F5344CB8AC3E}">
        <p14:creationId xmlns:p14="http://schemas.microsoft.com/office/powerpoint/2010/main" val="28295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3" name="Полилиния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4" name="Полилиния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5" name="Полилиния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Сравнение слева — заполнитель 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2" name="Сравнение слева — заполнитель 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ое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rtlCol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ru-RU" noProof="0" dirty="0"/>
              <a:t>Введите подпись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благодар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Спасибо за внимание!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Полное имя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Номер телефона</a:t>
            </a:r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Электронная почта или контакт в социальной сети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Веб-сайт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16328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7" name="Текст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5" name="Прямоугольник: Скругленные углы 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 userDrawn="1"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 userDrawn="1"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62" r:id="rId3"/>
    <p:sldLayoutId id="2147483663" r:id="rId4"/>
    <p:sldLayoutId id="2147483658" r:id="rId5"/>
    <p:sldLayoutId id="2147483665" r:id="rId6"/>
    <p:sldLayoutId id="2147483666" r:id="rId7"/>
    <p:sldLayoutId id="2147483659" r:id="rId8"/>
    <p:sldLayoutId id="2147483660" r:id="rId9"/>
    <p:sldLayoutId id="2147483664" r:id="rId10"/>
    <p:sldLayoutId id="2147483650" r:id="rId11"/>
    <p:sldLayoutId id="2147483652" r:id="rId12"/>
    <p:sldLayoutId id="2147483656" r:id="rId13"/>
    <p:sldLayoutId id="2147483657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5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1.svg"/><Relationship Id="rId4" Type="http://schemas.openxmlformats.org/officeDocument/2006/relationships/image" Target="../media/image16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слайда">
            <a:extLst>
              <a:ext uri="{FF2B5EF4-FFF2-40B4-BE49-F238E27FC236}">
                <a16:creationId xmlns:a16="http://schemas.microsoft.com/office/drawing/2014/main" id="{FE5D908F-BAEF-2843-BC2F-691696E72E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5" name="Надпись 24" descr="Акцент слайда для поля заголовка">
            <a:extLst>
              <a:ext uri="{FF2B5EF4-FFF2-40B4-BE49-F238E27FC236}">
                <a16:creationId xmlns:a16="http://schemas.microsoft.com/office/drawing/2014/main" id="{7EF238CB-AB58-4787-8F9C-A1C16929A2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-1" y="3914775"/>
            <a:ext cx="1481849" cy="2200275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93" y="3114635"/>
            <a:ext cx="4459766" cy="2514635"/>
          </a:xfr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</a:ln>
        </p:spPr>
        <p:txBody>
          <a:bodyPr rtlCol="0"/>
          <a:lstStyle/>
          <a:p>
            <a:pPr rtl="0"/>
            <a:r>
              <a:rPr lang="ru-RU" sz="5000" dirty="0" smtClean="0"/>
              <a:t>Поиск информации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4624645"/>
            <a:ext cx="4000500" cy="690752"/>
          </a:xfrm>
        </p:spPr>
        <p:txBody>
          <a:bodyPr rtlCol="0"/>
          <a:lstStyle/>
          <a:p>
            <a:r>
              <a:rPr lang="ru-RU" dirty="0" smtClean="0"/>
              <a:t>Основы обработки текстов</a:t>
            </a:r>
            <a:endParaRPr lang="ru-RU" dirty="0"/>
          </a:p>
        </p:txBody>
      </p:sp>
      <p:sp>
        <p:nvSpPr>
          <p:cNvPr id="20" name="Равнобедренный треугольник 19" descr="Тень на слайде для поля заголовка">
            <a:extLst>
              <a:ext uri="{FF2B5EF4-FFF2-40B4-BE49-F238E27FC236}">
                <a16:creationId xmlns:a16="http://schemas.microsoft.com/office/drawing/2014/main" id="{545D50A1-D634-4325-B06C-5450FDF7B8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0837" y="562927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rtl="0"/>
            <a:r>
              <a:rPr lang="ru-RU" sz="5000" dirty="0" err="1" smtClean="0"/>
              <a:t>Основыне</a:t>
            </a:r>
            <a:r>
              <a:rPr lang="ru-RU" sz="5000" dirty="0" smtClean="0"/>
              <a:t> определения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Базовые определения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/>
              <a:t>Информационный поиск (IR) - это поиск материалов (обычно документов) неструктурированного характера (обычно текста), которые удовлетворяют информационную потребность, из больших коллекций (обычно хранящихся на компьютерах). </a:t>
            </a:r>
            <a:endParaRPr lang="ru-RU" sz="3200" dirty="0" smtClean="0"/>
          </a:p>
          <a:p>
            <a:pPr marL="0" indent="0">
              <a:buNone/>
            </a:pPr>
            <a:r>
              <a:rPr lang="ru-RU" sz="3200" dirty="0" smtClean="0"/>
              <a:t>В </a:t>
            </a:r>
            <a:r>
              <a:rPr lang="ru-RU" sz="3200" dirty="0"/>
              <a:t>наши дни мы часто думаем в первую очередь о поиске в Интернете, но есть много других случаев: </a:t>
            </a:r>
            <a:endParaRPr lang="ru-RU" sz="3200" dirty="0" smtClean="0"/>
          </a:p>
          <a:p>
            <a:r>
              <a:rPr lang="ru-RU" sz="3200" dirty="0" smtClean="0"/>
              <a:t>Поиск </a:t>
            </a:r>
            <a:r>
              <a:rPr lang="ru-RU" sz="3200" dirty="0"/>
              <a:t>по электронной почте </a:t>
            </a:r>
            <a:endParaRPr lang="ru-RU" sz="3200" dirty="0" smtClean="0"/>
          </a:p>
          <a:p>
            <a:r>
              <a:rPr lang="ru-RU" sz="3200" dirty="0" smtClean="0"/>
              <a:t>Поиск </a:t>
            </a:r>
            <a:r>
              <a:rPr lang="ru-RU" sz="3200" dirty="0"/>
              <a:t>в вашем ноутбуке </a:t>
            </a:r>
            <a:endParaRPr lang="ru-RU" sz="3200" dirty="0" smtClean="0"/>
          </a:p>
          <a:p>
            <a:r>
              <a:rPr lang="ru-RU" sz="3200" dirty="0" smtClean="0"/>
              <a:t>Корпоративные </a:t>
            </a:r>
            <a:r>
              <a:rPr lang="ru-RU" sz="3200" dirty="0"/>
              <a:t>базы знаний </a:t>
            </a:r>
            <a:endParaRPr lang="ru-RU" sz="3200" dirty="0" smtClean="0"/>
          </a:p>
          <a:p>
            <a:r>
              <a:rPr lang="ru-RU" sz="3200" dirty="0" smtClean="0"/>
              <a:t>Поиск </a:t>
            </a:r>
            <a:r>
              <a:rPr lang="ru-RU" sz="3200" dirty="0"/>
              <a:t>юридической информации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744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Неструктурированные (текстовые) и структурированные (базы данных) данные в середине девяностых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</a:t>
            </a:fld>
            <a:endParaRPr lang="ru-RU" noProof="0" dirty="0"/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209800" y="1346200"/>
          <a:ext cx="7772400" cy="455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r:id="rId3" imgW="7773074" imgH="4554107" progId="Excel.Chart.8">
                  <p:embed/>
                </p:oleObj>
              </mc:Choice>
              <mc:Fallback>
                <p:oleObj r:id="rId3" imgW="7773074" imgH="4554107" progId="Excel.Chart.8">
                  <p:embed/>
                  <p:pic>
                    <p:nvPicPr>
                      <p:cNvPr id="717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46200"/>
                        <a:ext cx="7772400" cy="455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090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Неструктурированные (текст) и структурированные (база данных) данные </a:t>
            </a:r>
            <a:r>
              <a:rPr lang="ru-RU" b="1" dirty="0" smtClean="0"/>
              <a:t>ближе к сегодняшнему дню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</a:t>
            </a:fld>
            <a:endParaRPr lang="ru-RU" noProof="0" dirty="0"/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209800" y="1346200"/>
          <a:ext cx="7772400" cy="455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r:id="rId3" imgW="7773074" imgH="4554107" progId="Excel.Chart.8">
                  <p:embed/>
                </p:oleObj>
              </mc:Choice>
              <mc:Fallback>
                <p:oleObj r:id="rId3" imgW="7773074" imgH="4554107" progId="Excel.Chart.8">
                  <p:embed/>
                  <p:pic>
                    <p:nvPicPr>
                      <p:cNvPr id="8196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46200"/>
                        <a:ext cx="7772400" cy="455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538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dirty="0"/>
              <a:t>Основные предположения информационного поиска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6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/>
          <a:lstStyle/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r>
              <a:rPr lang="ru-RU" sz="3200" dirty="0" smtClean="0"/>
              <a:t>Коллекция</a:t>
            </a:r>
            <a:r>
              <a:rPr lang="ru-RU" sz="3200" dirty="0"/>
              <a:t>: Набор документов</a:t>
            </a:r>
          </a:p>
          <a:p>
            <a:pPr marL="0" indent="0" fontAlgn="base">
              <a:buNone/>
            </a:pPr>
            <a:r>
              <a:rPr lang="ru-RU" sz="3200" dirty="0" smtClean="0"/>
              <a:t>Предположим</a:t>
            </a:r>
            <a:r>
              <a:rPr lang="ru-RU" sz="3200" dirty="0"/>
              <a:t>, что это статическая коллекция на данный момент</a:t>
            </a:r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r>
              <a:rPr lang="ru-RU" sz="3200" dirty="0"/>
              <a:t>Цель: Извлечь документы с информацией, которая соответствует информационной потребности пользователя и помогает пользователю выполнить задачу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58560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Классическая модель поиска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7</a:t>
            </a:fld>
            <a:endParaRPr lang="ru-RU" noProof="0"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861" y="1055688"/>
            <a:ext cx="8452278" cy="513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9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Насколько хороши </a:t>
            </a:r>
            <a:r>
              <a:rPr lang="ru-RU" b="1" dirty="0" smtClean="0"/>
              <a:t>найденные </a:t>
            </a:r>
            <a:r>
              <a:rPr lang="ru-RU" b="1" dirty="0"/>
              <a:t>документы?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8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3200" i="1" dirty="0" smtClean="0">
                <a:solidFill>
                  <a:srgbClr val="4BACC6"/>
                </a:solidFill>
                <a:latin typeface="Calibri"/>
                <a:ea typeface="ＭＳ Ｐゴシック" charset="-128"/>
                <a:cs typeface="ＭＳ Ｐゴシック" charset="-128"/>
              </a:rPr>
              <a:t>Precision</a:t>
            </a:r>
            <a:r>
              <a:rPr lang="ru-RU" sz="3200" dirty="0" smtClean="0"/>
              <a:t>: </a:t>
            </a:r>
            <a:r>
              <a:rPr lang="ru-RU" sz="3200" dirty="0"/>
              <a:t>Доля извлеченных документов, которые соответствуют информационной потребности пользователя</a:t>
            </a:r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r>
              <a:rPr lang="en-US" sz="3200" i="1" dirty="0" smtClean="0">
                <a:solidFill>
                  <a:srgbClr val="139CB7"/>
                </a:solidFill>
                <a:ea typeface="ＭＳ Ｐゴシック" charset="-128"/>
                <a:cs typeface="ＭＳ Ｐゴシック" charset="-128"/>
              </a:rPr>
              <a:t>Recall</a:t>
            </a:r>
            <a:r>
              <a:rPr lang="ru-RU" sz="3200" dirty="0" smtClean="0"/>
              <a:t>: </a:t>
            </a:r>
            <a:r>
              <a:rPr lang="ru-RU" sz="3200" dirty="0"/>
              <a:t>Доля релевантных документов в коллекции, которые были извлечены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652812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Рисунок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Полилиния 5" descr="Пустой контрастный элемент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1" name="Надпись 30" descr="Акцент флага для заголовка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21" name="Равнобедренный треугольник 20" descr="Акцент тени для заголовка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117" y="1816509"/>
            <a:ext cx="4459766" cy="3146839"/>
          </a:xfrm>
        </p:spPr>
        <p:txBody>
          <a:bodyPr rtlCol="0"/>
          <a:lstStyle/>
          <a:p>
            <a:r>
              <a:rPr lang="ru-RU" b="0" dirty="0"/>
              <a:t>Матрицы инцидентности терм-документов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</p:spPr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Неструктурированные данные в 1620 году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10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ru-RU" sz="3200" dirty="0"/>
              <a:t>• В каких пьесах Шекспира содержатся слова</a:t>
            </a:r>
          </a:p>
          <a:p>
            <a:pPr marL="0" indent="0" fontAlgn="base">
              <a:buNone/>
            </a:pPr>
            <a:r>
              <a:rPr lang="ru-RU" sz="3200" dirty="0" smtClean="0"/>
              <a:t>Брут </a:t>
            </a:r>
            <a:r>
              <a:rPr lang="ru-RU" sz="3200" dirty="0"/>
              <a:t>и Цезарь, но не </a:t>
            </a:r>
            <a:r>
              <a:rPr lang="ru-RU" sz="3200" dirty="0" err="1"/>
              <a:t>Кальпурния</a:t>
            </a:r>
            <a:r>
              <a:rPr lang="ru-RU" sz="3200" dirty="0"/>
              <a:t>?</a:t>
            </a:r>
          </a:p>
          <a:p>
            <a:pPr marL="0" indent="0" fontAlgn="base">
              <a:buNone/>
            </a:pPr>
            <a:r>
              <a:rPr lang="ru-RU" sz="3200" dirty="0" smtClean="0"/>
              <a:t>• </a:t>
            </a:r>
            <a:r>
              <a:rPr lang="ru-RU" sz="3200" dirty="0"/>
              <a:t>Можно было бы использовать команду </a:t>
            </a:r>
            <a:r>
              <a:rPr lang="ru-RU" sz="3200" dirty="0" err="1"/>
              <a:t>grep</a:t>
            </a:r>
            <a:r>
              <a:rPr lang="ru-RU" sz="3200" dirty="0"/>
              <a:t> для всех пьес Шекспира, чтобы найти Брут и Цезарь, а затем удалить строки, содержащие </a:t>
            </a:r>
            <a:r>
              <a:rPr lang="ru-RU" sz="3200" dirty="0" err="1"/>
              <a:t>Кальпурнию</a:t>
            </a:r>
            <a:r>
              <a:rPr lang="ru-RU" sz="3200" dirty="0"/>
              <a:t>?</a:t>
            </a:r>
          </a:p>
          <a:p>
            <a:pPr marL="0" indent="0" fontAlgn="base">
              <a:buNone/>
            </a:pPr>
            <a:r>
              <a:rPr lang="ru-RU" sz="3200" dirty="0" smtClean="0"/>
              <a:t>• </a:t>
            </a:r>
            <a:r>
              <a:rPr lang="ru-RU" sz="3200" dirty="0"/>
              <a:t>Почему это не ответ?</a:t>
            </a:r>
          </a:p>
          <a:p>
            <a:pPr marL="0" indent="0" fontAlgn="base">
              <a:buNone/>
            </a:pPr>
            <a:r>
              <a:rPr lang="ru-RU" sz="3200" dirty="0" smtClean="0"/>
              <a:t>– </a:t>
            </a:r>
            <a:r>
              <a:rPr lang="ru-RU" sz="3200" dirty="0"/>
              <a:t>Медленно (для больших корпусов</a:t>
            </a:r>
            <a:r>
              <a:rPr lang="ru-RU" sz="3200" dirty="0" smtClean="0"/>
              <a:t>)</a:t>
            </a:r>
          </a:p>
          <a:p>
            <a:pPr marL="0" indent="0" fontAlgn="base">
              <a:buNone/>
            </a:pPr>
            <a:r>
              <a:rPr lang="ru-RU" sz="3200" dirty="0" smtClean="0"/>
              <a:t>– </a:t>
            </a:r>
            <a:r>
              <a:rPr lang="ru-RU" sz="3200" dirty="0"/>
              <a:t>НЕ </a:t>
            </a:r>
            <a:r>
              <a:rPr lang="ru-RU" sz="3200" dirty="0" err="1"/>
              <a:t>Кальпурния</a:t>
            </a:r>
            <a:r>
              <a:rPr lang="ru-RU" sz="3200" dirty="0"/>
              <a:t> — это </a:t>
            </a:r>
            <a:r>
              <a:rPr lang="ru-RU" sz="3200" dirty="0" smtClean="0"/>
              <a:t>нетривиально</a:t>
            </a:r>
          </a:p>
          <a:p>
            <a:pPr marL="0" indent="0" fontAlgn="base">
              <a:buNone/>
            </a:pPr>
            <a:r>
              <a:rPr lang="ru-RU" sz="3200" dirty="0" smtClean="0"/>
              <a:t>– </a:t>
            </a:r>
            <a:r>
              <a:rPr lang="ru-RU" sz="3200" dirty="0"/>
              <a:t>Другие операции (например, найти слово </a:t>
            </a:r>
            <a:r>
              <a:rPr lang="ru-RU" sz="3200" dirty="0" smtClean="0"/>
              <a:t>«римляне» (</a:t>
            </a:r>
            <a:r>
              <a:rPr lang="en-US" sz="3200" b="1" i="1" dirty="0">
                <a:ea typeface="ＭＳ Ｐゴシック" charset="0"/>
              </a:rPr>
              <a:t>Romans</a:t>
            </a:r>
            <a:r>
              <a:rPr lang="ru-RU" sz="3200" dirty="0" smtClean="0"/>
              <a:t>)  </a:t>
            </a:r>
            <a:r>
              <a:rPr lang="ru-RU" sz="3200" dirty="0"/>
              <a:t>рядом со словом </a:t>
            </a:r>
            <a:r>
              <a:rPr lang="ru-RU" sz="3200" dirty="0" smtClean="0"/>
              <a:t>«соотечественники» (</a:t>
            </a:r>
            <a:r>
              <a:rPr lang="en-US" sz="3200" b="1" i="1" dirty="0">
                <a:ea typeface="ＭＳ Ｐゴシック" charset="0"/>
              </a:rPr>
              <a:t>countrymen</a:t>
            </a:r>
            <a:r>
              <a:rPr lang="ru-RU" sz="3200" dirty="0" smtClean="0"/>
              <a:t>) ) </a:t>
            </a:r>
            <a:r>
              <a:rPr lang="ru-RU" sz="3200" dirty="0"/>
              <a:t>не </a:t>
            </a:r>
            <a:r>
              <a:rPr lang="ru-RU" sz="3200" dirty="0" smtClean="0"/>
              <a:t>выполнимы</a:t>
            </a:r>
          </a:p>
          <a:p>
            <a:pPr marL="0" indent="0" fontAlgn="base">
              <a:buNone/>
            </a:pPr>
            <a:r>
              <a:rPr lang="ru-RU" sz="3200" dirty="0" smtClean="0"/>
              <a:t>– </a:t>
            </a:r>
            <a:r>
              <a:rPr lang="ru-RU" sz="3200" dirty="0"/>
              <a:t>Ранжированный поиск (лучшие документы для возврата)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880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Матрицы инцидентности терм-документов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11</a:t>
            </a:fld>
            <a:endParaRPr lang="ru-RU" noProof="0" dirty="0"/>
          </a:p>
        </p:txBody>
      </p:sp>
      <p:graphicFrame>
        <p:nvGraphicFramePr>
          <p:cNvPr id="8" name="Object 1028"/>
          <p:cNvGraphicFramePr>
            <a:graphicFrameLocks noGrp="1" noChangeAspect="1"/>
          </p:cNvGraphicFramePr>
          <p:nvPr>
            <p:ph idx="1"/>
          </p:nvPr>
        </p:nvGraphicFramePr>
        <p:xfrm>
          <a:off x="651668" y="1945481"/>
          <a:ext cx="10888663" cy="335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Worksheet" r:id="rId3" imgW="10888920" imgH="3355200" progId="Excel.Sheet.8">
                  <p:embed/>
                </p:oleObj>
              </mc:Choice>
              <mc:Fallback>
                <p:oleObj name="Worksheet" r:id="rId3" imgW="10888920" imgH="3355200" progId="Excel.Sheet.8">
                  <p:embed/>
                  <p:pic>
                    <p:nvPicPr>
                      <p:cNvPr id="17411" name="Object 102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" y="1945481"/>
                        <a:ext cx="10888663" cy="335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460739" y="5499340"/>
            <a:ext cx="3978275" cy="7016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000" b="1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Brutus</a:t>
            </a:r>
            <a:r>
              <a:rPr lang="en-US" altLang="ru-RU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 </a:t>
            </a:r>
            <a:r>
              <a:rPr lang="en-US" altLang="ru-RU" sz="2000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AND</a:t>
            </a:r>
            <a:r>
              <a:rPr lang="en-US" altLang="ru-RU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 </a:t>
            </a:r>
            <a:r>
              <a:rPr lang="en-US" altLang="ru-RU" sz="2000" b="1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Caesar</a:t>
            </a:r>
            <a:r>
              <a:rPr lang="en-US" altLang="ru-RU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 </a:t>
            </a:r>
            <a:r>
              <a:rPr lang="en-US" altLang="ru-RU" sz="2000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BUT</a:t>
            </a:r>
            <a:r>
              <a:rPr lang="en-US" altLang="ru-RU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 </a:t>
            </a:r>
            <a:r>
              <a:rPr lang="en-US" altLang="ru-RU" sz="2000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NOT</a:t>
            </a:r>
            <a:r>
              <a:rPr lang="en-US" altLang="ru-RU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 </a:t>
            </a:r>
            <a:r>
              <a:rPr lang="en-US" altLang="ru-RU" sz="2000" b="1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Calpurnia</a:t>
            </a:r>
          </a:p>
        </p:txBody>
      </p:sp>
    </p:spTree>
    <p:extLst>
      <p:ext uri="{BB962C8B-B14F-4D97-AF65-F5344CB8AC3E}">
        <p14:creationId xmlns:p14="http://schemas.microsoft.com/office/powerpoint/2010/main" val="186518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Векторы инцидентности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81128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• Итак, у нас есть вектор 0/1 для каждого термина</a:t>
            </a:r>
            <a:r>
              <a:rPr lang="ru-RU" sz="2600" dirty="0" smtClean="0"/>
              <a:t>.</a:t>
            </a:r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Чтобы ответить на запрос: возьмите векторы для Брута, Цезаря и </a:t>
            </a:r>
            <a:r>
              <a:rPr lang="ru-RU" sz="2600" dirty="0" err="1"/>
              <a:t>Кальпурнии</a:t>
            </a:r>
            <a:r>
              <a:rPr lang="ru-RU" sz="2600" dirty="0"/>
              <a:t> (дополненные) и выполните побитовое И</a:t>
            </a:r>
            <a:r>
              <a:rPr lang="ru-RU" sz="2600" dirty="0" smtClean="0"/>
              <a:t>.</a:t>
            </a:r>
          </a:p>
          <a:p>
            <a:pPr marL="0" indent="0">
              <a:buNone/>
            </a:pPr>
            <a:r>
              <a:rPr lang="en-US" sz="2600" dirty="0"/>
              <a:t>110100 AND</a:t>
            </a:r>
          </a:p>
          <a:p>
            <a:pPr marL="0" indent="0">
              <a:buNone/>
            </a:pPr>
            <a:r>
              <a:rPr lang="en-US" sz="2600" dirty="0"/>
              <a:t>110111 AND</a:t>
            </a:r>
          </a:p>
          <a:p>
            <a:pPr marL="0" indent="0">
              <a:buNone/>
            </a:pPr>
            <a:r>
              <a:rPr lang="en-US" sz="2600" dirty="0"/>
              <a:t>101111 = </a:t>
            </a:r>
          </a:p>
          <a:p>
            <a:pPr marL="0" indent="0">
              <a:buNone/>
            </a:pPr>
            <a:r>
              <a:rPr lang="en-US" sz="2600" b="1" dirty="0"/>
              <a:t>100100</a:t>
            </a:r>
          </a:p>
          <a:p>
            <a:pPr marL="0" indent="0">
              <a:buNone/>
            </a:pP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12</a:t>
            </a:fld>
            <a:endParaRPr lang="ru-RU" noProof="0" dirty="0"/>
          </a:p>
        </p:txBody>
      </p:sp>
      <p:graphicFrame>
        <p:nvGraphicFramePr>
          <p:cNvPr id="7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529880"/>
              </p:ext>
            </p:extLst>
          </p:nvPr>
        </p:nvGraphicFramePr>
        <p:xfrm>
          <a:off x="2764766" y="2438012"/>
          <a:ext cx="8390066" cy="259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Worksheet" r:id="rId3" imgW="10888920" imgH="3355200" progId="Excel.Sheet.8">
                  <p:embed/>
                </p:oleObj>
              </mc:Choice>
              <mc:Fallback>
                <p:oleObj name="Worksheet" r:id="rId3" imgW="10888920" imgH="3355200" progId="Excel.Sheet.8">
                  <p:embed/>
                  <p:pic>
                    <p:nvPicPr>
                      <p:cNvPr id="18438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766" y="2438012"/>
                        <a:ext cx="8390066" cy="259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52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Ответы на запрос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81128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• Антоний и Клеопатра, Акт III, Сцена </a:t>
            </a:r>
            <a:r>
              <a:rPr lang="ru-RU" sz="2600" dirty="0" err="1"/>
              <a:t>ii</a:t>
            </a:r>
            <a:endParaRPr lang="ru-RU" sz="2600" dirty="0"/>
          </a:p>
          <a:p>
            <a:pPr marL="0" indent="0">
              <a:buNone/>
            </a:pPr>
            <a:r>
              <a:rPr lang="ru-RU" sz="2600" dirty="0" err="1" smtClean="0"/>
              <a:t>Агриппа</a:t>
            </a:r>
            <a:r>
              <a:rPr lang="ru-RU" sz="2600" dirty="0" smtClean="0"/>
              <a:t> </a:t>
            </a:r>
            <a:r>
              <a:rPr lang="ru-RU" sz="2600" dirty="0"/>
              <a:t>[в сторону ДОМИЦИЮ ЭНОБАРБУСУ]: Почему, </a:t>
            </a:r>
            <a:r>
              <a:rPr lang="ru-RU" sz="2600" dirty="0" err="1"/>
              <a:t>Энобарбус</a:t>
            </a:r>
            <a:r>
              <a:rPr lang="ru-RU" sz="2600" dirty="0"/>
              <a:t>,</a:t>
            </a:r>
          </a:p>
          <a:p>
            <a:pPr marL="0" indent="0">
              <a:buNone/>
            </a:pPr>
            <a:r>
              <a:rPr lang="ru-RU" sz="2600" dirty="0" smtClean="0"/>
              <a:t>Когда </a:t>
            </a:r>
            <a:r>
              <a:rPr lang="ru-RU" sz="2600" dirty="0"/>
              <a:t>Антоний нашел Юлия Цезаря мертвым, Он почти рычал; и он плакал, Когда в Филиппах он нашел Брута убитым.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• Гамлет, Акт III, Сцена </a:t>
            </a:r>
            <a:r>
              <a:rPr lang="ru-RU" sz="2600" dirty="0" err="1"/>
              <a:t>ii</a:t>
            </a:r>
            <a:endParaRPr lang="ru-RU" sz="2600" dirty="0"/>
          </a:p>
          <a:p>
            <a:pPr marL="0" indent="0">
              <a:buNone/>
            </a:pPr>
            <a:r>
              <a:rPr lang="ru-RU" sz="2600" dirty="0" smtClean="0"/>
              <a:t>Лорд </a:t>
            </a:r>
            <a:r>
              <a:rPr lang="ru-RU" sz="2600" dirty="0" err="1"/>
              <a:t>Полониус</a:t>
            </a:r>
            <a:r>
              <a:rPr lang="ru-RU" sz="2600" dirty="0"/>
              <a:t>: Я играл Юлия Цезаря </a:t>
            </a:r>
            <a:endParaRPr lang="ru-RU" sz="2600" dirty="0" smtClean="0"/>
          </a:p>
          <a:p>
            <a:pPr marL="0" indent="0">
              <a:buNone/>
            </a:pPr>
            <a:r>
              <a:rPr lang="ru-RU" sz="2600" dirty="0" smtClean="0"/>
              <a:t>Я </a:t>
            </a:r>
            <a:r>
              <a:rPr lang="ru-RU" sz="2600" dirty="0"/>
              <a:t>был убит в Капитолии; Брут убил меня.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13</a:t>
            </a:fld>
            <a:endParaRPr lang="ru-RU" noProof="0" dirty="0"/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281" y="2801637"/>
            <a:ext cx="19748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303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Большие коллекции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81128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Рассмотрим N = 1 миллион документов, каждый из которых содержит около 1000 слов.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• В среднем 6 байт/слово, включая пробелы и знаки препинания</a:t>
            </a:r>
          </a:p>
          <a:p>
            <a:pPr marL="0" indent="0">
              <a:buNone/>
            </a:pPr>
            <a:r>
              <a:rPr lang="ru-RU" sz="2600" dirty="0" smtClean="0"/>
              <a:t>Итого </a:t>
            </a:r>
            <a:r>
              <a:rPr lang="ru-RU" sz="2600" dirty="0"/>
              <a:t>6 ГБ данных в документах.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• Предположим, что среди них M = 500K </a:t>
            </a:r>
            <a:r>
              <a:rPr lang="ru-RU" sz="2600" dirty="0">
                <a:solidFill>
                  <a:srgbClr val="FF0000"/>
                </a:solidFill>
              </a:rPr>
              <a:t>различных</a:t>
            </a:r>
            <a:r>
              <a:rPr lang="ru-RU" sz="2600" dirty="0"/>
              <a:t> терминов.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02396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7262762" cy="432000"/>
          </a:xfrm>
        </p:spPr>
        <p:txBody>
          <a:bodyPr/>
          <a:lstStyle/>
          <a:p>
            <a:r>
              <a:rPr lang="ru-RU" dirty="0" smtClean="0"/>
              <a:t>Такую матрицу нельзя построить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81128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Матрица 500K x 1M содержит полтриллиона 0 и 1.</a:t>
            </a:r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Но в ней не более одного миллиарда 1.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Почему?</a:t>
            </a:r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Матрица крайне разрежена.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• Какое лучшее представление?</a:t>
            </a:r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Мы записываем только позиции 1.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83201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Рисунок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Полилиния 5" descr="Пустой контрастный элемент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1" name="Надпись 30" descr="Акцент флага для заголовка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21" name="Равнобедренный треугольник 20" descr="Акцент тени для заголовка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117" y="1816508"/>
            <a:ext cx="4459766" cy="3411099"/>
          </a:xfrm>
        </p:spPr>
        <p:txBody>
          <a:bodyPr rtlCol="0"/>
          <a:lstStyle/>
          <a:p>
            <a:r>
              <a:rPr lang="ru-RU" b="0" dirty="0"/>
              <a:t>Инвертированный индекс</a:t>
            </a:r>
            <a:br>
              <a:rPr lang="ru-RU" b="0" dirty="0"/>
            </a:br>
            <a:r>
              <a:rPr lang="ru-RU" b="0" dirty="0" smtClean="0"/>
              <a:t>Ключевая </a:t>
            </a:r>
            <a:r>
              <a:rPr lang="ru-RU" b="0" dirty="0"/>
              <a:t>структура данных, лежащая в основе современного ИП</a:t>
            </a:r>
            <a:endParaRPr lang="ru-RU" sz="5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258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Инвертированный индекс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Inverted </a:t>
            </a:r>
            <a:r>
              <a:rPr lang="en-US" sz="2600" dirty="0" smtClean="0"/>
              <a:t>index</a:t>
            </a:r>
            <a:endParaRPr lang="ru-RU" sz="2600" dirty="0" smtClean="0"/>
          </a:p>
          <a:p>
            <a:pPr marL="0" indent="0">
              <a:buNone/>
            </a:pPr>
            <a:r>
              <a:rPr lang="ru-RU" sz="2600" dirty="0"/>
              <a:t>• Для каждого термина t мы должны хранить список </a:t>
            </a:r>
            <a:r>
              <a:rPr lang="ru-RU" sz="2600" dirty="0" smtClean="0"/>
              <a:t>всех документов</a:t>
            </a:r>
            <a:r>
              <a:rPr lang="ru-RU" sz="2600" dirty="0"/>
              <a:t>, которые содержат t.</a:t>
            </a:r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Идентифицируйте каждый документ по </a:t>
            </a:r>
            <a:r>
              <a:rPr lang="ru-RU" sz="2600" dirty="0" err="1"/>
              <a:t>docID</a:t>
            </a:r>
            <a:r>
              <a:rPr lang="ru-RU" sz="2600" dirty="0"/>
              <a:t>, серийному номеру документа</a:t>
            </a:r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Можно ли использовать массивы фиксированного размера для этого?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17</a:t>
            </a:fld>
            <a:endParaRPr lang="ru-RU" noProof="0" dirty="0"/>
          </a:p>
        </p:txBody>
      </p:sp>
      <p:sp>
        <p:nvSpPr>
          <p:cNvPr id="8" name="Text Box 54"/>
          <p:cNvSpPr txBox="1">
            <a:spLocks noChangeArrowheads="1"/>
          </p:cNvSpPr>
          <p:nvPr/>
        </p:nvSpPr>
        <p:spPr bwMode="auto">
          <a:xfrm>
            <a:off x="4077418" y="5446980"/>
            <a:ext cx="5101087" cy="83099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Что произойдет, если слово Цезарь будет добавлено в документ 14?</a:t>
            </a:r>
            <a:endParaRPr lang="en-US" dirty="0">
              <a:latin typeface="+mn-lt"/>
            </a:endParaRPr>
          </a:p>
        </p:txBody>
      </p:sp>
      <p:grpSp>
        <p:nvGrpSpPr>
          <p:cNvPr id="9" name="Group 1"/>
          <p:cNvGrpSpPr>
            <a:grpSpLocks/>
          </p:cNvGrpSpPr>
          <p:nvPr/>
        </p:nvGrpSpPr>
        <p:grpSpPr bwMode="auto">
          <a:xfrm>
            <a:off x="1562819" y="3618180"/>
            <a:ext cx="7854950" cy="1528763"/>
            <a:chOff x="381000" y="3733800"/>
            <a:chExt cx="7854950" cy="1528763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81000" y="3733800"/>
              <a:ext cx="1092200" cy="4619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Arial Unicode MS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latin typeface="+mn-lt"/>
                </a:rPr>
                <a:t>Brutus</a:t>
              </a:r>
            </a:p>
          </p:txBody>
        </p:sp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381000" y="4791075"/>
              <a:ext cx="1490663" cy="4619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Arial Unicode MS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latin typeface="+mn-lt"/>
                </a:rPr>
                <a:t>Calpurnia</a:t>
              </a: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381000" y="4267200"/>
              <a:ext cx="12954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Arial Unicode MS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latin typeface="+mn-lt"/>
                </a:rPr>
                <a:t>Caesar</a:t>
              </a:r>
            </a:p>
          </p:txBody>
        </p:sp>
        <p:sp>
          <p:nvSpPr>
            <p:cNvPr id="13" name="AutoShape 7"/>
            <p:cNvSpPr>
              <a:spLocks noChangeArrowheads="1"/>
            </p:cNvSpPr>
            <p:nvPr/>
          </p:nvSpPr>
          <p:spPr bwMode="auto">
            <a:xfrm>
              <a:off x="2057400" y="3810000"/>
              <a:ext cx="1143000" cy="228600"/>
            </a:xfrm>
            <a:custGeom>
              <a:avLst/>
              <a:gdLst>
                <a:gd name="T0" fmla="*/ 2147483646 w 21600"/>
                <a:gd name="T1" fmla="*/ 0 h 21600"/>
                <a:gd name="T2" fmla="*/ 0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ru-RU"/>
            </a:p>
          </p:txBody>
        </p:sp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2057400" y="4343400"/>
              <a:ext cx="1143000" cy="228600"/>
            </a:xfrm>
            <a:custGeom>
              <a:avLst/>
              <a:gdLst>
                <a:gd name="T0" fmla="*/ 2147483646 w 21600"/>
                <a:gd name="T1" fmla="*/ 0 h 21600"/>
                <a:gd name="T2" fmla="*/ 0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ru-RU"/>
            </a:p>
          </p:txBody>
        </p:sp>
        <p:grpSp>
          <p:nvGrpSpPr>
            <p:cNvPr id="15" name="Group 26"/>
            <p:cNvGrpSpPr>
              <a:grpSpLocks/>
            </p:cNvGrpSpPr>
            <p:nvPr/>
          </p:nvGrpSpPr>
          <p:grpSpPr bwMode="auto">
            <a:xfrm>
              <a:off x="3276600" y="4876800"/>
              <a:ext cx="4876800" cy="304800"/>
              <a:chOff x="2064" y="2448"/>
              <a:chExt cx="3072" cy="192"/>
            </a:xfrm>
          </p:grpSpPr>
          <p:sp>
            <p:nvSpPr>
              <p:cNvPr id="52" name="Rectangle 27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3" name="Rectangle 28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4" name="Rectangle 29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5" name="Rectangle 30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6" name="Line 31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ru-RU"/>
              </a:p>
            </p:txBody>
          </p:sp>
        </p:grpSp>
        <p:grpSp>
          <p:nvGrpSpPr>
            <p:cNvPr id="16" name="Group 51"/>
            <p:cNvGrpSpPr>
              <a:grpSpLocks/>
            </p:cNvGrpSpPr>
            <p:nvPr/>
          </p:nvGrpSpPr>
          <p:grpSpPr bwMode="auto">
            <a:xfrm>
              <a:off x="3276600" y="4267200"/>
              <a:ext cx="4959350" cy="461963"/>
              <a:chOff x="2064" y="2688"/>
              <a:chExt cx="3124" cy="291"/>
            </a:xfrm>
          </p:grpSpPr>
          <p:grpSp>
            <p:nvGrpSpPr>
              <p:cNvPr id="38" name="Group 20"/>
              <p:cNvGrpSpPr>
                <a:grpSpLocks/>
              </p:cNvGrpSpPr>
              <p:nvPr/>
            </p:nvGrpSpPr>
            <p:grpSpPr bwMode="auto">
              <a:xfrm>
                <a:off x="2064" y="2736"/>
                <a:ext cx="3072" cy="192"/>
                <a:chOff x="2064" y="2448"/>
                <a:chExt cx="3072" cy="192"/>
              </a:xfrm>
            </p:grpSpPr>
            <p:sp>
              <p:nvSpPr>
                <p:cNvPr id="47" name="Rectangle 21"/>
                <p:cNvSpPr>
                  <a:spLocks noChangeArrowheads="1"/>
                </p:cNvSpPr>
                <p:nvPr/>
              </p:nvSpPr>
              <p:spPr bwMode="auto">
                <a:xfrm>
                  <a:off x="2064" y="2448"/>
                  <a:ext cx="3072" cy="19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ru-RU" altLang="ru-RU" sz="1800"/>
                </a:p>
              </p:txBody>
            </p:sp>
            <p:sp>
              <p:nvSpPr>
                <p:cNvPr id="48" name="Rectangle 22"/>
                <p:cNvSpPr>
                  <a:spLocks noChangeArrowheads="1"/>
                </p:cNvSpPr>
                <p:nvPr/>
              </p:nvSpPr>
              <p:spPr bwMode="auto">
                <a:xfrm>
                  <a:off x="2448" y="2448"/>
                  <a:ext cx="230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ru-RU" altLang="ru-RU" sz="1800"/>
                </a:p>
              </p:txBody>
            </p:sp>
            <p:sp>
              <p:nvSpPr>
                <p:cNvPr id="49" name="Rectangle 23"/>
                <p:cNvSpPr>
                  <a:spLocks noChangeArrowheads="1"/>
                </p:cNvSpPr>
                <p:nvPr/>
              </p:nvSpPr>
              <p:spPr bwMode="auto">
                <a:xfrm>
                  <a:off x="2832" y="2448"/>
                  <a:ext cx="15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ru-RU" altLang="ru-RU" sz="1800"/>
                </a:p>
              </p:txBody>
            </p:sp>
            <p:sp>
              <p:nvSpPr>
                <p:cNvPr id="50" name="Rectangle 24"/>
                <p:cNvSpPr>
                  <a:spLocks noChangeArrowheads="1"/>
                </p:cNvSpPr>
                <p:nvPr/>
              </p:nvSpPr>
              <p:spPr bwMode="auto">
                <a:xfrm>
                  <a:off x="3216" y="2448"/>
                  <a:ext cx="76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ru-RU" altLang="ru-RU" sz="1800"/>
                </a:p>
              </p:txBody>
            </p:sp>
            <p:sp>
              <p:nvSpPr>
                <p:cNvPr id="51" name="Line 25"/>
                <p:cNvSpPr>
                  <a:spLocks noChangeShapeType="1"/>
                </p:cNvSpPr>
                <p:nvPr/>
              </p:nvSpPr>
              <p:spPr bwMode="auto">
                <a:xfrm>
                  <a:off x="3600" y="24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ru-RU"/>
                </a:p>
              </p:txBody>
            </p:sp>
          </p:grpSp>
          <p:sp>
            <p:nvSpPr>
              <p:cNvPr id="39" name="Text Box 32"/>
              <p:cNvSpPr txBox="1">
                <a:spLocks noChangeArrowheads="1"/>
              </p:cNvSpPr>
              <p:nvPr/>
            </p:nvSpPr>
            <p:spPr bwMode="auto">
              <a:xfrm>
                <a:off x="2150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1</a:t>
                </a:r>
              </a:p>
            </p:txBody>
          </p:sp>
          <p:sp>
            <p:nvSpPr>
              <p:cNvPr id="40" name="Text Box 33"/>
              <p:cNvSpPr txBox="1">
                <a:spLocks noChangeArrowheads="1"/>
              </p:cNvSpPr>
              <p:nvPr/>
            </p:nvSpPr>
            <p:spPr bwMode="auto">
              <a:xfrm>
                <a:off x="2582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2</a:t>
                </a:r>
              </a:p>
            </p:txBody>
          </p:sp>
          <p:sp>
            <p:nvSpPr>
              <p:cNvPr id="41" name="Text Box 34"/>
              <p:cNvSpPr txBox="1">
                <a:spLocks noChangeArrowheads="1"/>
              </p:cNvSpPr>
              <p:nvPr/>
            </p:nvSpPr>
            <p:spPr bwMode="auto">
              <a:xfrm>
                <a:off x="2945" y="2688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4</a:t>
                </a:r>
              </a:p>
            </p:txBody>
          </p:sp>
          <p:sp>
            <p:nvSpPr>
              <p:cNvPr id="42" name="Text Box 35"/>
              <p:cNvSpPr txBox="1">
                <a:spLocks noChangeArrowheads="1"/>
              </p:cNvSpPr>
              <p:nvPr/>
            </p:nvSpPr>
            <p:spPr bwMode="auto">
              <a:xfrm>
                <a:off x="3312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5</a:t>
                </a:r>
              </a:p>
            </p:txBody>
          </p:sp>
          <p:sp>
            <p:nvSpPr>
              <p:cNvPr id="43" name="Text Box 36"/>
              <p:cNvSpPr txBox="1">
                <a:spLocks noChangeArrowheads="1"/>
              </p:cNvSpPr>
              <p:nvPr/>
            </p:nvSpPr>
            <p:spPr bwMode="auto">
              <a:xfrm>
                <a:off x="3665" y="2688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6</a:t>
                </a:r>
              </a:p>
            </p:txBody>
          </p:sp>
          <p:sp>
            <p:nvSpPr>
              <p:cNvPr id="44" name="Text Box 37"/>
              <p:cNvSpPr txBox="1">
                <a:spLocks noChangeArrowheads="1"/>
              </p:cNvSpPr>
              <p:nvPr/>
            </p:nvSpPr>
            <p:spPr bwMode="auto">
              <a:xfrm>
                <a:off x="4049" y="2688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16</a:t>
                </a:r>
              </a:p>
            </p:txBody>
          </p:sp>
          <p:sp>
            <p:nvSpPr>
              <p:cNvPr id="45" name="Text Box 38"/>
              <p:cNvSpPr txBox="1">
                <a:spLocks noChangeArrowheads="1"/>
              </p:cNvSpPr>
              <p:nvPr/>
            </p:nvSpPr>
            <p:spPr bwMode="auto">
              <a:xfrm>
                <a:off x="4416" y="2688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57</a:t>
                </a:r>
              </a:p>
            </p:txBody>
          </p:sp>
          <p:sp>
            <p:nvSpPr>
              <p:cNvPr id="46" name="Text Box 39"/>
              <p:cNvSpPr txBox="1">
                <a:spLocks noChangeArrowheads="1"/>
              </p:cNvSpPr>
              <p:nvPr/>
            </p:nvSpPr>
            <p:spPr bwMode="auto">
              <a:xfrm>
                <a:off x="4704" y="2688"/>
                <a:ext cx="48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132</a:t>
                </a:r>
              </a:p>
            </p:txBody>
          </p:sp>
        </p:grpSp>
        <p:grpSp>
          <p:nvGrpSpPr>
            <p:cNvPr id="17" name="Group 52"/>
            <p:cNvGrpSpPr>
              <a:grpSpLocks/>
            </p:cNvGrpSpPr>
            <p:nvPr/>
          </p:nvGrpSpPr>
          <p:grpSpPr bwMode="auto">
            <a:xfrm>
              <a:off x="3276600" y="3733800"/>
              <a:ext cx="4876800" cy="461963"/>
              <a:chOff x="2064" y="2400"/>
              <a:chExt cx="3072" cy="291"/>
            </a:xfrm>
          </p:grpSpPr>
          <p:grpSp>
            <p:nvGrpSpPr>
              <p:cNvPr id="24" name="Group 19"/>
              <p:cNvGrpSpPr>
                <a:grpSpLocks/>
              </p:cNvGrpSpPr>
              <p:nvPr/>
            </p:nvGrpSpPr>
            <p:grpSpPr bwMode="auto">
              <a:xfrm>
                <a:off x="2064" y="2448"/>
                <a:ext cx="3072" cy="192"/>
                <a:chOff x="2064" y="2448"/>
                <a:chExt cx="3072" cy="192"/>
              </a:xfrm>
            </p:grpSpPr>
            <p:sp>
              <p:nvSpPr>
                <p:cNvPr id="33" name="Rectangle 11"/>
                <p:cNvSpPr>
                  <a:spLocks noChangeArrowheads="1"/>
                </p:cNvSpPr>
                <p:nvPr/>
              </p:nvSpPr>
              <p:spPr bwMode="auto">
                <a:xfrm>
                  <a:off x="2064" y="2448"/>
                  <a:ext cx="3072" cy="19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ru-RU" altLang="ru-RU" sz="1800"/>
                </a:p>
              </p:txBody>
            </p:sp>
            <p:sp>
              <p:nvSpPr>
                <p:cNvPr id="34" name="Rectangle 13"/>
                <p:cNvSpPr>
                  <a:spLocks noChangeArrowheads="1"/>
                </p:cNvSpPr>
                <p:nvPr/>
              </p:nvSpPr>
              <p:spPr bwMode="auto">
                <a:xfrm>
                  <a:off x="2448" y="2448"/>
                  <a:ext cx="230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ru-RU" altLang="ru-RU" sz="1800"/>
                </a:p>
              </p:txBody>
            </p:sp>
            <p:sp>
              <p:nvSpPr>
                <p:cNvPr id="35" name="Rectangle 15"/>
                <p:cNvSpPr>
                  <a:spLocks noChangeArrowheads="1"/>
                </p:cNvSpPr>
                <p:nvPr/>
              </p:nvSpPr>
              <p:spPr bwMode="auto">
                <a:xfrm>
                  <a:off x="2832" y="2448"/>
                  <a:ext cx="15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ru-RU" altLang="ru-RU" sz="1800"/>
                </a:p>
              </p:txBody>
            </p:sp>
            <p:sp>
              <p:nvSpPr>
                <p:cNvPr id="36" name="Rectangle 16"/>
                <p:cNvSpPr>
                  <a:spLocks noChangeArrowheads="1"/>
                </p:cNvSpPr>
                <p:nvPr/>
              </p:nvSpPr>
              <p:spPr bwMode="auto">
                <a:xfrm>
                  <a:off x="3216" y="2448"/>
                  <a:ext cx="76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ru-RU" altLang="ru-RU" sz="1800"/>
                </a:p>
              </p:txBody>
            </p:sp>
            <p:sp>
              <p:nvSpPr>
                <p:cNvPr id="37" name="Line 18"/>
                <p:cNvSpPr>
                  <a:spLocks noChangeShapeType="1"/>
                </p:cNvSpPr>
                <p:nvPr/>
              </p:nvSpPr>
              <p:spPr bwMode="auto">
                <a:xfrm>
                  <a:off x="3600" y="24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ru-RU"/>
                </a:p>
              </p:txBody>
            </p:sp>
          </p:grpSp>
          <p:sp>
            <p:nvSpPr>
              <p:cNvPr id="25" name="Text Box 40"/>
              <p:cNvSpPr txBox="1">
                <a:spLocks noChangeArrowheads="1"/>
              </p:cNvSpPr>
              <p:nvPr/>
            </p:nvSpPr>
            <p:spPr bwMode="auto">
              <a:xfrm>
                <a:off x="2160" y="2400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1</a:t>
                </a:r>
              </a:p>
            </p:txBody>
          </p:sp>
          <p:sp>
            <p:nvSpPr>
              <p:cNvPr id="26" name="Text Box 41"/>
              <p:cNvSpPr txBox="1">
                <a:spLocks noChangeArrowheads="1"/>
              </p:cNvSpPr>
              <p:nvPr/>
            </p:nvSpPr>
            <p:spPr bwMode="auto">
              <a:xfrm>
                <a:off x="2513" y="2400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2</a:t>
                </a:r>
              </a:p>
            </p:txBody>
          </p:sp>
          <p:sp>
            <p:nvSpPr>
              <p:cNvPr id="27" name="Text Box 42"/>
              <p:cNvSpPr txBox="1">
                <a:spLocks noChangeArrowheads="1"/>
              </p:cNvSpPr>
              <p:nvPr/>
            </p:nvSpPr>
            <p:spPr bwMode="auto">
              <a:xfrm>
                <a:off x="2928" y="2400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4</a:t>
                </a:r>
              </a:p>
            </p:txBody>
          </p:sp>
          <p:sp>
            <p:nvSpPr>
              <p:cNvPr id="28" name="Text Box 43"/>
              <p:cNvSpPr txBox="1">
                <a:spLocks noChangeArrowheads="1"/>
              </p:cNvSpPr>
              <p:nvPr/>
            </p:nvSpPr>
            <p:spPr bwMode="auto">
              <a:xfrm>
                <a:off x="3264" y="2400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11</a:t>
                </a:r>
              </a:p>
            </p:txBody>
          </p:sp>
          <p:sp>
            <p:nvSpPr>
              <p:cNvPr id="29" name="Text Box 44"/>
              <p:cNvSpPr txBox="1">
                <a:spLocks noChangeArrowheads="1"/>
              </p:cNvSpPr>
              <p:nvPr/>
            </p:nvSpPr>
            <p:spPr bwMode="auto">
              <a:xfrm>
                <a:off x="3665" y="2400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31</a:t>
                </a:r>
              </a:p>
            </p:txBody>
          </p:sp>
          <p:sp>
            <p:nvSpPr>
              <p:cNvPr id="30" name="Text Box 45"/>
              <p:cNvSpPr txBox="1">
                <a:spLocks noChangeArrowheads="1"/>
              </p:cNvSpPr>
              <p:nvPr/>
            </p:nvSpPr>
            <p:spPr bwMode="auto">
              <a:xfrm>
                <a:off x="4049" y="2400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45</a:t>
                </a:r>
              </a:p>
            </p:txBody>
          </p:sp>
          <p:sp>
            <p:nvSpPr>
              <p:cNvPr id="31" name="Text Box 46"/>
              <p:cNvSpPr txBox="1">
                <a:spLocks noChangeArrowheads="1"/>
              </p:cNvSpPr>
              <p:nvPr/>
            </p:nvSpPr>
            <p:spPr bwMode="auto">
              <a:xfrm>
                <a:off x="4320" y="2400"/>
                <a:ext cx="48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173</a:t>
                </a:r>
              </a:p>
            </p:txBody>
          </p:sp>
          <p:sp>
            <p:nvSpPr>
              <p:cNvPr id="32" name="Text Box 47"/>
              <p:cNvSpPr txBox="1">
                <a:spLocks noChangeArrowheads="1"/>
              </p:cNvSpPr>
              <p:nvPr/>
            </p:nvSpPr>
            <p:spPr bwMode="auto">
              <a:xfrm>
                <a:off x="4747" y="240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endParaRPr>
              </a:p>
            </p:txBody>
          </p:sp>
        </p:grpSp>
        <p:sp>
          <p:nvSpPr>
            <p:cNvPr id="18" name="Text Box 48"/>
            <p:cNvSpPr txBox="1">
              <a:spLocks noChangeArrowheads="1"/>
            </p:cNvSpPr>
            <p:nvPr/>
          </p:nvSpPr>
          <p:spPr bwMode="auto">
            <a:xfrm>
              <a:off x="3276600" y="4800600"/>
              <a:ext cx="37941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19" name="AutoShape 49"/>
            <p:cNvSpPr>
              <a:spLocks noChangeArrowheads="1"/>
            </p:cNvSpPr>
            <p:nvPr/>
          </p:nvSpPr>
          <p:spPr bwMode="auto">
            <a:xfrm>
              <a:off x="2057400" y="4876800"/>
              <a:ext cx="1143000" cy="228600"/>
            </a:xfrm>
            <a:custGeom>
              <a:avLst/>
              <a:gdLst>
                <a:gd name="T0" fmla="*/ 2147483646 w 21600"/>
                <a:gd name="T1" fmla="*/ 0 h 21600"/>
                <a:gd name="T2" fmla="*/ 0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ru-RU"/>
            </a:p>
          </p:txBody>
        </p:sp>
        <p:sp>
          <p:nvSpPr>
            <p:cNvPr id="20" name="Text Box 50"/>
            <p:cNvSpPr txBox="1">
              <a:spLocks noChangeArrowheads="1"/>
            </p:cNvSpPr>
            <p:nvPr/>
          </p:nvSpPr>
          <p:spPr bwMode="auto">
            <a:xfrm>
              <a:off x="3895725" y="4800600"/>
              <a:ext cx="574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31</a:t>
              </a:r>
            </a:p>
          </p:txBody>
        </p:sp>
        <p:sp>
          <p:nvSpPr>
            <p:cNvPr id="21" name="Text Box 46"/>
            <p:cNvSpPr txBox="1">
              <a:spLocks noChangeArrowheads="1"/>
            </p:cNvSpPr>
            <p:nvPr/>
          </p:nvSpPr>
          <p:spPr bwMode="auto">
            <a:xfrm>
              <a:off x="7467600" y="3733800"/>
              <a:ext cx="768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174</a:t>
              </a:r>
            </a:p>
          </p:txBody>
        </p:sp>
        <p:sp>
          <p:nvSpPr>
            <p:cNvPr id="22" name="Text Box 50"/>
            <p:cNvSpPr txBox="1">
              <a:spLocks noChangeArrowheads="1"/>
            </p:cNvSpPr>
            <p:nvPr/>
          </p:nvSpPr>
          <p:spPr bwMode="auto">
            <a:xfrm>
              <a:off x="4606925" y="4800600"/>
              <a:ext cx="574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54</a:t>
              </a:r>
            </a:p>
          </p:txBody>
        </p:sp>
        <p:sp>
          <p:nvSpPr>
            <p:cNvPr id="23" name="Text Box 50"/>
            <p:cNvSpPr txBox="1">
              <a:spLocks noChangeArrowheads="1"/>
            </p:cNvSpPr>
            <p:nvPr/>
          </p:nvSpPr>
          <p:spPr bwMode="auto">
            <a:xfrm>
              <a:off x="5029200" y="4800600"/>
              <a:ext cx="768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018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Инвертированный индекс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• Нам нужны списки постингов переменного размера</a:t>
            </a:r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На диске непрерывный поток постингов является </a:t>
            </a:r>
            <a:r>
              <a:rPr lang="ru-RU" sz="2600" dirty="0" smtClean="0"/>
              <a:t>нормальным и </a:t>
            </a:r>
            <a:r>
              <a:rPr lang="ru-RU" sz="2600" dirty="0"/>
              <a:t>лучшим</a:t>
            </a:r>
          </a:p>
          <a:p>
            <a:pPr marL="0" indent="0">
              <a:buNone/>
            </a:pPr>
            <a:r>
              <a:rPr lang="ru-RU" sz="2600" dirty="0" smtClean="0"/>
              <a:t>Постинг</a:t>
            </a:r>
            <a:endParaRPr lang="ru-RU" sz="2600" dirty="0"/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В памяти можно использовать связанные списки или массивы переменной длины </a:t>
            </a:r>
            <a:r>
              <a:rPr lang="ru-RU" sz="2600" dirty="0" smtClean="0"/>
              <a:t>(компромисс </a:t>
            </a:r>
            <a:r>
              <a:rPr lang="ru-RU" sz="2600" dirty="0"/>
              <a:t>в размере/легкости вставки</a:t>
            </a:r>
            <a:r>
              <a:rPr lang="ru-RU" sz="2600" dirty="0" smtClean="0"/>
              <a:t>).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18</a:t>
            </a:fld>
            <a:endParaRPr lang="ru-RU" noProof="0" dirty="0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 bwMode="auto">
          <a:xfrm>
            <a:off x="7881668" y="6277243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 rtl="0">
              <a:defRPr lang="ru-ru"/>
            </a:defPPr>
            <a:lvl1pPr marL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C166D0-5BB0-4388-9540-6B481FE36C03}" type="slidenum">
              <a:rPr lang="en-US" altLang="ru-RU" sz="1200" smtClean="0">
                <a:solidFill>
                  <a:srgbClr val="898989"/>
                </a:solidFill>
                <a:ea typeface="ＭＳ Ｐゴシック" panose="020B0600070205080204" pitchFamily="34" charset="-128"/>
                <a:cs typeface="Arial Unicode MS" pitchFamily="34" charset="-128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ru-RU" sz="1200">
              <a:solidFill>
                <a:srgbClr val="898989"/>
              </a:solidFill>
              <a:ea typeface="ＭＳ Ｐゴシック" panose="020B0600070205080204" pitchFamily="34" charset="-128"/>
              <a:cs typeface="Arial Unicode MS" pitchFamily="34" charset="-128"/>
            </a:endParaRPr>
          </a:p>
        </p:txBody>
      </p:sp>
      <p:grpSp>
        <p:nvGrpSpPr>
          <p:cNvPr id="8" name="Group 54"/>
          <p:cNvGrpSpPr>
            <a:grpSpLocks/>
          </p:cNvGrpSpPr>
          <p:nvPr/>
        </p:nvGrpSpPr>
        <p:grpSpPr bwMode="auto">
          <a:xfrm>
            <a:off x="1633268" y="3892818"/>
            <a:ext cx="1666875" cy="2398713"/>
            <a:chOff x="192" y="2502"/>
            <a:chExt cx="1050" cy="1511"/>
          </a:xfrm>
        </p:grpSpPr>
        <p:sp>
          <p:nvSpPr>
            <p:cNvPr id="9" name="AutoShape 46"/>
            <p:cNvSpPr>
              <a:spLocks/>
            </p:cNvSpPr>
            <p:nvPr/>
          </p:nvSpPr>
          <p:spPr bwMode="auto">
            <a:xfrm>
              <a:off x="192" y="2502"/>
              <a:ext cx="144" cy="960"/>
            </a:xfrm>
            <a:prstGeom prst="leftBrace">
              <a:avLst>
                <a:gd name="adj1" fmla="val 55556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0" name="Text Box 47"/>
            <p:cNvSpPr txBox="1">
              <a:spLocks noChangeArrowheads="1"/>
            </p:cNvSpPr>
            <p:nvPr/>
          </p:nvSpPr>
          <p:spPr bwMode="auto">
            <a:xfrm>
              <a:off x="278" y="3725"/>
              <a:ext cx="964" cy="28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i="1">
                  <a:latin typeface="Tahoma" charset="0"/>
                  <a:ea typeface="Arial Unicode MS" charset="0"/>
                  <a:cs typeface="+mn-cs"/>
                </a:rPr>
                <a:t>Dictionary</a:t>
              </a:r>
            </a:p>
          </p:txBody>
        </p:sp>
        <p:cxnSp>
          <p:nvCxnSpPr>
            <p:cNvPr id="11" name="AutoShape 48"/>
            <p:cNvCxnSpPr>
              <a:cxnSpLocks noChangeShapeType="1"/>
              <a:stCxn id="10" idx="1"/>
              <a:endCxn id="9" idx="1"/>
            </p:cNvCxnSpPr>
            <p:nvPr/>
          </p:nvCxnSpPr>
          <p:spPr bwMode="auto">
            <a:xfrm rot="10800000">
              <a:off x="192" y="2982"/>
              <a:ext cx="86" cy="889"/>
            </a:xfrm>
            <a:prstGeom prst="curvedConnector3">
              <a:avLst>
                <a:gd name="adj1" fmla="val 26744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Group 53"/>
          <p:cNvGrpSpPr>
            <a:grpSpLocks/>
          </p:cNvGrpSpPr>
          <p:nvPr/>
        </p:nvGrpSpPr>
        <p:grpSpPr bwMode="auto">
          <a:xfrm>
            <a:off x="4986068" y="5416818"/>
            <a:ext cx="5334000" cy="803275"/>
            <a:chOff x="2352" y="3600"/>
            <a:chExt cx="3360" cy="506"/>
          </a:xfrm>
        </p:grpSpPr>
        <p:sp>
          <p:nvSpPr>
            <p:cNvPr id="13" name="AutoShape 51"/>
            <p:cNvSpPr>
              <a:spLocks/>
            </p:cNvSpPr>
            <p:nvPr/>
          </p:nvSpPr>
          <p:spPr bwMode="auto">
            <a:xfrm rot="-5400000">
              <a:off x="3924" y="2028"/>
              <a:ext cx="216" cy="3360"/>
            </a:xfrm>
            <a:prstGeom prst="leftBrace">
              <a:avLst>
                <a:gd name="adj1" fmla="val 12963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4" name="Text Box 52"/>
            <p:cNvSpPr txBox="1">
              <a:spLocks noChangeArrowheads="1"/>
            </p:cNvSpPr>
            <p:nvPr/>
          </p:nvSpPr>
          <p:spPr bwMode="auto">
            <a:xfrm>
              <a:off x="3600" y="3815"/>
              <a:ext cx="880" cy="291"/>
            </a:xfrm>
            <a:prstGeom prst="rect">
              <a:avLst/>
            </a:prstGeom>
            <a:solidFill>
              <a:srgbClr val="83A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ahoma" panose="020B060403050404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Postings</a:t>
              </a:r>
            </a:p>
          </p:txBody>
        </p:sp>
      </p:grpSp>
      <p:sp>
        <p:nvSpPr>
          <p:cNvPr id="15" name="Text Box 55"/>
          <p:cNvSpPr txBox="1">
            <a:spLocks noChangeArrowheads="1"/>
          </p:cNvSpPr>
          <p:nvPr/>
        </p:nvSpPr>
        <p:spPr bwMode="auto">
          <a:xfrm>
            <a:off x="4452668" y="6205806"/>
            <a:ext cx="5605463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Sorted by docID (more later on why).</a:t>
            </a:r>
          </a:p>
        </p:txBody>
      </p:sp>
      <p:grpSp>
        <p:nvGrpSpPr>
          <p:cNvPr id="16" name="Group 3"/>
          <p:cNvGrpSpPr>
            <a:grpSpLocks/>
          </p:cNvGrpSpPr>
          <p:nvPr/>
        </p:nvGrpSpPr>
        <p:grpSpPr bwMode="auto">
          <a:xfrm>
            <a:off x="8796068" y="2968893"/>
            <a:ext cx="1143000" cy="838200"/>
            <a:chOff x="7467600" y="3048000"/>
            <a:chExt cx="1143000" cy="838200"/>
          </a:xfrm>
        </p:grpSpPr>
        <p:sp>
          <p:nvSpPr>
            <p:cNvPr id="17" name="Rectangle 73"/>
            <p:cNvSpPr>
              <a:spLocks noChangeArrowheads="1"/>
            </p:cNvSpPr>
            <p:nvPr/>
          </p:nvSpPr>
          <p:spPr bwMode="auto">
            <a:xfrm>
              <a:off x="7467600" y="3048000"/>
              <a:ext cx="1143000" cy="4064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rgbClr val="000000"/>
                  </a:solidFill>
                  <a:ea typeface="Arial Unicode MS" charset="0"/>
                  <a:cs typeface="Arial Unicode MS" charset="0"/>
                </a:rPr>
                <a:t>Posting</a:t>
              </a:r>
            </a:p>
          </p:txBody>
        </p:sp>
        <p:sp>
          <p:nvSpPr>
            <p:cNvPr id="18" name="Line 75"/>
            <p:cNvSpPr>
              <a:spLocks noChangeShapeType="1"/>
            </p:cNvSpPr>
            <p:nvPr/>
          </p:nvSpPr>
          <p:spPr bwMode="auto">
            <a:xfrm flipH="1">
              <a:off x="7620000" y="3505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ru-RU"/>
            </a:p>
          </p:txBody>
        </p:sp>
      </p:grp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2084118" y="3807093"/>
            <a:ext cx="109220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>
                <a:ea typeface="Arial Unicode MS" pitchFamily="34" charset="-128"/>
              </a:rPr>
              <a:t>Brutus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2084118" y="4864368"/>
            <a:ext cx="1490663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>
                <a:ea typeface="Arial Unicode MS" pitchFamily="34" charset="-128"/>
              </a:rPr>
              <a:t>Calpurnia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2084118" y="4340493"/>
            <a:ext cx="11493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>
                <a:ea typeface="Arial Unicode MS" pitchFamily="34" charset="-128"/>
              </a:rPr>
              <a:t>Caesar</a:t>
            </a: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auto">
          <a:xfrm>
            <a:off x="3760518" y="3883293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" name="AutoShape 8"/>
          <p:cNvSpPr>
            <a:spLocks noChangeArrowheads="1"/>
          </p:cNvSpPr>
          <p:nvPr/>
        </p:nvSpPr>
        <p:spPr bwMode="auto">
          <a:xfrm>
            <a:off x="3760518" y="4416693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pSp>
        <p:nvGrpSpPr>
          <p:cNvPr id="24" name="Group 26"/>
          <p:cNvGrpSpPr>
            <a:grpSpLocks/>
          </p:cNvGrpSpPr>
          <p:nvPr/>
        </p:nvGrpSpPr>
        <p:grpSpPr bwMode="auto">
          <a:xfrm>
            <a:off x="4979718" y="4950093"/>
            <a:ext cx="4876800" cy="304800"/>
            <a:chOff x="2064" y="2448"/>
            <a:chExt cx="3072" cy="192"/>
          </a:xfrm>
        </p:grpSpPr>
        <p:sp>
          <p:nvSpPr>
            <p:cNvPr id="25" name="Rectangle 27"/>
            <p:cNvSpPr>
              <a:spLocks noChangeArrowheads="1"/>
            </p:cNvSpPr>
            <p:nvPr/>
          </p:nvSpPr>
          <p:spPr bwMode="auto">
            <a:xfrm>
              <a:off x="2064" y="2448"/>
              <a:ext cx="3072" cy="19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26" name="Rectangle 28"/>
            <p:cNvSpPr>
              <a:spLocks noChangeArrowheads="1"/>
            </p:cNvSpPr>
            <p:nvPr/>
          </p:nvSpPr>
          <p:spPr bwMode="auto">
            <a:xfrm>
              <a:off x="2448" y="2448"/>
              <a:ext cx="230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27" name="Rectangle 29"/>
            <p:cNvSpPr>
              <a:spLocks noChangeArrowheads="1"/>
            </p:cNvSpPr>
            <p:nvPr/>
          </p:nvSpPr>
          <p:spPr bwMode="auto">
            <a:xfrm>
              <a:off x="2832" y="2448"/>
              <a:ext cx="15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28" name="Rectangle 30"/>
            <p:cNvSpPr>
              <a:spLocks noChangeArrowheads="1"/>
            </p:cNvSpPr>
            <p:nvPr/>
          </p:nvSpPr>
          <p:spPr bwMode="auto">
            <a:xfrm>
              <a:off x="3216" y="2448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>
              <a:off x="3600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ru-RU"/>
            </a:p>
          </p:txBody>
        </p:sp>
      </p:grpSp>
      <p:grpSp>
        <p:nvGrpSpPr>
          <p:cNvPr id="30" name="Group 51"/>
          <p:cNvGrpSpPr>
            <a:grpSpLocks/>
          </p:cNvGrpSpPr>
          <p:nvPr/>
        </p:nvGrpSpPr>
        <p:grpSpPr bwMode="auto">
          <a:xfrm>
            <a:off x="4979718" y="4340493"/>
            <a:ext cx="4959350" cy="461963"/>
            <a:chOff x="2064" y="2688"/>
            <a:chExt cx="3124" cy="291"/>
          </a:xfrm>
        </p:grpSpPr>
        <p:grpSp>
          <p:nvGrpSpPr>
            <p:cNvPr id="31" name="Group 20"/>
            <p:cNvGrpSpPr>
              <a:grpSpLocks/>
            </p:cNvGrpSpPr>
            <p:nvPr/>
          </p:nvGrpSpPr>
          <p:grpSpPr bwMode="auto">
            <a:xfrm>
              <a:off x="2064" y="2736"/>
              <a:ext cx="3072" cy="192"/>
              <a:chOff x="2064" y="2448"/>
              <a:chExt cx="3072" cy="192"/>
            </a:xfrm>
          </p:grpSpPr>
          <p:sp>
            <p:nvSpPr>
              <p:cNvPr id="40" name="Rectangle 21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1" name="Rectangle 22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2" name="Rectangle 23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3" name="Rectangle 24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4" name="Line 25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ru-RU"/>
              </a:p>
            </p:txBody>
          </p:sp>
        </p:grp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2150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2582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2945" y="2688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4</a:t>
              </a:r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3312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5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3665" y="2688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6</a:t>
              </a:r>
            </a:p>
          </p:txBody>
        </p:sp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4049" y="2688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16</a:t>
              </a: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4416" y="2688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57</a:t>
              </a:r>
            </a:p>
          </p:txBody>
        </p:sp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4704" y="2688"/>
              <a:ext cx="4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132</a:t>
              </a: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4979718" y="3807093"/>
            <a:ext cx="4876800" cy="461963"/>
            <a:chOff x="2064" y="2400"/>
            <a:chExt cx="3072" cy="291"/>
          </a:xfrm>
        </p:grpSpPr>
        <p:grpSp>
          <p:nvGrpSpPr>
            <p:cNvPr id="46" name="Group 19"/>
            <p:cNvGrpSpPr>
              <a:grpSpLocks/>
            </p:cNvGrpSpPr>
            <p:nvPr/>
          </p:nvGrpSpPr>
          <p:grpSpPr bwMode="auto">
            <a:xfrm>
              <a:off x="2064" y="2448"/>
              <a:ext cx="3072" cy="192"/>
              <a:chOff x="2064" y="2448"/>
              <a:chExt cx="3072" cy="192"/>
            </a:xfrm>
          </p:grpSpPr>
          <p:sp>
            <p:nvSpPr>
              <p:cNvPr id="55" name="Rectangle 11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6" name="Rectangle 13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7" name="Rectangle 15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8" name="Rectangle 16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9" name="Line 18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ru-RU"/>
              </a:p>
            </p:txBody>
          </p:sp>
        </p:grpSp>
        <p:sp>
          <p:nvSpPr>
            <p:cNvPr id="47" name="Text Box 40"/>
            <p:cNvSpPr txBox="1">
              <a:spLocks noChangeArrowheads="1"/>
            </p:cNvSpPr>
            <p:nvPr/>
          </p:nvSpPr>
          <p:spPr bwMode="auto">
            <a:xfrm>
              <a:off x="2160" y="2400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48" name="Text Box 41"/>
            <p:cNvSpPr txBox="1">
              <a:spLocks noChangeArrowheads="1"/>
            </p:cNvSpPr>
            <p:nvPr/>
          </p:nvSpPr>
          <p:spPr bwMode="auto">
            <a:xfrm>
              <a:off x="2513" y="2400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49" name="Text Box 42"/>
            <p:cNvSpPr txBox="1">
              <a:spLocks noChangeArrowheads="1"/>
            </p:cNvSpPr>
            <p:nvPr/>
          </p:nvSpPr>
          <p:spPr bwMode="auto">
            <a:xfrm>
              <a:off x="2928" y="2400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4</a:t>
              </a:r>
            </a:p>
          </p:txBody>
        </p:sp>
        <p:sp>
          <p:nvSpPr>
            <p:cNvPr id="50" name="Text Box 43"/>
            <p:cNvSpPr txBox="1">
              <a:spLocks noChangeArrowheads="1"/>
            </p:cNvSpPr>
            <p:nvPr/>
          </p:nvSpPr>
          <p:spPr bwMode="auto">
            <a:xfrm>
              <a:off x="3264" y="2400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11</a:t>
              </a:r>
            </a:p>
          </p:txBody>
        </p:sp>
        <p:sp>
          <p:nvSpPr>
            <p:cNvPr id="51" name="Text Box 44"/>
            <p:cNvSpPr txBox="1">
              <a:spLocks noChangeArrowheads="1"/>
            </p:cNvSpPr>
            <p:nvPr/>
          </p:nvSpPr>
          <p:spPr bwMode="auto">
            <a:xfrm>
              <a:off x="3665" y="2400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31</a:t>
              </a:r>
            </a:p>
          </p:txBody>
        </p:sp>
        <p:sp>
          <p:nvSpPr>
            <p:cNvPr id="52" name="Text Box 45"/>
            <p:cNvSpPr txBox="1">
              <a:spLocks noChangeArrowheads="1"/>
            </p:cNvSpPr>
            <p:nvPr/>
          </p:nvSpPr>
          <p:spPr bwMode="auto">
            <a:xfrm>
              <a:off x="4049" y="2400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45</a:t>
              </a:r>
            </a:p>
          </p:txBody>
        </p:sp>
        <p:sp>
          <p:nvSpPr>
            <p:cNvPr id="53" name="Text Box 46"/>
            <p:cNvSpPr txBox="1">
              <a:spLocks noChangeArrowheads="1"/>
            </p:cNvSpPr>
            <p:nvPr/>
          </p:nvSpPr>
          <p:spPr bwMode="auto">
            <a:xfrm>
              <a:off x="4320" y="2400"/>
              <a:ext cx="4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dirty="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173</a:t>
              </a:r>
            </a:p>
          </p:txBody>
        </p:sp>
        <p:sp>
          <p:nvSpPr>
            <p:cNvPr id="54" name="Text Box 47"/>
            <p:cNvSpPr txBox="1">
              <a:spLocks noChangeArrowheads="1"/>
            </p:cNvSpPr>
            <p:nvPr/>
          </p:nvSpPr>
          <p:spPr bwMode="auto">
            <a:xfrm>
              <a:off x="4747" y="240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endParaRPr>
            </a:p>
          </p:txBody>
        </p:sp>
      </p:grpSp>
      <p:sp>
        <p:nvSpPr>
          <p:cNvPr id="60" name="Text Box 48"/>
          <p:cNvSpPr txBox="1">
            <a:spLocks noChangeArrowheads="1"/>
          </p:cNvSpPr>
          <p:nvPr/>
        </p:nvSpPr>
        <p:spPr bwMode="auto">
          <a:xfrm>
            <a:off x="4979718" y="4873893"/>
            <a:ext cx="379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61" name="AutoShape 49"/>
          <p:cNvSpPr>
            <a:spLocks noChangeArrowheads="1"/>
          </p:cNvSpPr>
          <p:nvPr/>
        </p:nvSpPr>
        <p:spPr bwMode="auto">
          <a:xfrm>
            <a:off x="3760518" y="4950093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2" name="Text Box 50"/>
          <p:cNvSpPr txBox="1">
            <a:spLocks noChangeArrowheads="1"/>
          </p:cNvSpPr>
          <p:nvPr/>
        </p:nvSpPr>
        <p:spPr bwMode="auto">
          <a:xfrm>
            <a:off x="5598843" y="4873893"/>
            <a:ext cx="573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31</a:t>
            </a:r>
          </a:p>
        </p:txBody>
      </p:sp>
      <p:sp>
        <p:nvSpPr>
          <p:cNvPr id="63" name="Text Box 46"/>
          <p:cNvSpPr txBox="1">
            <a:spLocks noChangeArrowheads="1"/>
          </p:cNvSpPr>
          <p:nvPr/>
        </p:nvSpPr>
        <p:spPr bwMode="auto">
          <a:xfrm>
            <a:off x="9170718" y="3807093"/>
            <a:ext cx="768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174</a:t>
            </a:r>
          </a:p>
        </p:txBody>
      </p:sp>
      <p:sp>
        <p:nvSpPr>
          <p:cNvPr id="64" name="Text Box 50"/>
          <p:cNvSpPr txBox="1">
            <a:spLocks noChangeArrowheads="1"/>
          </p:cNvSpPr>
          <p:nvPr/>
        </p:nvSpPr>
        <p:spPr bwMode="auto">
          <a:xfrm>
            <a:off x="6310043" y="4873893"/>
            <a:ext cx="574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54</a:t>
            </a:r>
          </a:p>
        </p:txBody>
      </p:sp>
      <p:sp>
        <p:nvSpPr>
          <p:cNvPr id="65" name="Text Box 50"/>
          <p:cNvSpPr txBox="1">
            <a:spLocks noChangeArrowheads="1"/>
          </p:cNvSpPr>
          <p:nvPr/>
        </p:nvSpPr>
        <p:spPr bwMode="auto">
          <a:xfrm>
            <a:off x="6732318" y="4873893"/>
            <a:ext cx="768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78481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496340" cy="432000"/>
          </a:xfrm>
        </p:spPr>
        <p:txBody>
          <a:bodyPr/>
          <a:lstStyle/>
          <a:p>
            <a:pPr fontAlgn="base"/>
            <a:r>
              <a:rPr lang="ru-RU" b="1" dirty="0"/>
              <a:t>Построение инвертированного индекса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19</a:t>
            </a:fld>
            <a:endParaRPr lang="ru-RU" noProof="0" dirty="0"/>
          </a:p>
        </p:txBody>
      </p: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1807174" y="2113471"/>
            <a:ext cx="8285163" cy="1143000"/>
            <a:chOff x="470" y="1728"/>
            <a:chExt cx="5219" cy="720"/>
          </a:xfrm>
        </p:grpSpPr>
        <p:sp>
          <p:nvSpPr>
            <p:cNvPr id="8" name="AutoShape 13"/>
            <p:cNvSpPr>
              <a:spLocks noChangeArrowheads="1"/>
            </p:cNvSpPr>
            <p:nvPr/>
          </p:nvSpPr>
          <p:spPr bwMode="auto">
            <a:xfrm>
              <a:off x="2031" y="1728"/>
              <a:ext cx="1075" cy="314"/>
            </a:xfrm>
            <a:prstGeom prst="flowChartAlternateProcess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/>
                <a:t>Tokenizer</a:t>
              </a:r>
            </a:p>
          </p:txBody>
        </p:sp>
        <p:sp>
          <p:nvSpPr>
            <p:cNvPr id="10" name="Text Box 20"/>
            <p:cNvSpPr txBox="1">
              <a:spLocks noChangeArrowheads="1"/>
            </p:cNvSpPr>
            <p:nvPr/>
          </p:nvSpPr>
          <p:spPr bwMode="auto">
            <a:xfrm>
              <a:off x="470" y="2119"/>
              <a:ext cx="11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0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Token stream</a:t>
              </a:r>
            </a:p>
          </p:txBody>
        </p:sp>
        <p:sp>
          <p:nvSpPr>
            <p:cNvPr id="11" name="Rectangle 26"/>
            <p:cNvSpPr>
              <a:spLocks noChangeArrowheads="1"/>
            </p:cNvSpPr>
            <p:nvPr/>
          </p:nvSpPr>
          <p:spPr bwMode="auto">
            <a:xfrm>
              <a:off x="3009" y="2100"/>
              <a:ext cx="698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>
                  <a:latin typeface="Times New Roman" panose="02020603050405020304" pitchFamily="18" charset="0"/>
                </a:rPr>
                <a:t>Friends</a:t>
              </a:r>
            </a:p>
          </p:txBody>
        </p:sp>
        <p:sp>
          <p:nvSpPr>
            <p:cNvPr id="12" name="Rectangle 27"/>
            <p:cNvSpPr>
              <a:spLocks noChangeArrowheads="1"/>
            </p:cNvSpPr>
            <p:nvPr/>
          </p:nvSpPr>
          <p:spPr bwMode="auto">
            <a:xfrm>
              <a:off x="3761" y="2106"/>
              <a:ext cx="751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>
                  <a:latin typeface="Times New Roman" panose="02020603050405020304" pitchFamily="18" charset="0"/>
                </a:rPr>
                <a:t>Romans</a:t>
              </a:r>
            </a:p>
          </p:txBody>
        </p:sp>
        <p:sp>
          <p:nvSpPr>
            <p:cNvPr id="13" name="Rectangle 28"/>
            <p:cNvSpPr>
              <a:spLocks noChangeArrowheads="1"/>
            </p:cNvSpPr>
            <p:nvPr/>
          </p:nvSpPr>
          <p:spPr bwMode="auto">
            <a:xfrm>
              <a:off x="4608" y="2106"/>
              <a:ext cx="1081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>
                  <a:latin typeface="Times New Roman" panose="02020603050405020304" pitchFamily="18" charset="0"/>
                </a:rPr>
                <a:t>Countrymen</a:t>
              </a:r>
            </a:p>
          </p:txBody>
        </p:sp>
        <p:sp>
          <p:nvSpPr>
            <p:cNvPr id="9" name="AutoShape 17"/>
            <p:cNvSpPr>
              <a:spLocks noChangeArrowheads="1"/>
            </p:cNvSpPr>
            <p:nvPr/>
          </p:nvSpPr>
          <p:spPr bwMode="auto">
            <a:xfrm>
              <a:off x="2496" y="2064"/>
              <a:ext cx="192" cy="384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</p:grpSp>
      <p:grpSp>
        <p:nvGrpSpPr>
          <p:cNvPr id="14" name="Group 70"/>
          <p:cNvGrpSpPr>
            <a:grpSpLocks/>
          </p:cNvGrpSpPr>
          <p:nvPr/>
        </p:nvGrpSpPr>
        <p:grpSpPr bwMode="auto">
          <a:xfrm>
            <a:off x="1823049" y="3170746"/>
            <a:ext cx="8272463" cy="1381125"/>
            <a:chOff x="480" y="2394"/>
            <a:chExt cx="5211" cy="870"/>
          </a:xfrm>
        </p:grpSpPr>
        <p:sp>
          <p:nvSpPr>
            <p:cNvPr id="15" name="AutoShape 14"/>
            <p:cNvSpPr>
              <a:spLocks noChangeArrowheads="1"/>
            </p:cNvSpPr>
            <p:nvPr/>
          </p:nvSpPr>
          <p:spPr bwMode="auto">
            <a:xfrm>
              <a:off x="1680" y="2394"/>
              <a:ext cx="1824" cy="562"/>
            </a:xfrm>
            <a:prstGeom prst="flowChartAlternateProcess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/>
                <a:t>Linguistic modules</a:t>
              </a:r>
            </a:p>
          </p:txBody>
        </p:sp>
        <p:sp>
          <p:nvSpPr>
            <p:cNvPr id="16" name="AutoShape 18"/>
            <p:cNvSpPr>
              <a:spLocks noChangeArrowheads="1"/>
            </p:cNvSpPr>
            <p:nvPr/>
          </p:nvSpPr>
          <p:spPr bwMode="auto">
            <a:xfrm>
              <a:off x="2496" y="2928"/>
              <a:ext cx="192" cy="336"/>
            </a:xfrm>
            <a:prstGeom prst="downArrow">
              <a:avLst>
                <a:gd name="adj1" fmla="val 50000"/>
                <a:gd name="adj2" fmla="val 437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480" y="2935"/>
              <a:ext cx="1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0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Modified tokens</a:t>
              </a:r>
            </a:p>
          </p:txBody>
        </p:sp>
        <p:sp>
          <p:nvSpPr>
            <p:cNvPr id="18" name="Rectangle 29"/>
            <p:cNvSpPr>
              <a:spLocks noChangeArrowheads="1"/>
            </p:cNvSpPr>
            <p:nvPr/>
          </p:nvSpPr>
          <p:spPr bwMode="auto">
            <a:xfrm>
              <a:off x="3092" y="2868"/>
              <a:ext cx="580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>
                  <a:latin typeface="Times New Roman" panose="02020603050405020304" pitchFamily="18" charset="0"/>
                </a:rPr>
                <a:t>friend</a:t>
              </a:r>
            </a:p>
          </p:txBody>
        </p:sp>
        <p:sp>
          <p:nvSpPr>
            <p:cNvPr id="19" name="Rectangle 30"/>
            <p:cNvSpPr>
              <a:spLocks noChangeArrowheads="1"/>
            </p:cNvSpPr>
            <p:nvPr/>
          </p:nvSpPr>
          <p:spPr bwMode="auto">
            <a:xfrm>
              <a:off x="3854" y="2874"/>
              <a:ext cx="612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>
                  <a:latin typeface="Times New Roman" panose="02020603050405020304" pitchFamily="18" charset="0"/>
                </a:rPr>
                <a:t>roman</a:t>
              </a:r>
            </a:p>
          </p:txBody>
        </p:sp>
        <p:sp>
          <p:nvSpPr>
            <p:cNvPr id="20" name="Rectangle 31"/>
            <p:cNvSpPr>
              <a:spLocks noChangeArrowheads="1"/>
            </p:cNvSpPr>
            <p:nvPr/>
          </p:nvSpPr>
          <p:spPr bwMode="auto">
            <a:xfrm>
              <a:off x="4653" y="2874"/>
              <a:ext cx="1038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>
                  <a:latin typeface="Times New Roman" panose="02020603050405020304" pitchFamily="18" charset="0"/>
                </a:rPr>
                <a:t>countryman</a:t>
              </a:r>
            </a:p>
          </p:txBody>
        </p:sp>
      </p:grpSp>
      <p:grpSp>
        <p:nvGrpSpPr>
          <p:cNvPr id="21" name="Group 72"/>
          <p:cNvGrpSpPr>
            <a:grpSpLocks/>
          </p:cNvGrpSpPr>
          <p:nvPr/>
        </p:nvGrpSpPr>
        <p:grpSpPr bwMode="auto">
          <a:xfrm>
            <a:off x="1823049" y="4542346"/>
            <a:ext cx="8350250" cy="1604963"/>
            <a:chOff x="480" y="3258"/>
            <a:chExt cx="5260" cy="1011"/>
          </a:xfrm>
        </p:grpSpPr>
        <p:sp>
          <p:nvSpPr>
            <p:cNvPr id="22" name="AutoShape 15"/>
            <p:cNvSpPr>
              <a:spLocks noChangeArrowheads="1"/>
            </p:cNvSpPr>
            <p:nvPr/>
          </p:nvSpPr>
          <p:spPr bwMode="auto">
            <a:xfrm>
              <a:off x="2155" y="3258"/>
              <a:ext cx="850" cy="314"/>
            </a:xfrm>
            <a:prstGeom prst="flowChartAlternateProcess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/>
                <a:t>Indexer</a:t>
              </a:r>
            </a:p>
          </p:txBody>
        </p:sp>
        <p:sp>
          <p:nvSpPr>
            <p:cNvPr id="23" name="AutoShape 22"/>
            <p:cNvSpPr>
              <a:spLocks noChangeArrowheads="1"/>
            </p:cNvSpPr>
            <p:nvPr/>
          </p:nvSpPr>
          <p:spPr bwMode="auto">
            <a:xfrm>
              <a:off x="2496" y="3594"/>
              <a:ext cx="192" cy="288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480" y="3728"/>
              <a:ext cx="12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0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Inverted index</a:t>
              </a:r>
            </a:p>
          </p:txBody>
        </p:sp>
        <p:grpSp>
          <p:nvGrpSpPr>
            <p:cNvPr id="25" name="Group 71"/>
            <p:cNvGrpSpPr>
              <a:grpSpLocks/>
            </p:cNvGrpSpPr>
            <p:nvPr/>
          </p:nvGrpSpPr>
          <p:grpSpPr bwMode="auto">
            <a:xfrm>
              <a:off x="3024" y="3258"/>
              <a:ext cx="2716" cy="1011"/>
              <a:chOff x="3024" y="3258"/>
              <a:chExt cx="2716" cy="1011"/>
            </a:xfrm>
          </p:grpSpPr>
          <p:grpSp>
            <p:nvGrpSpPr>
              <p:cNvPr id="26" name="Group 32"/>
              <p:cNvGrpSpPr>
                <a:grpSpLocks/>
              </p:cNvGrpSpPr>
              <p:nvPr/>
            </p:nvGrpSpPr>
            <p:grpSpPr bwMode="auto">
              <a:xfrm>
                <a:off x="3024" y="3306"/>
                <a:ext cx="1776" cy="963"/>
                <a:chOff x="528" y="2634"/>
                <a:chExt cx="1776" cy="963"/>
              </a:xfrm>
            </p:grpSpPr>
            <p:sp>
              <p:nvSpPr>
                <p:cNvPr id="38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528" y="2634"/>
                  <a:ext cx="647" cy="29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ru-RU" sz="1800" b="1" i="1">
                      <a:ea typeface="Arial Unicode MS" pitchFamily="34" charset="-128"/>
                    </a:rPr>
                    <a:t>friend</a:t>
                  </a:r>
                </a:p>
              </p:txBody>
            </p:sp>
            <p:sp>
              <p:nvSpPr>
                <p:cNvPr id="39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528" y="2970"/>
                  <a:ext cx="694" cy="29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ru-RU" sz="1800" b="1" i="1">
                      <a:ea typeface="Arial Unicode MS" pitchFamily="34" charset="-128"/>
                    </a:rPr>
                    <a:t>roman</a:t>
                  </a:r>
                </a:p>
              </p:txBody>
            </p:sp>
            <p:sp>
              <p:nvSpPr>
                <p:cNvPr id="40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528" y="3306"/>
                  <a:ext cx="1134" cy="29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ru-RU" sz="1800" b="1" i="1">
                      <a:ea typeface="Arial Unicode MS" pitchFamily="34" charset="-128"/>
                    </a:rPr>
                    <a:t>countryman</a:t>
                  </a:r>
                </a:p>
              </p:txBody>
            </p:sp>
            <p:sp>
              <p:nvSpPr>
                <p:cNvPr id="41" name="AutoShape 36"/>
                <p:cNvSpPr>
                  <a:spLocks noChangeArrowheads="1"/>
                </p:cNvSpPr>
                <p:nvPr/>
              </p:nvSpPr>
              <p:spPr bwMode="auto">
                <a:xfrm>
                  <a:off x="1584" y="2682"/>
                  <a:ext cx="720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360 w 21600"/>
                    <a:gd name="T13" fmla="*/ 5400 h 21600"/>
                    <a:gd name="T14" fmla="*/ 18900 w 21600"/>
                    <a:gd name="T15" fmla="*/ 162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16200" y="0"/>
                      </a:moveTo>
                      <a:lnTo>
                        <a:pt x="16200" y="5400"/>
                      </a:lnTo>
                      <a:lnTo>
                        <a:pt x="3375" y="5400"/>
                      </a:lnTo>
                      <a:lnTo>
                        <a:pt x="3375" y="16200"/>
                      </a:lnTo>
                      <a:lnTo>
                        <a:pt x="16200" y="16200"/>
                      </a:lnTo>
                      <a:lnTo>
                        <a:pt x="16200" y="21600"/>
                      </a:lnTo>
                      <a:lnTo>
                        <a:pt x="21600" y="10800"/>
                      </a:lnTo>
                      <a:lnTo>
                        <a:pt x="16200" y="0"/>
                      </a:lnTo>
                      <a:close/>
                    </a:path>
                    <a:path w="21600" h="21600">
                      <a:moveTo>
                        <a:pt x="1350" y="5400"/>
                      </a:moveTo>
                      <a:lnTo>
                        <a:pt x="1350" y="16200"/>
                      </a:lnTo>
                      <a:lnTo>
                        <a:pt x="2700" y="16200"/>
                      </a:lnTo>
                      <a:lnTo>
                        <a:pt x="2700" y="5400"/>
                      </a:lnTo>
                      <a:lnTo>
                        <a:pt x="1350" y="5400"/>
                      </a:lnTo>
                      <a:close/>
                    </a:path>
                    <a:path w="21600" h="21600">
                      <a:moveTo>
                        <a:pt x="0" y="5400"/>
                      </a:moveTo>
                      <a:lnTo>
                        <a:pt x="0" y="16200"/>
                      </a:lnTo>
                      <a:lnTo>
                        <a:pt x="675" y="16200"/>
                      </a:lnTo>
                      <a:lnTo>
                        <a:pt x="675" y="5400"/>
                      </a:lnTo>
                      <a:lnTo>
                        <a:pt x="0" y="54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ru-RU"/>
                </a:p>
              </p:txBody>
            </p:sp>
            <p:sp>
              <p:nvSpPr>
                <p:cNvPr id="42" name="AutoShape 37"/>
                <p:cNvSpPr>
                  <a:spLocks noChangeArrowheads="1"/>
                </p:cNvSpPr>
                <p:nvPr/>
              </p:nvSpPr>
              <p:spPr bwMode="auto">
                <a:xfrm>
                  <a:off x="1584" y="3018"/>
                  <a:ext cx="720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360 w 21600"/>
                    <a:gd name="T13" fmla="*/ 5400 h 21600"/>
                    <a:gd name="T14" fmla="*/ 18900 w 21600"/>
                    <a:gd name="T15" fmla="*/ 162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16200" y="0"/>
                      </a:moveTo>
                      <a:lnTo>
                        <a:pt x="16200" y="5400"/>
                      </a:lnTo>
                      <a:lnTo>
                        <a:pt x="3375" y="5400"/>
                      </a:lnTo>
                      <a:lnTo>
                        <a:pt x="3375" y="16200"/>
                      </a:lnTo>
                      <a:lnTo>
                        <a:pt x="16200" y="16200"/>
                      </a:lnTo>
                      <a:lnTo>
                        <a:pt x="16200" y="21600"/>
                      </a:lnTo>
                      <a:lnTo>
                        <a:pt x="21600" y="10800"/>
                      </a:lnTo>
                      <a:lnTo>
                        <a:pt x="16200" y="0"/>
                      </a:lnTo>
                      <a:close/>
                    </a:path>
                    <a:path w="21600" h="21600">
                      <a:moveTo>
                        <a:pt x="1350" y="5400"/>
                      </a:moveTo>
                      <a:lnTo>
                        <a:pt x="1350" y="16200"/>
                      </a:lnTo>
                      <a:lnTo>
                        <a:pt x="2700" y="16200"/>
                      </a:lnTo>
                      <a:lnTo>
                        <a:pt x="2700" y="5400"/>
                      </a:lnTo>
                      <a:lnTo>
                        <a:pt x="1350" y="5400"/>
                      </a:lnTo>
                      <a:close/>
                    </a:path>
                    <a:path w="21600" h="21600">
                      <a:moveTo>
                        <a:pt x="0" y="5400"/>
                      </a:moveTo>
                      <a:lnTo>
                        <a:pt x="0" y="16200"/>
                      </a:lnTo>
                      <a:lnTo>
                        <a:pt x="675" y="16200"/>
                      </a:lnTo>
                      <a:lnTo>
                        <a:pt x="675" y="5400"/>
                      </a:lnTo>
                      <a:lnTo>
                        <a:pt x="0" y="54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ru-RU"/>
                </a:p>
              </p:txBody>
            </p:sp>
            <p:sp>
              <p:nvSpPr>
                <p:cNvPr id="43" name="AutoShape 38"/>
                <p:cNvSpPr>
                  <a:spLocks noChangeArrowheads="1"/>
                </p:cNvSpPr>
                <p:nvPr/>
              </p:nvSpPr>
              <p:spPr bwMode="auto">
                <a:xfrm>
                  <a:off x="1584" y="3354"/>
                  <a:ext cx="720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360 w 21600"/>
                    <a:gd name="T13" fmla="*/ 5400 h 21600"/>
                    <a:gd name="T14" fmla="*/ 18900 w 21600"/>
                    <a:gd name="T15" fmla="*/ 162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16200" y="0"/>
                      </a:moveTo>
                      <a:lnTo>
                        <a:pt x="16200" y="5400"/>
                      </a:lnTo>
                      <a:lnTo>
                        <a:pt x="3375" y="5400"/>
                      </a:lnTo>
                      <a:lnTo>
                        <a:pt x="3375" y="16200"/>
                      </a:lnTo>
                      <a:lnTo>
                        <a:pt x="16200" y="16200"/>
                      </a:lnTo>
                      <a:lnTo>
                        <a:pt x="16200" y="21600"/>
                      </a:lnTo>
                      <a:lnTo>
                        <a:pt x="21600" y="10800"/>
                      </a:lnTo>
                      <a:lnTo>
                        <a:pt x="16200" y="0"/>
                      </a:lnTo>
                      <a:close/>
                    </a:path>
                    <a:path w="21600" h="21600">
                      <a:moveTo>
                        <a:pt x="1350" y="5400"/>
                      </a:moveTo>
                      <a:lnTo>
                        <a:pt x="1350" y="16200"/>
                      </a:lnTo>
                      <a:lnTo>
                        <a:pt x="2700" y="16200"/>
                      </a:lnTo>
                      <a:lnTo>
                        <a:pt x="2700" y="5400"/>
                      </a:lnTo>
                      <a:lnTo>
                        <a:pt x="1350" y="5400"/>
                      </a:lnTo>
                      <a:close/>
                    </a:path>
                    <a:path w="21600" h="21600">
                      <a:moveTo>
                        <a:pt x="0" y="5400"/>
                      </a:moveTo>
                      <a:lnTo>
                        <a:pt x="0" y="16200"/>
                      </a:lnTo>
                      <a:lnTo>
                        <a:pt x="675" y="16200"/>
                      </a:lnTo>
                      <a:lnTo>
                        <a:pt x="675" y="5400"/>
                      </a:lnTo>
                      <a:lnTo>
                        <a:pt x="0" y="54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ru-RU"/>
                </a:p>
              </p:txBody>
            </p:sp>
          </p:grpSp>
          <p:sp>
            <p:nvSpPr>
              <p:cNvPr id="27" name="Text Box 39"/>
              <p:cNvSpPr txBox="1">
                <a:spLocks noChangeArrowheads="1"/>
              </p:cNvSpPr>
              <p:nvPr/>
            </p:nvSpPr>
            <p:spPr bwMode="auto">
              <a:xfrm>
                <a:off x="4883" y="3258"/>
                <a:ext cx="24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2</a:t>
                </a:r>
              </a:p>
            </p:txBody>
          </p:sp>
          <p:sp>
            <p:nvSpPr>
              <p:cNvPr id="28" name="Text Box 40"/>
              <p:cNvSpPr txBox="1">
                <a:spLocks noChangeArrowheads="1"/>
              </p:cNvSpPr>
              <p:nvPr/>
            </p:nvSpPr>
            <p:spPr bwMode="auto">
              <a:xfrm>
                <a:off x="5291" y="3258"/>
                <a:ext cx="24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4</a:t>
                </a:r>
              </a:p>
            </p:txBody>
          </p:sp>
          <p:sp>
            <p:nvSpPr>
              <p:cNvPr id="29" name="Text Box 41"/>
              <p:cNvSpPr txBox="1">
                <a:spLocks noChangeArrowheads="1"/>
              </p:cNvSpPr>
              <p:nvPr/>
            </p:nvSpPr>
            <p:spPr bwMode="auto">
              <a:xfrm>
                <a:off x="5304" y="3594"/>
                <a:ext cx="24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2</a:t>
                </a:r>
              </a:p>
            </p:txBody>
          </p:sp>
          <p:sp>
            <p:nvSpPr>
              <p:cNvPr id="30" name="Text Box 42"/>
              <p:cNvSpPr txBox="1">
                <a:spLocks noChangeArrowheads="1"/>
              </p:cNvSpPr>
              <p:nvPr/>
            </p:nvSpPr>
            <p:spPr bwMode="auto">
              <a:xfrm>
                <a:off x="4848" y="3936"/>
                <a:ext cx="38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13</a:t>
                </a:r>
              </a:p>
            </p:txBody>
          </p:sp>
          <p:sp>
            <p:nvSpPr>
              <p:cNvPr id="31" name="Text Box 43"/>
              <p:cNvSpPr txBox="1">
                <a:spLocks noChangeArrowheads="1"/>
              </p:cNvSpPr>
              <p:nvPr/>
            </p:nvSpPr>
            <p:spPr bwMode="auto">
              <a:xfrm>
                <a:off x="5376" y="3930"/>
                <a:ext cx="36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16</a:t>
                </a:r>
              </a:p>
            </p:txBody>
          </p:sp>
          <p:cxnSp>
            <p:nvCxnSpPr>
              <p:cNvPr id="32" name="AutoShape 44"/>
              <p:cNvCxnSpPr>
                <a:cxnSpLocks noChangeShapeType="1"/>
                <a:stCxn id="27" idx="3"/>
                <a:endCxn id="28" idx="1"/>
              </p:cNvCxnSpPr>
              <p:nvPr/>
            </p:nvCxnSpPr>
            <p:spPr bwMode="auto">
              <a:xfrm>
                <a:off x="5112" y="340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" name="AutoShape 45"/>
              <p:cNvCxnSpPr>
                <a:cxnSpLocks noChangeShapeType="1"/>
                <a:stCxn id="28" idx="3"/>
              </p:cNvCxnSpPr>
              <p:nvPr/>
            </p:nvCxnSpPr>
            <p:spPr bwMode="auto">
              <a:xfrm>
                <a:off x="5534" y="3405"/>
                <a:ext cx="19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4" name="Text Box 46"/>
              <p:cNvSpPr txBox="1">
                <a:spLocks noChangeArrowheads="1"/>
              </p:cNvSpPr>
              <p:nvPr/>
            </p:nvSpPr>
            <p:spPr bwMode="auto">
              <a:xfrm>
                <a:off x="4896" y="3594"/>
                <a:ext cx="24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itchFamily="34" charset="-128"/>
                  </a:rPr>
                  <a:t>1</a:t>
                </a:r>
              </a:p>
            </p:txBody>
          </p:sp>
          <p:cxnSp>
            <p:nvCxnSpPr>
              <p:cNvPr id="35" name="AutoShape 47"/>
              <p:cNvCxnSpPr>
                <a:cxnSpLocks noChangeShapeType="1"/>
                <a:stCxn id="34" idx="3"/>
                <a:endCxn id="29" idx="1"/>
              </p:cNvCxnSpPr>
              <p:nvPr/>
            </p:nvCxnSpPr>
            <p:spPr bwMode="auto">
              <a:xfrm>
                <a:off x="5125" y="3741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AutoShape 48"/>
              <p:cNvCxnSpPr>
                <a:cxnSpLocks noChangeShapeType="1"/>
                <a:stCxn id="29" idx="3"/>
              </p:cNvCxnSpPr>
              <p:nvPr/>
            </p:nvCxnSpPr>
            <p:spPr bwMode="auto">
              <a:xfrm>
                <a:off x="5547" y="3741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AutoShape 49"/>
              <p:cNvCxnSpPr>
                <a:cxnSpLocks noChangeShapeType="1"/>
                <a:stCxn id="30" idx="3"/>
                <a:endCxn id="31" idx="1"/>
              </p:cNvCxnSpPr>
              <p:nvPr/>
            </p:nvCxnSpPr>
            <p:spPr bwMode="auto">
              <a:xfrm flipV="1">
                <a:off x="5232" y="4077"/>
                <a:ext cx="144" cy="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44" name="AutoShape 16"/>
          <p:cNvSpPr>
            <a:spLocks noChangeArrowheads="1"/>
          </p:cNvSpPr>
          <p:nvPr/>
        </p:nvSpPr>
        <p:spPr bwMode="auto">
          <a:xfrm>
            <a:off x="5023449" y="1580071"/>
            <a:ext cx="304800" cy="533400"/>
          </a:xfrm>
          <a:prstGeom prst="down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auto">
          <a:xfrm>
            <a:off x="1807174" y="1057784"/>
            <a:ext cx="19097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0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Documents to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0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be indexed</a:t>
            </a:r>
          </a:p>
        </p:txBody>
      </p:sp>
      <p:sp>
        <p:nvSpPr>
          <p:cNvPr id="46" name="Rectangle 24"/>
          <p:cNvSpPr>
            <a:spLocks noChangeArrowheads="1"/>
          </p:cNvSpPr>
          <p:nvPr/>
        </p:nvSpPr>
        <p:spPr bwMode="auto">
          <a:xfrm>
            <a:off x="6001349" y="1118109"/>
            <a:ext cx="394176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</a:rPr>
              <a:t>Friends, Romans, countrymen.</a:t>
            </a:r>
          </a:p>
        </p:txBody>
      </p:sp>
      <p:sp>
        <p:nvSpPr>
          <p:cNvPr id="47" name="Oval 62"/>
          <p:cNvSpPr>
            <a:spLocks noChangeArrowheads="1"/>
          </p:cNvSpPr>
          <p:nvPr/>
        </p:nvSpPr>
        <p:spPr bwMode="auto">
          <a:xfrm>
            <a:off x="7919049" y="1656271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8" name="Oval 63"/>
          <p:cNvSpPr>
            <a:spLocks noChangeArrowheads="1"/>
          </p:cNvSpPr>
          <p:nvPr/>
        </p:nvSpPr>
        <p:spPr bwMode="auto">
          <a:xfrm>
            <a:off x="7919049" y="1808671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9" name="Oval 64"/>
          <p:cNvSpPr>
            <a:spLocks noChangeArrowheads="1"/>
          </p:cNvSpPr>
          <p:nvPr/>
        </p:nvSpPr>
        <p:spPr bwMode="auto">
          <a:xfrm>
            <a:off x="7919049" y="1961071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pSp>
        <p:nvGrpSpPr>
          <p:cNvPr id="50" name="Group 6"/>
          <p:cNvGrpSpPr>
            <a:grpSpLocks/>
          </p:cNvGrpSpPr>
          <p:nvPr/>
        </p:nvGrpSpPr>
        <p:grpSpPr bwMode="auto">
          <a:xfrm>
            <a:off x="4261449" y="970471"/>
            <a:ext cx="1524000" cy="685800"/>
            <a:chOff x="3200400" y="1600200"/>
            <a:chExt cx="1524000" cy="685800"/>
          </a:xfrm>
        </p:grpSpPr>
        <p:pic>
          <p:nvPicPr>
            <p:cNvPr id="51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400" y="1674446"/>
              <a:ext cx="381000" cy="459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5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1826846"/>
              <a:ext cx="381000" cy="459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6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1752600"/>
              <a:ext cx="381000" cy="459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6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1600200"/>
              <a:ext cx="381000" cy="459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" name="Picture 6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400" y="1752600"/>
              <a:ext cx="381000" cy="459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" name="Picture 6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600" y="1600200"/>
              <a:ext cx="381000" cy="459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515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7305894" cy="432000"/>
          </a:xfrm>
        </p:spPr>
        <p:txBody>
          <a:bodyPr/>
          <a:lstStyle/>
          <a:p>
            <a:r>
              <a:rPr lang="ru-RU" dirty="0"/>
              <a:t>Начальные этапы обработки текста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 err="1"/>
              <a:t>Токенизация</a:t>
            </a:r>
            <a:endParaRPr lang="ru-RU" sz="2600" dirty="0"/>
          </a:p>
          <a:p>
            <a:pPr marL="276225" lvl="1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Разбейте последовательность символов на токены слов</a:t>
            </a:r>
          </a:p>
          <a:p>
            <a:pPr marL="276225" lvl="1" indent="0">
              <a:buNone/>
            </a:pPr>
            <a:r>
              <a:rPr lang="ru-RU" sz="2400" dirty="0" smtClean="0"/>
              <a:t>• Работа с конструкциями типа "</a:t>
            </a:r>
            <a:r>
              <a:rPr lang="en-US" sz="2600" b="1" i="1" dirty="0" smtClean="0">
                <a:sym typeface="Symbol" charset="2"/>
              </a:rPr>
              <a:t>John’s</a:t>
            </a:r>
            <a:r>
              <a:rPr lang="ru-RU" sz="2400" dirty="0" smtClean="0"/>
              <a:t>", </a:t>
            </a:r>
            <a:r>
              <a:rPr lang="en-US" sz="2400" dirty="0"/>
              <a:t>a </a:t>
            </a:r>
            <a:r>
              <a:rPr lang="en-US" sz="2400" b="1" i="1" dirty="0"/>
              <a:t>state-of-the-art solution</a:t>
            </a:r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Нормализация</a:t>
            </a:r>
          </a:p>
          <a:p>
            <a:pPr marL="276225" lvl="1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Отобразите текст и термины запроса в одну и ту же форму</a:t>
            </a:r>
          </a:p>
          <a:p>
            <a:pPr marL="276225" lvl="1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Вы хотите, чтобы U.S.A. и USA совпадали</a:t>
            </a:r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 err="1"/>
              <a:t>Стемминг</a:t>
            </a:r>
            <a:endParaRPr lang="ru-RU" sz="2600" dirty="0"/>
          </a:p>
          <a:p>
            <a:pPr marL="276225" lvl="1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Мы можем пожелать, чтобы различные формы корня совпадали</a:t>
            </a:r>
          </a:p>
          <a:p>
            <a:pPr marL="276225" lvl="1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авторизовать, авторизация</a:t>
            </a:r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Стоп-слова</a:t>
            </a:r>
          </a:p>
          <a:p>
            <a:pPr marL="276225" lvl="1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Мы можем опустить очень распространенные слова (или нет)</a:t>
            </a:r>
          </a:p>
          <a:p>
            <a:pPr marL="276225" lvl="1" indent="0">
              <a:buNone/>
            </a:pPr>
            <a:r>
              <a:rPr lang="ru-RU" sz="2400" dirty="0" smtClean="0"/>
              <a:t>• </a:t>
            </a:r>
            <a:r>
              <a:rPr lang="ru-RU" sz="2400" dirty="0" err="1"/>
              <a:t>the</a:t>
            </a:r>
            <a:r>
              <a:rPr lang="ru-RU" sz="2400" dirty="0"/>
              <a:t>, a, </a:t>
            </a:r>
            <a:r>
              <a:rPr lang="ru-RU" sz="2400" dirty="0" err="1"/>
              <a:t>to</a:t>
            </a:r>
            <a:r>
              <a:rPr lang="ru-RU" sz="2400" dirty="0"/>
              <a:t>, </a:t>
            </a:r>
            <a:r>
              <a:rPr lang="ru-RU" sz="2400" dirty="0" err="1"/>
              <a:t>of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20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12079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522884" cy="432000"/>
          </a:xfrm>
        </p:spPr>
        <p:txBody>
          <a:bodyPr/>
          <a:lstStyle/>
          <a:p>
            <a:pPr fontAlgn="base"/>
            <a:r>
              <a:rPr lang="ru-RU" b="1" dirty="0"/>
              <a:t>Шаги индексатора: </a:t>
            </a:r>
            <a:r>
              <a:rPr lang="ru-RU" b="1" dirty="0" smtClean="0"/>
              <a:t>Последовательность </a:t>
            </a:r>
            <a:r>
              <a:rPr lang="ru-RU" b="1" dirty="0" err="1"/>
              <a:t>токенов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Последовательность пар (Модифицированный токен, ID документа).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21</a:t>
            </a:fld>
            <a:endParaRPr lang="ru-RU" noProof="0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31319" y="4160448"/>
            <a:ext cx="2838450" cy="15621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I did enact Julius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Caesar I was killed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i’ the Capitol;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Brutus killed me.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321944" y="3417498"/>
            <a:ext cx="92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Doc 1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4192019" y="4236648"/>
            <a:ext cx="3195638" cy="15621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So let it be with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Caesar. The noble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Brutus hath told you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Caesar was ambitious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4912744" y="3417498"/>
            <a:ext cx="92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Doc 2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628611"/>
              </p:ext>
            </p:extLst>
          </p:nvPr>
        </p:nvGraphicFramePr>
        <p:xfrm>
          <a:off x="8354444" y="1618861"/>
          <a:ext cx="1319213" cy="492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Worksheet" r:id="rId3" imgW="2717460" imgH="10158730" progId="Excel.Sheet.8">
                  <p:embed/>
                </p:oleObj>
              </mc:Choice>
              <mc:Fallback>
                <p:oleObj name="Worksheet" r:id="rId3" imgW="2717460" imgH="10158730" progId="Excel.Sheet.8">
                  <p:embed/>
                  <p:pic>
                    <p:nvPicPr>
                      <p:cNvPr id="307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4444" y="1618861"/>
                        <a:ext cx="1319213" cy="492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6893944" y="3722298"/>
            <a:ext cx="1371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606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7469796" cy="432000"/>
          </a:xfrm>
        </p:spPr>
        <p:txBody>
          <a:bodyPr/>
          <a:lstStyle/>
          <a:p>
            <a:pPr fontAlgn="base"/>
            <a:r>
              <a:rPr lang="ru-RU" b="1" dirty="0"/>
              <a:t>Шаги индексатора: Сортировка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22</a:t>
            </a:fld>
            <a:endParaRPr lang="ru-RU" noProof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52755" y="1175018"/>
            <a:ext cx="4572000" cy="609600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  <a:defRPr/>
            </a:pPr>
            <a:r>
              <a:rPr lang="ru-RU" sz="3400" dirty="0" smtClean="0">
                <a:ea typeface="ＭＳ Ｐゴシック" charset="0"/>
                <a:cs typeface="ＭＳ Ｐゴシック" charset="0"/>
              </a:rPr>
              <a:t>Сортировка по терминам</a:t>
            </a:r>
            <a:endParaRPr lang="en-US" sz="3400" dirty="0" smtClean="0">
              <a:ea typeface="ＭＳ Ｐゴシック" charset="0"/>
              <a:cs typeface="ＭＳ Ｐゴシック" charset="0"/>
            </a:endParaRPr>
          </a:p>
          <a:p>
            <a:pPr lvl="1">
              <a:buFont typeface="Arial"/>
              <a:buChar char="–"/>
              <a:defRPr/>
            </a:pPr>
            <a:r>
              <a:rPr lang="ru-RU" dirty="0"/>
              <a:t>А затем </a:t>
            </a:r>
            <a:r>
              <a:rPr lang="ru-RU" dirty="0" smtClean="0"/>
              <a:t>по </a:t>
            </a:r>
            <a:r>
              <a:rPr lang="en-US" sz="1800" dirty="0" err="1" smtClean="0">
                <a:ea typeface="ＭＳ Ｐゴシック" charset="0"/>
                <a:cs typeface="ＭＳ Ｐゴシック" charset="0"/>
              </a:rPr>
              <a:t>docID</a:t>
            </a:r>
            <a:r>
              <a:rPr lang="en-US" sz="1800" dirty="0" smtClean="0">
                <a:ea typeface="ＭＳ Ｐゴシック" charset="0"/>
                <a:cs typeface="ＭＳ Ｐゴシック" charset="0"/>
              </a:rPr>
              <a:t> </a:t>
            </a:r>
            <a:endParaRPr lang="en-US" sz="1800" dirty="0"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399020"/>
              </p:ext>
            </p:extLst>
          </p:nvPr>
        </p:nvGraphicFramePr>
        <p:xfrm>
          <a:off x="8658405" y="1281381"/>
          <a:ext cx="1217613" cy="492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Worksheet" r:id="rId3" imgW="2717460" imgH="10844444" progId="Excel.Sheet.8">
                  <p:embed/>
                </p:oleObj>
              </mc:Choice>
              <mc:Fallback>
                <p:oleObj name="Worksheet" r:id="rId3" imgW="2717460" imgH="10844444" progId="Excel.Sheet.8">
                  <p:embed/>
                  <p:pic>
                    <p:nvPicPr>
                      <p:cNvPr id="3174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8405" y="1281381"/>
                        <a:ext cx="1217613" cy="492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8258355" y="3384818"/>
            <a:ext cx="381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911898"/>
              </p:ext>
            </p:extLst>
          </p:nvPr>
        </p:nvGraphicFramePr>
        <p:xfrm>
          <a:off x="6975655" y="1232168"/>
          <a:ext cx="1352550" cy="504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Worksheet" r:id="rId5" imgW="2717460" imgH="10082540" progId="Excel.Sheet.8">
                  <p:embed/>
                </p:oleObj>
              </mc:Choice>
              <mc:Fallback>
                <p:oleObj name="Worksheet" r:id="rId5" imgW="2717460" imgH="10082540" progId="Excel.Sheet.8">
                  <p:embed/>
                  <p:pic>
                    <p:nvPicPr>
                      <p:cNvPr id="317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655" y="1232168"/>
                        <a:ext cx="1352550" cy="504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2009955" y="2622818"/>
            <a:ext cx="2932113" cy="781050"/>
          </a:xfrm>
          <a:prstGeom prst="upArrowCallout">
            <a:avLst>
              <a:gd name="adj1" fmla="val 105218"/>
              <a:gd name="adj2" fmla="val 105235"/>
              <a:gd name="adj3" fmla="val 16667"/>
              <a:gd name="adj4" fmla="val 66667"/>
            </a:avLst>
          </a:prstGeom>
          <a:solidFill>
            <a:srgbClr val="83ADC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/>
              <a:t>Core indexing step</a:t>
            </a:r>
          </a:p>
        </p:txBody>
      </p:sp>
    </p:spTree>
    <p:extLst>
      <p:ext uri="{BB962C8B-B14F-4D97-AF65-F5344CB8AC3E}">
        <p14:creationId xmlns:p14="http://schemas.microsoft.com/office/powerpoint/2010/main" val="3534741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46174" cy="432000"/>
          </a:xfrm>
        </p:spPr>
        <p:txBody>
          <a:bodyPr/>
          <a:lstStyle/>
          <a:p>
            <a:r>
              <a:rPr lang="ru-RU" dirty="0"/>
              <a:t>Шаги индексатора: Словарь и Постинги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23</a:t>
            </a:fld>
            <a:endParaRPr lang="ru-RU" noProof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57532" y="1131915"/>
            <a:ext cx="4063042" cy="2590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dirty="0">
                <a:ea typeface="ＭＳ Ｐゴシック" charset="0"/>
                <a:cs typeface="ＭＳ Ｐゴシック" charset="0"/>
              </a:rPr>
              <a:t>• </a:t>
            </a:r>
            <a:r>
              <a:rPr lang="ru-RU" sz="2200" dirty="0">
                <a:ea typeface="ＭＳ Ｐゴシック" charset="0"/>
                <a:cs typeface="ＭＳ Ｐゴシック" charset="0"/>
              </a:rPr>
              <a:t>Несколько записей терминов в одном документе объединяются.</a:t>
            </a:r>
          </a:p>
          <a:p>
            <a:pPr marL="0" indent="0">
              <a:buNone/>
              <a:defRPr/>
            </a:pPr>
            <a:r>
              <a:rPr lang="ru-RU" sz="2200" dirty="0" smtClean="0">
                <a:ea typeface="ＭＳ Ｐゴシック" charset="0"/>
                <a:cs typeface="ＭＳ Ｐゴシック" charset="0"/>
              </a:rPr>
              <a:t>• </a:t>
            </a:r>
            <a:r>
              <a:rPr lang="ru-RU" sz="2200" dirty="0">
                <a:ea typeface="ＭＳ Ｐゴシック" charset="0"/>
                <a:cs typeface="ＭＳ Ｐゴシック" charset="0"/>
              </a:rPr>
              <a:t>Разделите на Словарь и Постинги</a:t>
            </a:r>
          </a:p>
          <a:p>
            <a:pPr marL="0" indent="0">
              <a:buNone/>
              <a:defRPr/>
            </a:pPr>
            <a:r>
              <a:rPr lang="ru-RU" sz="2200" dirty="0" smtClean="0">
                <a:ea typeface="ＭＳ Ｐゴシック" charset="0"/>
                <a:cs typeface="ＭＳ Ｐゴシック" charset="0"/>
              </a:rPr>
              <a:t>• </a:t>
            </a:r>
            <a:r>
              <a:rPr lang="ru-RU" sz="2200" dirty="0">
                <a:ea typeface="ＭＳ Ｐゴシック" charset="0"/>
                <a:cs typeface="ＭＳ Ｐゴシック" charset="0"/>
              </a:rPr>
              <a:t>Информация о частоте документов добавляется.</a:t>
            </a:r>
            <a:endParaRPr lang="en-US" sz="22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6696974" y="3113115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graphicFrame>
        <p:nvGraphicFramePr>
          <p:cNvPr id="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360763"/>
              </p:ext>
            </p:extLst>
          </p:nvPr>
        </p:nvGraphicFramePr>
        <p:xfrm>
          <a:off x="5325374" y="1282728"/>
          <a:ext cx="1217613" cy="492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Worksheet" r:id="rId3" imgW="2717460" imgH="10844444" progId="Excel.Sheet.8">
                  <p:embed/>
                </p:oleObj>
              </mc:Choice>
              <mc:Fallback>
                <p:oleObj name="Worksheet" r:id="rId3" imgW="2717460" imgH="10844444" progId="Excel.Sheet.8">
                  <p:embed/>
                  <p:pic>
                    <p:nvPicPr>
                      <p:cNvPr id="3277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5374" y="1282728"/>
                        <a:ext cx="1217613" cy="492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2298842" y="4905442"/>
            <a:ext cx="1817613" cy="965121"/>
          </a:xfrm>
          <a:prstGeom prst="upArrowCallout">
            <a:avLst>
              <a:gd name="adj1" fmla="val 57860"/>
              <a:gd name="adj2" fmla="val 57860"/>
              <a:gd name="adj3" fmla="val 16667"/>
              <a:gd name="adj4" fmla="val 66667"/>
            </a:avLst>
          </a:prstGeom>
          <a:solidFill>
            <a:srgbClr val="83ADC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ea typeface="Arial Unicode MS" pitchFamily="34" charset="-128"/>
              </a:rPr>
              <a:t>Почему частота</a:t>
            </a:r>
            <a:r>
              <a:rPr lang="en-US" altLang="ru-RU" sz="1800" dirty="0" smtClean="0">
                <a:ea typeface="Arial Unicode MS" pitchFamily="34" charset="-128"/>
              </a:rPr>
              <a:t>?</a:t>
            </a:r>
            <a:endParaRPr lang="en-US" altLang="ru-RU" sz="1800" dirty="0">
              <a:ea typeface="Arial Unicode MS" pitchFamily="34" charset="-128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ea typeface="Arial Unicode MS" pitchFamily="34" charset="-128"/>
              </a:rPr>
              <a:t>Об этом далее</a:t>
            </a:r>
            <a:endParaRPr lang="en-US" altLang="ru-RU" sz="1800" dirty="0">
              <a:ea typeface="Arial Unicode MS" pitchFamily="34" charset="-128"/>
            </a:endParaRPr>
          </a:p>
        </p:txBody>
      </p:sp>
      <p:pic>
        <p:nvPicPr>
          <p:cNvPr id="11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174" y="1055715"/>
            <a:ext cx="2801938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76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945577" cy="432000"/>
          </a:xfrm>
        </p:spPr>
        <p:txBody>
          <a:bodyPr/>
          <a:lstStyle/>
          <a:p>
            <a:r>
              <a:rPr lang="ru-RU" altLang="ru-RU" dirty="0" smtClean="0">
                <a:ea typeface="ＭＳ Ｐゴシック" panose="020B0600070205080204" pitchFamily="34" charset="-128"/>
              </a:rPr>
              <a:t>Где мы «расплачиваемся» за хранение данных?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24</a:t>
            </a:fld>
            <a:endParaRPr lang="ru-RU" noProof="0" dirty="0"/>
          </a:p>
        </p:txBody>
      </p:sp>
      <p:pic>
        <p:nvPicPr>
          <p:cNvPr id="7" name="Picture 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060" y="1055715"/>
            <a:ext cx="2801938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32"/>
          <p:cNvSpPr>
            <a:spLocks noChangeArrowheads="1"/>
          </p:cNvSpPr>
          <p:nvPr/>
        </p:nvSpPr>
        <p:spPr bwMode="auto">
          <a:xfrm>
            <a:off x="4711460" y="5399115"/>
            <a:ext cx="1189038" cy="914400"/>
          </a:xfrm>
          <a:prstGeom prst="upArrowCallout">
            <a:avLst>
              <a:gd name="adj1" fmla="val 32509"/>
              <a:gd name="adj2" fmla="val 32509"/>
              <a:gd name="adj3" fmla="val 16667"/>
              <a:gd name="adj4" fmla="val 6666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Pointers</a:t>
            </a:r>
          </a:p>
        </p:txBody>
      </p:sp>
      <p:sp>
        <p:nvSpPr>
          <p:cNvPr id="10" name="AutoShape 33"/>
          <p:cNvSpPr>
            <a:spLocks noChangeArrowheads="1"/>
          </p:cNvSpPr>
          <p:nvPr/>
        </p:nvSpPr>
        <p:spPr bwMode="auto">
          <a:xfrm>
            <a:off x="2120660" y="2422553"/>
            <a:ext cx="1600200" cy="1200150"/>
          </a:xfrm>
          <a:prstGeom prst="rightArrowCallout">
            <a:avLst>
              <a:gd name="adj1" fmla="val 25000"/>
              <a:gd name="adj2" fmla="val 25000"/>
              <a:gd name="adj3" fmla="val 37500"/>
              <a:gd name="adj4" fmla="val 6666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/>
              <a:t>Terms and counts</a:t>
            </a:r>
          </a:p>
        </p:txBody>
      </p:sp>
      <p:sp>
        <p:nvSpPr>
          <p:cNvPr id="11" name="Text Box 34"/>
          <p:cNvSpPr txBox="1">
            <a:spLocks noChangeArrowheads="1"/>
          </p:cNvSpPr>
          <p:nvPr/>
        </p:nvSpPr>
        <p:spPr bwMode="auto">
          <a:xfrm>
            <a:off x="7066470" y="2527863"/>
            <a:ext cx="3578525" cy="2677656"/>
          </a:xfrm>
          <a:prstGeom prst="rect">
            <a:avLst/>
          </a:prstGeom>
          <a:solidFill>
            <a:srgbClr val="C0504D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dirty="0">
                <a:latin typeface="+mn-lt"/>
              </a:rPr>
              <a:t>Реализация системы </a:t>
            </a:r>
            <a:r>
              <a:rPr lang="ru-RU" dirty="0" smtClean="0">
                <a:latin typeface="+mn-lt"/>
              </a:rPr>
              <a:t>ИП</a:t>
            </a:r>
          </a:p>
          <a:p>
            <a:pPr marL="342900" indent="-342900" eaLnBrk="1" fontAlgn="auto" hangingPunct="1">
              <a:spcBef>
                <a:spcPct val="5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+mn-lt"/>
              </a:rPr>
              <a:t>Как мы можем эффективно выполнять индексацию?</a:t>
            </a:r>
          </a:p>
          <a:p>
            <a:pPr marL="342900" indent="-342900" eaLnBrk="1" fontAlgn="auto" hangingPunct="1">
              <a:spcBef>
                <a:spcPct val="5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+mn-lt"/>
              </a:rPr>
              <a:t>Какой объем хранилища нам нужен?</a:t>
            </a: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6387860" y="1436715"/>
            <a:ext cx="1905000" cy="831850"/>
          </a:xfrm>
          <a:prstGeom prst="leftArrowCallout">
            <a:avLst>
              <a:gd name="adj1" fmla="val 25000"/>
              <a:gd name="adj2" fmla="val 25000"/>
              <a:gd name="adj3" fmla="val 41190"/>
              <a:gd name="adj4" fmla="val 6666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/>
              <a:t>Lists of docIDs</a:t>
            </a:r>
          </a:p>
        </p:txBody>
      </p:sp>
    </p:spTree>
    <p:extLst>
      <p:ext uri="{BB962C8B-B14F-4D97-AF65-F5344CB8AC3E}">
        <p14:creationId xmlns:p14="http://schemas.microsoft.com/office/powerpoint/2010/main" val="126808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 autoUpdateAnimBg="0"/>
      <p:bldP spid="12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Рисунок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Полилиния 5" descr="Пустой контрастный элемент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1" name="Надпись 30" descr="Акцент флага для заголовка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21" name="Равнобедренный треугольник 20" descr="Акцент тени для заголовка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117" y="1816508"/>
            <a:ext cx="4459766" cy="3411099"/>
          </a:xfrm>
        </p:spPr>
        <p:txBody>
          <a:bodyPr rtlCol="0"/>
          <a:lstStyle/>
          <a:p>
            <a:r>
              <a:rPr lang="ru-RU" dirty="0"/>
              <a:t>Обработка запросов с использованием инвертированного индекса</a:t>
            </a:r>
            <a:endParaRPr lang="ru-RU" sz="5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553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644317" cy="432000"/>
          </a:xfrm>
        </p:spPr>
        <p:txBody>
          <a:bodyPr/>
          <a:lstStyle/>
          <a:p>
            <a:r>
              <a:rPr lang="ru-RU" dirty="0"/>
              <a:t>Только что построенный индекс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• Как мы обрабатываем запрос</a:t>
            </a:r>
            <a:r>
              <a:rPr lang="ru-RU" sz="2600" dirty="0" smtClean="0"/>
              <a:t>? (на чем фокусируемся при обработке?)</a:t>
            </a:r>
            <a:endParaRPr lang="ru-RU" sz="2600" dirty="0"/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Позже - какие виды запросов мы можем обработать?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04367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запросов: </a:t>
            </a:r>
            <a:r>
              <a:rPr lang="ru-RU" dirty="0" smtClean="0"/>
              <a:t>И (</a:t>
            </a:r>
            <a:r>
              <a:rPr lang="en-US" dirty="0" smtClean="0"/>
              <a:t>AND)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• Рассмотрим обработку запроса:</a:t>
            </a:r>
          </a:p>
          <a:p>
            <a:pPr marL="0" indent="0">
              <a:buNone/>
            </a:pPr>
            <a:r>
              <a:rPr lang="ru-RU" sz="2600" dirty="0" smtClean="0"/>
              <a:t>Брут </a:t>
            </a:r>
            <a:r>
              <a:rPr lang="ru-RU" sz="2600" dirty="0"/>
              <a:t>И Цезарь – Найдите Брут в Словаре;</a:t>
            </a:r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Извлеките его постинги.</a:t>
            </a:r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Найдите Цезаря в Словаре;</a:t>
            </a:r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Извлеките его постинги.</a:t>
            </a:r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"Слияние" двух постингов (</a:t>
            </a:r>
            <a:r>
              <a:rPr lang="ru-RU" sz="2600" dirty="0" smtClean="0"/>
              <a:t>пересечение</a:t>
            </a:r>
            <a:r>
              <a:rPr lang="en-US" sz="2600" dirty="0" smtClean="0"/>
              <a:t> </a:t>
            </a:r>
            <a:r>
              <a:rPr lang="ru-RU" sz="2600" dirty="0" smtClean="0"/>
              <a:t>множества документов)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27</a:t>
            </a:fld>
            <a:endParaRPr lang="ru-RU" noProof="0" dirty="0"/>
          </a:p>
        </p:txBody>
      </p:sp>
      <p:sp>
        <p:nvSpPr>
          <p:cNvPr id="8" name="Text Box 2058"/>
          <p:cNvSpPr txBox="1">
            <a:spLocks noChangeArrowheads="1"/>
          </p:cNvSpPr>
          <p:nvPr/>
        </p:nvSpPr>
        <p:spPr bwMode="auto">
          <a:xfrm>
            <a:off x="7123200" y="4053516"/>
            <a:ext cx="703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Arial Unicode MS" pitchFamily="34" charset="-128"/>
                <a:ea typeface="ＭＳ Ｐゴシック" panose="020B0600070205080204" pitchFamily="34" charset="-128"/>
                <a:cs typeface="Arial Unicode MS" pitchFamily="34" charset="-128"/>
              </a:rPr>
              <a:t>128</a:t>
            </a:r>
          </a:p>
        </p:txBody>
      </p:sp>
      <p:sp>
        <p:nvSpPr>
          <p:cNvPr id="9" name="Text Box 2065"/>
          <p:cNvSpPr txBox="1">
            <a:spLocks noChangeArrowheads="1"/>
          </p:cNvSpPr>
          <p:nvPr/>
        </p:nvSpPr>
        <p:spPr bwMode="auto">
          <a:xfrm>
            <a:off x="7428000" y="4586916"/>
            <a:ext cx="533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Arial Unicode MS" pitchFamily="34" charset="-128"/>
                <a:ea typeface="ＭＳ Ｐゴシック" panose="020B0600070205080204" pitchFamily="34" charset="-128"/>
                <a:cs typeface="Arial Unicode MS" pitchFamily="34" charset="-128"/>
              </a:rPr>
              <a:t>34</a:t>
            </a:r>
          </a:p>
        </p:txBody>
      </p:sp>
      <p:grpSp>
        <p:nvGrpSpPr>
          <p:cNvPr id="10" name="Group 2083"/>
          <p:cNvGrpSpPr>
            <a:grpSpLocks/>
          </p:cNvGrpSpPr>
          <p:nvPr/>
        </p:nvGrpSpPr>
        <p:grpSpPr bwMode="auto">
          <a:xfrm>
            <a:off x="2759162" y="4053516"/>
            <a:ext cx="647700" cy="466725"/>
            <a:chOff x="1584" y="3162"/>
            <a:chExt cx="408" cy="294"/>
          </a:xfrm>
        </p:grpSpPr>
        <p:sp>
          <p:nvSpPr>
            <p:cNvPr id="11" name="Text Box 2052"/>
            <p:cNvSpPr txBox="1">
              <a:spLocks noChangeArrowheads="1"/>
            </p:cNvSpPr>
            <p:nvPr/>
          </p:nvSpPr>
          <p:spPr bwMode="auto">
            <a:xfrm>
              <a:off x="1584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2</a:t>
              </a:r>
            </a:p>
          </p:txBody>
        </p:sp>
        <p:cxnSp>
          <p:nvCxnSpPr>
            <p:cNvPr id="12" name="AutoShape 2066"/>
            <p:cNvCxnSpPr>
              <a:cxnSpLocks noChangeShapeType="1"/>
              <a:stCxn id="11" idx="3"/>
              <a:endCxn id="14" idx="1"/>
            </p:cNvCxnSpPr>
            <p:nvPr/>
          </p:nvCxnSpPr>
          <p:spPr bwMode="auto">
            <a:xfrm>
              <a:off x="1813" y="3309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Group 2084"/>
          <p:cNvGrpSpPr>
            <a:grpSpLocks/>
          </p:cNvGrpSpPr>
          <p:nvPr/>
        </p:nvGrpSpPr>
        <p:grpSpPr bwMode="auto">
          <a:xfrm>
            <a:off x="3406862" y="4053516"/>
            <a:ext cx="668338" cy="466725"/>
            <a:chOff x="1992" y="3162"/>
            <a:chExt cx="421" cy="294"/>
          </a:xfrm>
        </p:grpSpPr>
        <p:sp>
          <p:nvSpPr>
            <p:cNvPr id="14" name="Text Box 2053"/>
            <p:cNvSpPr txBox="1">
              <a:spLocks noChangeArrowheads="1"/>
            </p:cNvSpPr>
            <p:nvPr/>
          </p:nvSpPr>
          <p:spPr bwMode="auto">
            <a:xfrm>
              <a:off x="1992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4</a:t>
              </a:r>
            </a:p>
          </p:txBody>
        </p:sp>
        <p:cxnSp>
          <p:nvCxnSpPr>
            <p:cNvPr id="15" name="AutoShape 2067"/>
            <p:cNvCxnSpPr>
              <a:cxnSpLocks noChangeShapeType="1"/>
              <a:stCxn id="14" idx="3"/>
              <a:endCxn id="17" idx="1"/>
            </p:cNvCxnSpPr>
            <p:nvPr/>
          </p:nvCxnSpPr>
          <p:spPr bwMode="auto">
            <a:xfrm>
              <a:off x="2221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6" name="Group 2085"/>
          <p:cNvGrpSpPr>
            <a:grpSpLocks/>
          </p:cNvGrpSpPr>
          <p:nvPr/>
        </p:nvGrpSpPr>
        <p:grpSpPr bwMode="auto">
          <a:xfrm>
            <a:off x="4075200" y="4053516"/>
            <a:ext cx="609600" cy="466725"/>
            <a:chOff x="2413" y="3162"/>
            <a:chExt cx="384" cy="294"/>
          </a:xfrm>
        </p:grpSpPr>
        <p:sp>
          <p:nvSpPr>
            <p:cNvPr id="17" name="Text Box 2054"/>
            <p:cNvSpPr txBox="1">
              <a:spLocks noChangeArrowheads="1"/>
            </p:cNvSpPr>
            <p:nvPr/>
          </p:nvSpPr>
          <p:spPr bwMode="auto">
            <a:xfrm>
              <a:off x="2413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8</a:t>
              </a:r>
            </a:p>
          </p:txBody>
        </p:sp>
        <p:cxnSp>
          <p:nvCxnSpPr>
            <p:cNvPr id="18" name="AutoShape 2068"/>
            <p:cNvCxnSpPr>
              <a:cxnSpLocks noChangeShapeType="1"/>
              <a:stCxn id="17" idx="3"/>
              <a:endCxn id="20" idx="1"/>
            </p:cNvCxnSpPr>
            <p:nvPr/>
          </p:nvCxnSpPr>
          <p:spPr bwMode="auto">
            <a:xfrm>
              <a:off x="2642" y="3309"/>
              <a:ext cx="15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9" name="Group 2086"/>
          <p:cNvGrpSpPr>
            <a:grpSpLocks/>
          </p:cNvGrpSpPr>
          <p:nvPr/>
        </p:nvGrpSpPr>
        <p:grpSpPr bwMode="auto">
          <a:xfrm>
            <a:off x="4684800" y="4053516"/>
            <a:ext cx="762000" cy="466725"/>
            <a:chOff x="2797" y="3162"/>
            <a:chExt cx="480" cy="294"/>
          </a:xfrm>
        </p:grpSpPr>
        <p:sp>
          <p:nvSpPr>
            <p:cNvPr id="20" name="Text Box 2055"/>
            <p:cNvSpPr txBox="1">
              <a:spLocks noChangeArrowheads="1"/>
            </p:cNvSpPr>
            <p:nvPr/>
          </p:nvSpPr>
          <p:spPr bwMode="auto">
            <a:xfrm>
              <a:off x="2797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16</a:t>
              </a:r>
            </a:p>
          </p:txBody>
        </p:sp>
        <p:cxnSp>
          <p:nvCxnSpPr>
            <p:cNvPr id="21" name="AutoShape 2069"/>
            <p:cNvCxnSpPr>
              <a:cxnSpLocks noChangeShapeType="1"/>
              <a:stCxn id="20" idx="3"/>
              <a:endCxn id="23" idx="1"/>
            </p:cNvCxnSpPr>
            <p:nvPr/>
          </p:nvCxnSpPr>
          <p:spPr bwMode="auto">
            <a:xfrm>
              <a:off x="3133" y="3309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Group 2087"/>
          <p:cNvGrpSpPr>
            <a:grpSpLocks/>
          </p:cNvGrpSpPr>
          <p:nvPr/>
        </p:nvGrpSpPr>
        <p:grpSpPr bwMode="auto">
          <a:xfrm>
            <a:off x="5446800" y="4053516"/>
            <a:ext cx="838200" cy="466725"/>
            <a:chOff x="3277" y="3162"/>
            <a:chExt cx="528" cy="294"/>
          </a:xfrm>
        </p:grpSpPr>
        <p:sp>
          <p:nvSpPr>
            <p:cNvPr id="23" name="Text Box 2056"/>
            <p:cNvSpPr txBox="1">
              <a:spLocks noChangeArrowheads="1"/>
            </p:cNvSpPr>
            <p:nvPr/>
          </p:nvSpPr>
          <p:spPr bwMode="auto">
            <a:xfrm>
              <a:off x="3277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32</a:t>
              </a:r>
            </a:p>
          </p:txBody>
        </p:sp>
        <p:cxnSp>
          <p:nvCxnSpPr>
            <p:cNvPr id="24" name="AutoShape 2070"/>
            <p:cNvCxnSpPr>
              <a:cxnSpLocks noChangeShapeType="1"/>
              <a:stCxn id="23" idx="3"/>
              <a:endCxn id="26" idx="1"/>
            </p:cNvCxnSpPr>
            <p:nvPr/>
          </p:nvCxnSpPr>
          <p:spPr bwMode="auto">
            <a:xfrm>
              <a:off x="3613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" name="Group 2088"/>
          <p:cNvGrpSpPr>
            <a:grpSpLocks/>
          </p:cNvGrpSpPr>
          <p:nvPr/>
        </p:nvGrpSpPr>
        <p:grpSpPr bwMode="auto">
          <a:xfrm>
            <a:off x="6285004" y="4053516"/>
            <a:ext cx="788988" cy="466725"/>
            <a:chOff x="3805" y="3162"/>
            <a:chExt cx="497" cy="294"/>
          </a:xfrm>
        </p:grpSpPr>
        <p:sp>
          <p:nvSpPr>
            <p:cNvPr id="26" name="Text Box 2057"/>
            <p:cNvSpPr txBox="1">
              <a:spLocks noChangeArrowheads="1"/>
            </p:cNvSpPr>
            <p:nvPr/>
          </p:nvSpPr>
          <p:spPr bwMode="auto">
            <a:xfrm>
              <a:off x="3805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64</a:t>
              </a:r>
            </a:p>
          </p:txBody>
        </p:sp>
        <p:cxnSp>
          <p:nvCxnSpPr>
            <p:cNvPr id="27" name="AutoShape 2071"/>
            <p:cNvCxnSpPr>
              <a:cxnSpLocks noChangeShapeType="1"/>
              <a:stCxn id="26" idx="3"/>
              <a:endCxn id="8" idx="1"/>
            </p:cNvCxnSpPr>
            <p:nvPr/>
          </p:nvCxnSpPr>
          <p:spPr bwMode="auto">
            <a:xfrm>
              <a:off x="4141" y="3309"/>
              <a:ext cx="16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" name="Group 2089"/>
          <p:cNvGrpSpPr>
            <a:grpSpLocks/>
          </p:cNvGrpSpPr>
          <p:nvPr/>
        </p:nvGrpSpPr>
        <p:grpSpPr bwMode="auto">
          <a:xfrm>
            <a:off x="2779800" y="4586916"/>
            <a:ext cx="647700" cy="466725"/>
            <a:chOff x="1597" y="3498"/>
            <a:chExt cx="408" cy="294"/>
          </a:xfrm>
        </p:grpSpPr>
        <p:sp>
          <p:nvSpPr>
            <p:cNvPr id="29" name="Text Box 2072"/>
            <p:cNvSpPr txBox="1">
              <a:spLocks noChangeArrowheads="1"/>
            </p:cNvSpPr>
            <p:nvPr/>
          </p:nvSpPr>
          <p:spPr bwMode="auto">
            <a:xfrm>
              <a:off x="1597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1</a:t>
              </a:r>
            </a:p>
          </p:txBody>
        </p:sp>
        <p:cxnSp>
          <p:nvCxnSpPr>
            <p:cNvPr id="30" name="AutoShape 2073"/>
            <p:cNvCxnSpPr>
              <a:cxnSpLocks noChangeShapeType="1"/>
              <a:stCxn id="29" idx="3"/>
              <a:endCxn id="32" idx="1"/>
            </p:cNvCxnSpPr>
            <p:nvPr/>
          </p:nvCxnSpPr>
          <p:spPr bwMode="auto">
            <a:xfrm>
              <a:off x="1826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" name="Group 2090"/>
          <p:cNvGrpSpPr>
            <a:grpSpLocks/>
          </p:cNvGrpSpPr>
          <p:nvPr/>
        </p:nvGrpSpPr>
        <p:grpSpPr bwMode="auto">
          <a:xfrm>
            <a:off x="3427500" y="4586916"/>
            <a:ext cx="647700" cy="466725"/>
            <a:chOff x="2005" y="3498"/>
            <a:chExt cx="408" cy="294"/>
          </a:xfrm>
        </p:grpSpPr>
        <p:sp>
          <p:nvSpPr>
            <p:cNvPr id="32" name="Text Box 2059"/>
            <p:cNvSpPr txBox="1">
              <a:spLocks noChangeArrowheads="1"/>
            </p:cNvSpPr>
            <p:nvPr/>
          </p:nvSpPr>
          <p:spPr bwMode="auto">
            <a:xfrm>
              <a:off x="2005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2</a:t>
              </a:r>
            </a:p>
          </p:txBody>
        </p:sp>
        <p:cxnSp>
          <p:nvCxnSpPr>
            <p:cNvPr id="33" name="AutoShape 2074"/>
            <p:cNvCxnSpPr>
              <a:cxnSpLocks noChangeShapeType="1"/>
              <a:stCxn id="32" idx="3"/>
              <a:endCxn id="35" idx="1"/>
            </p:cNvCxnSpPr>
            <p:nvPr/>
          </p:nvCxnSpPr>
          <p:spPr bwMode="auto">
            <a:xfrm>
              <a:off x="2234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4" name="Group 2091"/>
          <p:cNvGrpSpPr>
            <a:grpSpLocks/>
          </p:cNvGrpSpPr>
          <p:nvPr/>
        </p:nvGrpSpPr>
        <p:grpSpPr bwMode="auto">
          <a:xfrm>
            <a:off x="4075200" y="4586916"/>
            <a:ext cx="630237" cy="466725"/>
            <a:chOff x="2413" y="3498"/>
            <a:chExt cx="397" cy="294"/>
          </a:xfrm>
        </p:grpSpPr>
        <p:sp>
          <p:nvSpPr>
            <p:cNvPr id="35" name="Text Box 2060"/>
            <p:cNvSpPr txBox="1">
              <a:spLocks noChangeArrowheads="1"/>
            </p:cNvSpPr>
            <p:nvPr/>
          </p:nvSpPr>
          <p:spPr bwMode="auto">
            <a:xfrm>
              <a:off x="2413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3</a:t>
              </a:r>
            </a:p>
          </p:txBody>
        </p:sp>
        <p:cxnSp>
          <p:nvCxnSpPr>
            <p:cNvPr id="36" name="AutoShape 2075"/>
            <p:cNvCxnSpPr>
              <a:cxnSpLocks noChangeShapeType="1"/>
              <a:stCxn id="35" idx="3"/>
              <a:endCxn id="38" idx="1"/>
            </p:cNvCxnSpPr>
            <p:nvPr/>
          </p:nvCxnSpPr>
          <p:spPr bwMode="auto">
            <a:xfrm>
              <a:off x="2642" y="3645"/>
              <a:ext cx="16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Group 2092"/>
          <p:cNvGrpSpPr>
            <a:grpSpLocks/>
          </p:cNvGrpSpPr>
          <p:nvPr/>
        </p:nvGrpSpPr>
        <p:grpSpPr bwMode="auto">
          <a:xfrm>
            <a:off x="4705437" y="4586916"/>
            <a:ext cx="606425" cy="466725"/>
            <a:chOff x="2810" y="3498"/>
            <a:chExt cx="382" cy="294"/>
          </a:xfrm>
        </p:grpSpPr>
        <p:sp>
          <p:nvSpPr>
            <p:cNvPr id="38" name="Text Box 2061"/>
            <p:cNvSpPr txBox="1">
              <a:spLocks noChangeArrowheads="1"/>
            </p:cNvSpPr>
            <p:nvPr/>
          </p:nvSpPr>
          <p:spPr bwMode="auto">
            <a:xfrm>
              <a:off x="2810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5</a:t>
              </a:r>
            </a:p>
          </p:txBody>
        </p:sp>
        <p:cxnSp>
          <p:nvCxnSpPr>
            <p:cNvPr id="39" name="AutoShape 2076"/>
            <p:cNvCxnSpPr>
              <a:cxnSpLocks noChangeShapeType="1"/>
              <a:stCxn id="38" idx="3"/>
              <a:endCxn id="41" idx="1"/>
            </p:cNvCxnSpPr>
            <p:nvPr/>
          </p:nvCxnSpPr>
          <p:spPr bwMode="auto">
            <a:xfrm>
              <a:off x="3039" y="3645"/>
              <a:ext cx="15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" name="Group 2093"/>
          <p:cNvGrpSpPr>
            <a:grpSpLocks/>
          </p:cNvGrpSpPr>
          <p:nvPr/>
        </p:nvGrpSpPr>
        <p:grpSpPr bwMode="auto">
          <a:xfrm>
            <a:off x="5311862" y="4586916"/>
            <a:ext cx="592138" cy="466725"/>
            <a:chOff x="3192" y="3498"/>
            <a:chExt cx="373" cy="294"/>
          </a:xfrm>
        </p:grpSpPr>
        <p:sp>
          <p:nvSpPr>
            <p:cNvPr id="41" name="Text Box 2062"/>
            <p:cNvSpPr txBox="1">
              <a:spLocks noChangeArrowheads="1"/>
            </p:cNvSpPr>
            <p:nvPr/>
          </p:nvSpPr>
          <p:spPr bwMode="auto">
            <a:xfrm>
              <a:off x="3192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8</a:t>
              </a:r>
            </a:p>
          </p:txBody>
        </p:sp>
        <p:cxnSp>
          <p:nvCxnSpPr>
            <p:cNvPr id="42" name="AutoShape 2077"/>
            <p:cNvCxnSpPr>
              <a:cxnSpLocks noChangeShapeType="1"/>
              <a:stCxn id="41" idx="3"/>
              <a:endCxn id="44" idx="1"/>
            </p:cNvCxnSpPr>
            <p:nvPr/>
          </p:nvCxnSpPr>
          <p:spPr bwMode="auto">
            <a:xfrm>
              <a:off x="3421" y="3645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3" name="Group 2094"/>
          <p:cNvGrpSpPr>
            <a:grpSpLocks/>
          </p:cNvGrpSpPr>
          <p:nvPr/>
        </p:nvGrpSpPr>
        <p:grpSpPr bwMode="auto">
          <a:xfrm>
            <a:off x="5904000" y="4586916"/>
            <a:ext cx="762000" cy="466725"/>
            <a:chOff x="3565" y="3498"/>
            <a:chExt cx="480" cy="294"/>
          </a:xfrm>
        </p:grpSpPr>
        <p:sp>
          <p:nvSpPr>
            <p:cNvPr id="44" name="Text Box 2063"/>
            <p:cNvSpPr txBox="1">
              <a:spLocks noChangeArrowheads="1"/>
            </p:cNvSpPr>
            <p:nvPr/>
          </p:nvSpPr>
          <p:spPr bwMode="auto">
            <a:xfrm>
              <a:off x="3565" y="349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13</a:t>
              </a:r>
            </a:p>
          </p:txBody>
        </p:sp>
        <p:cxnSp>
          <p:nvCxnSpPr>
            <p:cNvPr id="45" name="AutoShape 2078"/>
            <p:cNvCxnSpPr>
              <a:cxnSpLocks noChangeShapeType="1"/>
              <a:stCxn id="44" idx="3"/>
              <a:endCxn id="47" idx="1"/>
            </p:cNvCxnSpPr>
            <p:nvPr/>
          </p:nvCxnSpPr>
          <p:spPr bwMode="auto">
            <a:xfrm>
              <a:off x="3901" y="3645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6" name="Group 2095"/>
          <p:cNvGrpSpPr>
            <a:grpSpLocks/>
          </p:cNvGrpSpPr>
          <p:nvPr/>
        </p:nvGrpSpPr>
        <p:grpSpPr bwMode="auto">
          <a:xfrm>
            <a:off x="6666004" y="4586916"/>
            <a:ext cx="712788" cy="466725"/>
            <a:chOff x="4045" y="3498"/>
            <a:chExt cx="449" cy="294"/>
          </a:xfrm>
        </p:grpSpPr>
        <p:sp>
          <p:nvSpPr>
            <p:cNvPr id="47" name="Text Box 2064"/>
            <p:cNvSpPr txBox="1">
              <a:spLocks noChangeArrowheads="1"/>
            </p:cNvSpPr>
            <p:nvPr/>
          </p:nvSpPr>
          <p:spPr bwMode="auto">
            <a:xfrm>
              <a:off x="4045" y="349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21</a:t>
              </a:r>
            </a:p>
          </p:txBody>
        </p:sp>
        <p:cxnSp>
          <p:nvCxnSpPr>
            <p:cNvPr id="48" name="AutoShape 2079"/>
            <p:cNvCxnSpPr>
              <a:cxnSpLocks noChangeShapeType="1"/>
              <a:stCxn id="47" idx="3"/>
              <a:endCxn id="9" idx="1"/>
            </p:cNvCxnSpPr>
            <p:nvPr/>
          </p:nvCxnSpPr>
          <p:spPr bwMode="auto">
            <a:xfrm>
              <a:off x="4381" y="3645"/>
              <a:ext cx="11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9" name="Text Box 2080"/>
          <p:cNvSpPr txBox="1">
            <a:spLocks noChangeArrowheads="1"/>
          </p:cNvSpPr>
          <p:nvPr/>
        </p:nvSpPr>
        <p:spPr bwMode="auto">
          <a:xfrm>
            <a:off x="8016962" y="4072566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i="1">
                <a:latin typeface="Arial Unicode MS" pitchFamily="34" charset="-128"/>
                <a:ea typeface="ＭＳ Ｐゴシック" panose="020B0600070205080204" pitchFamily="34" charset="-128"/>
                <a:cs typeface="Arial Unicode MS" pitchFamily="34" charset="-128"/>
              </a:rPr>
              <a:t>Brutus</a:t>
            </a:r>
          </a:p>
        </p:txBody>
      </p:sp>
      <p:sp>
        <p:nvSpPr>
          <p:cNvPr id="50" name="Text Box 2081"/>
          <p:cNvSpPr txBox="1">
            <a:spLocks noChangeArrowheads="1"/>
          </p:cNvSpPr>
          <p:nvPr/>
        </p:nvSpPr>
        <p:spPr bwMode="auto">
          <a:xfrm>
            <a:off x="8016962" y="4529766"/>
            <a:ext cx="116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i="1">
                <a:latin typeface="Arial Unicode MS" pitchFamily="34" charset="-128"/>
                <a:ea typeface="ＭＳ Ｐゴシック" panose="020B0600070205080204" pitchFamily="34" charset="-128"/>
                <a:cs typeface="Arial Unicode MS" pitchFamily="34" charset="-128"/>
              </a:rPr>
              <a:t>Caesar</a:t>
            </a:r>
          </a:p>
        </p:txBody>
      </p:sp>
      <p:sp>
        <p:nvSpPr>
          <p:cNvPr id="51" name="AutoShape 2082"/>
          <p:cNvSpPr>
            <a:spLocks noChangeArrowheads="1"/>
          </p:cNvSpPr>
          <p:nvPr/>
        </p:nvSpPr>
        <p:spPr bwMode="auto">
          <a:xfrm rot="10800000">
            <a:off x="1706650" y="4339266"/>
            <a:ext cx="976312" cy="485775"/>
          </a:xfrm>
          <a:prstGeom prst="notchedRightArrow">
            <a:avLst>
              <a:gd name="adj1" fmla="val 50000"/>
              <a:gd name="adj2" fmla="val 50245"/>
            </a:avLst>
          </a:prstGeom>
          <a:solidFill>
            <a:srgbClr val="C050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414765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Слияние (</a:t>
            </a:r>
            <a:r>
              <a:rPr lang="en-US" dirty="0" smtClean="0"/>
              <a:t>merge)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• </a:t>
            </a:r>
            <a:r>
              <a:rPr lang="ru-RU" sz="2600" dirty="0" smtClean="0"/>
              <a:t>Проходи</a:t>
            </a:r>
            <a:r>
              <a:rPr lang="ru-RU" sz="2600" dirty="0"/>
              <a:t>м</a:t>
            </a:r>
            <a:r>
              <a:rPr lang="ru-RU" sz="2600" dirty="0" smtClean="0"/>
              <a:t> </a:t>
            </a:r>
            <a:r>
              <a:rPr lang="ru-RU" sz="2600" dirty="0"/>
              <a:t>через два </a:t>
            </a:r>
            <a:r>
              <a:rPr lang="ru-RU" sz="2600" dirty="0" smtClean="0"/>
              <a:t>постинга одновременно</a:t>
            </a:r>
            <a:r>
              <a:rPr lang="ru-RU" sz="2600" dirty="0"/>
              <a:t>, за время, линейное по </a:t>
            </a:r>
            <a:r>
              <a:rPr lang="ru-RU" sz="2600" dirty="0" smtClean="0"/>
              <a:t>отношению к общему </a:t>
            </a:r>
            <a:r>
              <a:rPr lang="ru-RU" sz="2600" dirty="0"/>
              <a:t>количеству записей </a:t>
            </a:r>
            <a:r>
              <a:rPr lang="ru-RU" sz="2600" dirty="0" smtClean="0"/>
              <a:t>постингов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endParaRPr lang="ru-RU" sz="2600" dirty="0" smtClean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Если длины списков равны x и y, слияние занимает O(</a:t>
            </a:r>
            <a:r>
              <a:rPr lang="ru-RU" sz="2600" dirty="0" err="1"/>
              <a:t>x+y</a:t>
            </a:r>
            <a:r>
              <a:rPr lang="ru-RU" sz="2600" dirty="0"/>
              <a:t>) операций. Ключевой момент: постинги отсортированы по </a:t>
            </a:r>
            <a:r>
              <a:rPr lang="ru-RU" sz="2600" dirty="0" err="1"/>
              <a:t>docID</a:t>
            </a:r>
            <a:r>
              <a:rPr lang="ru-RU" sz="2600" dirty="0"/>
              <a:t>.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28</a:t>
            </a:fld>
            <a:endParaRPr lang="ru-RU" noProof="0" dirty="0"/>
          </a:p>
        </p:txBody>
      </p:sp>
      <p:grpSp>
        <p:nvGrpSpPr>
          <p:cNvPr id="7" name="Group 99"/>
          <p:cNvGrpSpPr>
            <a:grpSpLocks/>
          </p:cNvGrpSpPr>
          <p:nvPr/>
        </p:nvGrpSpPr>
        <p:grpSpPr bwMode="auto">
          <a:xfrm>
            <a:off x="2807898" y="2048773"/>
            <a:ext cx="5202238" cy="1009650"/>
            <a:chOff x="1584" y="3264"/>
            <a:chExt cx="3277" cy="636"/>
          </a:xfrm>
        </p:grpSpPr>
        <p:sp>
          <p:nvSpPr>
            <p:cNvPr id="8" name="Text Box 54"/>
            <p:cNvSpPr txBox="1">
              <a:spLocks noChangeArrowheads="1"/>
            </p:cNvSpPr>
            <p:nvPr/>
          </p:nvSpPr>
          <p:spPr bwMode="auto">
            <a:xfrm>
              <a:off x="4525" y="3600"/>
              <a:ext cx="336" cy="294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34</a:t>
              </a:r>
            </a:p>
          </p:txBody>
        </p:sp>
        <p:grpSp>
          <p:nvGrpSpPr>
            <p:cNvPr id="9" name="Group 96"/>
            <p:cNvGrpSpPr>
              <a:grpSpLocks/>
            </p:cNvGrpSpPr>
            <p:nvPr/>
          </p:nvGrpSpPr>
          <p:grpSpPr bwMode="auto">
            <a:xfrm>
              <a:off x="1584" y="3264"/>
              <a:ext cx="3179" cy="300"/>
              <a:chOff x="1584" y="3060"/>
              <a:chExt cx="3179" cy="300"/>
            </a:xfrm>
          </p:grpSpPr>
          <p:sp>
            <p:nvSpPr>
              <p:cNvPr id="30" name="Text Box 53"/>
              <p:cNvSpPr txBox="1">
                <a:spLocks noChangeArrowheads="1"/>
              </p:cNvSpPr>
              <p:nvPr/>
            </p:nvSpPr>
            <p:spPr bwMode="auto">
              <a:xfrm>
                <a:off x="4320" y="3060"/>
                <a:ext cx="443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Arial Unicode MS" pitchFamily="34" charset="-128"/>
                    <a:ea typeface="ＭＳ Ｐゴシック" panose="020B0600070205080204" pitchFamily="34" charset="-128"/>
                    <a:cs typeface="Arial Unicode MS" pitchFamily="34" charset="-128"/>
                  </a:rPr>
                  <a:t>128</a:t>
                </a:r>
              </a:p>
            </p:txBody>
          </p:sp>
          <p:grpSp>
            <p:nvGrpSpPr>
              <p:cNvPr id="31" name="Group 55"/>
              <p:cNvGrpSpPr>
                <a:grpSpLocks/>
              </p:cNvGrpSpPr>
              <p:nvPr/>
            </p:nvGrpSpPr>
            <p:grpSpPr bwMode="auto">
              <a:xfrm>
                <a:off x="1584" y="3060"/>
                <a:ext cx="408" cy="294"/>
                <a:chOff x="1584" y="3162"/>
                <a:chExt cx="408" cy="294"/>
              </a:xfrm>
            </p:grpSpPr>
            <p:sp>
              <p:nvSpPr>
                <p:cNvPr id="47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584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ru-RU" sz="2400">
                      <a:latin typeface="Arial Unicode MS" pitchFamily="34" charset="-128"/>
                      <a:ea typeface="ＭＳ Ｐゴシック" panose="020B0600070205080204" pitchFamily="34" charset="-128"/>
                      <a:cs typeface="Arial Unicode MS" pitchFamily="34" charset="-128"/>
                    </a:rPr>
                    <a:t>2</a:t>
                  </a:r>
                </a:p>
              </p:txBody>
            </p:sp>
            <p:cxnSp>
              <p:nvCxnSpPr>
                <p:cNvPr id="48" name="AutoShape 57"/>
                <p:cNvCxnSpPr>
                  <a:cxnSpLocks noChangeShapeType="1"/>
                  <a:stCxn id="47" idx="3"/>
                  <a:endCxn id="45" idx="1"/>
                </p:cNvCxnSpPr>
                <p:nvPr/>
              </p:nvCxnSpPr>
              <p:spPr bwMode="auto">
                <a:xfrm>
                  <a:off x="1813" y="3309"/>
                  <a:ext cx="179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2" name="Group 58"/>
              <p:cNvGrpSpPr>
                <a:grpSpLocks/>
              </p:cNvGrpSpPr>
              <p:nvPr/>
            </p:nvGrpSpPr>
            <p:grpSpPr bwMode="auto">
              <a:xfrm>
                <a:off x="1992" y="3060"/>
                <a:ext cx="421" cy="294"/>
                <a:chOff x="1992" y="3162"/>
                <a:chExt cx="421" cy="294"/>
              </a:xfrm>
            </p:grpSpPr>
            <p:sp>
              <p:nvSpPr>
                <p:cNvPr id="45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1992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ru-RU" sz="2400">
                      <a:latin typeface="Arial Unicode MS" pitchFamily="34" charset="-128"/>
                      <a:ea typeface="ＭＳ Ｐゴシック" panose="020B0600070205080204" pitchFamily="34" charset="-128"/>
                      <a:cs typeface="Arial Unicode MS" pitchFamily="34" charset="-128"/>
                    </a:rPr>
                    <a:t>4</a:t>
                  </a:r>
                </a:p>
              </p:txBody>
            </p:sp>
            <p:cxnSp>
              <p:nvCxnSpPr>
                <p:cNvPr id="46" name="AutoShape 60"/>
                <p:cNvCxnSpPr>
                  <a:cxnSpLocks noChangeShapeType="1"/>
                  <a:stCxn id="45" idx="3"/>
                  <a:endCxn id="43" idx="1"/>
                </p:cNvCxnSpPr>
                <p:nvPr/>
              </p:nvCxnSpPr>
              <p:spPr bwMode="auto">
                <a:xfrm>
                  <a:off x="2221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3" name="Group 61"/>
              <p:cNvGrpSpPr>
                <a:grpSpLocks/>
              </p:cNvGrpSpPr>
              <p:nvPr/>
            </p:nvGrpSpPr>
            <p:grpSpPr bwMode="auto">
              <a:xfrm>
                <a:off x="2413" y="3060"/>
                <a:ext cx="384" cy="294"/>
                <a:chOff x="2413" y="3162"/>
                <a:chExt cx="384" cy="294"/>
              </a:xfrm>
            </p:grpSpPr>
            <p:sp>
              <p:nvSpPr>
                <p:cNvPr id="43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413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ru-RU" sz="2400">
                      <a:latin typeface="Arial Unicode MS" pitchFamily="34" charset="-128"/>
                      <a:ea typeface="ＭＳ Ｐゴシック" panose="020B0600070205080204" pitchFamily="34" charset="-128"/>
                      <a:cs typeface="Arial Unicode MS" pitchFamily="34" charset="-128"/>
                    </a:rPr>
                    <a:t>8</a:t>
                  </a:r>
                </a:p>
              </p:txBody>
            </p:sp>
            <p:cxnSp>
              <p:nvCxnSpPr>
                <p:cNvPr id="44" name="AutoShape 63"/>
                <p:cNvCxnSpPr>
                  <a:cxnSpLocks noChangeShapeType="1"/>
                  <a:stCxn id="43" idx="3"/>
                  <a:endCxn id="41" idx="1"/>
                </p:cNvCxnSpPr>
                <p:nvPr/>
              </p:nvCxnSpPr>
              <p:spPr bwMode="auto">
                <a:xfrm>
                  <a:off x="2642" y="3309"/>
                  <a:ext cx="155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4" name="Group 64"/>
              <p:cNvGrpSpPr>
                <a:grpSpLocks/>
              </p:cNvGrpSpPr>
              <p:nvPr/>
            </p:nvGrpSpPr>
            <p:grpSpPr bwMode="auto">
              <a:xfrm>
                <a:off x="2797" y="3060"/>
                <a:ext cx="480" cy="294"/>
                <a:chOff x="2797" y="3162"/>
                <a:chExt cx="480" cy="294"/>
              </a:xfrm>
            </p:grpSpPr>
            <p:sp>
              <p:nvSpPr>
                <p:cNvPr id="41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2797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ru-RU" sz="2400">
                      <a:latin typeface="Arial Unicode MS" pitchFamily="34" charset="-128"/>
                      <a:ea typeface="ＭＳ Ｐゴシック" panose="020B0600070205080204" pitchFamily="34" charset="-128"/>
                      <a:cs typeface="Arial Unicode MS" pitchFamily="34" charset="-128"/>
                    </a:rPr>
                    <a:t>16</a:t>
                  </a:r>
                </a:p>
              </p:txBody>
            </p:sp>
            <p:cxnSp>
              <p:nvCxnSpPr>
                <p:cNvPr id="42" name="AutoShape 66"/>
                <p:cNvCxnSpPr>
                  <a:cxnSpLocks noChangeShapeType="1"/>
                  <a:stCxn id="41" idx="3"/>
                  <a:endCxn id="39" idx="1"/>
                </p:cNvCxnSpPr>
                <p:nvPr/>
              </p:nvCxnSpPr>
              <p:spPr bwMode="auto">
                <a:xfrm>
                  <a:off x="3133" y="3309"/>
                  <a:ext cx="144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5" name="Group 67"/>
              <p:cNvGrpSpPr>
                <a:grpSpLocks/>
              </p:cNvGrpSpPr>
              <p:nvPr/>
            </p:nvGrpSpPr>
            <p:grpSpPr bwMode="auto">
              <a:xfrm>
                <a:off x="3277" y="3066"/>
                <a:ext cx="528" cy="294"/>
                <a:chOff x="3277" y="3162"/>
                <a:chExt cx="528" cy="294"/>
              </a:xfrm>
            </p:grpSpPr>
            <p:sp>
              <p:nvSpPr>
                <p:cNvPr id="39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3277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ru-RU" sz="2400">
                      <a:latin typeface="Arial Unicode MS" pitchFamily="34" charset="-128"/>
                      <a:ea typeface="ＭＳ Ｐゴシック" panose="020B0600070205080204" pitchFamily="34" charset="-128"/>
                      <a:cs typeface="Arial Unicode MS" pitchFamily="34" charset="-128"/>
                    </a:rPr>
                    <a:t>32</a:t>
                  </a:r>
                </a:p>
              </p:txBody>
            </p:sp>
            <p:cxnSp>
              <p:nvCxnSpPr>
                <p:cNvPr id="40" name="AutoShape 69"/>
                <p:cNvCxnSpPr>
                  <a:cxnSpLocks noChangeShapeType="1"/>
                  <a:stCxn id="39" idx="3"/>
                  <a:endCxn id="37" idx="1"/>
                </p:cNvCxnSpPr>
                <p:nvPr/>
              </p:nvCxnSpPr>
              <p:spPr bwMode="auto">
                <a:xfrm>
                  <a:off x="3613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6" name="Group 70"/>
              <p:cNvGrpSpPr>
                <a:grpSpLocks/>
              </p:cNvGrpSpPr>
              <p:nvPr/>
            </p:nvGrpSpPr>
            <p:grpSpPr bwMode="auto">
              <a:xfrm>
                <a:off x="3805" y="3066"/>
                <a:ext cx="528" cy="294"/>
                <a:chOff x="3805" y="3162"/>
                <a:chExt cx="528" cy="294"/>
              </a:xfrm>
            </p:grpSpPr>
            <p:sp>
              <p:nvSpPr>
                <p:cNvPr id="37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3805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ru-RU" sz="2400">
                      <a:latin typeface="Arial Unicode MS" pitchFamily="34" charset="-128"/>
                      <a:ea typeface="ＭＳ Ｐゴシック" panose="020B0600070205080204" pitchFamily="34" charset="-128"/>
                      <a:cs typeface="Arial Unicode MS" pitchFamily="34" charset="-128"/>
                    </a:rPr>
                    <a:t>64</a:t>
                  </a:r>
                </a:p>
              </p:txBody>
            </p:sp>
            <p:cxnSp>
              <p:nvCxnSpPr>
                <p:cNvPr id="38" name="AutoShape 72"/>
                <p:cNvCxnSpPr>
                  <a:cxnSpLocks noChangeShapeType="1"/>
                  <a:stCxn id="37" idx="3"/>
                  <a:endCxn id="30" idx="1"/>
                </p:cNvCxnSpPr>
                <p:nvPr/>
              </p:nvCxnSpPr>
              <p:spPr bwMode="auto">
                <a:xfrm>
                  <a:off x="4141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10" name="Group 73"/>
            <p:cNvGrpSpPr>
              <a:grpSpLocks/>
            </p:cNvGrpSpPr>
            <p:nvPr/>
          </p:nvGrpSpPr>
          <p:grpSpPr bwMode="auto">
            <a:xfrm>
              <a:off x="1597" y="3600"/>
              <a:ext cx="408" cy="294"/>
              <a:chOff x="1597" y="3498"/>
              <a:chExt cx="408" cy="294"/>
            </a:xfrm>
          </p:grpSpPr>
          <p:sp>
            <p:nvSpPr>
              <p:cNvPr id="28" name="Text Box 74"/>
              <p:cNvSpPr txBox="1">
                <a:spLocks noChangeArrowheads="1"/>
              </p:cNvSpPr>
              <p:nvPr/>
            </p:nvSpPr>
            <p:spPr bwMode="auto">
              <a:xfrm>
                <a:off x="1597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Arial Unicode MS" pitchFamily="34" charset="-128"/>
                    <a:ea typeface="ＭＳ Ｐゴシック" panose="020B0600070205080204" pitchFamily="34" charset="-128"/>
                    <a:cs typeface="Arial Unicode MS" pitchFamily="34" charset="-128"/>
                  </a:rPr>
                  <a:t>1</a:t>
                </a:r>
              </a:p>
            </p:txBody>
          </p:sp>
          <p:cxnSp>
            <p:nvCxnSpPr>
              <p:cNvPr id="29" name="AutoShape 75"/>
              <p:cNvCxnSpPr>
                <a:cxnSpLocks noChangeShapeType="1"/>
                <a:stCxn id="28" idx="3"/>
                <a:endCxn id="26" idx="1"/>
              </p:cNvCxnSpPr>
              <p:nvPr/>
            </p:nvCxnSpPr>
            <p:spPr bwMode="auto">
              <a:xfrm>
                <a:off x="1826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" name="Group 76"/>
            <p:cNvGrpSpPr>
              <a:grpSpLocks/>
            </p:cNvGrpSpPr>
            <p:nvPr/>
          </p:nvGrpSpPr>
          <p:grpSpPr bwMode="auto">
            <a:xfrm>
              <a:off x="2005" y="3600"/>
              <a:ext cx="408" cy="294"/>
              <a:chOff x="2005" y="3498"/>
              <a:chExt cx="408" cy="294"/>
            </a:xfrm>
          </p:grpSpPr>
          <p:sp>
            <p:nvSpPr>
              <p:cNvPr id="26" name="Text Box 77"/>
              <p:cNvSpPr txBox="1">
                <a:spLocks noChangeArrowheads="1"/>
              </p:cNvSpPr>
              <p:nvPr/>
            </p:nvSpPr>
            <p:spPr bwMode="auto">
              <a:xfrm>
                <a:off x="2005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Arial Unicode MS" pitchFamily="34" charset="-128"/>
                    <a:ea typeface="ＭＳ Ｐゴシック" panose="020B0600070205080204" pitchFamily="34" charset="-128"/>
                    <a:cs typeface="Arial Unicode MS" pitchFamily="34" charset="-128"/>
                  </a:rPr>
                  <a:t>2</a:t>
                </a:r>
              </a:p>
            </p:txBody>
          </p:sp>
          <p:cxnSp>
            <p:nvCxnSpPr>
              <p:cNvPr id="27" name="AutoShape 78"/>
              <p:cNvCxnSpPr>
                <a:cxnSpLocks noChangeShapeType="1"/>
                <a:stCxn id="26" idx="3"/>
                <a:endCxn id="24" idx="1"/>
              </p:cNvCxnSpPr>
              <p:nvPr/>
            </p:nvCxnSpPr>
            <p:spPr bwMode="auto">
              <a:xfrm>
                <a:off x="2234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2" name="Group 79"/>
            <p:cNvGrpSpPr>
              <a:grpSpLocks/>
            </p:cNvGrpSpPr>
            <p:nvPr/>
          </p:nvGrpSpPr>
          <p:grpSpPr bwMode="auto">
            <a:xfrm>
              <a:off x="2413" y="3606"/>
              <a:ext cx="397" cy="294"/>
              <a:chOff x="2413" y="3498"/>
              <a:chExt cx="397" cy="294"/>
            </a:xfrm>
          </p:grpSpPr>
          <p:sp>
            <p:nvSpPr>
              <p:cNvPr id="24" name="Text Box 80"/>
              <p:cNvSpPr txBox="1">
                <a:spLocks noChangeArrowheads="1"/>
              </p:cNvSpPr>
              <p:nvPr/>
            </p:nvSpPr>
            <p:spPr bwMode="auto">
              <a:xfrm>
                <a:off x="2413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Arial Unicode MS" pitchFamily="34" charset="-128"/>
                    <a:ea typeface="ＭＳ Ｐゴシック" panose="020B0600070205080204" pitchFamily="34" charset="-128"/>
                    <a:cs typeface="Arial Unicode MS" pitchFamily="34" charset="-128"/>
                  </a:rPr>
                  <a:t>3</a:t>
                </a:r>
              </a:p>
            </p:txBody>
          </p:sp>
          <p:cxnSp>
            <p:nvCxnSpPr>
              <p:cNvPr id="25" name="AutoShape 81"/>
              <p:cNvCxnSpPr>
                <a:cxnSpLocks noChangeShapeType="1"/>
                <a:stCxn id="24" idx="3"/>
                <a:endCxn id="22" idx="1"/>
              </p:cNvCxnSpPr>
              <p:nvPr/>
            </p:nvCxnSpPr>
            <p:spPr bwMode="auto">
              <a:xfrm>
                <a:off x="2642" y="3645"/>
                <a:ext cx="168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" name="Group 82"/>
            <p:cNvGrpSpPr>
              <a:grpSpLocks/>
            </p:cNvGrpSpPr>
            <p:nvPr/>
          </p:nvGrpSpPr>
          <p:grpSpPr bwMode="auto">
            <a:xfrm>
              <a:off x="2810" y="3600"/>
              <a:ext cx="382" cy="294"/>
              <a:chOff x="2810" y="3498"/>
              <a:chExt cx="382" cy="294"/>
            </a:xfrm>
          </p:grpSpPr>
          <p:sp>
            <p:nvSpPr>
              <p:cNvPr id="22" name="Text Box 83"/>
              <p:cNvSpPr txBox="1">
                <a:spLocks noChangeArrowheads="1"/>
              </p:cNvSpPr>
              <p:nvPr/>
            </p:nvSpPr>
            <p:spPr bwMode="auto">
              <a:xfrm>
                <a:off x="2810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Arial Unicode MS" pitchFamily="34" charset="-128"/>
                    <a:ea typeface="ＭＳ Ｐゴシック" panose="020B0600070205080204" pitchFamily="34" charset="-128"/>
                    <a:cs typeface="Arial Unicode MS" pitchFamily="34" charset="-128"/>
                  </a:rPr>
                  <a:t>5</a:t>
                </a:r>
              </a:p>
            </p:txBody>
          </p:sp>
          <p:cxnSp>
            <p:nvCxnSpPr>
              <p:cNvPr id="23" name="AutoShape 84"/>
              <p:cNvCxnSpPr>
                <a:cxnSpLocks noChangeShapeType="1"/>
                <a:stCxn id="22" idx="3"/>
                <a:endCxn id="20" idx="1"/>
              </p:cNvCxnSpPr>
              <p:nvPr/>
            </p:nvCxnSpPr>
            <p:spPr bwMode="auto">
              <a:xfrm>
                <a:off x="3039" y="3645"/>
                <a:ext cx="153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" name="Group 85"/>
            <p:cNvGrpSpPr>
              <a:grpSpLocks/>
            </p:cNvGrpSpPr>
            <p:nvPr/>
          </p:nvGrpSpPr>
          <p:grpSpPr bwMode="auto">
            <a:xfrm>
              <a:off x="3192" y="3600"/>
              <a:ext cx="373" cy="294"/>
              <a:chOff x="3192" y="3498"/>
              <a:chExt cx="373" cy="294"/>
            </a:xfrm>
          </p:grpSpPr>
          <p:sp>
            <p:nvSpPr>
              <p:cNvPr id="20" name="Text Box 86"/>
              <p:cNvSpPr txBox="1">
                <a:spLocks noChangeArrowheads="1"/>
              </p:cNvSpPr>
              <p:nvPr/>
            </p:nvSpPr>
            <p:spPr bwMode="auto">
              <a:xfrm>
                <a:off x="3192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Arial Unicode MS" pitchFamily="34" charset="-128"/>
                    <a:ea typeface="ＭＳ Ｐゴシック" panose="020B0600070205080204" pitchFamily="34" charset="-128"/>
                    <a:cs typeface="Arial Unicode MS" pitchFamily="34" charset="-128"/>
                  </a:rPr>
                  <a:t>8</a:t>
                </a:r>
              </a:p>
            </p:txBody>
          </p:sp>
          <p:cxnSp>
            <p:nvCxnSpPr>
              <p:cNvPr id="21" name="AutoShape 87"/>
              <p:cNvCxnSpPr>
                <a:cxnSpLocks noChangeShapeType="1"/>
                <a:stCxn id="20" idx="3"/>
                <a:endCxn id="15" idx="1"/>
              </p:cNvCxnSpPr>
              <p:nvPr/>
            </p:nvCxnSpPr>
            <p:spPr bwMode="auto">
              <a:xfrm>
                <a:off x="342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5" name="Text Box 89"/>
            <p:cNvSpPr txBox="1">
              <a:spLocks noChangeArrowheads="1"/>
            </p:cNvSpPr>
            <p:nvPr/>
          </p:nvSpPr>
          <p:spPr bwMode="auto">
            <a:xfrm>
              <a:off x="3565" y="3600"/>
              <a:ext cx="371" cy="294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13</a:t>
              </a:r>
            </a:p>
          </p:txBody>
        </p:sp>
        <p:cxnSp>
          <p:nvCxnSpPr>
            <p:cNvPr id="16" name="AutoShape 90"/>
            <p:cNvCxnSpPr>
              <a:cxnSpLocks noChangeShapeType="1"/>
              <a:stCxn id="15" idx="3"/>
              <a:endCxn id="18" idx="1"/>
            </p:cNvCxnSpPr>
            <p:nvPr/>
          </p:nvCxnSpPr>
          <p:spPr bwMode="auto">
            <a:xfrm>
              <a:off x="3936" y="3747"/>
              <a:ext cx="109" cy="0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7" name="Group 91"/>
            <p:cNvGrpSpPr>
              <a:grpSpLocks/>
            </p:cNvGrpSpPr>
            <p:nvPr/>
          </p:nvGrpSpPr>
          <p:grpSpPr bwMode="auto">
            <a:xfrm>
              <a:off x="4045" y="3600"/>
              <a:ext cx="480" cy="294"/>
              <a:chOff x="4045" y="3498"/>
              <a:chExt cx="480" cy="294"/>
            </a:xfrm>
          </p:grpSpPr>
          <p:sp>
            <p:nvSpPr>
              <p:cNvPr id="18" name="Text Box 92"/>
              <p:cNvSpPr txBox="1">
                <a:spLocks noChangeArrowheads="1"/>
              </p:cNvSpPr>
              <p:nvPr/>
            </p:nvSpPr>
            <p:spPr bwMode="auto">
              <a:xfrm>
                <a:off x="4045" y="3498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Arial Unicode MS" pitchFamily="34" charset="-128"/>
                    <a:ea typeface="ＭＳ Ｐゴシック" panose="020B0600070205080204" pitchFamily="34" charset="-128"/>
                    <a:cs typeface="Arial Unicode MS" pitchFamily="34" charset="-128"/>
                  </a:rPr>
                  <a:t>21</a:t>
                </a:r>
              </a:p>
            </p:txBody>
          </p:sp>
          <p:cxnSp>
            <p:nvCxnSpPr>
              <p:cNvPr id="19" name="AutoShape 93"/>
              <p:cNvCxnSpPr>
                <a:cxnSpLocks noChangeShapeType="1"/>
                <a:stCxn id="18" idx="3"/>
                <a:endCxn id="8" idx="1"/>
              </p:cNvCxnSpPr>
              <p:nvPr/>
            </p:nvCxnSpPr>
            <p:spPr bwMode="auto">
              <a:xfrm>
                <a:off x="438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49" name="Group 52"/>
          <p:cNvGrpSpPr>
            <a:grpSpLocks/>
          </p:cNvGrpSpPr>
          <p:nvPr/>
        </p:nvGrpSpPr>
        <p:grpSpPr bwMode="auto">
          <a:xfrm>
            <a:off x="8065698" y="2058298"/>
            <a:ext cx="1168400" cy="914400"/>
            <a:chOff x="4896" y="2172"/>
            <a:chExt cx="736" cy="576"/>
          </a:xfrm>
        </p:grpSpPr>
        <p:sp>
          <p:nvSpPr>
            <p:cNvPr id="50" name="Text Box 45"/>
            <p:cNvSpPr txBox="1">
              <a:spLocks noChangeArrowheads="1"/>
            </p:cNvSpPr>
            <p:nvPr/>
          </p:nvSpPr>
          <p:spPr bwMode="auto">
            <a:xfrm>
              <a:off x="4896" y="2172"/>
              <a:ext cx="671" cy="28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b="1" i="1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Brutus</a:t>
              </a:r>
            </a:p>
          </p:txBody>
        </p:sp>
        <p:sp>
          <p:nvSpPr>
            <p:cNvPr id="51" name="Text Box 46"/>
            <p:cNvSpPr txBox="1">
              <a:spLocks noChangeArrowheads="1"/>
            </p:cNvSpPr>
            <p:nvPr/>
          </p:nvSpPr>
          <p:spPr bwMode="auto">
            <a:xfrm>
              <a:off x="4896" y="2460"/>
              <a:ext cx="736" cy="28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b="1" i="1">
                  <a:latin typeface="Arial Unicode MS" pitchFamily="34" charset="-128"/>
                  <a:ea typeface="ＭＳ Ｐゴシック" panose="020B0600070205080204" pitchFamily="34" charset="-128"/>
                  <a:cs typeface="Arial Unicode MS" pitchFamily="34" charset="-128"/>
                </a:rPr>
                <a:t>Caesar</a:t>
              </a:r>
            </a:p>
          </p:txBody>
        </p:sp>
      </p:grpSp>
      <p:sp>
        <p:nvSpPr>
          <p:cNvPr id="52" name="AutoShape 47"/>
          <p:cNvSpPr>
            <a:spLocks noChangeArrowheads="1"/>
          </p:cNvSpPr>
          <p:nvPr/>
        </p:nvSpPr>
        <p:spPr bwMode="auto">
          <a:xfrm rot="10800000">
            <a:off x="1755386" y="2334523"/>
            <a:ext cx="976312" cy="485775"/>
          </a:xfrm>
          <a:prstGeom prst="notchedRightArrow">
            <a:avLst>
              <a:gd name="adj1" fmla="val 50000"/>
              <a:gd name="adj2" fmla="val 50245"/>
            </a:avLst>
          </a:prstGeom>
          <a:solidFill>
            <a:srgbClr val="C050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0534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773713" cy="432000"/>
          </a:xfrm>
        </p:spPr>
        <p:txBody>
          <a:bodyPr/>
          <a:lstStyle/>
          <a:p>
            <a:r>
              <a:rPr lang="ru-RU" b="1" dirty="0"/>
              <a:t>Пересечение двух списков постингов</a:t>
            </a:r>
            <a:br>
              <a:rPr lang="ru-RU" b="1" dirty="0"/>
            </a:br>
            <a:r>
              <a:rPr lang="ru-RU" b="1" dirty="0" smtClean="0"/>
              <a:t>(</a:t>
            </a:r>
            <a:r>
              <a:rPr lang="ru-RU" b="1" dirty="0"/>
              <a:t>алгоритм "слияния")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492392" y="1289993"/>
            <a:ext cx="6858594" cy="5114987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29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56640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Рисунок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Полилиния 5" descr="Пустой контрастный элемент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1" name="Надпись 30" descr="Акцент флага для заголовка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21" name="Равнобедренный треугольник 20" descr="Акцент тени для заголовка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117" y="1816508"/>
            <a:ext cx="4459766" cy="3411099"/>
          </a:xfrm>
        </p:spPr>
        <p:txBody>
          <a:bodyPr rtlCol="0"/>
          <a:lstStyle/>
          <a:p>
            <a:r>
              <a:rPr lang="ru-RU" dirty="0"/>
              <a:t>Модель булевого </a:t>
            </a:r>
            <a:r>
              <a:rPr lang="ru-RU" dirty="0" smtClean="0"/>
              <a:t>поиска и </a:t>
            </a:r>
            <a:r>
              <a:rPr lang="ru-RU" dirty="0"/>
              <a:t>расширенные булевы модели</a:t>
            </a:r>
            <a:endParaRPr lang="ru-RU" sz="5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8454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11668" cy="432000"/>
          </a:xfrm>
        </p:spPr>
        <p:txBody>
          <a:bodyPr/>
          <a:lstStyle/>
          <a:p>
            <a:r>
              <a:rPr lang="ru-RU" dirty="0"/>
              <a:t>Булевы запросы: Точное совпадение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Модель булевого поиска позволяет задавать запрос, который является булевым выражением:</a:t>
            </a:r>
          </a:p>
          <a:p>
            <a:pPr marL="276225" lvl="1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Булевы запросы — это запросы, использующие И, ИЛИ и </a:t>
            </a:r>
            <a:r>
              <a:rPr lang="ru-RU" sz="2400" dirty="0" smtClean="0"/>
              <a:t>НЕ для </a:t>
            </a:r>
            <a:r>
              <a:rPr lang="ru-RU" sz="2400" dirty="0"/>
              <a:t>объединения терминов </a:t>
            </a:r>
            <a:r>
              <a:rPr lang="ru-RU" sz="2400" dirty="0" smtClean="0"/>
              <a:t>запроса:</a:t>
            </a:r>
            <a:endParaRPr lang="ru-RU" sz="2400" dirty="0"/>
          </a:p>
          <a:p>
            <a:pPr marL="276225" lvl="1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Рассматривает каждый документ как </a:t>
            </a:r>
            <a:r>
              <a:rPr lang="ru-RU" sz="2400" u="sng" dirty="0" smtClean="0"/>
              <a:t>множество</a:t>
            </a:r>
            <a:r>
              <a:rPr lang="ru-RU" sz="2400" dirty="0" smtClean="0"/>
              <a:t> </a:t>
            </a:r>
            <a:r>
              <a:rPr lang="ru-RU" sz="2400" dirty="0"/>
              <a:t>слов </a:t>
            </a:r>
            <a:endParaRPr lang="ru-RU" sz="2400" dirty="0" smtClean="0"/>
          </a:p>
          <a:p>
            <a:pPr marL="276225" lvl="1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Точно: документ соответствует условию или нет.</a:t>
            </a:r>
          </a:p>
          <a:p>
            <a:pPr marL="276225" lvl="1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Возможно, это самая простая модель для построения системы ИП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• Основной коммерческий инструмент поиска за последние 3 десятилетия. </a:t>
            </a:r>
            <a:endParaRPr lang="ru-RU" sz="2600" dirty="0" smtClean="0"/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Многие поисковые системы, которые вы все еще используете, являются булевыми:</a:t>
            </a:r>
          </a:p>
          <a:p>
            <a:pPr marL="276225" lvl="1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Электронная почта, каталог </a:t>
            </a:r>
            <a:r>
              <a:rPr lang="ru-RU" sz="2400" dirty="0" smtClean="0"/>
              <a:t>библиотеки</a:t>
            </a:r>
            <a:r>
              <a:rPr lang="ru-RU" sz="2400" dirty="0"/>
              <a:t> </a:t>
            </a:r>
            <a:r>
              <a:rPr lang="ru-RU" sz="2400" dirty="0" smtClean="0"/>
              <a:t>и т.д.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31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95119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Пример: </a:t>
            </a:r>
            <a:r>
              <a:rPr lang="ru-RU" dirty="0" err="1"/>
              <a:t>WestLaw</a:t>
            </a:r>
            <a:r>
              <a:rPr lang="ru-RU" dirty="0"/>
              <a:t> http://www.westlaw.com</a:t>
            </a:r>
            <a:r>
              <a:rPr lang="ru-RU" dirty="0" smtClean="0"/>
              <a:t>/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Крупнейшая коммерческая (платная подписка</a:t>
            </a:r>
            <a:r>
              <a:rPr lang="ru-RU" sz="2600" dirty="0" smtClean="0"/>
              <a:t>) юридическая </a:t>
            </a:r>
            <a:r>
              <a:rPr lang="ru-RU" sz="2600" dirty="0"/>
              <a:t>поисковая служба (начата в 1975 году; добавлено ранжирование в 1992 году; добавлен новый федеративный поиск в 2010 году)</a:t>
            </a:r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Десятки терабайт данных; ~700,000 пользователей </a:t>
            </a:r>
            <a:endParaRPr lang="ru-RU" sz="2600" dirty="0" smtClean="0"/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Большинство пользователей все еще используют булевы запросы </a:t>
            </a:r>
            <a:endParaRPr lang="ru-RU" sz="2600" dirty="0" smtClean="0"/>
          </a:p>
          <a:p>
            <a:pPr marL="0" indent="0">
              <a:buNone/>
            </a:pPr>
            <a:r>
              <a:rPr lang="ru-RU" sz="2600" dirty="0" smtClean="0"/>
              <a:t>• </a:t>
            </a:r>
            <a:r>
              <a:rPr lang="ru-RU" sz="2600" dirty="0"/>
              <a:t>Пример запроса:</a:t>
            </a:r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Каков срок исковой давности в </a:t>
            </a:r>
            <a:r>
              <a:rPr lang="ru-RU" sz="2600" dirty="0" smtClean="0"/>
              <a:t>делах с </a:t>
            </a:r>
            <a:r>
              <a:rPr lang="ru-RU" sz="2600" dirty="0"/>
              <a:t>участием федерального закона о возмещении ущерба?</a:t>
            </a:r>
          </a:p>
          <a:p>
            <a:pPr marL="0" indent="0">
              <a:buNone/>
            </a:pPr>
            <a:r>
              <a:rPr lang="ru-RU" sz="2600" dirty="0" smtClean="0"/>
              <a:t>– </a:t>
            </a:r>
            <a:r>
              <a:rPr lang="ru-RU" sz="2600" dirty="0"/>
              <a:t>LIMIT! /3 STATUTE ACTION /S FEDERAL /</a:t>
            </a:r>
            <a:r>
              <a:rPr lang="ru-RU" sz="2600" dirty="0" smtClean="0"/>
              <a:t>2TORT </a:t>
            </a:r>
            <a:r>
              <a:rPr lang="ru-RU" sz="2600" dirty="0"/>
              <a:t>/3 CLAIM</a:t>
            </a:r>
          </a:p>
          <a:p>
            <a:pPr marL="276225" lvl="1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/3 = в пределах 3 слов, /S = в одном предложении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0911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Пример: </a:t>
            </a:r>
            <a:r>
              <a:rPr lang="ru-RU" dirty="0" err="1"/>
              <a:t>WestLaw</a:t>
            </a:r>
            <a:r>
              <a:rPr lang="ru-RU" dirty="0"/>
              <a:t> http://www.westlaw.com</a:t>
            </a:r>
            <a:r>
              <a:rPr lang="ru-RU" dirty="0" smtClean="0"/>
              <a:t>/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• Другой пример запроса:</a:t>
            </a:r>
          </a:p>
          <a:p>
            <a:pPr marL="0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Требования для людей с ограниченными возможностями, чтобы они </a:t>
            </a:r>
            <a:r>
              <a:rPr lang="ru-RU" sz="2400" dirty="0" smtClean="0"/>
              <a:t>могли доступ </a:t>
            </a:r>
            <a:r>
              <a:rPr lang="ru-RU" sz="2400" dirty="0"/>
              <a:t>к рабочему месту</a:t>
            </a:r>
          </a:p>
          <a:p>
            <a:pPr marL="0" indent="0">
              <a:buNone/>
            </a:pPr>
            <a:r>
              <a:rPr lang="ru-RU" sz="2400" dirty="0" smtClean="0"/>
              <a:t>– </a:t>
            </a:r>
            <a:r>
              <a:rPr lang="ru-RU" sz="2400" dirty="0" err="1"/>
              <a:t>disabl</a:t>
            </a:r>
            <a:r>
              <a:rPr lang="ru-RU" sz="2400" dirty="0"/>
              <a:t>! /p </a:t>
            </a:r>
            <a:r>
              <a:rPr lang="ru-RU" sz="2400" dirty="0" err="1"/>
              <a:t>access</a:t>
            </a:r>
            <a:r>
              <a:rPr lang="ru-RU" sz="2400" dirty="0"/>
              <a:t>! /s </a:t>
            </a:r>
            <a:r>
              <a:rPr lang="ru-RU" sz="2400" dirty="0" err="1"/>
              <a:t>work-site</a:t>
            </a:r>
            <a:r>
              <a:rPr lang="ru-RU" sz="2400" dirty="0"/>
              <a:t> </a:t>
            </a:r>
            <a:r>
              <a:rPr lang="ru-RU" sz="2400" dirty="0" err="1" smtClean="0"/>
              <a:t>work-place</a:t>
            </a:r>
            <a:r>
              <a:rPr lang="ru-RU" sz="2400" dirty="0" smtClean="0"/>
              <a:t>(</a:t>
            </a:r>
            <a:r>
              <a:rPr lang="ru-RU" sz="2400" dirty="0" err="1" smtClean="0"/>
              <a:t>employment</a:t>
            </a:r>
            <a:r>
              <a:rPr lang="ru-RU" sz="2400" dirty="0" smtClean="0"/>
              <a:t> </a:t>
            </a:r>
            <a:r>
              <a:rPr lang="ru-RU" sz="2400" dirty="0"/>
              <a:t>/3 </a:t>
            </a:r>
            <a:r>
              <a:rPr lang="ru-RU" sz="2400" dirty="0" err="1"/>
              <a:t>place</a:t>
            </a: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• Обратите внимание, что ПРОБЕЛ — это дизъюнкция, а не конъюнкция!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Длинные, точные запросы; операторы близости</a:t>
            </a:r>
            <a:r>
              <a:rPr lang="ru-RU" sz="2400" dirty="0" smtClean="0"/>
              <a:t>; постепенно </a:t>
            </a:r>
            <a:r>
              <a:rPr lang="ru-RU" sz="2400" dirty="0"/>
              <a:t>разработанные; не как веб-поиск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Многие профессиональные поисковики все еще любят </a:t>
            </a:r>
            <a:r>
              <a:rPr lang="ru-RU" sz="2400" dirty="0" err="1" smtClean="0"/>
              <a:t>булевый</a:t>
            </a:r>
            <a:r>
              <a:rPr lang="ru-RU" sz="2400" dirty="0" smtClean="0"/>
              <a:t> поиск</a:t>
            </a:r>
            <a:endParaRPr lang="ru-RU" sz="2400" dirty="0"/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Вы точно знаете, что получаете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Но это не значит, что он действительно работает лучше….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01966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Булевы запросы</a:t>
            </a:r>
            <a:r>
              <a:rPr lang="ru-RU" dirty="0" smtClean="0"/>
              <a:t>: Более </a:t>
            </a:r>
            <a:r>
              <a:rPr lang="ru-RU" dirty="0"/>
              <a:t>общие слияния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• Упражнение: Адаптируйте слияние для запросов:</a:t>
            </a:r>
          </a:p>
          <a:p>
            <a:pPr marL="0" indent="0">
              <a:buNone/>
            </a:pPr>
            <a:r>
              <a:rPr lang="ru-RU" sz="2400" dirty="0" smtClean="0"/>
              <a:t>Брут </a:t>
            </a:r>
            <a:r>
              <a:rPr lang="ru-RU" sz="2400" dirty="0"/>
              <a:t>И НЕ Цезарь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Брут </a:t>
            </a:r>
            <a:r>
              <a:rPr lang="ru-RU" sz="2400" dirty="0"/>
              <a:t>ИЛИ НЕ </a:t>
            </a:r>
            <a:r>
              <a:rPr lang="ru-RU" sz="2400" dirty="0" smtClean="0"/>
              <a:t>Цезарь</a:t>
            </a:r>
          </a:p>
          <a:p>
            <a:pPr>
              <a:buNone/>
            </a:pPr>
            <a:r>
              <a:rPr lang="en-US" altLang="ru-RU" sz="2400" b="1" i="1" dirty="0">
                <a:ea typeface="ＭＳ Ｐゴシック" panose="020B0600070205080204" pitchFamily="34" charset="-128"/>
              </a:rPr>
              <a:t>Brutus</a:t>
            </a:r>
            <a:r>
              <a:rPr lang="en-US" altLang="ru-RU" sz="2400" dirty="0">
                <a:ea typeface="ＭＳ Ｐゴシック" panose="020B0600070205080204" pitchFamily="34" charset="-128"/>
              </a:rPr>
              <a:t> </a:t>
            </a:r>
            <a:r>
              <a:rPr lang="en-US" altLang="ru-RU" sz="2400" i="1" dirty="0">
                <a:ea typeface="ＭＳ Ｐゴシック" panose="020B0600070205080204" pitchFamily="34" charset="-128"/>
              </a:rPr>
              <a:t>AND NOT</a:t>
            </a:r>
            <a:r>
              <a:rPr lang="en-US" altLang="ru-RU" sz="2400" dirty="0">
                <a:ea typeface="ＭＳ Ｐゴシック" panose="020B0600070205080204" pitchFamily="34" charset="-128"/>
              </a:rPr>
              <a:t> </a:t>
            </a:r>
            <a:r>
              <a:rPr lang="en-US" altLang="ru-RU" sz="2400" b="1" i="1" dirty="0">
                <a:ea typeface="ＭＳ Ｐゴシック" panose="020B0600070205080204" pitchFamily="34" charset="-128"/>
              </a:rPr>
              <a:t>Caesar</a:t>
            </a:r>
          </a:p>
          <a:p>
            <a:pPr>
              <a:buNone/>
            </a:pPr>
            <a:r>
              <a:rPr lang="en-US" altLang="ru-RU" sz="2400" b="1" i="1" dirty="0" smtClean="0">
                <a:ea typeface="ＭＳ Ｐゴシック" panose="020B0600070205080204" pitchFamily="34" charset="-128"/>
              </a:rPr>
              <a:t>Brutus</a:t>
            </a:r>
            <a:r>
              <a:rPr lang="en-US" altLang="ru-RU" sz="2400" dirty="0" smtClean="0">
                <a:ea typeface="ＭＳ Ｐゴシック" panose="020B0600070205080204" pitchFamily="34" charset="-128"/>
              </a:rPr>
              <a:t> </a:t>
            </a:r>
            <a:r>
              <a:rPr lang="en-US" altLang="ru-RU" sz="2400" i="1" dirty="0">
                <a:ea typeface="ＭＳ Ｐゴシック" panose="020B0600070205080204" pitchFamily="34" charset="-128"/>
              </a:rPr>
              <a:t>OR NOT</a:t>
            </a:r>
            <a:r>
              <a:rPr lang="en-US" altLang="ru-RU" sz="2400" dirty="0">
                <a:ea typeface="ＭＳ Ｐゴシック" panose="020B0600070205080204" pitchFamily="34" charset="-128"/>
              </a:rPr>
              <a:t> </a:t>
            </a:r>
            <a:r>
              <a:rPr lang="en-US" altLang="ru-RU" sz="2400" b="1" i="1" dirty="0">
                <a:ea typeface="ＭＳ Ｐゴシック" panose="020B0600070205080204" pitchFamily="34" charset="-128"/>
              </a:rPr>
              <a:t>Caesar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Можно ли все еще пройти через слияние за </a:t>
            </a:r>
            <a:r>
              <a:rPr lang="ru-RU" sz="2400" dirty="0" smtClean="0"/>
              <a:t>время O(</a:t>
            </a:r>
            <a:r>
              <a:rPr lang="ru-RU" sz="2400" dirty="0" err="1" smtClean="0"/>
              <a:t>x+y</a:t>
            </a:r>
            <a:r>
              <a:rPr lang="ru-RU" sz="2400" dirty="0"/>
              <a:t>)? Что мы можем </a:t>
            </a:r>
            <a:r>
              <a:rPr lang="ru-RU" sz="2400" dirty="0" smtClean="0"/>
              <a:t>получить?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8633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Слияние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Что </a:t>
            </a:r>
            <a:r>
              <a:rPr lang="ru-RU" sz="2400" dirty="0"/>
              <a:t>насчет произвольной булевой формулы?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(</a:t>
            </a:r>
            <a:r>
              <a:rPr lang="ru-RU" sz="2400" dirty="0"/>
              <a:t>Брут ИЛИ Цезарь) И НЕ (Антоний ИЛИ Клеопатра)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Можно ли всегда </a:t>
            </a:r>
            <a:r>
              <a:rPr lang="ru-RU" sz="2400" dirty="0" smtClean="0"/>
              <a:t>сделать слияние </a:t>
            </a:r>
            <a:r>
              <a:rPr lang="ru-RU" sz="2400" dirty="0"/>
              <a:t>за "линейное" время?</a:t>
            </a:r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Линейное по чему?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Можно ли сделать лучше?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17644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Оптимизация запросов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Каков наилучший порядок обработки запроса?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Рассмотрим запрос, который является И из n терминов.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Для каждого из n терминов получите его постинги, затем И их </a:t>
            </a:r>
            <a:r>
              <a:rPr lang="ru-RU" sz="2400" dirty="0" smtClean="0"/>
              <a:t>вместе.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36</a:t>
            </a:fld>
            <a:endParaRPr lang="ru-RU" noProof="0" dirty="0"/>
          </a:p>
        </p:txBody>
      </p:sp>
      <p:sp>
        <p:nvSpPr>
          <p:cNvPr id="7" name="Text Box 1029"/>
          <p:cNvSpPr txBox="1">
            <a:spLocks noChangeArrowheads="1"/>
          </p:cNvSpPr>
          <p:nvPr/>
        </p:nvSpPr>
        <p:spPr bwMode="auto">
          <a:xfrm>
            <a:off x="1649982" y="2715883"/>
            <a:ext cx="109220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>
                <a:ea typeface="Arial Unicode MS" pitchFamily="34" charset="-128"/>
              </a:rPr>
              <a:t>Brutus</a:t>
            </a:r>
          </a:p>
        </p:txBody>
      </p:sp>
      <p:sp>
        <p:nvSpPr>
          <p:cNvPr id="8" name="Text Box 1030"/>
          <p:cNvSpPr txBox="1">
            <a:spLocks noChangeArrowheads="1"/>
          </p:cNvSpPr>
          <p:nvPr/>
        </p:nvSpPr>
        <p:spPr bwMode="auto">
          <a:xfrm>
            <a:off x="1649982" y="3249283"/>
            <a:ext cx="112395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i="1">
                <a:ea typeface="ＭＳ Ｐゴシック" panose="020B0600070205080204" pitchFamily="34" charset="-128"/>
                <a:cs typeface="Arial Unicode MS" pitchFamily="34" charset="-128"/>
              </a:rPr>
              <a:t>Caesar</a:t>
            </a:r>
          </a:p>
        </p:txBody>
      </p:sp>
      <p:sp>
        <p:nvSpPr>
          <p:cNvPr id="9" name="Text Box 1031"/>
          <p:cNvSpPr txBox="1">
            <a:spLocks noChangeArrowheads="1"/>
          </p:cNvSpPr>
          <p:nvPr/>
        </p:nvSpPr>
        <p:spPr bwMode="auto">
          <a:xfrm>
            <a:off x="1649982" y="3782683"/>
            <a:ext cx="1490663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>
                <a:ea typeface="Arial Unicode MS" pitchFamily="34" charset="-128"/>
              </a:rPr>
              <a:t>Calpurnia</a:t>
            </a:r>
          </a:p>
        </p:txBody>
      </p:sp>
      <p:sp>
        <p:nvSpPr>
          <p:cNvPr id="10" name="AutoShape 1032"/>
          <p:cNvSpPr>
            <a:spLocks noChangeArrowheads="1"/>
          </p:cNvSpPr>
          <p:nvPr/>
        </p:nvSpPr>
        <p:spPr bwMode="auto">
          <a:xfrm>
            <a:off x="3326382" y="2792083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" name="AutoShape 1033"/>
          <p:cNvSpPr>
            <a:spLocks noChangeArrowheads="1"/>
          </p:cNvSpPr>
          <p:nvPr/>
        </p:nvSpPr>
        <p:spPr bwMode="auto">
          <a:xfrm>
            <a:off x="3326382" y="3325483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pSp>
        <p:nvGrpSpPr>
          <p:cNvPr id="12" name="Group 1034"/>
          <p:cNvGrpSpPr>
            <a:grpSpLocks/>
          </p:cNvGrpSpPr>
          <p:nvPr/>
        </p:nvGrpSpPr>
        <p:grpSpPr bwMode="auto">
          <a:xfrm>
            <a:off x="4545582" y="3858883"/>
            <a:ext cx="4876800" cy="304800"/>
            <a:chOff x="2064" y="2448"/>
            <a:chExt cx="3072" cy="192"/>
          </a:xfrm>
        </p:grpSpPr>
        <p:sp>
          <p:nvSpPr>
            <p:cNvPr id="13" name="Rectangle 1035"/>
            <p:cNvSpPr>
              <a:spLocks noChangeArrowheads="1"/>
            </p:cNvSpPr>
            <p:nvPr/>
          </p:nvSpPr>
          <p:spPr bwMode="auto">
            <a:xfrm>
              <a:off x="2064" y="2448"/>
              <a:ext cx="3072" cy="19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4" name="Rectangle 1036"/>
            <p:cNvSpPr>
              <a:spLocks noChangeArrowheads="1"/>
            </p:cNvSpPr>
            <p:nvPr/>
          </p:nvSpPr>
          <p:spPr bwMode="auto">
            <a:xfrm>
              <a:off x="2448" y="2448"/>
              <a:ext cx="230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5" name="Rectangle 1037"/>
            <p:cNvSpPr>
              <a:spLocks noChangeArrowheads="1"/>
            </p:cNvSpPr>
            <p:nvPr/>
          </p:nvSpPr>
          <p:spPr bwMode="auto">
            <a:xfrm>
              <a:off x="2832" y="2448"/>
              <a:ext cx="15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6" name="Rectangle 1038"/>
            <p:cNvSpPr>
              <a:spLocks noChangeArrowheads="1"/>
            </p:cNvSpPr>
            <p:nvPr/>
          </p:nvSpPr>
          <p:spPr bwMode="auto">
            <a:xfrm>
              <a:off x="3216" y="2448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7" name="Line 1039"/>
            <p:cNvSpPr>
              <a:spLocks noChangeShapeType="1"/>
            </p:cNvSpPr>
            <p:nvPr/>
          </p:nvSpPr>
          <p:spPr bwMode="auto">
            <a:xfrm>
              <a:off x="3600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ru-RU"/>
            </a:p>
          </p:txBody>
        </p:sp>
      </p:grpSp>
      <p:grpSp>
        <p:nvGrpSpPr>
          <p:cNvPr id="18" name="Group 1040"/>
          <p:cNvGrpSpPr>
            <a:grpSpLocks/>
          </p:cNvGrpSpPr>
          <p:nvPr/>
        </p:nvGrpSpPr>
        <p:grpSpPr bwMode="auto">
          <a:xfrm>
            <a:off x="4545582" y="3249283"/>
            <a:ext cx="4987925" cy="457200"/>
            <a:chOff x="2064" y="2688"/>
            <a:chExt cx="3142" cy="288"/>
          </a:xfrm>
        </p:grpSpPr>
        <p:grpSp>
          <p:nvGrpSpPr>
            <p:cNvPr id="19" name="Group 1041"/>
            <p:cNvGrpSpPr>
              <a:grpSpLocks/>
            </p:cNvGrpSpPr>
            <p:nvPr/>
          </p:nvGrpSpPr>
          <p:grpSpPr bwMode="auto">
            <a:xfrm>
              <a:off x="2064" y="2736"/>
              <a:ext cx="3072" cy="192"/>
              <a:chOff x="2064" y="2448"/>
              <a:chExt cx="3072" cy="192"/>
            </a:xfrm>
          </p:grpSpPr>
          <p:sp>
            <p:nvSpPr>
              <p:cNvPr id="28" name="Rectangle 1042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29" name="Rectangle 1043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30" name="Rectangle 1044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31" name="Rectangle 1045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32" name="Line 1046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ru-RU"/>
              </a:p>
            </p:txBody>
          </p:sp>
        </p:grpSp>
        <p:sp>
          <p:nvSpPr>
            <p:cNvPr id="20" name="Text Box 1047"/>
            <p:cNvSpPr txBox="1">
              <a:spLocks noChangeArrowheads="1"/>
            </p:cNvSpPr>
            <p:nvPr/>
          </p:nvSpPr>
          <p:spPr bwMode="auto">
            <a:xfrm>
              <a:off x="2150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21" name="Text Box 1048"/>
            <p:cNvSpPr txBox="1">
              <a:spLocks noChangeArrowheads="1"/>
            </p:cNvSpPr>
            <p:nvPr/>
          </p:nvSpPr>
          <p:spPr bwMode="auto">
            <a:xfrm>
              <a:off x="2582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22" name="Text Box 1049"/>
            <p:cNvSpPr txBox="1">
              <a:spLocks noChangeArrowheads="1"/>
            </p:cNvSpPr>
            <p:nvPr/>
          </p:nvSpPr>
          <p:spPr bwMode="auto">
            <a:xfrm>
              <a:off x="2945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3</a:t>
              </a:r>
            </a:p>
          </p:txBody>
        </p:sp>
        <p:sp>
          <p:nvSpPr>
            <p:cNvPr id="23" name="Text Box 1050"/>
            <p:cNvSpPr txBox="1">
              <a:spLocks noChangeArrowheads="1"/>
            </p:cNvSpPr>
            <p:nvPr/>
          </p:nvSpPr>
          <p:spPr bwMode="auto">
            <a:xfrm>
              <a:off x="3312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5</a:t>
              </a:r>
            </a:p>
          </p:txBody>
        </p:sp>
        <p:sp>
          <p:nvSpPr>
            <p:cNvPr id="24" name="Text Box 1051"/>
            <p:cNvSpPr txBox="1">
              <a:spLocks noChangeArrowheads="1"/>
            </p:cNvSpPr>
            <p:nvPr/>
          </p:nvSpPr>
          <p:spPr bwMode="auto">
            <a:xfrm>
              <a:off x="3665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8</a:t>
              </a:r>
            </a:p>
          </p:txBody>
        </p:sp>
        <p:sp>
          <p:nvSpPr>
            <p:cNvPr id="25" name="Text Box 1052"/>
            <p:cNvSpPr txBox="1">
              <a:spLocks noChangeArrowheads="1"/>
            </p:cNvSpPr>
            <p:nvPr/>
          </p:nvSpPr>
          <p:spPr bwMode="auto">
            <a:xfrm>
              <a:off x="4049" y="2688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16</a:t>
              </a:r>
            </a:p>
          </p:txBody>
        </p:sp>
        <p:sp>
          <p:nvSpPr>
            <p:cNvPr id="26" name="Text Box 1053"/>
            <p:cNvSpPr txBox="1">
              <a:spLocks noChangeArrowheads="1"/>
            </p:cNvSpPr>
            <p:nvPr/>
          </p:nvSpPr>
          <p:spPr bwMode="auto">
            <a:xfrm>
              <a:off x="4464" y="2688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21</a:t>
              </a:r>
            </a:p>
          </p:txBody>
        </p:sp>
        <p:sp>
          <p:nvSpPr>
            <p:cNvPr id="27" name="Text Box 1054"/>
            <p:cNvSpPr txBox="1">
              <a:spLocks noChangeArrowheads="1"/>
            </p:cNvSpPr>
            <p:nvPr/>
          </p:nvSpPr>
          <p:spPr bwMode="auto">
            <a:xfrm>
              <a:off x="4848" y="2688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34</a:t>
              </a:r>
            </a:p>
          </p:txBody>
        </p:sp>
      </p:grpSp>
      <p:grpSp>
        <p:nvGrpSpPr>
          <p:cNvPr id="33" name="Group 1055"/>
          <p:cNvGrpSpPr>
            <a:grpSpLocks/>
          </p:cNvGrpSpPr>
          <p:nvPr/>
        </p:nvGrpSpPr>
        <p:grpSpPr bwMode="auto">
          <a:xfrm>
            <a:off x="4545582" y="2715883"/>
            <a:ext cx="4876800" cy="457200"/>
            <a:chOff x="2064" y="2400"/>
            <a:chExt cx="3072" cy="288"/>
          </a:xfrm>
        </p:grpSpPr>
        <p:grpSp>
          <p:nvGrpSpPr>
            <p:cNvPr id="34" name="Group 1056"/>
            <p:cNvGrpSpPr>
              <a:grpSpLocks/>
            </p:cNvGrpSpPr>
            <p:nvPr/>
          </p:nvGrpSpPr>
          <p:grpSpPr bwMode="auto">
            <a:xfrm>
              <a:off x="2064" y="2448"/>
              <a:ext cx="3072" cy="192"/>
              <a:chOff x="2064" y="2448"/>
              <a:chExt cx="3072" cy="192"/>
            </a:xfrm>
          </p:grpSpPr>
          <p:sp>
            <p:nvSpPr>
              <p:cNvPr id="43" name="Rectangle 1057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4" name="Rectangle 1058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5" name="Rectangle 1059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6" name="Rectangle 1060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7" name="Line 1061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ru-RU"/>
              </a:p>
            </p:txBody>
          </p:sp>
        </p:grpSp>
        <p:sp>
          <p:nvSpPr>
            <p:cNvPr id="35" name="Text Box 1062"/>
            <p:cNvSpPr txBox="1">
              <a:spLocks noChangeArrowheads="1"/>
            </p:cNvSpPr>
            <p:nvPr/>
          </p:nvSpPr>
          <p:spPr bwMode="auto">
            <a:xfrm>
              <a:off x="2160" y="2400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36" name="Text Box 1063"/>
            <p:cNvSpPr txBox="1">
              <a:spLocks noChangeArrowheads="1"/>
            </p:cNvSpPr>
            <p:nvPr/>
          </p:nvSpPr>
          <p:spPr bwMode="auto">
            <a:xfrm>
              <a:off x="2513" y="2400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4</a:t>
              </a:r>
            </a:p>
          </p:txBody>
        </p:sp>
        <p:sp>
          <p:nvSpPr>
            <p:cNvPr id="37" name="Text Box 1064"/>
            <p:cNvSpPr txBox="1">
              <a:spLocks noChangeArrowheads="1"/>
            </p:cNvSpPr>
            <p:nvPr/>
          </p:nvSpPr>
          <p:spPr bwMode="auto">
            <a:xfrm>
              <a:off x="2928" y="2400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8</a:t>
              </a:r>
            </a:p>
          </p:txBody>
        </p:sp>
        <p:sp>
          <p:nvSpPr>
            <p:cNvPr id="38" name="Text Box 1065"/>
            <p:cNvSpPr txBox="1">
              <a:spLocks noChangeArrowheads="1"/>
            </p:cNvSpPr>
            <p:nvPr/>
          </p:nvSpPr>
          <p:spPr bwMode="auto">
            <a:xfrm>
              <a:off x="3264" y="2400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16</a:t>
              </a:r>
            </a:p>
          </p:txBody>
        </p:sp>
        <p:sp>
          <p:nvSpPr>
            <p:cNvPr id="39" name="Text Box 1066"/>
            <p:cNvSpPr txBox="1">
              <a:spLocks noChangeArrowheads="1"/>
            </p:cNvSpPr>
            <p:nvPr/>
          </p:nvSpPr>
          <p:spPr bwMode="auto">
            <a:xfrm>
              <a:off x="3665" y="2400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32</a:t>
              </a:r>
            </a:p>
          </p:txBody>
        </p:sp>
        <p:sp>
          <p:nvSpPr>
            <p:cNvPr id="40" name="Text Box 1067"/>
            <p:cNvSpPr txBox="1">
              <a:spLocks noChangeArrowheads="1"/>
            </p:cNvSpPr>
            <p:nvPr/>
          </p:nvSpPr>
          <p:spPr bwMode="auto">
            <a:xfrm>
              <a:off x="4049" y="2400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64</a:t>
              </a:r>
            </a:p>
          </p:txBody>
        </p:sp>
        <p:sp>
          <p:nvSpPr>
            <p:cNvPr id="41" name="Text Box 1068"/>
            <p:cNvSpPr txBox="1">
              <a:spLocks noChangeArrowheads="1"/>
            </p:cNvSpPr>
            <p:nvPr/>
          </p:nvSpPr>
          <p:spPr bwMode="auto">
            <a:xfrm>
              <a:off x="4320" y="2400"/>
              <a:ext cx="4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128</a:t>
              </a:r>
            </a:p>
          </p:txBody>
        </p:sp>
        <p:sp>
          <p:nvSpPr>
            <p:cNvPr id="42" name="Text Box 1069"/>
            <p:cNvSpPr txBox="1">
              <a:spLocks noChangeArrowheads="1"/>
            </p:cNvSpPr>
            <p:nvPr/>
          </p:nvSpPr>
          <p:spPr bwMode="auto">
            <a:xfrm>
              <a:off x="4747" y="240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endParaRPr>
            </a:p>
          </p:txBody>
        </p:sp>
      </p:grpSp>
      <p:sp>
        <p:nvSpPr>
          <p:cNvPr id="48" name="Text Box 1070"/>
          <p:cNvSpPr txBox="1">
            <a:spLocks noChangeArrowheads="1"/>
          </p:cNvSpPr>
          <p:nvPr/>
        </p:nvSpPr>
        <p:spPr bwMode="auto">
          <a:xfrm>
            <a:off x="4545582" y="3782683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13</a:t>
            </a:r>
          </a:p>
        </p:txBody>
      </p:sp>
      <p:sp>
        <p:nvSpPr>
          <p:cNvPr id="49" name="AutoShape 1071"/>
          <p:cNvSpPr>
            <a:spLocks noChangeArrowheads="1"/>
          </p:cNvSpPr>
          <p:nvPr/>
        </p:nvSpPr>
        <p:spPr bwMode="auto">
          <a:xfrm>
            <a:off x="3326382" y="3858883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0" name="Text Box 1072"/>
          <p:cNvSpPr txBox="1">
            <a:spLocks noChangeArrowheads="1"/>
          </p:cNvSpPr>
          <p:nvPr/>
        </p:nvSpPr>
        <p:spPr bwMode="auto">
          <a:xfrm>
            <a:off x="5164707" y="3782683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16</a:t>
            </a:r>
          </a:p>
        </p:txBody>
      </p:sp>
      <p:sp>
        <p:nvSpPr>
          <p:cNvPr id="51" name="Text Box 1073"/>
          <p:cNvSpPr txBox="1">
            <a:spLocks noChangeArrowheads="1"/>
          </p:cNvSpPr>
          <p:nvPr/>
        </p:nvSpPr>
        <p:spPr bwMode="auto">
          <a:xfrm>
            <a:off x="2181795" y="4457371"/>
            <a:ext cx="6392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800">
                <a:solidFill>
                  <a:srgbClr val="A50021"/>
                </a:solidFill>
                <a:ea typeface="Arial Unicode MS" pitchFamily="34" charset="-128"/>
              </a:rPr>
              <a:t>Query:</a:t>
            </a:r>
            <a:r>
              <a:rPr lang="en-US" altLang="ru-RU" sz="2800" b="1" i="1">
                <a:ea typeface="Arial Unicode MS" pitchFamily="34" charset="-128"/>
              </a:rPr>
              <a:t> Brutus</a:t>
            </a:r>
            <a:r>
              <a:rPr lang="en-US" altLang="ru-RU" sz="2800">
                <a:ea typeface="Arial Unicode MS" pitchFamily="34" charset="-128"/>
              </a:rPr>
              <a:t> </a:t>
            </a:r>
            <a:r>
              <a:rPr lang="en-US" altLang="ru-RU" sz="2800" i="1">
                <a:ea typeface="Arial Unicode MS" pitchFamily="34" charset="-128"/>
              </a:rPr>
              <a:t>AND</a:t>
            </a:r>
            <a:r>
              <a:rPr lang="en-US" altLang="ru-RU" sz="2800">
                <a:ea typeface="Arial Unicode MS" pitchFamily="34" charset="-128"/>
              </a:rPr>
              <a:t> </a:t>
            </a:r>
            <a:r>
              <a:rPr lang="en-US" altLang="ru-RU" sz="2800" b="1" i="1">
                <a:ea typeface="Arial Unicode MS" pitchFamily="34" charset="-128"/>
              </a:rPr>
              <a:t>Calpurnia</a:t>
            </a:r>
            <a:r>
              <a:rPr lang="en-US" altLang="ru-RU" sz="2800">
                <a:ea typeface="Arial Unicode MS" pitchFamily="34" charset="-128"/>
              </a:rPr>
              <a:t> </a:t>
            </a:r>
            <a:r>
              <a:rPr lang="en-US" altLang="ru-RU" sz="2800" i="1">
                <a:ea typeface="Arial Unicode MS" pitchFamily="34" charset="-128"/>
              </a:rPr>
              <a:t>AND</a:t>
            </a:r>
            <a:r>
              <a:rPr lang="en-US" altLang="ru-RU" sz="2800">
                <a:ea typeface="Arial Unicode MS" pitchFamily="34" charset="-128"/>
              </a:rPr>
              <a:t> </a:t>
            </a:r>
            <a:r>
              <a:rPr lang="en-US" altLang="ru-RU" sz="2800" b="1" i="1">
                <a:ea typeface="Arial Unicode MS" pitchFamily="34" charset="-128"/>
              </a:rPr>
              <a:t>Caesar</a:t>
            </a:r>
          </a:p>
        </p:txBody>
      </p:sp>
    </p:spTree>
    <p:extLst>
      <p:ext uri="{BB962C8B-B14F-4D97-AF65-F5344CB8AC3E}">
        <p14:creationId xmlns:p14="http://schemas.microsoft.com/office/powerpoint/2010/main" val="31649691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Пример оптимизации запросов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Обрабатывайте в порядке возрастания частоты:</a:t>
            </a:r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начните с наименьшего </a:t>
            </a:r>
            <a:r>
              <a:rPr lang="ru-RU" sz="2200" dirty="0" smtClean="0"/>
              <a:t>множества, </a:t>
            </a:r>
            <a:r>
              <a:rPr lang="ru-RU" sz="2200" dirty="0"/>
              <a:t>затем продолжайте сокращать.</a:t>
            </a:r>
          </a:p>
          <a:p>
            <a:pPr marL="0" indent="0">
              <a:buNone/>
            </a:pPr>
            <a:r>
              <a:rPr lang="ru-RU" sz="2400" dirty="0" smtClean="0"/>
              <a:t>Это </a:t>
            </a:r>
            <a:r>
              <a:rPr lang="ru-RU" sz="2400" dirty="0"/>
              <a:t>причина, по которой мы </a:t>
            </a:r>
            <a:r>
              <a:rPr lang="ru-RU" sz="2400" dirty="0" smtClean="0"/>
              <a:t>сохранили частоту </a:t>
            </a:r>
            <a:r>
              <a:rPr lang="ru-RU" sz="2400" dirty="0"/>
              <a:t>документов в словаре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37</a:t>
            </a:fld>
            <a:endParaRPr lang="ru-RU" noProof="0" dirty="0"/>
          </a:p>
        </p:txBody>
      </p:sp>
      <p:sp>
        <p:nvSpPr>
          <p:cNvPr id="7" name="Text Box 2098"/>
          <p:cNvSpPr txBox="1">
            <a:spLocks noChangeArrowheads="1"/>
          </p:cNvSpPr>
          <p:nvPr/>
        </p:nvSpPr>
        <p:spPr bwMode="auto">
          <a:xfrm>
            <a:off x="1926477" y="4500293"/>
            <a:ext cx="8012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 smtClean="0">
                <a:ea typeface="ＭＳ Ｐゴシック" panose="020B0600070205080204" pitchFamily="34" charset="-128"/>
                <a:cs typeface="Arial Unicode MS" pitchFamily="34" charset="-128"/>
              </a:rPr>
              <a:t>Преобразуем запрос как </a:t>
            </a:r>
            <a:r>
              <a:rPr lang="en-US" altLang="ru-RU" sz="2400" dirty="0" smtClean="0">
                <a:ea typeface="ＭＳ Ｐゴシック" panose="020B0600070205080204" pitchFamily="34" charset="-128"/>
                <a:cs typeface="Arial Unicode MS" pitchFamily="34" charset="-128"/>
              </a:rPr>
              <a:t>(</a:t>
            </a:r>
            <a:r>
              <a:rPr lang="en-US" altLang="ru-RU" sz="2400" b="1" i="1" dirty="0" smtClean="0">
                <a:ea typeface="ＭＳ Ｐゴシック" panose="020B0600070205080204" pitchFamily="34" charset="-128"/>
                <a:cs typeface="Arial Unicode MS" pitchFamily="34" charset="-128"/>
              </a:rPr>
              <a:t>Calpurnia</a:t>
            </a:r>
            <a:r>
              <a:rPr lang="en-US" altLang="ru-RU" sz="2400" dirty="0" smtClean="0">
                <a:ea typeface="ＭＳ Ｐゴシック" panose="020B0600070205080204" pitchFamily="34" charset="-128"/>
                <a:cs typeface="Arial Unicode MS" pitchFamily="34" charset="-128"/>
              </a:rPr>
              <a:t> </a:t>
            </a:r>
            <a:r>
              <a:rPr lang="en-US" altLang="ru-RU" sz="2400" i="1" dirty="0">
                <a:ea typeface="ＭＳ Ｐゴシック" panose="020B0600070205080204" pitchFamily="34" charset="-128"/>
                <a:cs typeface="Arial Unicode MS" pitchFamily="34" charset="-128"/>
              </a:rPr>
              <a:t>AND</a:t>
            </a:r>
            <a:r>
              <a:rPr lang="en-US" altLang="ru-RU" sz="2400" dirty="0">
                <a:ea typeface="ＭＳ Ｐゴシック" panose="020B0600070205080204" pitchFamily="34" charset="-128"/>
                <a:cs typeface="Arial Unicode MS" pitchFamily="34" charset="-128"/>
              </a:rPr>
              <a:t> </a:t>
            </a:r>
            <a:r>
              <a:rPr lang="en-US" altLang="ru-RU" sz="2400" b="1" i="1" dirty="0">
                <a:ea typeface="ＭＳ Ｐゴシック" panose="020B0600070205080204" pitchFamily="34" charset="-128"/>
                <a:cs typeface="Arial Unicode MS" pitchFamily="34" charset="-128"/>
              </a:rPr>
              <a:t>Brutus)</a:t>
            </a:r>
            <a:r>
              <a:rPr lang="en-US" altLang="ru-RU" sz="2400" dirty="0">
                <a:ea typeface="ＭＳ Ｐゴシック" panose="020B0600070205080204" pitchFamily="34" charset="-128"/>
                <a:cs typeface="Arial Unicode MS" pitchFamily="34" charset="-128"/>
              </a:rPr>
              <a:t> </a:t>
            </a:r>
            <a:r>
              <a:rPr lang="en-US" altLang="ru-RU" sz="2400" i="1" dirty="0">
                <a:ea typeface="ＭＳ Ｐゴシック" panose="020B0600070205080204" pitchFamily="34" charset="-128"/>
                <a:cs typeface="Arial Unicode MS" pitchFamily="34" charset="-128"/>
              </a:rPr>
              <a:t>AND </a:t>
            </a:r>
            <a:r>
              <a:rPr lang="en-US" altLang="ru-RU" sz="2400" b="1" i="1" dirty="0">
                <a:ea typeface="ＭＳ Ｐゴシック" panose="020B0600070205080204" pitchFamily="34" charset="-128"/>
                <a:cs typeface="Arial Unicode MS" pitchFamily="34" charset="-128"/>
              </a:rPr>
              <a:t>Caesar</a:t>
            </a:r>
            <a:r>
              <a:rPr lang="en-US" altLang="ru-RU" sz="2400" dirty="0">
                <a:ea typeface="ＭＳ Ｐゴシック" panose="020B0600070205080204" pitchFamily="34" charset="-128"/>
                <a:cs typeface="Arial Unicode MS" pitchFamily="34" charset="-128"/>
              </a:rPr>
              <a:t>.</a:t>
            </a:r>
          </a:p>
        </p:txBody>
      </p:sp>
      <p:sp>
        <p:nvSpPr>
          <p:cNvPr id="8" name="Text Box 1029"/>
          <p:cNvSpPr txBox="1">
            <a:spLocks noChangeArrowheads="1"/>
          </p:cNvSpPr>
          <p:nvPr/>
        </p:nvSpPr>
        <p:spPr bwMode="auto">
          <a:xfrm>
            <a:off x="1693114" y="2776268"/>
            <a:ext cx="109220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>
                <a:ea typeface="Arial Unicode MS" pitchFamily="34" charset="-128"/>
              </a:rPr>
              <a:t>Brutus</a:t>
            </a:r>
          </a:p>
        </p:txBody>
      </p:sp>
      <p:sp>
        <p:nvSpPr>
          <p:cNvPr id="9" name="Text Box 1030"/>
          <p:cNvSpPr txBox="1">
            <a:spLocks noChangeArrowheads="1"/>
          </p:cNvSpPr>
          <p:nvPr/>
        </p:nvSpPr>
        <p:spPr bwMode="auto">
          <a:xfrm>
            <a:off x="1693114" y="3309668"/>
            <a:ext cx="112395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i="1">
                <a:ea typeface="ＭＳ Ｐゴシック" panose="020B0600070205080204" pitchFamily="34" charset="-128"/>
                <a:cs typeface="Arial Unicode MS" pitchFamily="34" charset="-128"/>
              </a:rPr>
              <a:t>Caesar</a:t>
            </a:r>
          </a:p>
        </p:txBody>
      </p:sp>
      <p:sp>
        <p:nvSpPr>
          <p:cNvPr id="10" name="Text Box 1031"/>
          <p:cNvSpPr txBox="1">
            <a:spLocks noChangeArrowheads="1"/>
          </p:cNvSpPr>
          <p:nvPr/>
        </p:nvSpPr>
        <p:spPr bwMode="auto">
          <a:xfrm>
            <a:off x="1693114" y="3843068"/>
            <a:ext cx="1490663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>
                <a:ea typeface="Arial Unicode MS" pitchFamily="34" charset="-128"/>
              </a:rPr>
              <a:t>Calpurnia</a:t>
            </a:r>
          </a:p>
        </p:txBody>
      </p:sp>
      <p:sp>
        <p:nvSpPr>
          <p:cNvPr id="11" name="AutoShape 1032"/>
          <p:cNvSpPr>
            <a:spLocks noChangeArrowheads="1"/>
          </p:cNvSpPr>
          <p:nvPr/>
        </p:nvSpPr>
        <p:spPr bwMode="auto">
          <a:xfrm>
            <a:off x="3369514" y="2852468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" name="AutoShape 1033"/>
          <p:cNvSpPr>
            <a:spLocks noChangeArrowheads="1"/>
          </p:cNvSpPr>
          <p:nvPr/>
        </p:nvSpPr>
        <p:spPr bwMode="auto">
          <a:xfrm>
            <a:off x="3369514" y="3385868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pSp>
        <p:nvGrpSpPr>
          <p:cNvPr id="13" name="Group 1034"/>
          <p:cNvGrpSpPr>
            <a:grpSpLocks/>
          </p:cNvGrpSpPr>
          <p:nvPr/>
        </p:nvGrpSpPr>
        <p:grpSpPr bwMode="auto">
          <a:xfrm>
            <a:off x="4588714" y="3919268"/>
            <a:ext cx="4876800" cy="304800"/>
            <a:chOff x="2064" y="2448"/>
            <a:chExt cx="3072" cy="192"/>
          </a:xfrm>
        </p:grpSpPr>
        <p:sp>
          <p:nvSpPr>
            <p:cNvPr id="14" name="Rectangle 1035"/>
            <p:cNvSpPr>
              <a:spLocks noChangeArrowheads="1"/>
            </p:cNvSpPr>
            <p:nvPr/>
          </p:nvSpPr>
          <p:spPr bwMode="auto">
            <a:xfrm>
              <a:off x="2064" y="2448"/>
              <a:ext cx="3072" cy="19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5" name="Rectangle 1036"/>
            <p:cNvSpPr>
              <a:spLocks noChangeArrowheads="1"/>
            </p:cNvSpPr>
            <p:nvPr/>
          </p:nvSpPr>
          <p:spPr bwMode="auto">
            <a:xfrm>
              <a:off x="2448" y="2448"/>
              <a:ext cx="230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6" name="Rectangle 1037"/>
            <p:cNvSpPr>
              <a:spLocks noChangeArrowheads="1"/>
            </p:cNvSpPr>
            <p:nvPr/>
          </p:nvSpPr>
          <p:spPr bwMode="auto">
            <a:xfrm>
              <a:off x="2832" y="2448"/>
              <a:ext cx="15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7" name="Rectangle 1038"/>
            <p:cNvSpPr>
              <a:spLocks noChangeArrowheads="1"/>
            </p:cNvSpPr>
            <p:nvPr/>
          </p:nvSpPr>
          <p:spPr bwMode="auto">
            <a:xfrm>
              <a:off x="3216" y="2448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8" name="Line 1039"/>
            <p:cNvSpPr>
              <a:spLocks noChangeShapeType="1"/>
            </p:cNvSpPr>
            <p:nvPr/>
          </p:nvSpPr>
          <p:spPr bwMode="auto">
            <a:xfrm>
              <a:off x="3600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ru-RU"/>
            </a:p>
          </p:txBody>
        </p:sp>
      </p:grpSp>
      <p:grpSp>
        <p:nvGrpSpPr>
          <p:cNvPr id="19" name="Group 1040"/>
          <p:cNvGrpSpPr>
            <a:grpSpLocks/>
          </p:cNvGrpSpPr>
          <p:nvPr/>
        </p:nvGrpSpPr>
        <p:grpSpPr bwMode="auto">
          <a:xfrm>
            <a:off x="4588714" y="3309668"/>
            <a:ext cx="4987925" cy="457200"/>
            <a:chOff x="2064" y="2688"/>
            <a:chExt cx="3142" cy="288"/>
          </a:xfrm>
        </p:grpSpPr>
        <p:grpSp>
          <p:nvGrpSpPr>
            <p:cNvPr id="20" name="Group 1041"/>
            <p:cNvGrpSpPr>
              <a:grpSpLocks/>
            </p:cNvGrpSpPr>
            <p:nvPr/>
          </p:nvGrpSpPr>
          <p:grpSpPr bwMode="auto">
            <a:xfrm>
              <a:off x="2064" y="2736"/>
              <a:ext cx="3072" cy="192"/>
              <a:chOff x="2064" y="2448"/>
              <a:chExt cx="3072" cy="192"/>
            </a:xfrm>
          </p:grpSpPr>
          <p:sp>
            <p:nvSpPr>
              <p:cNvPr id="29" name="Rectangle 1042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30" name="Rectangle 1043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31" name="Rectangle 1044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32" name="Rectangle 1045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33" name="Line 1046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ru-RU"/>
              </a:p>
            </p:txBody>
          </p:sp>
        </p:grpSp>
        <p:sp>
          <p:nvSpPr>
            <p:cNvPr id="21" name="Text Box 1047"/>
            <p:cNvSpPr txBox="1">
              <a:spLocks noChangeArrowheads="1"/>
            </p:cNvSpPr>
            <p:nvPr/>
          </p:nvSpPr>
          <p:spPr bwMode="auto">
            <a:xfrm>
              <a:off x="2150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22" name="Text Box 1048"/>
            <p:cNvSpPr txBox="1">
              <a:spLocks noChangeArrowheads="1"/>
            </p:cNvSpPr>
            <p:nvPr/>
          </p:nvSpPr>
          <p:spPr bwMode="auto">
            <a:xfrm>
              <a:off x="2582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23" name="Text Box 1049"/>
            <p:cNvSpPr txBox="1">
              <a:spLocks noChangeArrowheads="1"/>
            </p:cNvSpPr>
            <p:nvPr/>
          </p:nvSpPr>
          <p:spPr bwMode="auto">
            <a:xfrm>
              <a:off x="2945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3</a:t>
              </a:r>
            </a:p>
          </p:txBody>
        </p:sp>
        <p:sp>
          <p:nvSpPr>
            <p:cNvPr id="24" name="Text Box 1050"/>
            <p:cNvSpPr txBox="1">
              <a:spLocks noChangeArrowheads="1"/>
            </p:cNvSpPr>
            <p:nvPr/>
          </p:nvSpPr>
          <p:spPr bwMode="auto">
            <a:xfrm>
              <a:off x="3312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5</a:t>
              </a:r>
            </a:p>
          </p:txBody>
        </p:sp>
        <p:sp>
          <p:nvSpPr>
            <p:cNvPr id="25" name="Text Box 1051"/>
            <p:cNvSpPr txBox="1">
              <a:spLocks noChangeArrowheads="1"/>
            </p:cNvSpPr>
            <p:nvPr/>
          </p:nvSpPr>
          <p:spPr bwMode="auto">
            <a:xfrm>
              <a:off x="3665" y="2688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8</a:t>
              </a:r>
            </a:p>
          </p:txBody>
        </p:sp>
        <p:sp>
          <p:nvSpPr>
            <p:cNvPr id="26" name="Text Box 1052"/>
            <p:cNvSpPr txBox="1">
              <a:spLocks noChangeArrowheads="1"/>
            </p:cNvSpPr>
            <p:nvPr/>
          </p:nvSpPr>
          <p:spPr bwMode="auto">
            <a:xfrm>
              <a:off x="4049" y="2688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16</a:t>
              </a:r>
            </a:p>
          </p:txBody>
        </p:sp>
        <p:sp>
          <p:nvSpPr>
            <p:cNvPr id="27" name="Text Box 1053"/>
            <p:cNvSpPr txBox="1">
              <a:spLocks noChangeArrowheads="1"/>
            </p:cNvSpPr>
            <p:nvPr/>
          </p:nvSpPr>
          <p:spPr bwMode="auto">
            <a:xfrm>
              <a:off x="4464" y="2688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21</a:t>
              </a:r>
            </a:p>
          </p:txBody>
        </p:sp>
        <p:sp>
          <p:nvSpPr>
            <p:cNvPr id="28" name="Text Box 1054"/>
            <p:cNvSpPr txBox="1">
              <a:spLocks noChangeArrowheads="1"/>
            </p:cNvSpPr>
            <p:nvPr/>
          </p:nvSpPr>
          <p:spPr bwMode="auto">
            <a:xfrm>
              <a:off x="4848" y="2688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34</a:t>
              </a:r>
            </a:p>
          </p:txBody>
        </p:sp>
      </p:grpSp>
      <p:grpSp>
        <p:nvGrpSpPr>
          <p:cNvPr id="34" name="Group 1055"/>
          <p:cNvGrpSpPr>
            <a:grpSpLocks/>
          </p:cNvGrpSpPr>
          <p:nvPr/>
        </p:nvGrpSpPr>
        <p:grpSpPr bwMode="auto">
          <a:xfrm>
            <a:off x="4588714" y="2776268"/>
            <a:ext cx="4876800" cy="457200"/>
            <a:chOff x="2064" y="2400"/>
            <a:chExt cx="3072" cy="288"/>
          </a:xfrm>
        </p:grpSpPr>
        <p:grpSp>
          <p:nvGrpSpPr>
            <p:cNvPr id="35" name="Group 1056"/>
            <p:cNvGrpSpPr>
              <a:grpSpLocks/>
            </p:cNvGrpSpPr>
            <p:nvPr/>
          </p:nvGrpSpPr>
          <p:grpSpPr bwMode="auto">
            <a:xfrm>
              <a:off x="2064" y="2448"/>
              <a:ext cx="3072" cy="192"/>
              <a:chOff x="2064" y="2448"/>
              <a:chExt cx="3072" cy="192"/>
            </a:xfrm>
          </p:grpSpPr>
          <p:sp>
            <p:nvSpPr>
              <p:cNvPr id="44" name="Rectangle 1057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5" name="Rectangle 1058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6" name="Rectangle 1059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7" name="Rectangle 1060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8" name="Line 1061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ru-RU"/>
              </a:p>
            </p:txBody>
          </p:sp>
        </p:grpSp>
        <p:sp>
          <p:nvSpPr>
            <p:cNvPr id="36" name="Text Box 1062"/>
            <p:cNvSpPr txBox="1">
              <a:spLocks noChangeArrowheads="1"/>
            </p:cNvSpPr>
            <p:nvPr/>
          </p:nvSpPr>
          <p:spPr bwMode="auto">
            <a:xfrm>
              <a:off x="2160" y="2400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37" name="Text Box 1063"/>
            <p:cNvSpPr txBox="1">
              <a:spLocks noChangeArrowheads="1"/>
            </p:cNvSpPr>
            <p:nvPr/>
          </p:nvSpPr>
          <p:spPr bwMode="auto">
            <a:xfrm>
              <a:off x="2513" y="2400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4</a:t>
              </a:r>
            </a:p>
          </p:txBody>
        </p:sp>
        <p:sp>
          <p:nvSpPr>
            <p:cNvPr id="38" name="Text Box 1064"/>
            <p:cNvSpPr txBox="1">
              <a:spLocks noChangeArrowheads="1"/>
            </p:cNvSpPr>
            <p:nvPr/>
          </p:nvSpPr>
          <p:spPr bwMode="auto">
            <a:xfrm>
              <a:off x="2928" y="2400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8</a:t>
              </a:r>
            </a:p>
          </p:txBody>
        </p:sp>
        <p:sp>
          <p:nvSpPr>
            <p:cNvPr id="39" name="Text Box 1065"/>
            <p:cNvSpPr txBox="1">
              <a:spLocks noChangeArrowheads="1"/>
            </p:cNvSpPr>
            <p:nvPr/>
          </p:nvSpPr>
          <p:spPr bwMode="auto">
            <a:xfrm>
              <a:off x="3264" y="2400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16</a:t>
              </a:r>
            </a:p>
          </p:txBody>
        </p:sp>
        <p:sp>
          <p:nvSpPr>
            <p:cNvPr id="40" name="Text Box 1066"/>
            <p:cNvSpPr txBox="1">
              <a:spLocks noChangeArrowheads="1"/>
            </p:cNvSpPr>
            <p:nvPr/>
          </p:nvSpPr>
          <p:spPr bwMode="auto">
            <a:xfrm>
              <a:off x="3665" y="2400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32</a:t>
              </a:r>
            </a:p>
          </p:txBody>
        </p:sp>
        <p:sp>
          <p:nvSpPr>
            <p:cNvPr id="41" name="Text Box 1067"/>
            <p:cNvSpPr txBox="1">
              <a:spLocks noChangeArrowheads="1"/>
            </p:cNvSpPr>
            <p:nvPr/>
          </p:nvSpPr>
          <p:spPr bwMode="auto">
            <a:xfrm>
              <a:off x="4049" y="2400"/>
              <a:ext cx="3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64</a:t>
              </a:r>
            </a:p>
          </p:txBody>
        </p:sp>
        <p:sp>
          <p:nvSpPr>
            <p:cNvPr id="42" name="Text Box 1068"/>
            <p:cNvSpPr txBox="1">
              <a:spLocks noChangeArrowheads="1"/>
            </p:cNvSpPr>
            <p:nvPr/>
          </p:nvSpPr>
          <p:spPr bwMode="auto">
            <a:xfrm>
              <a:off x="4320" y="2400"/>
              <a:ext cx="4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itchFamily="34" charset="-128"/>
                </a:rPr>
                <a:t>128</a:t>
              </a:r>
            </a:p>
          </p:txBody>
        </p:sp>
        <p:sp>
          <p:nvSpPr>
            <p:cNvPr id="43" name="Text Box 1069"/>
            <p:cNvSpPr txBox="1">
              <a:spLocks noChangeArrowheads="1"/>
            </p:cNvSpPr>
            <p:nvPr/>
          </p:nvSpPr>
          <p:spPr bwMode="auto">
            <a:xfrm>
              <a:off x="4747" y="240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endParaRPr>
            </a:p>
          </p:txBody>
        </p:sp>
      </p:grpSp>
      <p:sp>
        <p:nvSpPr>
          <p:cNvPr id="49" name="Text Box 1070"/>
          <p:cNvSpPr txBox="1">
            <a:spLocks noChangeArrowheads="1"/>
          </p:cNvSpPr>
          <p:nvPr/>
        </p:nvSpPr>
        <p:spPr bwMode="auto">
          <a:xfrm>
            <a:off x="4588714" y="3843068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13</a:t>
            </a:r>
          </a:p>
        </p:txBody>
      </p:sp>
      <p:sp>
        <p:nvSpPr>
          <p:cNvPr id="50" name="AutoShape 1071"/>
          <p:cNvSpPr>
            <a:spLocks noChangeArrowheads="1"/>
          </p:cNvSpPr>
          <p:nvPr/>
        </p:nvSpPr>
        <p:spPr bwMode="auto">
          <a:xfrm>
            <a:off x="3369514" y="3919268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" name="Text Box 1072"/>
          <p:cNvSpPr txBox="1">
            <a:spLocks noChangeArrowheads="1"/>
          </p:cNvSpPr>
          <p:nvPr/>
        </p:nvSpPr>
        <p:spPr bwMode="auto">
          <a:xfrm>
            <a:off x="5207839" y="3843068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68730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Более общая оптимизация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Например, (</a:t>
            </a:r>
            <a:r>
              <a:rPr lang="ru-RU" sz="2400" dirty="0" err="1"/>
              <a:t>madding</a:t>
            </a:r>
            <a:r>
              <a:rPr lang="ru-RU" sz="2400" dirty="0"/>
              <a:t> ИЛИ </a:t>
            </a:r>
            <a:r>
              <a:rPr lang="ru-RU" sz="2400" dirty="0" err="1"/>
              <a:t>crowd</a:t>
            </a:r>
            <a:r>
              <a:rPr lang="ru-RU" sz="2400" dirty="0"/>
              <a:t>) И (</a:t>
            </a:r>
            <a:r>
              <a:rPr lang="ru-RU" sz="2400" dirty="0" err="1"/>
              <a:t>ignoble</a:t>
            </a:r>
            <a:r>
              <a:rPr lang="ru-RU" sz="2400" dirty="0"/>
              <a:t> </a:t>
            </a:r>
            <a:r>
              <a:rPr lang="ru-RU" sz="2400" dirty="0" smtClean="0"/>
              <a:t>ИЛИ </a:t>
            </a:r>
            <a:r>
              <a:rPr lang="ru-RU" sz="2400" dirty="0" err="1" smtClean="0"/>
              <a:t>strife</a:t>
            </a:r>
            <a:r>
              <a:rPr lang="ru-RU" sz="2400" dirty="0"/>
              <a:t>)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Получите частоты </a:t>
            </a:r>
            <a:r>
              <a:rPr lang="ru-RU" sz="2400" dirty="0" err="1"/>
              <a:t>doc</a:t>
            </a:r>
            <a:r>
              <a:rPr lang="ru-RU" sz="2400" dirty="0"/>
              <a:t> для всех терминов.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Оцените размер каждого ИЛИ по сумме </a:t>
            </a:r>
            <a:r>
              <a:rPr lang="ru-RU" sz="2400" dirty="0" smtClean="0"/>
              <a:t>его частот </a:t>
            </a:r>
            <a:r>
              <a:rPr lang="ru-RU" sz="2400" dirty="0" err="1"/>
              <a:t>doc</a:t>
            </a:r>
            <a:r>
              <a:rPr lang="ru-RU" sz="2400" dirty="0"/>
              <a:t> (консервативно).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Обрабатывайте в порядке возрастания размеров ИЛИ.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38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33859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Предложите порядок обработки запросов для</a:t>
            </a:r>
          </a:p>
          <a:p>
            <a:pPr marL="0" indent="0">
              <a:buNone/>
            </a:pPr>
            <a:r>
              <a:rPr lang="ru-RU" sz="2400" dirty="0" smtClean="0"/>
              <a:t>(</a:t>
            </a:r>
            <a:r>
              <a:rPr lang="ru-RU" sz="2400" dirty="0" err="1"/>
              <a:t>tangerine</a:t>
            </a:r>
            <a:r>
              <a:rPr lang="ru-RU" sz="2400" dirty="0"/>
              <a:t> ИЛИ </a:t>
            </a:r>
            <a:r>
              <a:rPr lang="ru-RU" sz="2400" dirty="0" err="1"/>
              <a:t>trees</a:t>
            </a:r>
            <a:r>
              <a:rPr lang="ru-RU" sz="2400" dirty="0"/>
              <a:t>) И (</a:t>
            </a:r>
            <a:r>
              <a:rPr lang="ru-RU" sz="2400" dirty="0" err="1"/>
              <a:t>marmalade</a:t>
            </a:r>
            <a:r>
              <a:rPr lang="ru-RU" sz="2400" dirty="0"/>
              <a:t> ИЛИ </a:t>
            </a:r>
            <a:r>
              <a:rPr lang="ru-RU" sz="2400" dirty="0" err="1"/>
              <a:t>skies</a:t>
            </a:r>
            <a:r>
              <a:rPr lang="ru-RU" sz="2400" dirty="0"/>
              <a:t>) И (</a:t>
            </a:r>
            <a:r>
              <a:rPr lang="ru-RU" sz="2400" dirty="0" err="1"/>
              <a:t>kaleidoscope</a:t>
            </a:r>
            <a:r>
              <a:rPr lang="ru-RU" sz="2400" dirty="0"/>
              <a:t> ИЛИ </a:t>
            </a:r>
            <a:r>
              <a:rPr lang="ru-RU" sz="2400" dirty="0" err="1"/>
              <a:t>eyes</a:t>
            </a:r>
            <a:r>
              <a:rPr lang="ru-RU" sz="2400" dirty="0" smtClean="0"/>
              <a:t>)</a:t>
            </a:r>
          </a:p>
          <a:p>
            <a:pPr marL="0" indent="0">
              <a:buNone/>
            </a:pPr>
            <a:r>
              <a:rPr lang="ru-RU" sz="2400" dirty="0"/>
              <a:t>• Какие два термина мы должны обработать первыми?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39</a:t>
            </a:fld>
            <a:endParaRPr lang="ru-RU" noProof="0" dirty="0"/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550911"/>
              </p:ext>
            </p:extLst>
          </p:nvPr>
        </p:nvGraphicFramePr>
        <p:xfrm>
          <a:off x="4281578" y="2798433"/>
          <a:ext cx="3590925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Worksheet" r:id="rId3" imgW="1755360" imgH="1106280" progId="Excel.Sheet.8">
                  <p:embed/>
                </p:oleObj>
              </mc:Choice>
              <mc:Fallback>
                <p:oleObj name="Worksheet" r:id="rId3" imgW="1755360" imgH="1106280" progId="Excel.Sheet.8">
                  <p:embed/>
                  <p:pic>
                    <p:nvPicPr>
                      <p:cNvPr id="49156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578" y="2798433"/>
                        <a:ext cx="3590925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6853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Упражнения по обработке запросов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Упражнение: Если запрос — </a:t>
            </a:r>
            <a:r>
              <a:rPr lang="ru-RU" sz="2400" dirty="0" err="1"/>
              <a:t>friends</a:t>
            </a:r>
            <a:r>
              <a:rPr lang="ru-RU" sz="2400" dirty="0"/>
              <a:t> И </a:t>
            </a:r>
            <a:r>
              <a:rPr lang="ru-RU" sz="2400" dirty="0" err="1"/>
              <a:t>romans</a:t>
            </a:r>
            <a:r>
              <a:rPr lang="ru-RU" sz="2400" dirty="0"/>
              <a:t> </a:t>
            </a:r>
            <a:r>
              <a:rPr lang="ru-RU" sz="2400" dirty="0" smtClean="0"/>
              <a:t>И (</a:t>
            </a:r>
            <a:r>
              <a:rPr lang="ru-RU" sz="2400" dirty="0"/>
              <a:t>NOT </a:t>
            </a:r>
            <a:r>
              <a:rPr lang="ru-RU" sz="2400" dirty="0" err="1"/>
              <a:t>countrymen</a:t>
            </a:r>
            <a:r>
              <a:rPr lang="ru-RU" sz="2400" dirty="0"/>
              <a:t>), как мы можем использовать частоту </a:t>
            </a:r>
            <a:r>
              <a:rPr lang="ru-RU" sz="2400" dirty="0" err="1"/>
              <a:t>countrymen</a:t>
            </a:r>
            <a:r>
              <a:rPr lang="ru-RU" sz="2400" dirty="0"/>
              <a:t>?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Упражнение: Расширьте слияние до </a:t>
            </a:r>
            <a:r>
              <a:rPr lang="ru-RU" sz="2400" dirty="0" smtClean="0"/>
              <a:t>произвольного булевого </a:t>
            </a:r>
            <a:r>
              <a:rPr lang="ru-RU" sz="2400" dirty="0"/>
              <a:t>запроса. Можно ли всегда гарантировать выполнение за время, линейное по общему размеру постингов?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Подсказка: Начните </a:t>
            </a:r>
            <a:r>
              <a:rPr lang="ru-RU" sz="2400" dirty="0" smtClean="0"/>
              <a:t>со </a:t>
            </a:r>
            <a:r>
              <a:rPr lang="ru-RU" sz="2400" dirty="0"/>
              <a:t>случая булевой </a:t>
            </a:r>
            <a:r>
              <a:rPr lang="ru-RU" sz="2400" dirty="0" smtClean="0"/>
              <a:t>формулы запроса</a:t>
            </a:r>
            <a:r>
              <a:rPr lang="ru-RU" sz="2400" dirty="0"/>
              <a:t>: в этом случае каждый термин запроса появляется только один раз в запросе.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40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23788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Рисунок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Полилиния 5" descr="Пустой контрастный элемент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1" name="Надпись 30" descr="Акцент флага для заголовка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21" name="Равнобедренный треугольник 20" descr="Акцент тени для заголовка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117" y="1816508"/>
            <a:ext cx="4459766" cy="3411099"/>
          </a:xfrm>
        </p:spPr>
        <p:txBody>
          <a:bodyPr rtlCol="0"/>
          <a:lstStyle/>
          <a:p>
            <a:r>
              <a:rPr lang="ru-RU" b="0" dirty="0"/>
              <a:t>Фразовые запросы и позиционные индексы</a:t>
            </a:r>
            <a:endParaRPr lang="ru-RU" sz="5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42179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Фразовые запросы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Мы хотим иметь возможность отвечать на запросы, такие </a:t>
            </a:r>
            <a:r>
              <a:rPr lang="ru-RU" sz="2400" dirty="0" smtClean="0"/>
              <a:t>как "</a:t>
            </a:r>
            <a:r>
              <a:rPr lang="ru-RU" sz="2400" dirty="0" err="1" smtClean="0"/>
              <a:t>stanford</a:t>
            </a:r>
            <a:r>
              <a:rPr lang="ru-RU" sz="2400" dirty="0" smtClean="0"/>
              <a:t> </a:t>
            </a:r>
            <a:r>
              <a:rPr lang="ru-RU" sz="2400" dirty="0" err="1"/>
              <a:t>university</a:t>
            </a:r>
            <a:r>
              <a:rPr lang="ru-RU" sz="2400" dirty="0"/>
              <a:t>" — как фраза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Таким образом, предложение "Я учился в университете </a:t>
            </a:r>
            <a:r>
              <a:rPr lang="ru-RU" sz="2400" dirty="0" smtClean="0"/>
              <a:t>в Стэнфорде</a:t>
            </a:r>
            <a:r>
              <a:rPr lang="ru-RU" sz="2400" dirty="0"/>
              <a:t>" не является совпадением.</a:t>
            </a:r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Концепция фразовых запросов оказалась </a:t>
            </a:r>
            <a:r>
              <a:rPr lang="ru-RU" sz="2200" dirty="0" smtClean="0"/>
              <a:t>легко понятной </a:t>
            </a:r>
            <a:r>
              <a:rPr lang="ru-RU" sz="2200" dirty="0"/>
              <a:t>пользователям; одна из немногих идей </a:t>
            </a:r>
            <a:r>
              <a:rPr lang="ru-RU" sz="2200" dirty="0" smtClean="0"/>
              <a:t>«расширенного </a:t>
            </a:r>
            <a:r>
              <a:rPr lang="ru-RU" sz="2200" dirty="0"/>
              <a:t>поиска", которая работает</a:t>
            </a:r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Многие запросы являются неявными фразовыми запросами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Для этого уже недостаточно хранить только записи &lt;терм : </a:t>
            </a:r>
            <a:r>
              <a:rPr lang="ru-RU" sz="2400" dirty="0" err="1"/>
              <a:t>docs</a:t>
            </a:r>
            <a:r>
              <a:rPr lang="ru-RU" sz="2400" dirty="0"/>
              <a:t>&gt;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844132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Первая попытка: Индексы </a:t>
            </a:r>
            <a:r>
              <a:rPr lang="ru-RU" dirty="0" err="1" smtClean="0"/>
              <a:t>бивордов</a:t>
            </a:r>
            <a:r>
              <a:rPr lang="ru-RU" dirty="0" smtClean="0"/>
              <a:t> (словосочетаний)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Индексируйте каждую последовательную пару терминов в </a:t>
            </a:r>
            <a:r>
              <a:rPr lang="ru-RU" sz="2400" dirty="0" smtClean="0"/>
              <a:t>тексте как </a:t>
            </a:r>
            <a:r>
              <a:rPr lang="ru-RU" sz="2400" dirty="0"/>
              <a:t>фразу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Например, текст "Друзья, римляне</a:t>
            </a:r>
            <a:r>
              <a:rPr lang="ru-RU" sz="2400" dirty="0" smtClean="0"/>
              <a:t>, Соотечественники</a:t>
            </a:r>
            <a:r>
              <a:rPr lang="ru-RU" sz="2400" dirty="0"/>
              <a:t>" сгенерирует </a:t>
            </a:r>
            <a:r>
              <a:rPr lang="ru-RU" sz="2400" dirty="0" err="1"/>
              <a:t>биворды</a:t>
            </a:r>
            <a:endParaRPr lang="ru-RU" sz="2400" dirty="0"/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друзья римляне </a:t>
            </a:r>
            <a:endParaRPr lang="ru-RU" sz="2200" dirty="0" smtClean="0"/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римляне соотечественники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Каждый из этих </a:t>
            </a:r>
            <a:r>
              <a:rPr lang="ru-RU" sz="2400" dirty="0" err="1"/>
              <a:t>бивордов</a:t>
            </a:r>
            <a:r>
              <a:rPr lang="ru-RU" sz="2400" dirty="0"/>
              <a:t> теперь является термином словаря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Обработка двухсловных фразовых запросов </a:t>
            </a:r>
            <a:r>
              <a:rPr lang="ru-RU" sz="2400" dirty="0" smtClean="0"/>
              <a:t>теперь быстрая.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48208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Длинные фразовые запросы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Длинные фразы можно обрабатывать, </a:t>
            </a:r>
            <a:r>
              <a:rPr lang="ru-RU" sz="2400" dirty="0" smtClean="0"/>
              <a:t>разбивая их</a:t>
            </a:r>
            <a:endParaRPr lang="ru-RU" sz="2400" dirty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 err="1"/>
              <a:t>stanford</a:t>
            </a:r>
            <a:r>
              <a:rPr lang="ru-RU" sz="2400" dirty="0"/>
              <a:t> </a:t>
            </a:r>
            <a:r>
              <a:rPr lang="ru-RU" sz="2400" dirty="0" err="1"/>
              <a:t>university</a:t>
            </a:r>
            <a:r>
              <a:rPr lang="ru-RU" sz="2400" dirty="0"/>
              <a:t> </a:t>
            </a:r>
            <a:r>
              <a:rPr lang="ru-RU" sz="2400" dirty="0" err="1"/>
              <a:t>palo</a:t>
            </a:r>
            <a:r>
              <a:rPr lang="ru-RU" sz="2400" dirty="0"/>
              <a:t> </a:t>
            </a:r>
            <a:r>
              <a:rPr lang="ru-RU" sz="2400" dirty="0" err="1"/>
              <a:t>alto</a:t>
            </a:r>
            <a:r>
              <a:rPr lang="ru-RU" sz="2400" dirty="0"/>
              <a:t> можно разбить </a:t>
            </a:r>
            <a:r>
              <a:rPr lang="ru-RU" sz="2400" dirty="0" smtClean="0"/>
              <a:t>на </a:t>
            </a:r>
            <a:r>
              <a:rPr lang="ru-RU" sz="2400" dirty="0" err="1" smtClean="0"/>
              <a:t>булевый</a:t>
            </a:r>
            <a:r>
              <a:rPr lang="ru-RU" sz="2400" dirty="0" smtClean="0"/>
              <a:t> </a:t>
            </a:r>
            <a:r>
              <a:rPr lang="ru-RU" sz="2400" dirty="0"/>
              <a:t>запрос по </a:t>
            </a:r>
            <a:r>
              <a:rPr lang="ru-RU" sz="2400" dirty="0" err="1"/>
              <a:t>бивордам</a:t>
            </a:r>
            <a:r>
              <a:rPr lang="ru-RU" sz="2400" dirty="0"/>
              <a:t>:</a:t>
            </a:r>
          </a:p>
          <a:p>
            <a:pPr marL="0" indent="0">
              <a:buNone/>
            </a:pPr>
            <a:r>
              <a:rPr lang="ru-RU" sz="2400" dirty="0" err="1" smtClean="0"/>
              <a:t>stanford</a:t>
            </a:r>
            <a:r>
              <a:rPr lang="ru-RU" sz="2400" dirty="0" smtClean="0"/>
              <a:t> </a:t>
            </a:r>
            <a:r>
              <a:rPr lang="ru-RU" sz="2400" dirty="0" err="1"/>
              <a:t>university</a:t>
            </a:r>
            <a:r>
              <a:rPr lang="ru-RU" sz="2400" dirty="0"/>
              <a:t> И </a:t>
            </a:r>
            <a:r>
              <a:rPr lang="ru-RU" sz="2400" dirty="0" err="1"/>
              <a:t>university</a:t>
            </a:r>
            <a:r>
              <a:rPr lang="ru-RU" sz="2400" dirty="0"/>
              <a:t> </a:t>
            </a:r>
            <a:r>
              <a:rPr lang="ru-RU" sz="2400" dirty="0" err="1"/>
              <a:t>palo</a:t>
            </a:r>
            <a:r>
              <a:rPr lang="ru-RU" sz="2400" dirty="0"/>
              <a:t> И </a:t>
            </a:r>
            <a:r>
              <a:rPr lang="ru-RU" sz="2400" dirty="0" err="1" smtClean="0"/>
              <a:t>palo</a:t>
            </a:r>
            <a:r>
              <a:rPr lang="ru-RU" sz="2400" dirty="0" smtClean="0"/>
              <a:t> </a:t>
            </a:r>
            <a:r>
              <a:rPr lang="ru-RU" sz="2400" dirty="0" err="1" smtClean="0"/>
              <a:t>alto</a:t>
            </a: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Без </a:t>
            </a:r>
            <a:r>
              <a:rPr lang="ru-RU" sz="2400" dirty="0" smtClean="0"/>
              <a:t>файлов </a:t>
            </a:r>
            <a:r>
              <a:rPr lang="ru-RU" sz="2400" dirty="0"/>
              <a:t>мы не можем проверить, что </a:t>
            </a:r>
            <a:r>
              <a:rPr lang="ru-RU" sz="2400" dirty="0" smtClean="0"/>
              <a:t>документы соответствующие </a:t>
            </a:r>
            <a:r>
              <a:rPr lang="ru-RU" sz="2400" dirty="0"/>
              <a:t>вышеуказанному булевому запросу действительно содержат </a:t>
            </a:r>
            <a:r>
              <a:rPr lang="ru-RU" sz="2400" dirty="0" smtClean="0"/>
              <a:t>искомую фразу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Могут быть ложные срабатывания!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15230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Проблемы с индексами </a:t>
            </a:r>
            <a:r>
              <a:rPr lang="ru-RU" dirty="0" err="1"/>
              <a:t>бивордов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Ложные срабатывания, как отмечалось ранее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Увеличение индекса из-за большего словаря</a:t>
            </a:r>
          </a:p>
          <a:p>
            <a:pPr marL="0" indent="0">
              <a:buNone/>
            </a:pPr>
            <a:r>
              <a:rPr lang="ru-RU" sz="2400" dirty="0"/>
              <a:t>– Невыполнимо для более чем двух слов, велико даже для них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Индексы </a:t>
            </a:r>
            <a:r>
              <a:rPr lang="ru-RU" sz="2400" dirty="0" err="1"/>
              <a:t>бивордов</a:t>
            </a:r>
            <a:r>
              <a:rPr lang="ru-RU" sz="2400" dirty="0"/>
              <a:t> не являются стандартным </a:t>
            </a:r>
            <a:r>
              <a:rPr lang="ru-RU" sz="2400" dirty="0" smtClean="0"/>
              <a:t>решением (</a:t>
            </a:r>
            <a:r>
              <a:rPr lang="ru-RU" sz="2400" dirty="0"/>
              <a:t>для всех </a:t>
            </a:r>
            <a:r>
              <a:rPr lang="ru-RU" sz="2400" dirty="0" err="1"/>
              <a:t>бивордов</a:t>
            </a:r>
            <a:r>
              <a:rPr lang="ru-RU" sz="2400" dirty="0"/>
              <a:t>), но могут быть частью комбинированной стратегии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574832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Решение 2: Позиционные индексы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В постингах храните для каждого </a:t>
            </a:r>
            <a:r>
              <a:rPr lang="ru-RU" sz="2400" dirty="0" smtClean="0"/>
              <a:t>термина позиции</a:t>
            </a:r>
            <a:r>
              <a:rPr lang="ru-RU" sz="2400" dirty="0"/>
              <a:t>, в которых появляются его токены:</a:t>
            </a:r>
          </a:p>
          <a:p>
            <a:pPr marL="0" indent="0">
              <a:buNone/>
            </a:pPr>
            <a:endParaRPr lang="ru-RU" sz="2400" dirty="0"/>
          </a:p>
          <a:p>
            <a:pPr lvl="1">
              <a:buNone/>
            </a:pPr>
            <a:r>
              <a:rPr lang="en-US" altLang="ru-RU" sz="2800" dirty="0">
                <a:ea typeface="ＭＳ Ｐゴシック" panose="020B0600070205080204" pitchFamily="34" charset="-128"/>
              </a:rPr>
              <a:t>&lt;</a:t>
            </a:r>
            <a:r>
              <a:rPr lang="en-US" altLang="ru-RU" sz="2800" b="1" i="1" dirty="0">
                <a:ea typeface="ＭＳ Ｐゴシック" panose="020B0600070205080204" pitchFamily="34" charset="-128"/>
              </a:rPr>
              <a:t>term</a:t>
            </a:r>
            <a:r>
              <a:rPr lang="en-US" altLang="ru-RU" sz="2800" i="1" dirty="0">
                <a:ea typeface="ＭＳ Ｐゴシック" panose="020B0600070205080204" pitchFamily="34" charset="-128"/>
              </a:rPr>
              <a:t>, </a:t>
            </a:r>
            <a:r>
              <a:rPr lang="en-US" altLang="ru-RU" sz="2800" dirty="0">
                <a:ea typeface="ＭＳ Ｐゴシック" panose="020B0600070205080204" pitchFamily="34" charset="-128"/>
              </a:rPr>
              <a:t>number of docs containing </a:t>
            </a:r>
            <a:r>
              <a:rPr lang="en-US" altLang="ru-RU" sz="2800" b="1" i="1" dirty="0">
                <a:ea typeface="ＭＳ Ｐゴシック" panose="020B0600070205080204" pitchFamily="34" charset="-128"/>
              </a:rPr>
              <a:t>term</a:t>
            </a:r>
            <a:r>
              <a:rPr lang="en-US" altLang="ru-RU" sz="2800" dirty="0">
                <a:ea typeface="ＭＳ Ｐゴシック" panose="020B0600070205080204" pitchFamily="34" charset="-128"/>
              </a:rPr>
              <a:t>;</a:t>
            </a:r>
          </a:p>
          <a:p>
            <a:pPr lvl="1">
              <a:buNone/>
            </a:pPr>
            <a:r>
              <a:rPr lang="en-US" altLang="ru-RU" sz="2800" i="1" dirty="0">
                <a:ea typeface="ＭＳ Ｐゴシック" panose="020B0600070205080204" pitchFamily="34" charset="-128"/>
              </a:rPr>
              <a:t>doc1</a:t>
            </a:r>
            <a:r>
              <a:rPr lang="en-US" altLang="ru-RU" sz="2800" dirty="0">
                <a:ea typeface="ＭＳ Ｐゴシック" panose="020B0600070205080204" pitchFamily="34" charset="-128"/>
              </a:rPr>
              <a:t>: position1, position2 … ;</a:t>
            </a:r>
          </a:p>
          <a:p>
            <a:pPr lvl="1">
              <a:buNone/>
            </a:pPr>
            <a:r>
              <a:rPr lang="en-US" altLang="ru-RU" sz="2800" i="1" dirty="0">
                <a:ea typeface="ＭＳ Ｐゴシック" panose="020B0600070205080204" pitchFamily="34" charset="-128"/>
              </a:rPr>
              <a:t>doc2</a:t>
            </a:r>
            <a:r>
              <a:rPr lang="en-US" altLang="ru-RU" sz="2800" dirty="0">
                <a:ea typeface="ＭＳ Ｐゴシック" panose="020B0600070205080204" pitchFamily="34" charset="-128"/>
              </a:rPr>
              <a:t>: position1, position2 … ;</a:t>
            </a:r>
          </a:p>
          <a:p>
            <a:pPr lvl="1">
              <a:buNone/>
            </a:pPr>
            <a:r>
              <a:rPr lang="en-US" altLang="ru-RU" sz="2800" dirty="0">
                <a:ea typeface="ＭＳ Ｐゴシック" panose="020B0600070205080204" pitchFamily="34" charset="-128"/>
              </a:rPr>
              <a:t>etc.&gt;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7192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altLang="ru-RU" dirty="0">
                <a:ea typeface="ＭＳ Ｐゴシック" panose="020B0600070205080204" pitchFamily="34" charset="-128"/>
              </a:rPr>
              <a:t>Пример позиционного индекса</a:t>
            </a:r>
            <a:endParaRPr lang="ru-RU" altLang="ru-RU" dirty="0">
              <a:ea typeface="ＭＳ Ｐゴシック" panose="020B0600070205080204" pitchFamily="34" charset="-128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altLang="ru-RU" sz="2800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ru-RU" altLang="ru-RU" sz="2800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ru-RU" altLang="ru-RU" sz="2800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ru-RU" altLang="ru-RU" sz="2800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ru-RU" altLang="ru-RU" sz="2800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ru-RU" altLang="ru-RU" sz="2800" dirty="0" smtClean="0">
                <a:ea typeface="ＭＳ Ｐゴシック" panose="020B0600070205080204" pitchFamily="34" charset="-128"/>
              </a:rPr>
              <a:t>• </a:t>
            </a:r>
            <a:r>
              <a:rPr lang="ru-RU" altLang="ru-RU" sz="2800" dirty="0">
                <a:ea typeface="ＭＳ Ｐゴシック" panose="020B0600070205080204" pitchFamily="34" charset="-128"/>
              </a:rPr>
              <a:t>Для фразовых запросов мы используем алгоритм </a:t>
            </a:r>
            <a:r>
              <a:rPr lang="ru-RU" altLang="ru-RU" sz="2800" dirty="0" smtClean="0">
                <a:ea typeface="ＭＳ Ｐゴシック" panose="020B0600070205080204" pitchFamily="34" charset="-128"/>
              </a:rPr>
              <a:t>слияния рекурсивно </a:t>
            </a:r>
            <a:r>
              <a:rPr lang="ru-RU" altLang="ru-RU" sz="2800" dirty="0">
                <a:ea typeface="ＭＳ Ｐゴシック" panose="020B0600070205080204" pitchFamily="34" charset="-128"/>
              </a:rPr>
              <a:t>на уровне документа</a:t>
            </a:r>
          </a:p>
          <a:p>
            <a:pPr marL="0" indent="0">
              <a:buNone/>
            </a:pPr>
            <a:r>
              <a:rPr lang="ru-RU" altLang="ru-RU" sz="2800" dirty="0" smtClean="0">
                <a:ea typeface="ＭＳ Ｐゴシック" panose="020B0600070205080204" pitchFamily="34" charset="-128"/>
              </a:rPr>
              <a:t>• </a:t>
            </a:r>
            <a:r>
              <a:rPr lang="ru-RU" altLang="ru-RU" sz="2800" dirty="0">
                <a:ea typeface="ＭＳ Ｐゴシック" panose="020B0600070205080204" pitchFamily="34" charset="-128"/>
              </a:rPr>
              <a:t>Но теперь нам нужно иметь дело с чем-то большим, </a:t>
            </a:r>
            <a:r>
              <a:rPr lang="ru-RU" altLang="ru-RU" sz="2800" dirty="0" smtClean="0">
                <a:ea typeface="ＭＳ Ｐゴシック" panose="020B0600070205080204" pitchFamily="34" charset="-128"/>
              </a:rPr>
              <a:t>чем просто </a:t>
            </a:r>
            <a:r>
              <a:rPr lang="ru-RU" altLang="ru-RU" sz="2800" dirty="0">
                <a:ea typeface="ＭＳ Ｐゴシック" panose="020B0600070205080204" pitchFamily="34" charset="-128"/>
              </a:rPr>
              <a:t>равенство</a:t>
            </a:r>
            <a:endParaRPr lang="en-US" altLang="ru-RU" sz="2800" dirty="0">
              <a:ea typeface="ＭＳ Ｐゴシック" panose="020B0600070205080204" pitchFamily="34" charset="-128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47</a:t>
            </a:fld>
            <a:endParaRPr lang="ru-RU" noProof="0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75597" y="1055715"/>
            <a:ext cx="5410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ru-RU" sz="2800"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&lt;</a:t>
            </a:r>
            <a:r>
              <a:rPr lang="en-US" altLang="ru-RU" sz="2800" b="1" i="1"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be</a:t>
            </a:r>
            <a:r>
              <a:rPr lang="en-US" altLang="ru-RU" sz="2800"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: 993427;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800" i="1">
                <a:solidFill>
                  <a:srgbClr val="A40508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1</a:t>
            </a:r>
            <a:r>
              <a:rPr lang="en-US" altLang="ru-RU" sz="2800"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: 7, 18, 33, 72, 86, 231;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800" i="1">
                <a:solidFill>
                  <a:srgbClr val="A40508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2</a:t>
            </a:r>
            <a:r>
              <a:rPr lang="en-US" altLang="ru-RU" sz="2800"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: 3, 149;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800" i="1">
                <a:solidFill>
                  <a:srgbClr val="A40508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4</a:t>
            </a:r>
            <a:r>
              <a:rPr lang="en-US" altLang="ru-RU" sz="2800"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: 17, 191, 291, 430, 434;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ru-RU" sz="2800" i="1">
                <a:solidFill>
                  <a:srgbClr val="A40508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5</a:t>
            </a:r>
            <a:r>
              <a:rPr lang="en-US" altLang="ru-RU" sz="2800">
                <a:latin typeface="Times New Roman" panose="02020603050405020304" pitchFamily="18" charset="0"/>
                <a:ea typeface="ＭＳ Ｐゴシック" panose="020B0600070205080204" pitchFamily="34" charset="-128"/>
                <a:cs typeface="Arial Unicode MS" pitchFamily="34" charset="-128"/>
              </a:rPr>
              <a:t>: 363, 367, …&gt;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6014197" y="1589115"/>
            <a:ext cx="4113213" cy="1371600"/>
          </a:xfrm>
          <a:prstGeom prst="leftArrowCallout">
            <a:avLst>
              <a:gd name="adj1" fmla="val 25000"/>
              <a:gd name="adj2" fmla="val 25000"/>
              <a:gd name="adj3" fmla="val 49981"/>
              <a:gd name="adj4" fmla="val 6666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</a:rPr>
              <a:t>Which of docs </a:t>
            </a:r>
            <a:r>
              <a:rPr lang="en-US" altLang="ru-RU" sz="1800">
                <a:solidFill>
                  <a:srgbClr val="A40508"/>
                </a:solidFill>
                <a:latin typeface="Times New Roman" panose="02020603050405020304" pitchFamily="18" charset="0"/>
              </a:rPr>
              <a:t>1,2,4,5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</a:rPr>
              <a:t>could contain “</a:t>
            </a:r>
            <a:r>
              <a:rPr lang="en-US" altLang="ru-RU" sz="1800" b="1" i="1">
                <a:latin typeface="Times New Roman" panose="02020603050405020304" pitchFamily="18" charset="0"/>
              </a:rPr>
              <a:t>to be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 b="1" i="1">
                <a:latin typeface="Times New Roman" panose="02020603050405020304" pitchFamily="18" charset="0"/>
              </a:rPr>
              <a:t>or not to be</a:t>
            </a:r>
            <a:r>
              <a:rPr lang="en-US" altLang="ru-RU" sz="1800">
                <a:latin typeface="Times New Roman" panose="02020603050405020304" pitchFamily="18" charset="0"/>
              </a:rPr>
              <a:t>”?</a:t>
            </a:r>
          </a:p>
        </p:txBody>
      </p:sp>
    </p:spTree>
    <p:extLst>
      <p:ext uri="{BB962C8B-B14F-4D97-AF65-F5344CB8AC3E}">
        <p14:creationId xmlns:p14="http://schemas.microsoft.com/office/powerpoint/2010/main" val="34774550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Обработка фразового </a:t>
            </a:r>
            <a:r>
              <a:rPr lang="ru-RU" dirty="0" smtClean="0"/>
              <a:t>запроса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Извлеките записи инвертированного индекса для каждого </a:t>
            </a:r>
            <a:r>
              <a:rPr lang="ru-RU" sz="2400" dirty="0" smtClean="0"/>
              <a:t>отдельного термина</a:t>
            </a:r>
            <a:r>
              <a:rPr lang="ru-RU" sz="2400" dirty="0"/>
              <a:t>: </a:t>
            </a:r>
            <a:r>
              <a:rPr lang="ru-RU" sz="2400" dirty="0" err="1"/>
              <a:t>to</a:t>
            </a:r>
            <a:r>
              <a:rPr lang="ru-RU" sz="2400" dirty="0"/>
              <a:t>, </a:t>
            </a:r>
            <a:r>
              <a:rPr lang="ru-RU" sz="2400" dirty="0" err="1"/>
              <a:t>be</a:t>
            </a:r>
            <a:r>
              <a:rPr lang="ru-RU" sz="2400" dirty="0"/>
              <a:t>, </a:t>
            </a:r>
            <a:r>
              <a:rPr lang="ru-RU" sz="2400" dirty="0" err="1"/>
              <a:t>or</a:t>
            </a:r>
            <a:r>
              <a:rPr lang="ru-RU" sz="2400" dirty="0"/>
              <a:t>, </a:t>
            </a:r>
            <a:r>
              <a:rPr lang="ru-RU" sz="2400" dirty="0" err="1"/>
              <a:t>not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r>
              <a:rPr lang="ru-RU" sz="2400" dirty="0" smtClean="0"/>
              <a:t>• Объедините </a:t>
            </a:r>
            <a:r>
              <a:rPr lang="ru-RU" sz="2400" dirty="0"/>
              <a:t>их списки </a:t>
            </a:r>
            <a:r>
              <a:rPr lang="ru-RU" sz="2400" dirty="0" err="1"/>
              <a:t>doc:position</a:t>
            </a:r>
            <a:r>
              <a:rPr lang="ru-RU" sz="2400" dirty="0"/>
              <a:t>, чтобы перечислить </a:t>
            </a:r>
            <a:r>
              <a:rPr lang="ru-RU" sz="2400" dirty="0" smtClean="0"/>
              <a:t>все позиции </a:t>
            </a:r>
            <a:r>
              <a:rPr lang="ru-RU" sz="2400" dirty="0"/>
              <a:t>с "</a:t>
            </a:r>
            <a:r>
              <a:rPr lang="ru-RU" sz="2400" dirty="0" err="1"/>
              <a:t>to</a:t>
            </a:r>
            <a:r>
              <a:rPr lang="ru-RU" sz="2400" dirty="0"/>
              <a:t> </a:t>
            </a:r>
            <a:r>
              <a:rPr lang="ru-RU" sz="2400" dirty="0" err="1"/>
              <a:t>be</a:t>
            </a:r>
            <a:r>
              <a:rPr lang="ru-RU" sz="2400" dirty="0"/>
              <a:t> </a:t>
            </a:r>
            <a:r>
              <a:rPr lang="ru-RU" sz="2400" dirty="0" err="1"/>
              <a:t>or</a:t>
            </a:r>
            <a:r>
              <a:rPr lang="ru-RU" sz="2400" dirty="0"/>
              <a:t> </a:t>
            </a:r>
            <a:r>
              <a:rPr lang="ru-RU" sz="2400" dirty="0" err="1"/>
              <a:t>not</a:t>
            </a:r>
            <a:r>
              <a:rPr lang="ru-RU" sz="2400" dirty="0"/>
              <a:t> </a:t>
            </a:r>
            <a:r>
              <a:rPr lang="ru-RU" sz="2400" dirty="0" err="1"/>
              <a:t>to</a:t>
            </a:r>
            <a:r>
              <a:rPr lang="ru-RU" sz="2400" dirty="0"/>
              <a:t> </a:t>
            </a:r>
            <a:r>
              <a:rPr lang="ru-RU" sz="2400" dirty="0" err="1"/>
              <a:t>be</a:t>
            </a:r>
            <a:r>
              <a:rPr lang="ru-RU" sz="2400" dirty="0"/>
              <a:t>".</a:t>
            </a:r>
          </a:p>
          <a:p>
            <a:pPr marL="0" indent="0">
              <a:buNone/>
            </a:pPr>
            <a:r>
              <a:rPr lang="ru-RU" sz="2400" dirty="0" smtClean="0"/>
              <a:t>– </a:t>
            </a:r>
            <a:r>
              <a:rPr lang="ru-RU" sz="2400" dirty="0" err="1"/>
              <a:t>to</a:t>
            </a:r>
            <a:r>
              <a:rPr lang="ru-RU" sz="2400" dirty="0"/>
              <a:t>:</a:t>
            </a:r>
          </a:p>
          <a:p>
            <a:pPr marL="276225" lvl="1" indent="0">
              <a:buNone/>
            </a:pPr>
            <a:r>
              <a:rPr lang="ru-RU" sz="2200" dirty="0" smtClean="0"/>
              <a:t>2:1,17,74,222,551</a:t>
            </a:r>
            <a:r>
              <a:rPr lang="ru-RU" sz="2200" dirty="0"/>
              <a:t>; </a:t>
            </a:r>
            <a:r>
              <a:rPr lang="ru-RU" sz="2200" dirty="0">
                <a:solidFill>
                  <a:srgbClr val="FF0000"/>
                </a:solidFill>
              </a:rPr>
              <a:t>4:8,16,190,429,433</a:t>
            </a:r>
            <a:r>
              <a:rPr lang="ru-RU" sz="2200" dirty="0"/>
              <a:t>; 7:13,23,191; ...</a:t>
            </a:r>
          </a:p>
          <a:p>
            <a:pPr marL="0" indent="0">
              <a:buNone/>
            </a:pPr>
            <a:r>
              <a:rPr lang="ru-RU" sz="2400" dirty="0" smtClean="0"/>
              <a:t>– </a:t>
            </a:r>
            <a:r>
              <a:rPr lang="ru-RU" sz="2400" dirty="0" err="1"/>
              <a:t>be</a:t>
            </a:r>
            <a:r>
              <a:rPr lang="ru-RU" sz="2400" dirty="0"/>
              <a:t>:</a:t>
            </a:r>
          </a:p>
          <a:p>
            <a:pPr marL="276225" lvl="1" indent="0">
              <a:buNone/>
            </a:pPr>
            <a:r>
              <a:rPr lang="ru-RU" sz="2200" dirty="0" smtClean="0"/>
              <a:t>1:17,19</a:t>
            </a:r>
            <a:r>
              <a:rPr lang="ru-RU" sz="2200" dirty="0"/>
              <a:t>; </a:t>
            </a:r>
            <a:r>
              <a:rPr lang="ru-RU" sz="2200" dirty="0">
                <a:solidFill>
                  <a:srgbClr val="FF0000"/>
                </a:solidFill>
              </a:rPr>
              <a:t>4:17,191,291,430,434</a:t>
            </a:r>
            <a:r>
              <a:rPr lang="ru-RU" sz="2200" dirty="0"/>
              <a:t>; 5:14,19,101; ...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Тот же общий метод для поисковых запросов по близости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48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317725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Поисковые запросы по близости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LIMIT! /3 STATUTE /3 FEDERAL /2 TORT</a:t>
            </a:r>
          </a:p>
          <a:p>
            <a:pPr marL="0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Опять же, здесь /k означает "в пределах k слов от".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Очевидно, позиционные индексы могут использоваться </a:t>
            </a:r>
            <a:r>
              <a:rPr lang="ru-RU" sz="2400" dirty="0" smtClean="0"/>
              <a:t>для таких </a:t>
            </a:r>
            <a:r>
              <a:rPr lang="ru-RU" sz="2400" dirty="0"/>
              <a:t>запросов; индексы </a:t>
            </a:r>
            <a:r>
              <a:rPr lang="ru-RU" sz="2400" dirty="0" err="1"/>
              <a:t>бивордов</a:t>
            </a:r>
            <a:r>
              <a:rPr lang="ru-RU" sz="2400" dirty="0"/>
              <a:t> не могут.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Упражнение: Адаптируйте линейное слияние </a:t>
            </a:r>
            <a:r>
              <a:rPr lang="ru-RU" sz="2400" dirty="0" smtClean="0"/>
              <a:t>постингов для </a:t>
            </a:r>
            <a:r>
              <a:rPr lang="ru-RU" sz="2400" dirty="0"/>
              <a:t>обработки поисковых запросов по близости. Можете ли вы заставить его работать для любого значения k?</a:t>
            </a:r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Это </a:t>
            </a:r>
            <a:r>
              <a:rPr lang="ru-RU" sz="2200" dirty="0" smtClean="0"/>
              <a:t>сложно </a:t>
            </a:r>
            <a:r>
              <a:rPr lang="ru-RU" sz="2200" dirty="0"/>
              <a:t>сделать правильно и эффективно</a:t>
            </a:r>
            <a:endParaRPr lang="ru-RU" sz="22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49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140624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Размер позиционного индекса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dirty="0"/>
              <a:t>• Позиционный индекс значительно увеличивает объем хранения постингов</a:t>
            </a:r>
          </a:p>
          <a:p>
            <a:pPr marL="0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Даже несмотря на то, что индексы могут быть сжаты</a:t>
            </a:r>
          </a:p>
          <a:p>
            <a:pPr marL="0" indent="0">
              <a:buNone/>
            </a:pPr>
            <a:r>
              <a:rPr lang="ru-RU" sz="2200" dirty="0" smtClean="0"/>
              <a:t>• </a:t>
            </a:r>
            <a:r>
              <a:rPr lang="ru-RU" sz="2200" dirty="0"/>
              <a:t>Тем не менее, позиционный индекс </a:t>
            </a:r>
            <a:r>
              <a:rPr lang="ru-RU" sz="2200" dirty="0" smtClean="0"/>
              <a:t>теперь стандартно </a:t>
            </a:r>
            <a:r>
              <a:rPr lang="ru-RU" sz="2200" dirty="0"/>
              <a:t>используется из-за </a:t>
            </a:r>
            <a:r>
              <a:rPr lang="ru-RU" sz="2200" dirty="0" smtClean="0"/>
              <a:t>своей «силы </a:t>
            </a:r>
            <a:r>
              <a:rPr lang="ru-RU" sz="2200" dirty="0"/>
              <a:t>и полезности фразовых и поисковых запросов по близости ... независимо от того, используются ли они явно или неявно в системе ранжированного поиска.</a:t>
            </a:r>
            <a:endParaRPr lang="ru-RU" sz="22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50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861045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Размер позиционного индекса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• Необходимо хранить запись для каждого вхождения, а </a:t>
            </a:r>
            <a:r>
              <a:rPr lang="ru-RU" sz="2200" dirty="0" smtClean="0"/>
              <a:t>не только </a:t>
            </a:r>
            <a:r>
              <a:rPr lang="ru-RU" sz="2200" dirty="0"/>
              <a:t>один раз на документ</a:t>
            </a:r>
          </a:p>
          <a:p>
            <a:pPr marL="0" indent="0">
              <a:buNone/>
            </a:pPr>
            <a:r>
              <a:rPr lang="ru-RU" sz="2200" dirty="0" smtClean="0"/>
              <a:t>• </a:t>
            </a:r>
            <a:r>
              <a:rPr lang="ru-RU" sz="2200" dirty="0"/>
              <a:t>Размер индекса зависит от среднего размера документа</a:t>
            </a:r>
          </a:p>
          <a:p>
            <a:pPr marL="0" indent="0">
              <a:buNone/>
            </a:pPr>
            <a:r>
              <a:rPr lang="ru-RU" sz="2200" dirty="0" smtClean="0"/>
              <a:t>Почему</a:t>
            </a:r>
            <a:r>
              <a:rPr lang="ru-RU" sz="2200" dirty="0"/>
              <a:t>?</a:t>
            </a:r>
          </a:p>
          <a:p>
            <a:pPr marL="0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Средняя веб-страница содержит &lt;1000 терминов – Документы SEC, книги, даже некоторые эпические поэмы ... </a:t>
            </a:r>
            <a:r>
              <a:rPr lang="ru-RU" sz="2200" dirty="0" smtClean="0"/>
              <a:t>Легко 100,000 </a:t>
            </a:r>
            <a:r>
              <a:rPr lang="ru-RU" sz="2200" dirty="0"/>
              <a:t>терминов</a:t>
            </a:r>
          </a:p>
          <a:p>
            <a:pPr marL="0" indent="0">
              <a:buNone/>
            </a:pPr>
            <a:r>
              <a:rPr lang="ru-RU" sz="2200" dirty="0" smtClean="0"/>
              <a:t>• </a:t>
            </a:r>
            <a:r>
              <a:rPr lang="ru-RU" sz="2200" dirty="0"/>
              <a:t>Рассмотрим термин с частотой 0.1%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51</a:t>
            </a:fld>
            <a:endParaRPr lang="ru-RU" noProof="0" dirty="0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1685026" y="3916392"/>
            <a:ext cx="7769225" cy="1524000"/>
            <a:chOff x="624" y="3168"/>
            <a:chExt cx="4894" cy="960"/>
          </a:xfrm>
        </p:grpSpPr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624" y="3216"/>
              <a:ext cx="4894" cy="912"/>
              <a:chOff x="912" y="2448"/>
              <a:chExt cx="3888" cy="99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3504" y="3109"/>
                <a:ext cx="1296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 eaLnBrk="1" hangingPunct="1">
                  <a:buClr>
                    <a:srgbClr val="A50021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ru-RU" sz="2200"/>
                  <a:t>100</a:t>
                </a: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2208" y="3109"/>
                <a:ext cx="1296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 eaLnBrk="1" hangingPunct="1">
                  <a:buClr>
                    <a:srgbClr val="A50021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ru-RU" sz="2200"/>
                  <a:t>1</a:t>
                </a:r>
              </a:p>
            </p:txBody>
          </p:sp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912" y="3109"/>
                <a:ext cx="1296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 eaLnBrk="1" hangingPunct="1">
                  <a:buClr>
                    <a:srgbClr val="A50021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ru-RU" sz="2200"/>
                  <a:t>100,000</a:t>
                </a:r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3504" y="2779"/>
                <a:ext cx="129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 eaLnBrk="1" hangingPunct="1">
                  <a:buClr>
                    <a:srgbClr val="A50021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ru-RU" sz="2200"/>
                  <a:t>1</a:t>
                </a: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2208" y="2779"/>
                <a:ext cx="129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 eaLnBrk="1" hangingPunct="1">
                  <a:buClr>
                    <a:srgbClr val="A50021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ru-RU" sz="2200"/>
                  <a:t>1</a:t>
                </a: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912" y="2779"/>
                <a:ext cx="129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 eaLnBrk="1" hangingPunct="1">
                  <a:buClr>
                    <a:srgbClr val="A50021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ru-RU" sz="2200"/>
                  <a:t>1000</a:t>
                </a: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3504" y="2448"/>
                <a:ext cx="1296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buClr>
                    <a:srgbClr val="A50021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ru-RU" sz="2000"/>
                  <a:t>Positional postings</a:t>
                </a:r>
              </a:p>
            </p:txBody>
          </p:sp>
          <p:sp>
            <p:nvSpPr>
              <p:cNvPr id="17" name="Rectangle 14"/>
              <p:cNvSpPr>
                <a:spLocks noChangeArrowheads="1"/>
              </p:cNvSpPr>
              <p:nvPr/>
            </p:nvSpPr>
            <p:spPr bwMode="auto">
              <a:xfrm>
                <a:off x="2208" y="2448"/>
                <a:ext cx="1296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buClr>
                    <a:srgbClr val="A50021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ru-RU" sz="2200"/>
                  <a:t>Postings</a:t>
                </a:r>
              </a:p>
            </p:txBody>
          </p:sp>
          <p:sp>
            <p:nvSpPr>
              <p:cNvPr id="18" name="Rectangle 15"/>
              <p:cNvSpPr>
                <a:spLocks noChangeArrowheads="1"/>
              </p:cNvSpPr>
              <p:nvPr/>
            </p:nvSpPr>
            <p:spPr bwMode="auto">
              <a:xfrm>
                <a:off x="912" y="2448"/>
                <a:ext cx="1296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buClr>
                    <a:srgbClr val="A50021"/>
                  </a:buClr>
                  <a:buSzPct val="60000"/>
                  <a:buFont typeface="Wingdings" panose="05000000000000000000" pitchFamily="2" charset="2"/>
                  <a:buNone/>
                </a:pPr>
                <a:endParaRPr lang="ru-RU" altLang="ru-RU" sz="2200"/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>
                <a:off x="912" y="2448"/>
                <a:ext cx="38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0" name="Line 17"/>
              <p:cNvSpPr>
                <a:spLocks noChangeShapeType="1"/>
              </p:cNvSpPr>
              <p:nvPr/>
            </p:nvSpPr>
            <p:spPr bwMode="auto">
              <a:xfrm>
                <a:off x="912" y="2779"/>
                <a:ext cx="38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1" name="Line 18"/>
              <p:cNvSpPr>
                <a:spLocks noChangeShapeType="1"/>
              </p:cNvSpPr>
              <p:nvPr/>
            </p:nvSpPr>
            <p:spPr bwMode="auto">
              <a:xfrm>
                <a:off x="912" y="3109"/>
                <a:ext cx="38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2" name="Line 19"/>
              <p:cNvSpPr>
                <a:spLocks noChangeShapeType="1"/>
              </p:cNvSpPr>
              <p:nvPr/>
            </p:nvSpPr>
            <p:spPr bwMode="auto">
              <a:xfrm>
                <a:off x="912" y="3440"/>
                <a:ext cx="38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3" name="Line 20"/>
              <p:cNvSpPr>
                <a:spLocks noChangeShapeType="1"/>
              </p:cNvSpPr>
              <p:nvPr/>
            </p:nvSpPr>
            <p:spPr bwMode="auto">
              <a:xfrm>
                <a:off x="912" y="2448"/>
                <a:ext cx="0" cy="99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4" name="Line 21"/>
              <p:cNvSpPr>
                <a:spLocks noChangeShapeType="1"/>
              </p:cNvSpPr>
              <p:nvPr/>
            </p:nvSpPr>
            <p:spPr bwMode="auto">
              <a:xfrm>
                <a:off x="2208" y="2448"/>
                <a:ext cx="0" cy="9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" name="Line 22"/>
              <p:cNvSpPr>
                <a:spLocks noChangeShapeType="1"/>
              </p:cNvSpPr>
              <p:nvPr/>
            </p:nvSpPr>
            <p:spPr bwMode="auto">
              <a:xfrm>
                <a:off x="3504" y="2448"/>
                <a:ext cx="0" cy="9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6" name="Line 23"/>
              <p:cNvSpPr>
                <a:spLocks noChangeShapeType="1"/>
              </p:cNvSpPr>
              <p:nvPr/>
            </p:nvSpPr>
            <p:spPr bwMode="auto">
              <a:xfrm>
                <a:off x="4800" y="2448"/>
                <a:ext cx="0" cy="99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sp>
          <p:nvSpPr>
            <p:cNvPr id="9" name="Rectangle 24"/>
            <p:cNvSpPr>
              <a:spLocks noChangeArrowheads="1"/>
            </p:cNvSpPr>
            <p:nvPr/>
          </p:nvSpPr>
          <p:spPr bwMode="auto">
            <a:xfrm>
              <a:off x="624" y="3168"/>
              <a:ext cx="16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1800"/>
                <a:t>Document size</a:t>
              </a:r>
              <a:endParaRPr lang="en-US" altLang="ru-RU" sz="1800" b="1"/>
            </a:p>
          </p:txBody>
        </p:sp>
      </p:grpSp>
    </p:spTree>
    <p:extLst>
      <p:ext uri="{BB962C8B-B14F-4D97-AF65-F5344CB8AC3E}">
        <p14:creationId xmlns:p14="http://schemas.microsoft.com/office/powerpoint/2010/main" val="359772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 smtClean="0"/>
              <a:t>Эмпирические правила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• Позиционный индекс в 2–4 раза больше, чем </a:t>
            </a:r>
            <a:r>
              <a:rPr lang="ru-RU" sz="2400" dirty="0" smtClean="0"/>
              <a:t>непозиционный </a:t>
            </a:r>
            <a:r>
              <a:rPr lang="ru-RU" sz="2400" dirty="0"/>
              <a:t>индекс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Размер позиционного индекса составляет 35–50% от </a:t>
            </a:r>
            <a:r>
              <a:rPr lang="ru-RU" sz="2400" dirty="0" smtClean="0"/>
              <a:t>объема исходного </a:t>
            </a:r>
            <a:r>
              <a:rPr lang="ru-RU" sz="2400" dirty="0"/>
              <a:t>текста</a:t>
            </a:r>
          </a:p>
          <a:p>
            <a:pPr marL="0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Предостережение: все это верно для </a:t>
            </a:r>
            <a:r>
              <a:rPr lang="ru-RU" sz="2400" dirty="0" smtClean="0"/>
              <a:t>«латинских» </a:t>
            </a:r>
            <a:r>
              <a:rPr lang="ru-RU" sz="2400" dirty="0"/>
              <a:t>языков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1964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Комбинированные схемы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Эти два подхода можно </a:t>
            </a:r>
            <a:r>
              <a:rPr lang="ru-RU" sz="2400" dirty="0" smtClean="0"/>
              <a:t>выгодно объединить</a:t>
            </a:r>
            <a:endParaRPr lang="ru-RU" sz="2400" dirty="0"/>
          </a:p>
          <a:p>
            <a:pPr marL="0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Для конкретных фраз ("Майкл Джексон", "</a:t>
            </a:r>
            <a:r>
              <a:rPr lang="ru-RU" sz="2400" dirty="0" smtClean="0"/>
              <a:t>Бритни Спирс</a:t>
            </a:r>
            <a:r>
              <a:rPr lang="ru-RU" sz="2400" dirty="0"/>
              <a:t>") неэффективно постоянно </a:t>
            </a:r>
            <a:r>
              <a:rPr lang="ru-RU" sz="2400" dirty="0" smtClean="0"/>
              <a:t>объединять </a:t>
            </a:r>
            <a:r>
              <a:rPr lang="ru-RU" sz="2400" dirty="0"/>
              <a:t>позиционные списки постингов</a:t>
            </a:r>
          </a:p>
          <a:p>
            <a:pPr marL="542925" lvl="2" indent="0">
              <a:buNone/>
            </a:pPr>
            <a:r>
              <a:rPr lang="ru-RU" sz="2000" dirty="0" smtClean="0"/>
              <a:t>• </a:t>
            </a:r>
            <a:r>
              <a:rPr lang="ru-RU" sz="2000" dirty="0"/>
              <a:t>Еще более так для фраз вроде "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Who</a:t>
            </a:r>
            <a:r>
              <a:rPr lang="ru-RU" sz="2000" dirty="0"/>
              <a:t>"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Уильямс и др</a:t>
            </a:r>
            <a:r>
              <a:rPr lang="ru-RU" sz="2400" dirty="0" smtClean="0"/>
              <a:t>. (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Williams et al</a:t>
            </a:r>
            <a:r>
              <a:rPr lang="ru-RU" sz="2400" dirty="0" smtClean="0"/>
              <a:t>) </a:t>
            </a:r>
            <a:r>
              <a:rPr lang="ru-RU" sz="2400" dirty="0"/>
              <a:t>(2004) оценивают </a:t>
            </a:r>
            <a:r>
              <a:rPr lang="ru-RU" sz="2400" dirty="0" smtClean="0"/>
              <a:t>более сложную </a:t>
            </a:r>
            <a:r>
              <a:rPr lang="ru-RU" sz="2400" dirty="0"/>
              <a:t>смешанную схему индексирования</a:t>
            </a:r>
          </a:p>
          <a:p>
            <a:pPr marL="0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Типичный веб-запрос был выполнен в ¼ </a:t>
            </a:r>
            <a:r>
              <a:rPr lang="ru-RU" sz="2400" dirty="0" smtClean="0"/>
              <a:t>времени использования </a:t>
            </a:r>
            <a:r>
              <a:rPr lang="ru-RU" sz="2400" dirty="0"/>
              <a:t>только позиционного индекса</a:t>
            </a:r>
          </a:p>
          <a:p>
            <a:pPr marL="0" indent="0">
              <a:buNone/>
            </a:pPr>
            <a:r>
              <a:rPr lang="ru-RU" sz="2400" dirty="0" smtClean="0"/>
              <a:t>– </a:t>
            </a:r>
            <a:r>
              <a:rPr lang="ru-RU" sz="2400" dirty="0"/>
              <a:t>Он потребовал на 26% больше места, чем наличие только </a:t>
            </a:r>
            <a:r>
              <a:rPr lang="ru-RU" sz="2400" dirty="0" smtClean="0"/>
              <a:t>позиционного индекса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873449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Рисунок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Полилиния 5" descr="Пустой контрастный элемент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1" name="Надпись 30" descr="Акцент флага для заголовка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21" name="Равнобедренный треугольник 20" descr="Акцент тени для заголовка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117" y="1816508"/>
            <a:ext cx="4459766" cy="3411099"/>
          </a:xfrm>
        </p:spPr>
        <p:txBody>
          <a:bodyPr rtlCol="0"/>
          <a:lstStyle/>
          <a:p>
            <a:r>
              <a:rPr lang="ru-RU" b="0" dirty="0"/>
              <a:t>Структурированные и неструктурированные данные</a:t>
            </a:r>
            <a:endParaRPr lang="ru-RU" sz="5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99827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ИП против баз данных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Структурированные данные обычно относятся к информации в </a:t>
            </a:r>
            <a:r>
              <a:rPr lang="ru-RU" sz="2400" dirty="0" smtClean="0"/>
              <a:t>«таблицах»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r>
              <a:rPr lang="ru-RU" sz="2400" dirty="0"/>
              <a:t>Обычно </a:t>
            </a:r>
            <a:r>
              <a:rPr lang="ru-RU" sz="2400" dirty="0" smtClean="0"/>
              <a:t>можно обрабатывать </a:t>
            </a:r>
            <a:r>
              <a:rPr lang="ru-RU" sz="2400" dirty="0"/>
              <a:t>числовые диапазоны и точное </a:t>
            </a:r>
            <a:r>
              <a:rPr lang="ru-RU" sz="2400" dirty="0" smtClean="0"/>
              <a:t>совпадение (</a:t>
            </a:r>
            <a:r>
              <a:rPr lang="ru-RU" sz="2400" dirty="0"/>
              <a:t>для текста) </a:t>
            </a:r>
            <a:r>
              <a:rPr lang="ru-RU" sz="2400" dirty="0" smtClean="0"/>
              <a:t>в запросе, </a:t>
            </a:r>
            <a:r>
              <a:rPr lang="ru-RU" sz="2400" dirty="0"/>
              <a:t>например</a:t>
            </a:r>
            <a:r>
              <a:rPr lang="ru-RU" sz="2400" dirty="0" smtClean="0"/>
              <a:t>, 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Зарплата &lt; 60000 И Менеджер = Смит.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55</a:t>
            </a:fld>
            <a:endParaRPr lang="ru-RU" noProof="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576423" y="1511060"/>
            <a:ext cx="6172200" cy="2209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576423" y="2044460"/>
            <a:ext cx="6172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576423" y="2577860"/>
            <a:ext cx="6172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481423" y="1511060"/>
            <a:ext cx="2362200" cy="220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711361" y="1587260"/>
            <a:ext cx="1541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Employee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997361" y="1587260"/>
            <a:ext cx="1389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Manager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7235736" y="1587260"/>
            <a:ext cx="1049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Salary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706598" y="2120660"/>
            <a:ext cx="963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Smith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4938623" y="2120660"/>
            <a:ext cx="998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Jones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257961" y="2120660"/>
            <a:ext cx="103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50000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2711361" y="2654060"/>
            <a:ext cx="1084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Chang</a:t>
            </a: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4965611" y="2654060"/>
            <a:ext cx="963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Smith</a:t>
            </a: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2576423" y="2044460"/>
            <a:ext cx="6172200" cy="762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7257961" y="2654060"/>
            <a:ext cx="103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60000</a:t>
            </a: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7257961" y="3187460"/>
            <a:ext cx="103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50000</a:t>
            </a: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2728823" y="3187460"/>
            <a:ext cx="57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Ivy</a:t>
            </a: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4965611" y="3187460"/>
            <a:ext cx="963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itchFamily="34" charset="-128"/>
              </a:rPr>
              <a:t>Smith</a:t>
            </a:r>
          </a:p>
        </p:txBody>
      </p:sp>
    </p:spTree>
    <p:extLst>
      <p:ext uri="{BB962C8B-B14F-4D97-AF65-F5344CB8AC3E}">
        <p14:creationId xmlns:p14="http://schemas.microsoft.com/office/powerpoint/2010/main" val="40487875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Неструктурированные данные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Обычно </a:t>
            </a:r>
            <a:r>
              <a:rPr lang="ru-RU" sz="2400" dirty="0" smtClean="0"/>
              <a:t>относятся </a:t>
            </a:r>
            <a:r>
              <a:rPr lang="ru-RU" sz="2400" dirty="0"/>
              <a:t>к свободному тексту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• Позволяет:</a:t>
            </a:r>
            <a:endParaRPr lang="ru-RU" sz="2400" dirty="0"/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Запросы по ключевым словам, включая операторы </a:t>
            </a:r>
            <a:endParaRPr lang="ru-RU" sz="2200" dirty="0" smtClean="0"/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Более сложные "концептуальные" запросы, например,</a:t>
            </a:r>
          </a:p>
          <a:p>
            <a:pPr marL="542925" lvl="2" indent="0">
              <a:buNone/>
            </a:pPr>
            <a:r>
              <a:rPr lang="ru-RU" sz="2000" dirty="0" smtClean="0"/>
              <a:t>• </a:t>
            </a:r>
            <a:r>
              <a:rPr lang="ru-RU" sz="2000" dirty="0"/>
              <a:t>найти все веб-страницы, касающиеся злоупотребления наркотиками</a:t>
            </a:r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Классическая модель для поиска текстовых документов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781679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Полу-структурированные данные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На самом деле почти никакие данные не являются "неструктурированными"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Например, этот слайд имеет четко идентифицированные зоны, </a:t>
            </a:r>
            <a:r>
              <a:rPr lang="ru-RU" sz="2400" dirty="0" smtClean="0"/>
              <a:t>такие как </a:t>
            </a:r>
            <a:r>
              <a:rPr lang="ru-RU" sz="2400" dirty="0"/>
              <a:t>Заголовок и </a:t>
            </a:r>
            <a:r>
              <a:rPr lang="ru-RU" sz="2400" dirty="0" smtClean="0"/>
              <a:t>Пол</a:t>
            </a:r>
            <a:r>
              <a:rPr lang="ru-RU" sz="2400" dirty="0"/>
              <a:t>я</a:t>
            </a:r>
            <a:r>
              <a:rPr lang="ru-RU" sz="2400" dirty="0" smtClean="0"/>
              <a:t> для текста и другие поля.</a:t>
            </a:r>
            <a:endParaRPr lang="ru-RU" sz="2400" dirty="0"/>
          </a:p>
          <a:p>
            <a:pPr marL="276225" lvl="1" indent="0">
              <a:buNone/>
            </a:pPr>
            <a:r>
              <a:rPr lang="ru-RU" sz="2200" dirty="0" smtClean="0"/>
              <a:t> </a:t>
            </a:r>
            <a:r>
              <a:rPr lang="ru-RU" sz="2200" dirty="0"/>
              <a:t>... не говоря уже о лингвистической структуре</a:t>
            </a:r>
          </a:p>
          <a:p>
            <a:pPr marL="0" indent="0">
              <a:buNone/>
            </a:pPr>
            <a:r>
              <a:rPr lang="ru-RU" sz="2400" dirty="0" smtClean="0"/>
              <a:t>• Это облегчает </a:t>
            </a:r>
            <a:r>
              <a:rPr lang="ru-RU" sz="2400" dirty="0"/>
              <a:t>"полу-структурированный" поиск, такой </a:t>
            </a:r>
            <a:r>
              <a:rPr lang="ru-RU" sz="2400" dirty="0" smtClean="0"/>
              <a:t>как </a:t>
            </a:r>
            <a:endParaRPr lang="ru-RU" sz="2400" dirty="0"/>
          </a:p>
          <a:p>
            <a:pPr marL="276225" lvl="1" indent="0">
              <a:buNone/>
            </a:pPr>
            <a:r>
              <a:rPr lang="ru-RU" sz="2200" dirty="0"/>
              <a:t>– Заголовок содержит </a:t>
            </a:r>
            <a:r>
              <a:rPr lang="en-US" sz="2200" u="sng" dirty="0" smtClean="0"/>
              <a:t>data</a:t>
            </a:r>
            <a:r>
              <a:rPr lang="ru-RU" sz="2200" dirty="0" smtClean="0"/>
              <a:t> </a:t>
            </a:r>
            <a:r>
              <a:rPr lang="ru-RU" sz="2200" dirty="0"/>
              <a:t>И </a:t>
            </a:r>
            <a:r>
              <a:rPr lang="ru-RU" sz="2200" dirty="0" smtClean="0"/>
              <a:t>Поле содержит </a:t>
            </a:r>
            <a:r>
              <a:rPr lang="en-US" sz="2200" u="sng" dirty="0" smtClean="0"/>
              <a:t>search</a:t>
            </a:r>
            <a:endParaRPr lang="ru-RU" sz="2200" u="sng" dirty="0"/>
          </a:p>
          <a:p>
            <a:pPr marL="0" indent="0">
              <a:buNone/>
            </a:pPr>
            <a:r>
              <a:rPr lang="ru-RU" sz="2400" dirty="0" smtClean="0"/>
              <a:t>• </a:t>
            </a:r>
            <a:r>
              <a:rPr lang="ru-RU" sz="2400" dirty="0"/>
              <a:t>Или даже</a:t>
            </a:r>
          </a:p>
          <a:p>
            <a:pPr marL="276225" lvl="1" indent="0">
              <a:buNone/>
            </a:pPr>
            <a:r>
              <a:rPr lang="ru-RU" sz="2200" dirty="0" smtClean="0"/>
              <a:t>– </a:t>
            </a:r>
            <a:r>
              <a:rPr lang="ru-RU" sz="2200" dirty="0"/>
              <a:t>Заголовок посвящен </a:t>
            </a:r>
            <a:r>
              <a:rPr lang="ru-RU" sz="2200" u="sng" dirty="0"/>
              <a:t>Объектно-ориентированному программированию </a:t>
            </a:r>
            <a:r>
              <a:rPr lang="ru-RU" sz="2200" dirty="0" smtClean="0"/>
              <a:t>И</a:t>
            </a:r>
            <a:r>
              <a:rPr lang="en-US" sz="2200" dirty="0" smtClean="0"/>
              <a:t> </a:t>
            </a:r>
            <a:r>
              <a:rPr lang="ru-RU" sz="2400" dirty="0" smtClean="0"/>
              <a:t>Автор </a:t>
            </a:r>
            <a:r>
              <a:rPr lang="ru-RU" sz="2400" dirty="0"/>
              <a:t>что-то вроде </a:t>
            </a:r>
            <a:r>
              <a:rPr lang="ru-RU" sz="2400" u="sng" dirty="0" err="1"/>
              <a:t>stro</a:t>
            </a:r>
            <a:r>
              <a:rPr lang="ru-RU" sz="2400" u="sng" dirty="0"/>
              <a:t>*</a:t>
            </a:r>
            <a:r>
              <a:rPr lang="ru-RU" sz="2400" u="sng" dirty="0" err="1"/>
              <a:t>rup</a:t>
            </a:r>
            <a:endParaRPr lang="ru-RU" sz="2400" u="sng" dirty="0"/>
          </a:p>
          <a:p>
            <a:pPr marL="542925" lvl="2" indent="0">
              <a:buNone/>
            </a:pPr>
            <a:r>
              <a:rPr lang="ru-RU" sz="2000" dirty="0" smtClean="0"/>
              <a:t>– </a:t>
            </a:r>
            <a:r>
              <a:rPr lang="ru-RU" sz="2000" dirty="0"/>
              <a:t>где * является оператором подстановки</a:t>
            </a:r>
            <a:endParaRPr lang="ru-RU" sz="20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57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708605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">
            <a:extLst>
              <a:ext uri="{FF2B5EF4-FFF2-40B4-BE49-F238E27FC236}">
                <a16:creationId xmlns:a16="http://schemas.microsoft.com/office/drawing/2014/main" id="{C4330FBA-FEA8-B941-8864-B3DEDDE804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8" name="Надпись 37" descr="Акцент для блока заголовка">
            <a:extLst>
              <a:ext uri="{FF2B5EF4-FFF2-40B4-BE49-F238E27FC236}">
                <a16:creationId xmlns:a16="http://schemas.microsoft.com/office/drawing/2014/main" id="{B231FB9C-F234-41D0-A4CE-8C29A5F2F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54303" y="3842399"/>
            <a:ext cx="846997" cy="2200275"/>
          </a:xfrm>
          <a:custGeom>
            <a:avLst/>
            <a:gdLst>
              <a:gd name="connsiteX0" fmla="*/ 99480 w 846997"/>
              <a:gd name="connsiteY0" fmla="*/ 0 h 2200275"/>
              <a:gd name="connsiteX1" fmla="*/ 846997 w 846997"/>
              <a:gd name="connsiteY1" fmla="*/ 0 h 2200275"/>
              <a:gd name="connsiteX2" fmla="*/ 846997 w 846997"/>
              <a:gd name="connsiteY2" fmla="*/ 2200275 h 2200275"/>
              <a:gd name="connsiteX3" fmla="*/ 99480 w 846997"/>
              <a:gd name="connsiteY3" fmla="*/ 2200275 h 2200275"/>
              <a:gd name="connsiteX4" fmla="*/ 0 w 846997"/>
              <a:gd name="connsiteY4" fmla="*/ 2099942 h 2200275"/>
              <a:gd name="connsiteX5" fmla="*/ 0 w 846997"/>
              <a:gd name="connsiteY5" fmla="*/ 100333 h 2200275"/>
              <a:gd name="connsiteX6" fmla="*/ 99480 w 846997"/>
              <a:gd name="connsiteY6" fmla="*/ 0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997" h="2200275">
                <a:moveTo>
                  <a:pt x="99480" y="0"/>
                </a:moveTo>
                <a:lnTo>
                  <a:pt x="846997" y="0"/>
                </a:lnTo>
                <a:lnTo>
                  <a:pt x="846997" y="2200275"/>
                </a:lnTo>
                <a:lnTo>
                  <a:pt x="99480" y="2200275"/>
                </a:lnTo>
                <a:cubicBezTo>
                  <a:pt x="44539" y="2200275"/>
                  <a:pt x="0" y="2155354"/>
                  <a:pt x="0" y="2099942"/>
                </a:cubicBezTo>
                <a:lnTo>
                  <a:pt x="0" y="100333"/>
                </a:lnTo>
                <a:cubicBezTo>
                  <a:pt x="0" y="44921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5" name="Равнобедренный треугольник 34" descr="Тень для блока заголовка">
            <a:extLst>
              <a:ext uri="{FF2B5EF4-FFF2-40B4-BE49-F238E27FC236}">
                <a16:creationId xmlns:a16="http://schemas.microsoft.com/office/drawing/2014/main" id="{FE193317-B8BD-46CA-B0A6-8A7511B086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59065" y="5556894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2" name="Полилиния 5" descr="Сплошной контрастный блок">
            <a:extLst>
              <a:ext uri="{FF2B5EF4-FFF2-40B4-BE49-F238E27FC236}">
                <a16:creationId xmlns:a16="http://schemas.microsoft.com/office/drawing/2014/main" id="{85E0D4E1-E389-4671-B0E7-165A10A054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257349" y="2355010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3" name="Полилиния 5" descr="Пустой контрастный блок">
            <a:extLst>
              <a:ext uri="{FF2B5EF4-FFF2-40B4-BE49-F238E27FC236}">
                <a16:creationId xmlns:a16="http://schemas.microsoft.com/office/drawing/2014/main" id="{8186FEAF-6E1E-4258-94C3-5C589D4B5A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7C11A64B-7EA5-442C-8405-73273A5331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/>
              <a:t>Спасибо за внимание!</a:t>
            </a:r>
          </a:p>
        </p:txBody>
      </p:sp>
      <p:pic>
        <p:nvPicPr>
          <p:cNvPr id="8" name="Графический объект 7" descr="Пользователь" title="Значок — имя докладчика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678512" y="3859066"/>
            <a:ext cx="218900" cy="2189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ru-RU" sz="1800" dirty="0" smtClean="0"/>
              <a:t>Сергей Ткаченко</a:t>
            </a:r>
            <a:endParaRPr lang="ru-RU" sz="1800" dirty="0"/>
          </a:p>
        </p:txBody>
      </p:sp>
      <p:pic>
        <p:nvPicPr>
          <p:cNvPr id="9" name="Графический объект 8" descr="Конверт" title="Значок — адрес электронной почты докладчика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678512" y="4253359"/>
            <a:ext cx="218900" cy="21890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34849" y="4246905"/>
            <a:ext cx="3521514" cy="288000"/>
          </a:xfrm>
        </p:spPr>
        <p:txBody>
          <a:bodyPr rtlCol="0"/>
          <a:lstStyle/>
          <a:p>
            <a:pPr rtl="0"/>
            <a:r>
              <a:rPr lang="en-US" sz="1800" dirty="0" err="1" smtClean="0"/>
              <a:t>SNTkachenko</a:t>
            </a:r>
            <a:r>
              <a:rPr lang="ru-RU" sz="1800" dirty="0" smtClean="0"/>
              <a:t>@</a:t>
            </a:r>
            <a:r>
              <a:rPr lang="en-US" sz="1800" dirty="0" err="1" smtClean="0"/>
              <a:t>kantiana</a:t>
            </a:r>
            <a:r>
              <a:rPr lang="ru-RU" sz="1800" dirty="0" smtClean="0"/>
              <a:t>.</a:t>
            </a:r>
            <a:r>
              <a:rPr lang="en-US" sz="1800" dirty="0" err="1" smtClean="0"/>
              <a:t>ru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552_TF16411253.potx" id="{484AC4F0-DFB1-44B1-A48A-4A4E5B9BAE55}" vid="{642D7752-446B-4E16-8C1E-EACC99EB30B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8A50AA-654B-45CA-B6AD-FDA9E9535EF9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b0879af-3eba-417a-a55a-ffe6dcd6ca77"/>
    <ds:schemaRef ds:uri="6dc4bcd6-49db-4c07-9060-8acfc67cef9f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D4F06F66-218D-4D1C-873A-158A1848B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Геометрическая презентация</Template>
  <TotalTime>0</TotalTime>
  <Words>2757</Words>
  <Application>Microsoft Office PowerPoint</Application>
  <PresentationFormat>Широкоэкранный</PresentationFormat>
  <Paragraphs>557</Paragraphs>
  <Slides>58</Slides>
  <Notes>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58</vt:i4>
      </vt:variant>
    </vt:vector>
  </HeadingPairs>
  <TitlesOfParts>
    <vt:vector size="72" baseType="lpstr">
      <vt:lpstr>Arial Unicode MS</vt:lpstr>
      <vt:lpstr>ＭＳ Ｐゴシック</vt:lpstr>
      <vt:lpstr>Arial</vt:lpstr>
      <vt:lpstr>Calibri</vt:lpstr>
      <vt:lpstr>Calibri Light</vt:lpstr>
      <vt:lpstr>Corbel</vt:lpstr>
      <vt:lpstr>Lucida Sans</vt:lpstr>
      <vt:lpstr>Symbol</vt:lpstr>
      <vt:lpstr>Tahoma</vt:lpstr>
      <vt:lpstr>Times New Roman</vt:lpstr>
      <vt:lpstr>Wingdings</vt:lpstr>
      <vt:lpstr>Тема Office</vt:lpstr>
      <vt:lpstr>Microsoft Excel Chart</vt:lpstr>
      <vt:lpstr>Worksheet</vt:lpstr>
      <vt:lpstr>Поиск информации</vt:lpstr>
      <vt:lpstr>Основыне определения</vt:lpstr>
      <vt:lpstr>Базовые определения</vt:lpstr>
      <vt:lpstr>Неструктурированные (текстовые) и структурированные (базы данных) данные в середине девяностых</vt:lpstr>
      <vt:lpstr>Неструктурированные (текст) и структурированные (база данных) данные ближе к сегодняшнему дню</vt:lpstr>
      <vt:lpstr>Основные предположения информационного поиска</vt:lpstr>
      <vt:lpstr>Классическая модель поиска</vt:lpstr>
      <vt:lpstr>Насколько хороши найденные документы?</vt:lpstr>
      <vt:lpstr>Матрицы инцидентности терм-документов</vt:lpstr>
      <vt:lpstr>Неструктурированные данные в 1620 году</vt:lpstr>
      <vt:lpstr>Матрицы инцидентности терм-документов</vt:lpstr>
      <vt:lpstr>Векторы инцидентности</vt:lpstr>
      <vt:lpstr>Ответы на запрос</vt:lpstr>
      <vt:lpstr>Большие коллекции</vt:lpstr>
      <vt:lpstr>Такую матрицу нельзя построить</vt:lpstr>
      <vt:lpstr>Инвертированный индекс Ключевая структура данных, лежащая в основе современного ИП</vt:lpstr>
      <vt:lpstr>Инвертированный индекс</vt:lpstr>
      <vt:lpstr>Инвертированный индекс</vt:lpstr>
      <vt:lpstr>Построение инвертированного индекса</vt:lpstr>
      <vt:lpstr>Начальные этапы обработки текста</vt:lpstr>
      <vt:lpstr>Шаги индексатора: Последовательность токенов</vt:lpstr>
      <vt:lpstr>Шаги индексатора: Сортировка</vt:lpstr>
      <vt:lpstr>Шаги индексатора: Словарь и Постинги</vt:lpstr>
      <vt:lpstr>Где мы «расплачиваемся» за хранение данных?</vt:lpstr>
      <vt:lpstr>Обработка запросов с использованием инвертированного индекса</vt:lpstr>
      <vt:lpstr>Только что построенный индекс</vt:lpstr>
      <vt:lpstr>Обработка запросов: И (AND)</vt:lpstr>
      <vt:lpstr>Слияние (merge)</vt:lpstr>
      <vt:lpstr>Пересечение двух списков постингов (алгоритм "слияния")</vt:lpstr>
      <vt:lpstr>Модель булевого поиска и расширенные булевы модели</vt:lpstr>
      <vt:lpstr>Булевы запросы: Точное совпадение</vt:lpstr>
      <vt:lpstr>Пример: WestLaw http://www.westlaw.com/</vt:lpstr>
      <vt:lpstr>Пример: WestLaw http://www.westlaw.com/</vt:lpstr>
      <vt:lpstr>Булевы запросы: Более общие слияния</vt:lpstr>
      <vt:lpstr>Слияние</vt:lpstr>
      <vt:lpstr>Оптимизация запросов</vt:lpstr>
      <vt:lpstr>Пример оптимизации запросов</vt:lpstr>
      <vt:lpstr>Более общая оптимизация</vt:lpstr>
      <vt:lpstr>Пример</vt:lpstr>
      <vt:lpstr>Упражнения по обработке запросов</vt:lpstr>
      <vt:lpstr>Фразовые запросы и позиционные индексы</vt:lpstr>
      <vt:lpstr>Фразовые запросы</vt:lpstr>
      <vt:lpstr>Первая попытка: Индексы бивордов (словосочетаний)</vt:lpstr>
      <vt:lpstr>Длинные фразовые запросы</vt:lpstr>
      <vt:lpstr>Проблемы с индексами бивордов</vt:lpstr>
      <vt:lpstr>Решение 2: Позиционные индексы</vt:lpstr>
      <vt:lpstr>Пример позиционного индекса</vt:lpstr>
      <vt:lpstr>Обработка фразового запроса</vt:lpstr>
      <vt:lpstr>Поисковые запросы по близости</vt:lpstr>
      <vt:lpstr>Размер позиционного индекса</vt:lpstr>
      <vt:lpstr>Размер позиционного индекса</vt:lpstr>
      <vt:lpstr>Эмпирические правила</vt:lpstr>
      <vt:lpstr>Комбинированные схемы</vt:lpstr>
      <vt:lpstr>Структурированные и неструктурированные данные</vt:lpstr>
      <vt:lpstr>ИП против баз данных</vt:lpstr>
      <vt:lpstr>Неструктурированные данные</vt:lpstr>
      <vt:lpstr>Полу-структурированные данные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2025-08-26T15:19:12Z</dcterms:created>
  <dcterms:modified xsi:type="dcterms:W3CDTF">2026-01-20T15:25:09Z</dcterms:modified>
</cp:coreProperties>
</file>