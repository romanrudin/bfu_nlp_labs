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3"/>
  </p:sldMasterIdLst>
  <p:notesMasterIdLst>
    <p:notesMasterId r:id="rId55"/>
  </p:notesMasterIdLst>
  <p:handoutMasterIdLst>
    <p:handoutMasterId r:id="rId56"/>
  </p:handoutMasterIdLst>
  <p:sldIdLst>
    <p:sldId id="282" r:id="rId4"/>
    <p:sldId id="292" r:id="rId5"/>
    <p:sldId id="299" r:id="rId6"/>
    <p:sldId id="399" r:id="rId7"/>
    <p:sldId id="400" r:id="rId8"/>
    <p:sldId id="367" r:id="rId9"/>
    <p:sldId id="302" r:id="rId10"/>
    <p:sldId id="333" r:id="rId11"/>
    <p:sldId id="401" r:id="rId12"/>
    <p:sldId id="303" r:id="rId13"/>
    <p:sldId id="364" r:id="rId14"/>
    <p:sldId id="363" r:id="rId15"/>
    <p:sldId id="365" r:id="rId16"/>
    <p:sldId id="366" r:id="rId17"/>
    <p:sldId id="368" r:id="rId18"/>
    <p:sldId id="369" r:id="rId19"/>
    <p:sldId id="370" r:id="rId20"/>
    <p:sldId id="373" r:id="rId21"/>
    <p:sldId id="374" r:id="rId22"/>
    <p:sldId id="376" r:id="rId23"/>
    <p:sldId id="378" r:id="rId24"/>
    <p:sldId id="379" r:id="rId25"/>
    <p:sldId id="380" r:id="rId26"/>
    <p:sldId id="377" r:id="rId27"/>
    <p:sldId id="385" r:id="rId28"/>
    <p:sldId id="386" r:id="rId29"/>
    <p:sldId id="388" r:id="rId30"/>
    <p:sldId id="387" r:id="rId31"/>
    <p:sldId id="391" r:id="rId32"/>
    <p:sldId id="390" r:id="rId33"/>
    <p:sldId id="402" r:id="rId34"/>
    <p:sldId id="398" r:id="rId35"/>
    <p:sldId id="404" r:id="rId36"/>
    <p:sldId id="405" r:id="rId37"/>
    <p:sldId id="403" r:id="rId38"/>
    <p:sldId id="406" r:id="rId39"/>
    <p:sldId id="329" r:id="rId40"/>
    <p:sldId id="407" r:id="rId41"/>
    <p:sldId id="409" r:id="rId42"/>
    <p:sldId id="410" r:id="rId43"/>
    <p:sldId id="408" r:id="rId44"/>
    <p:sldId id="412" r:id="rId45"/>
    <p:sldId id="411" r:id="rId46"/>
    <p:sldId id="413" r:id="rId47"/>
    <p:sldId id="414" r:id="rId48"/>
    <p:sldId id="415" r:id="rId49"/>
    <p:sldId id="416" r:id="rId50"/>
    <p:sldId id="417" r:id="rId51"/>
    <p:sldId id="418" r:id="rId52"/>
    <p:sldId id="419" r:id="rId53"/>
    <p:sldId id="296" r:id="rId5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31" autoAdjust="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68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F8DD750-E9C8-498E-B02F-A465CB2BB798}" type="datetime1">
              <a:rPr lang="ru-RU" smtClean="0"/>
              <a:t>27.01.2026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7C6E7-B645-4B70-AC63-7A575D94CEB1}" type="datetime1">
              <a:rPr lang="ru-RU" smtClean="0"/>
              <a:pPr/>
              <a:t>27.01.2026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00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4466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8017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51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592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47F3D0-41FC-4430-9F9E-1F78A18D65F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2ED798F6-1F12-46CE-9AFD-CC66555A1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9A70B137-2503-4803-9F56-620A586FA49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название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7CE129D0-CB7B-444C-AF89-B1CB663E3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18374"/>
            <a:ext cx="8687356" cy="6439627"/>
          </a:xfrm>
          <a:custGeom>
            <a:avLst/>
            <a:gdLst>
              <a:gd name="connsiteX0" fmla="*/ 0 w 8687356"/>
              <a:gd name="connsiteY0" fmla="*/ 5592682 h 6439627"/>
              <a:gd name="connsiteX1" fmla="*/ 186296 w 8687356"/>
              <a:gd name="connsiteY1" fmla="*/ 5593149 h 6439627"/>
              <a:gd name="connsiteX2" fmla="*/ 1348900 w 8687356"/>
              <a:gd name="connsiteY2" fmla="*/ 5596063 h 6439627"/>
              <a:gd name="connsiteX3" fmla="*/ 1800991 w 8687356"/>
              <a:gd name="connsiteY3" fmla="*/ 5851702 h 6439627"/>
              <a:gd name="connsiteX4" fmla="*/ 2106366 w 8687356"/>
              <a:gd name="connsiteY4" fmla="*/ 6380627 h 6439627"/>
              <a:gd name="connsiteX5" fmla="*/ 2140430 w 8687356"/>
              <a:gd name="connsiteY5" fmla="*/ 6439627 h 6439627"/>
              <a:gd name="connsiteX6" fmla="*/ 0 w 8687356"/>
              <a:gd name="connsiteY6" fmla="*/ 6439627 h 6439627"/>
              <a:gd name="connsiteX7" fmla="*/ 693821 w 8687356"/>
              <a:gd name="connsiteY7" fmla="*/ 3646328 h 6439627"/>
              <a:gd name="connsiteX8" fmla="*/ 1586357 w 8687356"/>
              <a:gd name="connsiteY8" fmla="*/ 3648566 h 6439627"/>
              <a:gd name="connsiteX9" fmla="*/ 1724950 w 8687356"/>
              <a:gd name="connsiteY9" fmla="*/ 3726935 h 6439627"/>
              <a:gd name="connsiteX10" fmla="*/ 2172189 w 8687356"/>
              <a:gd name="connsiteY10" fmla="*/ 4501577 h 6439627"/>
              <a:gd name="connsiteX11" fmla="*/ 2171729 w 8687356"/>
              <a:gd name="connsiteY11" fmla="*/ 4662459 h 6439627"/>
              <a:gd name="connsiteX12" fmla="*/ 1726432 w 8687356"/>
              <a:gd name="connsiteY12" fmla="*/ 5434863 h 6439627"/>
              <a:gd name="connsiteX13" fmla="*/ 1589746 w 8687356"/>
              <a:gd name="connsiteY13" fmla="*/ 5513779 h 6439627"/>
              <a:gd name="connsiteX14" fmla="*/ 698177 w 8687356"/>
              <a:gd name="connsiteY14" fmla="*/ 5513215 h 6439627"/>
              <a:gd name="connsiteX15" fmla="*/ 558617 w 8687356"/>
              <a:gd name="connsiteY15" fmla="*/ 5433172 h 6439627"/>
              <a:gd name="connsiteX16" fmla="*/ 111378 w 8687356"/>
              <a:gd name="connsiteY16" fmla="*/ 4658531 h 6439627"/>
              <a:gd name="connsiteX17" fmla="*/ 112805 w 8687356"/>
              <a:gd name="connsiteY17" fmla="*/ 4499321 h 6439627"/>
              <a:gd name="connsiteX18" fmla="*/ 557135 w 8687356"/>
              <a:gd name="connsiteY18" fmla="*/ 3725244 h 6439627"/>
              <a:gd name="connsiteX19" fmla="*/ 693821 w 8687356"/>
              <a:gd name="connsiteY19" fmla="*/ 3646328 h 6439627"/>
              <a:gd name="connsiteX20" fmla="*/ 1975378 w 8687356"/>
              <a:gd name="connsiteY20" fmla="*/ 3263784 h 6439627"/>
              <a:gd name="connsiteX21" fmla="*/ 2292917 w 8687356"/>
              <a:gd name="connsiteY21" fmla="*/ 3264581 h 6439627"/>
              <a:gd name="connsiteX22" fmla="*/ 2342225 w 8687356"/>
              <a:gd name="connsiteY22" fmla="*/ 3292462 h 6439627"/>
              <a:gd name="connsiteX23" fmla="*/ 2501341 w 8687356"/>
              <a:gd name="connsiteY23" fmla="*/ 3568059 h 6439627"/>
              <a:gd name="connsiteX24" fmla="*/ 2501177 w 8687356"/>
              <a:gd name="connsiteY24" fmla="*/ 3625297 h 6439627"/>
              <a:gd name="connsiteX25" fmla="*/ 2342753 w 8687356"/>
              <a:gd name="connsiteY25" fmla="*/ 3900096 h 6439627"/>
              <a:gd name="connsiteX26" fmla="*/ 2294123 w 8687356"/>
              <a:gd name="connsiteY26" fmla="*/ 3928173 h 6439627"/>
              <a:gd name="connsiteX27" fmla="*/ 1976927 w 8687356"/>
              <a:gd name="connsiteY27" fmla="*/ 3927972 h 6439627"/>
              <a:gd name="connsiteX28" fmla="*/ 1927275 w 8687356"/>
              <a:gd name="connsiteY28" fmla="*/ 3899495 h 6439627"/>
              <a:gd name="connsiteX29" fmla="*/ 1768160 w 8687356"/>
              <a:gd name="connsiteY29" fmla="*/ 3623899 h 6439627"/>
              <a:gd name="connsiteX30" fmla="*/ 1768668 w 8687356"/>
              <a:gd name="connsiteY30" fmla="*/ 3567256 h 6439627"/>
              <a:gd name="connsiteX31" fmla="*/ 1926748 w 8687356"/>
              <a:gd name="connsiteY31" fmla="*/ 3291861 h 6439627"/>
              <a:gd name="connsiteX32" fmla="*/ 1975378 w 8687356"/>
              <a:gd name="connsiteY32" fmla="*/ 3263784 h 6439627"/>
              <a:gd name="connsiteX33" fmla="*/ 2130702 w 8687356"/>
              <a:gd name="connsiteY33" fmla="*/ 2828022 h 6439627"/>
              <a:gd name="connsiteX34" fmla="*/ 2298374 w 8687356"/>
              <a:gd name="connsiteY34" fmla="*/ 2828442 h 6439627"/>
              <a:gd name="connsiteX35" fmla="*/ 2324410 w 8687356"/>
              <a:gd name="connsiteY35" fmla="*/ 2843165 h 6439627"/>
              <a:gd name="connsiteX36" fmla="*/ 2408429 w 8687356"/>
              <a:gd name="connsiteY36" fmla="*/ 2988689 h 6439627"/>
              <a:gd name="connsiteX37" fmla="*/ 2408342 w 8687356"/>
              <a:gd name="connsiteY37" fmla="*/ 3018913 h 6439627"/>
              <a:gd name="connsiteX38" fmla="*/ 2324689 w 8687356"/>
              <a:gd name="connsiteY38" fmla="*/ 3164017 h 6439627"/>
              <a:gd name="connsiteX39" fmla="*/ 2299011 w 8687356"/>
              <a:gd name="connsiteY39" fmla="*/ 3178842 h 6439627"/>
              <a:gd name="connsiteX40" fmla="*/ 2131520 w 8687356"/>
              <a:gd name="connsiteY40" fmla="*/ 3178736 h 6439627"/>
              <a:gd name="connsiteX41" fmla="*/ 2105302 w 8687356"/>
              <a:gd name="connsiteY41" fmla="*/ 3163699 h 6439627"/>
              <a:gd name="connsiteX42" fmla="*/ 2021284 w 8687356"/>
              <a:gd name="connsiteY42" fmla="*/ 3018175 h 6439627"/>
              <a:gd name="connsiteX43" fmla="*/ 2021552 w 8687356"/>
              <a:gd name="connsiteY43" fmla="*/ 2988265 h 6439627"/>
              <a:gd name="connsiteX44" fmla="*/ 2105024 w 8687356"/>
              <a:gd name="connsiteY44" fmla="*/ 2842847 h 6439627"/>
              <a:gd name="connsiteX45" fmla="*/ 2130702 w 8687356"/>
              <a:gd name="connsiteY45" fmla="*/ 2828022 h 6439627"/>
              <a:gd name="connsiteX46" fmla="*/ 3794942 w 8687356"/>
              <a:gd name="connsiteY46" fmla="*/ 2543905 h 6439627"/>
              <a:gd name="connsiteX47" fmla="*/ 6706383 w 8687356"/>
              <a:gd name="connsiteY47" fmla="*/ 2551204 h 6439627"/>
              <a:gd name="connsiteX48" fmla="*/ 7158474 w 8687356"/>
              <a:gd name="connsiteY48" fmla="*/ 2806842 h 6439627"/>
              <a:gd name="connsiteX49" fmla="*/ 8617364 w 8687356"/>
              <a:gd name="connsiteY49" fmla="*/ 5333715 h 6439627"/>
              <a:gd name="connsiteX50" fmla="*/ 8615859 w 8687356"/>
              <a:gd name="connsiteY50" fmla="*/ 5858514 h 6439627"/>
              <a:gd name="connsiteX51" fmla="*/ 8311811 w 8687356"/>
              <a:gd name="connsiteY51" fmla="*/ 6385912 h 6439627"/>
              <a:gd name="connsiteX52" fmla="*/ 8280844 w 8687356"/>
              <a:gd name="connsiteY52" fmla="*/ 6439627 h 6439627"/>
              <a:gd name="connsiteX53" fmla="*/ 2237916 w 8687356"/>
              <a:gd name="connsiteY53" fmla="*/ 6439627 h 6439627"/>
              <a:gd name="connsiteX54" fmla="*/ 2151815 w 8687356"/>
              <a:gd name="connsiteY54" fmla="*/ 6290497 h 6439627"/>
              <a:gd name="connsiteX55" fmla="*/ 1895013 w 8687356"/>
              <a:gd name="connsiteY55" fmla="*/ 5845703 h 6439627"/>
              <a:gd name="connsiteX56" fmla="*/ 1899669 w 8687356"/>
              <a:gd name="connsiteY56" fmla="*/ 5326361 h 6439627"/>
              <a:gd name="connsiteX57" fmla="*/ 3349069 w 8687356"/>
              <a:gd name="connsiteY57" fmla="*/ 2801330 h 6439627"/>
              <a:gd name="connsiteX58" fmla="*/ 3794942 w 8687356"/>
              <a:gd name="connsiteY58" fmla="*/ 2543905 h 6439627"/>
              <a:gd name="connsiteX59" fmla="*/ 634940 w 8687356"/>
              <a:gd name="connsiteY59" fmla="*/ 2395105 h 6439627"/>
              <a:gd name="connsiteX60" fmla="*/ 1188015 w 8687356"/>
              <a:gd name="connsiteY60" fmla="*/ 2396492 h 6439627"/>
              <a:gd name="connsiteX61" fmla="*/ 1273897 w 8687356"/>
              <a:gd name="connsiteY61" fmla="*/ 2445054 h 6439627"/>
              <a:gd name="connsiteX62" fmla="*/ 1551037 w 8687356"/>
              <a:gd name="connsiteY62" fmla="*/ 2925075 h 6439627"/>
              <a:gd name="connsiteX63" fmla="*/ 1550752 w 8687356"/>
              <a:gd name="connsiteY63" fmla="*/ 3024769 h 6439627"/>
              <a:gd name="connsiteX64" fmla="*/ 1274816 w 8687356"/>
              <a:gd name="connsiteY64" fmla="*/ 3503403 h 6439627"/>
              <a:gd name="connsiteX65" fmla="*/ 1190116 w 8687356"/>
              <a:gd name="connsiteY65" fmla="*/ 3552304 h 6439627"/>
              <a:gd name="connsiteX66" fmla="*/ 637639 w 8687356"/>
              <a:gd name="connsiteY66" fmla="*/ 3551955 h 6439627"/>
              <a:gd name="connsiteX67" fmla="*/ 551158 w 8687356"/>
              <a:gd name="connsiteY67" fmla="*/ 3502355 h 6439627"/>
              <a:gd name="connsiteX68" fmla="*/ 274018 w 8687356"/>
              <a:gd name="connsiteY68" fmla="*/ 3022335 h 6439627"/>
              <a:gd name="connsiteX69" fmla="*/ 274903 w 8687356"/>
              <a:gd name="connsiteY69" fmla="*/ 2923678 h 6439627"/>
              <a:gd name="connsiteX70" fmla="*/ 550240 w 8687356"/>
              <a:gd name="connsiteY70" fmla="*/ 2444007 h 6439627"/>
              <a:gd name="connsiteX71" fmla="*/ 634940 w 8687356"/>
              <a:gd name="connsiteY71" fmla="*/ 2395105 h 6439627"/>
              <a:gd name="connsiteX72" fmla="*/ 2521339 w 8687356"/>
              <a:gd name="connsiteY72" fmla="*/ 1975621 h 6439627"/>
              <a:gd name="connsiteX73" fmla="*/ 2985874 w 8687356"/>
              <a:gd name="connsiteY73" fmla="*/ 1976785 h 6439627"/>
              <a:gd name="connsiteX74" fmla="*/ 3058007 w 8687356"/>
              <a:gd name="connsiteY74" fmla="*/ 2017574 h 6439627"/>
              <a:gd name="connsiteX75" fmla="*/ 3290779 w 8687356"/>
              <a:gd name="connsiteY75" fmla="*/ 2420748 h 6439627"/>
              <a:gd name="connsiteX76" fmla="*/ 3290540 w 8687356"/>
              <a:gd name="connsiteY76" fmla="*/ 2504482 h 6439627"/>
              <a:gd name="connsiteX77" fmla="*/ 3058778 w 8687356"/>
              <a:gd name="connsiteY77" fmla="*/ 2906492 h 6439627"/>
              <a:gd name="connsiteX78" fmla="*/ 2987637 w 8687356"/>
              <a:gd name="connsiteY78" fmla="*/ 2947565 h 6439627"/>
              <a:gd name="connsiteX79" fmla="*/ 2523606 w 8687356"/>
              <a:gd name="connsiteY79" fmla="*/ 2947271 h 6439627"/>
              <a:gd name="connsiteX80" fmla="*/ 2450970 w 8687356"/>
              <a:gd name="connsiteY80" fmla="*/ 2905612 h 6439627"/>
              <a:gd name="connsiteX81" fmla="*/ 2218197 w 8687356"/>
              <a:gd name="connsiteY81" fmla="*/ 2502438 h 6439627"/>
              <a:gd name="connsiteX82" fmla="*/ 2218941 w 8687356"/>
              <a:gd name="connsiteY82" fmla="*/ 2419574 h 6439627"/>
              <a:gd name="connsiteX83" fmla="*/ 2450199 w 8687356"/>
              <a:gd name="connsiteY83" fmla="*/ 2016694 h 6439627"/>
              <a:gd name="connsiteX84" fmla="*/ 2521339 w 8687356"/>
              <a:gd name="connsiteY84" fmla="*/ 1975621 h 6439627"/>
              <a:gd name="connsiteX85" fmla="*/ 3564142 w 8687356"/>
              <a:gd name="connsiteY85" fmla="*/ 34 h 6439627"/>
              <a:gd name="connsiteX86" fmla="*/ 4738405 w 8687356"/>
              <a:gd name="connsiteY86" fmla="*/ 2977 h 6439627"/>
              <a:gd name="connsiteX87" fmla="*/ 4920745 w 8687356"/>
              <a:gd name="connsiteY87" fmla="*/ 106084 h 6439627"/>
              <a:gd name="connsiteX88" fmla="*/ 5509155 w 8687356"/>
              <a:gd name="connsiteY88" fmla="*/ 1125240 h 6439627"/>
              <a:gd name="connsiteX89" fmla="*/ 5508549 w 8687356"/>
              <a:gd name="connsiteY89" fmla="*/ 1336906 h 6439627"/>
              <a:gd name="connsiteX90" fmla="*/ 4922696 w 8687356"/>
              <a:gd name="connsiteY90" fmla="*/ 2353119 h 6439627"/>
              <a:gd name="connsiteX91" fmla="*/ 4742864 w 8687356"/>
              <a:gd name="connsiteY91" fmla="*/ 2456945 h 6439627"/>
              <a:gd name="connsiteX92" fmla="*/ 3569871 w 8687356"/>
              <a:gd name="connsiteY92" fmla="*/ 2456203 h 6439627"/>
              <a:gd name="connsiteX93" fmla="*/ 3386259 w 8687356"/>
              <a:gd name="connsiteY93" fmla="*/ 2350896 h 6439627"/>
              <a:gd name="connsiteX94" fmla="*/ 2797848 w 8687356"/>
              <a:gd name="connsiteY94" fmla="*/ 1331739 h 6439627"/>
              <a:gd name="connsiteX95" fmla="*/ 2799727 w 8687356"/>
              <a:gd name="connsiteY95" fmla="*/ 1122274 h 6439627"/>
              <a:gd name="connsiteX96" fmla="*/ 3384310 w 8687356"/>
              <a:gd name="connsiteY96" fmla="*/ 103860 h 6439627"/>
              <a:gd name="connsiteX97" fmla="*/ 3564142 w 8687356"/>
              <a:gd name="connsiteY97" fmla="*/ 34 h 643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8687356" h="6439627">
                <a:moveTo>
                  <a:pt x="0" y="5592682"/>
                </a:moveTo>
                <a:lnTo>
                  <a:pt x="186296" y="5593149"/>
                </a:lnTo>
                <a:cubicBezTo>
                  <a:pt x="510155" y="5593961"/>
                  <a:pt x="893987" y="5594923"/>
                  <a:pt x="1348900" y="5596063"/>
                </a:cubicBezTo>
                <a:cubicBezTo>
                  <a:pt x="1534387" y="5590847"/>
                  <a:pt x="1709614" y="5693431"/>
                  <a:pt x="1800991" y="5851702"/>
                </a:cubicBezTo>
                <a:cubicBezTo>
                  <a:pt x="1800991" y="5851702"/>
                  <a:pt x="1800991" y="5851702"/>
                  <a:pt x="2106366" y="6380627"/>
                </a:cubicBezTo>
                <a:lnTo>
                  <a:pt x="2140430" y="6439627"/>
                </a:lnTo>
                <a:lnTo>
                  <a:pt x="0" y="6439627"/>
                </a:lnTo>
                <a:close/>
                <a:moveTo>
                  <a:pt x="693821" y="3646328"/>
                </a:moveTo>
                <a:cubicBezTo>
                  <a:pt x="693821" y="3646328"/>
                  <a:pt x="693821" y="3646328"/>
                  <a:pt x="1586357" y="3648566"/>
                </a:cubicBezTo>
                <a:cubicBezTo>
                  <a:pt x="1643220" y="3646968"/>
                  <a:pt x="1696937" y="3678416"/>
                  <a:pt x="1724950" y="3726935"/>
                </a:cubicBezTo>
                <a:cubicBezTo>
                  <a:pt x="1724950" y="3726935"/>
                  <a:pt x="1724950" y="3726935"/>
                  <a:pt x="2172189" y="4501577"/>
                </a:cubicBezTo>
                <a:cubicBezTo>
                  <a:pt x="2201168" y="4551769"/>
                  <a:pt x="2200578" y="4612341"/>
                  <a:pt x="2171729" y="4662459"/>
                </a:cubicBezTo>
                <a:cubicBezTo>
                  <a:pt x="2171729" y="4662459"/>
                  <a:pt x="2171729" y="4662459"/>
                  <a:pt x="1726432" y="5434863"/>
                </a:cubicBezTo>
                <a:cubicBezTo>
                  <a:pt x="1699249" y="5484020"/>
                  <a:pt x="1645909" y="5514815"/>
                  <a:pt x="1589746" y="5513779"/>
                </a:cubicBezTo>
                <a:cubicBezTo>
                  <a:pt x="1589746" y="5513779"/>
                  <a:pt x="1589746" y="5513779"/>
                  <a:pt x="698177" y="5513215"/>
                </a:cubicBezTo>
                <a:cubicBezTo>
                  <a:pt x="640348" y="5513140"/>
                  <a:pt x="587596" y="5483366"/>
                  <a:pt x="558617" y="5433172"/>
                </a:cubicBezTo>
                <a:cubicBezTo>
                  <a:pt x="558617" y="5433172"/>
                  <a:pt x="558617" y="5433172"/>
                  <a:pt x="111378" y="4658531"/>
                </a:cubicBezTo>
                <a:cubicBezTo>
                  <a:pt x="83365" y="4610012"/>
                  <a:pt x="82990" y="4547767"/>
                  <a:pt x="112805" y="4499321"/>
                </a:cubicBezTo>
                <a:cubicBezTo>
                  <a:pt x="112805" y="4499321"/>
                  <a:pt x="112805" y="4499321"/>
                  <a:pt x="557135" y="3725244"/>
                </a:cubicBezTo>
                <a:cubicBezTo>
                  <a:pt x="584319" y="3676088"/>
                  <a:pt x="637659" y="3645292"/>
                  <a:pt x="693821" y="3646328"/>
                </a:cubicBezTo>
                <a:close/>
                <a:moveTo>
                  <a:pt x="1975378" y="3263784"/>
                </a:moveTo>
                <a:cubicBezTo>
                  <a:pt x="1975378" y="3263784"/>
                  <a:pt x="1975378" y="3263784"/>
                  <a:pt x="2292917" y="3264581"/>
                </a:cubicBezTo>
                <a:cubicBezTo>
                  <a:pt x="2313148" y="3264012"/>
                  <a:pt x="2332259" y="3275200"/>
                  <a:pt x="2342225" y="3292462"/>
                </a:cubicBezTo>
                <a:cubicBezTo>
                  <a:pt x="2342225" y="3292462"/>
                  <a:pt x="2342225" y="3292462"/>
                  <a:pt x="2501341" y="3568059"/>
                </a:cubicBezTo>
                <a:cubicBezTo>
                  <a:pt x="2511651" y="3585916"/>
                  <a:pt x="2511441" y="3607466"/>
                  <a:pt x="2501177" y="3625297"/>
                </a:cubicBezTo>
                <a:cubicBezTo>
                  <a:pt x="2501177" y="3625297"/>
                  <a:pt x="2501177" y="3625297"/>
                  <a:pt x="2342753" y="3900096"/>
                </a:cubicBezTo>
                <a:cubicBezTo>
                  <a:pt x="2333082" y="3917585"/>
                  <a:pt x="2314104" y="3928542"/>
                  <a:pt x="2294123" y="3928173"/>
                </a:cubicBezTo>
                <a:cubicBezTo>
                  <a:pt x="2294123" y="3928173"/>
                  <a:pt x="2294123" y="3928173"/>
                  <a:pt x="1976927" y="3927972"/>
                </a:cubicBezTo>
                <a:cubicBezTo>
                  <a:pt x="1956353" y="3927946"/>
                  <a:pt x="1937585" y="3917353"/>
                  <a:pt x="1927275" y="3899495"/>
                </a:cubicBezTo>
                <a:cubicBezTo>
                  <a:pt x="1927275" y="3899495"/>
                  <a:pt x="1927275" y="3899495"/>
                  <a:pt x="1768160" y="3623899"/>
                </a:cubicBezTo>
                <a:cubicBezTo>
                  <a:pt x="1758193" y="3606636"/>
                  <a:pt x="1758060" y="3584492"/>
                  <a:pt x="1768668" y="3567256"/>
                </a:cubicBezTo>
                <a:cubicBezTo>
                  <a:pt x="1768668" y="3567256"/>
                  <a:pt x="1768668" y="3567256"/>
                  <a:pt x="1926748" y="3291861"/>
                </a:cubicBezTo>
                <a:cubicBezTo>
                  <a:pt x="1936419" y="3274372"/>
                  <a:pt x="1955397" y="3263416"/>
                  <a:pt x="1975378" y="3263784"/>
                </a:cubicBezTo>
                <a:close/>
                <a:moveTo>
                  <a:pt x="2130702" y="2828022"/>
                </a:moveTo>
                <a:cubicBezTo>
                  <a:pt x="2130702" y="2828022"/>
                  <a:pt x="2130702" y="2828022"/>
                  <a:pt x="2298374" y="2828442"/>
                </a:cubicBezTo>
                <a:cubicBezTo>
                  <a:pt x="2309057" y="2828143"/>
                  <a:pt x="2319148" y="2834050"/>
                  <a:pt x="2324410" y="2843165"/>
                </a:cubicBezTo>
                <a:cubicBezTo>
                  <a:pt x="2324410" y="2843165"/>
                  <a:pt x="2324410" y="2843165"/>
                  <a:pt x="2408429" y="2988689"/>
                </a:cubicBezTo>
                <a:cubicBezTo>
                  <a:pt x="2413873" y="2998119"/>
                  <a:pt x="2413762" y="3009498"/>
                  <a:pt x="2408342" y="3018913"/>
                </a:cubicBezTo>
                <a:cubicBezTo>
                  <a:pt x="2408342" y="3018913"/>
                  <a:pt x="2408342" y="3018913"/>
                  <a:pt x="2324689" y="3164017"/>
                </a:cubicBezTo>
                <a:cubicBezTo>
                  <a:pt x="2319583" y="3173251"/>
                  <a:pt x="2309561" y="3179037"/>
                  <a:pt x="2299011" y="3178842"/>
                </a:cubicBezTo>
                <a:cubicBezTo>
                  <a:pt x="2299011" y="3178842"/>
                  <a:pt x="2299011" y="3178842"/>
                  <a:pt x="2131520" y="3178736"/>
                </a:cubicBezTo>
                <a:cubicBezTo>
                  <a:pt x="2120657" y="3178722"/>
                  <a:pt x="2110746" y="3173129"/>
                  <a:pt x="2105302" y="3163699"/>
                </a:cubicBezTo>
                <a:cubicBezTo>
                  <a:pt x="2105302" y="3163699"/>
                  <a:pt x="2105302" y="3163699"/>
                  <a:pt x="2021284" y="3018175"/>
                </a:cubicBezTo>
                <a:cubicBezTo>
                  <a:pt x="2016021" y="3009060"/>
                  <a:pt x="2015951" y="2997367"/>
                  <a:pt x="2021552" y="2988265"/>
                </a:cubicBezTo>
                <a:cubicBezTo>
                  <a:pt x="2021552" y="2988265"/>
                  <a:pt x="2021552" y="2988265"/>
                  <a:pt x="2105024" y="2842847"/>
                </a:cubicBezTo>
                <a:cubicBezTo>
                  <a:pt x="2110131" y="2833613"/>
                  <a:pt x="2120152" y="2827827"/>
                  <a:pt x="2130702" y="2828022"/>
                </a:cubicBezTo>
                <a:close/>
                <a:moveTo>
                  <a:pt x="3794942" y="2543905"/>
                </a:moveTo>
                <a:cubicBezTo>
                  <a:pt x="3794942" y="2543905"/>
                  <a:pt x="3794942" y="2543905"/>
                  <a:pt x="6706383" y="2551204"/>
                </a:cubicBezTo>
                <a:cubicBezTo>
                  <a:pt x="6891871" y="2545988"/>
                  <a:pt x="7067096" y="2648572"/>
                  <a:pt x="7158474" y="2806842"/>
                </a:cubicBezTo>
                <a:cubicBezTo>
                  <a:pt x="7158474" y="2806842"/>
                  <a:pt x="7158474" y="2806842"/>
                  <a:pt x="8617364" y="5333715"/>
                </a:cubicBezTo>
                <a:cubicBezTo>
                  <a:pt x="8711893" y="5497443"/>
                  <a:pt x="8709969" y="5695027"/>
                  <a:pt x="8615859" y="5858514"/>
                </a:cubicBezTo>
                <a:cubicBezTo>
                  <a:pt x="8615859" y="5858514"/>
                  <a:pt x="8615859" y="5858514"/>
                  <a:pt x="8311811" y="6385912"/>
                </a:cubicBezTo>
                <a:lnTo>
                  <a:pt x="8280844" y="6439627"/>
                </a:lnTo>
                <a:lnTo>
                  <a:pt x="2237916" y="6439627"/>
                </a:lnTo>
                <a:lnTo>
                  <a:pt x="2151815" y="6290497"/>
                </a:lnTo>
                <a:cubicBezTo>
                  <a:pt x="2071676" y="6151692"/>
                  <a:pt x="1986194" y="6003633"/>
                  <a:pt x="1895013" y="5845703"/>
                </a:cubicBezTo>
                <a:cubicBezTo>
                  <a:pt x="1803636" y="5687432"/>
                  <a:pt x="1802408" y="5484390"/>
                  <a:pt x="1899669" y="5326361"/>
                </a:cubicBezTo>
                <a:cubicBezTo>
                  <a:pt x="1899669" y="5326361"/>
                  <a:pt x="1899669" y="5326361"/>
                  <a:pt x="3349069" y="2801330"/>
                </a:cubicBezTo>
                <a:cubicBezTo>
                  <a:pt x="3437742" y="2640982"/>
                  <a:pt x="3611741" y="2540524"/>
                  <a:pt x="3794942" y="2543905"/>
                </a:cubicBezTo>
                <a:close/>
                <a:moveTo>
                  <a:pt x="634940" y="2395105"/>
                </a:moveTo>
                <a:cubicBezTo>
                  <a:pt x="634940" y="2395105"/>
                  <a:pt x="634940" y="2395105"/>
                  <a:pt x="1188015" y="2396492"/>
                </a:cubicBezTo>
                <a:cubicBezTo>
                  <a:pt x="1223252" y="2395501"/>
                  <a:pt x="1256539" y="2414988"/>
                  <a:pt x="1273897" y="2445054"/>
                </a:cubicBezTo>
                <a:cubicBezTo>
                  <a:pt x="1273897" y="2445054"/>
                  <a:pt x="1273897" y="2445054"/>
                  <a:pt x="1551037" y="2925075"/>
                </a:cubicBezTo>
                <a:cubicBezTo>
                  <a:pt x="1568994" y="2956177"/>
                  <a:pt x="1568629" y="2993712"/>
                  <a:pt x="1550752" y="3024769"/>
                </a:cubicBezTo>
                <a:cubicBezTo>
                  <a:pt x="1550752" y="3024769"/>
                  <a:pt x="1550752" y="3024769"/>
                  <a:pt x="1274816" y="3503403"/>
                </a:cubicBezTo>
                <a:cubicBezTo>
                  <a:pt x="1257971" y="3533863"/>
                  <a:pt x="1224917" y="3552947"/>
                  <a:pt x="1190116" y="3552304"/>
                </a:cubicBezTo>
                <a:cubicBezTo>
                  <a:pt x="1190116" y="3552304"/>
                  <a:pt x="1190116" y="3552304"/>
                  <a:pt x="637639" y="3551955"/>
                </a:cubicBezTo>
                <a:cubicBezTo>
                  <a:pt x="601804" y="3551909"/>
                  <a:pt x="569115" y="3533458"/>
                  <a:pt x="551158" y="3502355"/>
                </a:cubicBezTo>
                <a:cubicBezTo>
                  <a:pt x="551158" y="3502355"/>
                  <a:pt x="551158" y="3502355"/>
                  <a:pt x="274018" y="3022335"/>
                </a:cubicBezTo>
                <a:cubicBezTo>
                  <a:pt x="256660" y="2992269"/>
                  <a:pt x="256426" y="2953698"/>
                  <a:pt x="274903" y="2923678"/>
                </a:cubicBezTo>
                <a:cubicBezTo>
                  <a:pt x="274903" y="2923678"/>
                  <a:pt x="274903" y="2923678"/>
                  <a:pt x="550240" y="2444007"/>
                </a:cubicBezTo>
                <a:cubicBezTo>
                  <a:pt x="567085" y="2413547"/>
                  <a:pt x="600139" y="2394463"/>
                  <a:pt x="634940" y="2395105"/>
                </a:cubicBezTo>
                <a:close/>
                <a:moveTo>
                  <a:pt x="2521339" y="1975621"/>
                </a:moveTo>
                <a:cubicBezTo>
                  <a:pt x="2521339" y="1975621"/>
                  <a:pt x="2521339" y="1975621"/>
                  <a:pt x="2985874" y="1976785"/>
                </a:cubicBezTo>
                <a:cubicBezTo>
                  <a:pt x="3015469" y="1975952"/>
                  <a:pt x="3043427" y="1992321"/>
                  <a:pt x="3058007" y="2017574"/>
                </a:cubicBezTo>
                <a:cubicBezTo>
                  <a:pt x="3058007" y="2017574"/>
                  <a:pt x="3058007" y="2017574"/>
                  <a:pt x="3290779" y="2420748"/>
                </a:cubicBezTo>
                <a:cubicBezTo>
                  <a:pt x="3305862" y="2446871"/>
                  <a:pt x="3305555" y="2478396"/>
                  <a:pt x="3290540" y="2504482"/>
                </a:cubicBezTo>
                <a:cubicBezTo>
                  <a:pt x="3290540" y="2504482"/>
                  <a:pt x="3290540" y="2504482"/>
                  <a:pt x="3058778" y="2906492"/>
                </a:cubicBezTo>
                <a:cubicBezTo>
                  <a:pt x="3044630" y="2932076"/>
                  <a:pt x="3016868" y="2948104"/>
                  <a:pt x="2987637" y="2947565"/>
                </a:cubicBezTo>
                <a:cubicBezTo>
                  <a:pt x="2987637" y="2947565"/>
                  <a:pt x="2987637" y="2947565"/>
                  <a:pt x="2523606" y="2947271"/>
                </a:cubicBezTo>
                <a:cubicBezTo>
                  <a:pt x="2493508" y="2947232"/>
                  <a:pt x="2466052" y="2931735"/>
                  <a:pt x="2450970" y="2905612"/>
                </a:cubicBezTo>
                <a:cubicBezTo>
                  <a:pt x="2450970" y="2905612"/>
                  <a:pt x="2450970" y="2905612"/>
                  <a:pt x="2218197" y="2502438"/>
                </a:cubicBezTo>
                <a:cubicBezTo>
                  <a:pt x="2203617" y="2477185"/>
                  <a:pt x="2203422" y="2444788"/>
                  <a:pt x="2218941" y="2419574"/>
                </a:cubicBezTo>
                <a:cubicBezTo>
                  <a:pt x="2218941" y="2419574"/>
                  <a:pt x="2218941" y="2419574"/>
                  <a:pt x="2450199" y="2016694"/>
                </a:cubicBezTo>
                <a:cubicBezTo>
                  <a:pt x="2464347" y="1991110"/>
                  <a:pt x="2492109" y="1975081"/>
                  <a:pt x="2521339" y="1975621"/>
                </a:cubicBezTo>
                <a:close/>
                <a:moveTo>
                  <a:pt x="3564142" y="34"/>
                </a:moveTo>
                <a:cubicBezTo>
                  <a:pt x="3564142" y="34"/>
                  <a:pt x="3564142" y="34"/>
                  <a:pt x="4738405" y="2977"/>
                </a:cubicBezTo>
                <a:cubicBezTo>
                  <a:pt x="4813218" y="874"/>
                  <a:pt x="4883890" y="42249"/>
                  <a:pt x="4920745" y="106084"/>
                </a:cubicBezTo>
                <a:cubicBezTo>
                  <a:pt x="4920745" y="106084"/>
                  <a:pt x="4920745" y="106084"/>
                  <a:pt x="5509155" y="1125240"/>
                </a:cubicBezTo>
                <a:cubicBezTo>
                  <a:pt x="5547281" y="1191277"/>
                  <a:pt x="5546507" y="1270967"/>
                  <a:pt x="5508549" y="1336906"/>
                </a:cubicBezTo>
                <a:cubicBezTo>
                  <a:pt x="5508549" y="1336906"/>
                  <a:pt x="5508549" y="1336906"/>
                  <a:pt x="4922696" y="2353119"/>
                </a:cubicBezTo>
                <a:cubicBezTo>
                  <a:pt x="4886932" y="2417792"/>
                  <a:pt x="4816753" y="2458309"/>
                  <a:pt x="4742864" y="2456945"/>
                </a:cubicBezTo>
                <a:cubicBezTo>
                  <a:pt x="4742864" y="2456945"/>
                  <a:pt x="4742864" y="2456945"/>
                  <a:pt x="3569871" y="2456203"/>
                </a:cubicBezTo>
                <a:cubicBezTo>
                  <a:pt x="3493788" y="2456106"/>
                  <a:pt x="3424385" y="2416932"/>
                  <a:pt x="3386259" y="2350896"/>
                </a:cubicBezTo>
                <a:cubicBezTo>
                  <a:pt x="3386259" y="2350896"/>
                  <a:pt x="3386259" y="2350896"/>
                  <a:pt x="2797848" y="1331739"/>
                </a:cubicBezTo>
                <a:cubicBezTo>
                  <a:pt x="2760993" y="1267904"/>
                  <a:pt x="2760499" y="1186012"/>
                  <a:pt x="2799727" y="1122274"/>
                </a:cubicBezTo>
                <a:cubicBezTo>
                  <a:pt x="2799727" y="1122274"/>
                  <a:pt x="2799727" y="1122274"/>
                  <a:pt x="3384310" y="103860"/>
                </a:cubicBezTo>
                <a:cubicBezTo>
                  <a:pt x="3420073" y="39188"/>
                  <a:pt x="3490251" y="-1330"/>
                  <a:pt x="3564142" y="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4081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 слайда-разделителя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7300" y="43868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4517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7B7C90C9-77F3-4C3C-97F8-425EF81FB7A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1795125" cy="6858000"/>
          </a:xfrm>
          <a:custGeom>
            <a:avLst/>
            <a:gdLst>
              <a:gd name="connsiteX0" fmla="*/ 4729712 w 11795125"/>
              <a:gd name="connsiteY0" fmla="*/ 4417922 h 6858000"/>
              <a:gd name="connsiteX1" fmla="*/ 7234278 w 11795125"/>
              <a:gd name="connsiteY1" fmla="*/ 4419507 h 6858000"/>
              <a:gd name="connsiteX2" fmla="*/ 7626325 w 11795125"/>
              <a:gd name="connsiteY2" fmla="*/ 4644358 h 6858000"/>
              <a:gd name="connsiteX3" fmla="*/ 8882694 w 11795125"/>
              <a:gd name="connsiteY3" fmla="*/ 6820455 h 6858000"/>
              <a:gd name="connsiteX4" fmla="*/ 8898077 w 11795125"/>
              <a:gd name="connsiteY4" fmla="*/ 6858000 h 6858000"/>
              <a:gd name="connsiteX5" fmla="*/ 3070863 w 11795125"/>
              <a:gd name="connsiteY5" fmla="*/ 6858000 h 6858000"/>
              <a:gd name="connsiteX6" fmla="*/ 3094823 w 11795125"/>
              <a:gd name="connsiteY6" fmla="*/ 6809422 h 6858000"/>
              <a:gd name="connsiteX7" fmla="*/ 4345735 w 11795125"/>
              <a:gd name="connsiteY7" fmla="*/ 4639611 h 6858000"/>
              <a:gd name="connsiteX8" fmla="*/ 4729712 w 11795125"/>
              <a:gd name="connsiteY8" fmla="*/ 4417922 h 6858000"/>
              <a:gd name="connsiteX9" fmla="*/ 2031302 w 11795125"/>
              <a:gd name="connsiteY9" fmla="*/ 2039301 h 6858000"/>
              <a:gd name="connsiteX10" fmla="*/ 2747265 w 11795125"/>
              <a:gd name="connsiteY10" fmla="*/ 2039754 h 6858000"/>
              <a:gd name="connsiteX11" fmla="*/ 2859337 w 11795125"/>
              <a:gd name="connsiteY11" fmla="*/ 2104031 h 6858000"/>
              <a:gd name="connsiteX12" fmla="*/ 3218486 w 11795125"/>
              <a:gd name="connsiteY12" fmla="*/ 2726096 h 6858000"/>
              <a:gd name="connsiteX13" fmla="*/ 3217340 w 11795125"/>
              <a:gd name="connsiteY13" fmla="*/ 2853948 h 6858000"/>
              <a:gd name="connsiteX14" fmla="*/ 2860527 w 11795125"/>
              <a:gd name="connsiteY14" fmla="*/ 3475560 h 6858000"/>
              <a:gd name="connsiteX15" fmla="*/ 2750762 w 11795125"/>
              <a:gd name="connsiteY15" fmla="*/ 3538933 h 6858000"/>
              <a:gd name="connsiteX16" fmla="*/ 2034023 w 11795125"/>
              <a:gd name="connsiteY16" fmla="*/ 3537136 h 6858000"/>
              <a:gd name="connsiteX17" fmla="*/ 1922728 w 11795125"/>
              <a:gd name="connsiteY17" fmla="*/ 3474202 h 6858000"/>
              <a:gd name="connsiteX18" fmla="*/ 1563578 w 11795125"/>
              <a:gd name="connsiteY18" fmla="*/ 2852137 h 6858000"/>
              <a:gd name="connsiteX19" fmla="*/ 1563948 w 11795125"/>
              <a:gd name="connsiteY19" fmla="*/ 2722942 h 6858000"/>
              <a:gd name="connsiteX20" fmla="*/ 1921537 w 11795125"/>
              <a:gd name="connsiteY20" fmla="*/ 2102674 h 6858000"/>
              <a:gd name="connsiteX21" fmla="*/ 2031302 w 11795125"/>
              <a:gd name="connsiteY21" fmla="*/ 2039301 h 6858000"/>
              <a:gd name="connsiteX22" fmla="*/ 9343478 w 11795125"/>
              <a:gd name="connsiteY22" fmla="*/ 1795745 h 6858000"/>
              <a:gd name="connsiteX23" fmla="*/ 11620502 w 11795125"/>
              <a:gd name="connsiteY23" fmla="*/ 1797185 h 6858000"/>
              <a:gd name="connsiteX24" fmla="*/ 11795125 w 11795125"/>
              <a:gd name="connsiteY24" fmla="*/ 1797296 h 6858000"/>
              <a:gd name="connsiteX25" fmla="*/ 11795125 w 11795125"/>
              <a:gd name="connsiteY25" fmla="*/ 6858000 h 6858000"/>
              <a:gd name="connsiteX26" fmla="*/ 8996698 w 11795125"/>
              <a:gd name="connsiteY26" fmla="*/ 6858000 h 6858000"/>
              <a:gd name="connsiteX27" fmla="*/ 8963663 w 11795125"/>
              <a:gd name="connsiteY27" fmla="*/ 6815289 h 6858000"/>
              <a:gd name="connsiteX28" fmla="*/ 7707295 w 11795125"/>
              <a:gd name="connsiteY28" fmla="*/ 4639193 h 6858000"/>
              <a:gd name="connsiteX29" fmla="*/ 7708590 w 11795125"/>
              <a:gd name="connsiteY29" fmla="*/ 4187244 h 6858000"/>
              <a:gd name="connsiteX30" fmla="*/ 8959501 w 11795125"/>
              <a:gd name="connsiteY30" fmla="*/ 2017434 h 6858000"/>
              <a:gd name="connsiteX31" fmla="*/ 9343478 w 11795125"/>
              <a:gd name="connsiteY31" fmla="*/ 1795745 h 6858000"/>
              <a:gd name="connsiteX32" fmla="*/ 3102644 w 11795125"/>
              <a:gd name="connsiteY32" fmla="*/ 1739841 h 6858000"/>
              <a:gd name="connsiteX33" fmla="*/ 3385876 w 11795125"/>
              <a:gd name="connsiteY33" fmla="*/ 1740020 h 6858000"/>
              <a:gd name="connsiteX34" fmla="*/ 3430211 w 11795125"/>
              <a:gd name="connsiteY34" fmla="*/ 1765448 h 6858000"/>
              <a:gd name="connsiteX35" fmla="*/ 3572289 w 11795125"/>
              <a:gd name="connsiteY35" fmla="*/ 2011533 h 6858000"/>
              <a:gd name="connsiteX36" fmla="*/ 3571836 w 11795125"/>
              <a:gd name="connsiteY36" fmla="*/ 2062111 h 6858000"/>
              <a:gd name="connsiteX37" fmla="*/ 3430681 w 11795125"/>
              <a:gd name="connsiteY37" fmla="*/ 2308019 h 6858000"/>
              <a:gd name="connsiteX38" fmla="*/ 3387260 w 11795125"/>
              <a:gd name="connsiteY38" fmla="*/ 2333088 h 6858000"/>
              <a:gd name="connsiteX39" fmla="*/ 3103720 w 11795125"/>
              <a:gd name="connsiteY39" fmla="*/ 2332378 h 6858000"/>
              <a:gd name="connsiteX40" fmla="*/ 3059693 w 11795125"/>
              <a:gd name="connsiteY40" fmla="*/ 2307481 h 6858000"/>
              <a:gd name="connsiteX41" fmla="*/ 2917615 w 11795125"/>
              <a:gd name="connsiteY41" fmla="*/ 2061395 h 6858000"/>
              <a:gd name="connsiteX42" fmla="*/ 2917761 w 11795125"/>
              <a:gd name="connsiteY42" fmla="*/ 2010286 h 6858000"/>
              <a:gd name="connsiteX43" fmla="*/ 3059222 w 11795125"/>
              <a:gd name="connsiteY43" fmla="*/ 1764910 h 6858000"/>
              <a:gd name="connsiteX44" fmla="*/ 3102644 w 11795125"/>
              <a:gd name="connsiteY44" fmla="*/ 1739841 h 6858000"/>
              <a:gd name="connsiteX45" fmla="*/ 3522963 w 11795125"/>
              <a:gd name="connsiteY45" fmla="*/ 1598675 h 6858000"/>
              <a:gd name="connsiteX46" fmla="*/ 3625194 w 11795125"/>
              <a:gd name="connsiteY46" fmla="*/ 1598740 h 6858000"/>
              <a:gd name="connsiteX47" fmla="*/ 3641197 w 11795125"/>
              <a:gd name="connsiteY47" fmla="*/ 1607918 h 6858000"/>
              <a:gd name="connsiteX48" fmla="*/ 3692479 w 11795125"/>
              <a:gd name="connsiteY48" fmla="*/ 1696742 h 6858000"/>
              <a:gd name="connsiteX49" fmla="*/ 3692315 w 11795125"/>
              <a:gd name="connsiteY49" fmla="*/ 1714998 h 6858000"/>
              <a:gd name="connsiteX50" fmla="*/ 3641367 w 11795125"/>
              <a:gd name="connsiteY50" fmla="*/ 1803757 h 6858000"/>
              <a:gd name="connsiteX51" fmla="*/ 3625694 w 11795125"/>
              <a:gd name="connsiteY51" fmla="*/ 1812806 h 6858000"/>
              <a:gd name="connsiteX52" fmla="*/ 3523352 w 11795125"/>
              <a:gd name="connsiteY52" fmla="*/ 1812549 h 6858000"/>
              <a:gd name="connsiteX53" fmla="*/ 3507459 w 11795125"/>
              <a:gd name="connsiteY53" fmla="*/ 1803563 h 6858000"/>
              <a:gd name="connsiteX54" fmla="*/ 3456177 w 11795125"/>
              <a:gd name="connsiteY54" fmla="*/ 1714739 h 6858000"/>
              <a:gd name="connsiteX55" fmla="*/ 3456230 w 11795125"/>
              <a:gd name="connsiteY55" fmla="*/ 1696292 h 6858000"/>
              <a:gd name="connsiteX56" fmla="*/ 3507290 w 11795125"/>
              <a:gd name="connsiteY56" fmla="*/ 1607724 h 6858000"/>
              <a:gd name="connsiteX57" fmla="*/ 3522963 w 11795125"/>
              <a:gd name="connsiteY57" fmla="*/ 1598675 h 6858000"/>
              <a:gd name="connsiteX58" fmla="*/ 4199803 w 11795125"/>
              <a:gd name="connsiteY58" fmla="*/ 1370724 h 6858000"/>
              <a:gd name="connsiteX59" fmla="*/ 4537019 w 11795125"/>
              <a:gd name="connsiteY59" fmla="*/ 1370938 h 6858000"/>
              <a:gd name="connsiteX60" fmla="*/ 4589804 w 11795125"/>
              <a:gd name="connsiteY60" fmla="*/ 1401211 h 6858000"/>
              <a:gd name="connsiteX61" fmla="*/ 4758963 w 11795125"/>
              <a:gd name="connsiteY61" fmla="*/ 1694203 h 6858000"/>
              <a:gd name="connsiteX62" fmla="*/ 4758423 w 11795125"/>
              <a:gd name="connsiteY62" fmla="*/ 1754421 h 6858000"/>
              <a:gd name="connsiteX63" fmla="*/ 4590365 w 11795125"/>
              <a:gd name="connsiteY63" fmla="*/ 2047199 h 6858000"/>
              <a:gd name="connsiteX64" fmla="*/ 4538665 w 11795125"/>
              <a:gd name="connsiteY64" fmla="*/ 2077046 h 6858000"/>
              <a:gd name="connsiteX65" fmla="*/ 4201084 w 11795125"/>
              <a:gd name="connsiteY65" fmla="*/ 2076201 h 6858000"/>
              <a:gd name="connsiteX66" fmla="*/ 4148664 w 11795125"/>
              <a:gd name="connsiteY66" fmla="*/ 2046559 h 6858000"/>
              <a:gd name="connsiteX67" fmla="*/ 3979505 w 11795125"/>
              <a:gd name="connsiteY67" fmla="*/ 1753567 h 6858000"/>
              <a:gd name="connsiteX68" fmla="*/ 3979680 w 11795125"/>
              <a:gd name="connsiteY68" fmla="*/ 1692718 h 6858000"/>
              <a:gd name="connsiteX69" fmla="*/ 4148104 w 11795125"/>
              <a:gd name="connsiteY69" fmla="*/ 1400573 h 6858000"/>
              <a:gd name="connsiteX70" fmla="*/ 4199803 w 11795125"/>
              <a:gd name="connsiteY70" fmla="*/ 1370724 h 6858000"/>
              <a:gd name="connsiteX71" fmla="*/ 3525946 w 11795125"/>
              <a:gd name="connsiteY71" fmla="*/ 1141304 h 6858000"/>
              <a:gd name="connsiteX72" fmla="*/ 3719554 w 11795125"/>
              <a:gd name="connsiteY72" fmla="*/ 1141427 h 6858000"/>
              <a:gd name="connsiteX73" fmla="*/ 3749860 w 11795125"/>
              <a:gd name="connsiteY73" fmla="*/ 1158808 h 6858000"/>
              <a:gd name="connsiteX74" fmla="*/ 3846980 w 11795125"/>
              <a:gd name="connsiteY74" fmla="*/ 1327024 h 6858000"/>
              <a:gd name="connsiteX75" fmla="*/ 3846670 w 11795125"/>
              <a:gd name="connsiteY75" fmla="*/ 1361598 h 6858000"/>
              <a:gd name="connsiteX76" fmla="*/ 3750182 w 11795125"/>
              <a:gd name="connsiteY76" fmla="*/ 1529691 h 6858000"/>
              <a:gd name="connsiteX77" fmla="*/ 3720499 w 11795125"/>
              <a:gd name="connsiteY77" fmla="*/ 1546828 h 6858000"/>
              <a:gd name="connsiteX78" fmla="*/ 3526682 w 11795125"/>
              <a:gd name="connsiteY78" fmla="*/ 1546343 h 6858000"/>
              <a:gd name="connsiteX79" fmla="*/ 3496586 w 11795125"/>
              <a:gd name="connsiteY79" fmla="*/ 1529324 h 6858000"/>
              <a:gd name="connsiteX80" fmla="*/ 3399466 w 11795125"/>
              <a:gd name="connsiteY80" fmla="*/ 1361108 h 6858000"/>
              <a:gd name="connsiteX81" fmla="*/ 3399566 w 11795125"/>
              <a:gd name="connsiteY81" fmla="*/ 1326172 h 6858000"/>
              <a:gd name="connsiteX82" fmla="*/ 3496264 w 11795125"/>
              <a:gd name="connsiteY82" fmla="*/ 1158441 h 6858000"/>
              <a:gd name="connsiteX83" fmla="*/ 3525946 w 11795125"/>
              <a:gd name="connsiteY83" fmla="*/ 1141304 h 6858000"/>
              <a:gd name="connsiteX84" fmla="*/ 3955878 w 11795125"/>
              <a:gd name="connsiteY84" fmla="*/ 173494 h 6858000"/>
              <a:gd name="connsiteX85" fmla="*/ 4500068 w 11795125"/>
              <a:gd name="connsiteY85" fmla="*/ 173838 h 6858000"/>
              <a:gd name="connsiteX86" fmla="*/ 4585252 w 11795125"/>
              <a:gd name="connsiteY86" fmla="*/ 222694 h 6858000"/>
              <a:gd name="connsiteX87" fmla="*/ 4858234 w 11795125"/>
              <a:gd name="connsiteY87" fmla="*/ 695514 h 6858000"/>
              <a:gd name="connsiteX88" fmla="*/ 4857363 w 11795125"/>
              <a:gd name="connsiteY88" fmla="*/ 792690 h 6858000"/>
              <a:gd name="connsiteX89" fmla="*/ 4586156 w 11795125"/>
              <a:gd name="connsiteY89" fmla="*/ 1265167 h 6858000"/>
              <a:gd name="connsiteX90" fmla="*/ 4502727 w 11795125"/>
              <a:gd name="connsiteY90" fmla="*/ 1313334 h 6858000"/>
              <a:gd name="connsiteX91" fmla="*/ 3957947 w 11795125"/>
              <a:gd name="connsiteY91" fmla="*/ 1311968 h 6858000"/>
              <a:gd name="connsiteX92" fmla="*/ 3873354 w 11795125"/>
              <a:gd name="connsiteY92" fmla="*/ 1264134 h 6858000"/>
              <a:gd name="connsiteX93" fmla="*/ 3600372 w 11795125"/>
              <a:gd name="connsiteY93" fmla="*/ 791315 h 6858000"/>
              <a:gd name="connsiteX94" fmla="*/ 3600653 w 11795125"/>
              <a:gd name="connsiteY94" fmla="*/ 693116 h 6858000"/>
              <a:gd name="connsiteX95" fmla="*/ 3872449 w 11795125"/>
              <a:gd name="connsiteY95" fmla="*/ 221662 h 6858000"/>
              <a:gd name="connsiteX96" fmla="*/ 3955878 w 11795125"/>
              <a:gd name="connsiteY96" fmla="*/ 173494 h 6858000"/>
              <a:gd name="connsiteX97" fmla="*/ 3852283 w 11795125"/>
              <a:gd name="connsiteY97" fmla="*/ 0 h 6858000"/>
              <a:gd name="connsiteX98" fmla="*/ 6130031 w 11795125"/>
              <a:gd name="connsiteY98" fmla="*/ 0 h 6858000"/>
              <a:gd name="connsiteX99" fmla="*/ 6102465 w 11795125"/>
              <a:gd name="connsiteY99" fmla="*/ 36730 h 6858000"/>
              <a:gd name="connsiteX100" fmla="*/ 5879948 w 11795125"/>
              <a:gd name="connsiteY100" fmla="*/ 127724 h 6858000"/>
              <a:gd name="connsiteX101" fmla="*/ 4102884 w 11795125"/>
              <a:gd name="connsiteY101" fmla="*/ 123270 h 6858000"/>
              <a:gd name="connsiteX102" fmla="*/ 3877665 w 11795125"/>
              <a:gd name="connsiteY102" fmla="*/ 32818 h 6858000"/>
              <a:gd name="connsiteX103" fmla="*/ 0 w 11795125"/>
              <a:gd name="connsiteY103" fmla="*/ 0 h 6858000"/>
              <a:gd name="connsiteX104" fmla="*/ 3781476 w 11795125"/>
              <a:gd name="connsiteY104" fmla="*/ 0 h 6858000"/>
              <a:gd name="connsiteX105" fmla="*/ 3800985 w 11795125"/>
              <a:gd name="connsiteY105" fmla="*/ 47617 h 6858000"/>
              <a:gd name="connsiteX106" fmla="*/ 3766711 w 11795125"/>
              <a:gd name="connsiteY106" fmla="*/ 287889 h 6858000"/>
              <a:gd name="connsiteX107" fmla="*/ 2882037 w 11795125"/>
              <a:gd name="connsiteY107" fmla="*/ 1829098 h 6858000"/>
              <a:gd name="connsiteX108" fmla="*/ 2609888 w 11795125"/>
              <a:gd name="connsiteY108" fmla="*/ 1986223 h 6858000"/>
              <a:gd name="connsiteX109" fmla="*/ 832823 w 11795125"/>
              <a:gd name="connsiteY109" fmla="*/ 1981768 h 6858000"/>
              <a:gd name="connsiteX110" fmla="*/ 556879 w 11795125"/>
              <a:gd name="connsiteY110" fmla="*/ 1825733 h 6858000"/>
              <a:gd name="connsiteX111" fmla="*/ 79254 w 11795125"/>
              <a:gd name="connsiteY111" fmla="*/ 998462 h 6858000"/>
              <a:gd name="connsiteX112" fmla="*/ 0 w 11795125"/>
              <a:gd name="connsiteY112" fmla="*/ 8611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1795125" h="6858000">
                <a:moveTo>
                  <a:pt x="4729712" y="4417922"/>
                </a:moveTo>
                <a:cubicBezTo>
                  <a:pt x="4729712" y="4417922"/>
                  <a:pt x="4729712" y="4417922"/>
                  <a:pt x="7234278" y="4419507"/>
                </a:cubicBezTo>
                <a:cubicBezTo>
                  <a:pt x="7396730" y="4419716"/>
                  <a:pt x="7544918" y="4503359"/>
                  <a:pt x="7626325" y="4644358"/>
                </a:cubicBezTo>
                <a:cubicBezTo>
                  <a:pt x="7626325" y="4644358"/>
                  <a:pt x="7626325" y="4644358"/>
                  <a:pt x="8882694" y="6820455"/>
                </a:cubicBezTo>
                <a:lnTo>
                  <a:pt x="8898077" y="6858000"/>
                </a:lnTo>
                <a:lnTo>
                  <a:pt x="3070863" y="6858000"/>
                </a:lnTo>
                <a:lnTo>
                  <a:pt x="3094823" y="6809422"/>
                </a:lnTo>
                <a:cubicBezTo>
                  <a:pt x="3094823" y="6809422"/>
                  <a:pt x="3094823" y="6809422"/>
                  <a:pt x="4345735" y="4639611"/>
                </a:cubicBezTo>
                <a:cubicBezTo>
                  <a:pt x="4422097" y="4501523"/>
                  <a:pt x="4571941" y="4415010"/>
                  <a:pt x="4729712" y="4417922"/>
                </a:cubicBezTo>
                <a:close/>
                <a:moveTo>
                  <a:pt x="2031302" y="2039301"/>
                </a:moveTo>
                <a:cubicBezTo>
                  <a:pt x="2031302" y="2039301"/>
                  <a:pt x="2031302" y="2039301"/>
                  <a:pt x="2747265" y="2039754"/>
                </a:cubicBezTo>
                <a:cubicBezTo>
                  <a:pt x="2793703" y="2039814"/>
                  <a:pt x="2836066" y="2063724"/>
                  <a:pt x="2859337" y="2104031"/>
                </a:cubicBezTo>
                <a:cubicBezTo>
                  <a:pt x="2859337" y="2104031"/>
                  <a:pt x="2859337" y="2104031"/>
                  <a:pt x="3218486" y="2726096"/>
                </a:cubicBezTo>
                <a:cubicBezTo>
                  <a:pt x="3240981" y="2765058"/>
                  <a:pt x="3241283" y="2815045"/>
                  <a:pt x="3217340" y="2853948"/>
                </a:cubicBezTo>
                <a:cubicBezTo>
                  <a:pt x="3217340" y="2853948"/>
                  <a:pt x="3217340" y="2853948"/>
                  <a:pt x="2860527" y="3475560"/>
                </a:cubicBezTo>
                <a:cubicBezTo>
                  <a:pt x="2838697" y="3515034"/>
                  <a:pt x="2795862" y="3539765"/>
                  <a:pt x="2750762" y="3538933"/>
                </a:cubicBezTo>
                <a:cubicBezTo>
                  <a:pt x="2750762" y="3538933"/>
                  <a:pt x="2750762" y="3538933"/>
                  <a:pt x="2034023" y="3537136"/>
                </a:cubicBezTo>
                <a:cubicBezTo>
                  <a:pt x="1988359" y="3538420"/>
                  <a:pt x="1945223" y="3513165"/>
                  <a:pt x="1922728" y="3474202"/>
                </a:cubicBezTo>
                <a:cubicBezTo>
                  <a:pt x="1922728" y="3474202"/>
                  <a:pt x="1922728" y="3474202"/>
                  <a:pt x="1563578" y="2852137"/>
                </a:cubicBezTo>
                <a:cubicBezTo>
                  <a:pt x="1540307" y="2811831"/>
                  <a:pt x="1540780" y="2763190"/>
                  <a:pt x="1563948" y="2722942"/>
                </a:cubicBezTo>
                <a:cubicBezTo>
                  <a:pt x="1563948" y="2722942"/>
                  <a:pt x="1563948" y="2722942"/>
                  <a:pt x="1921537" y="2102674"/>
                </a:cubicBezTo>
                <a:cubicBezTo>
                  <a:pt x="1943366" y="2063199"/>
                  <a:pt x="1986202" y="2038468"/>
                  <a:pt x="2031302" y="2039301"/>
                </a:cubicBezTo>
                <a:close/>
                <a:moveTo>
                  <a:pt x="9343478" y="1795745"/>
                </a:moveTo>
                <a:cubicBezTo>
                  <a:pt x="9343478" y="1795745"/>
                  <a:pt x="9343478" y="1795745"/>
                  <a:pt x="11620502" y="1797185"/>
                </a:cubicBezTo>
                <a:lnTo>
                  <a:pt x="11795125" y="1797296"/>
                </a:lnTo>
                <a:lnTo>
                  <a:pt x="11795125" y="6858000"/>
                </a:lnTo>
                <a:lnTo>
                  <a:pt x="8996698" y="6858000"/>
                </a:lnTo>
                <a:lnTo>
                  <a:pt x="8963663" y="6815289"/>
                </a:lnTo>
                <a:cubicBezTo>
                  <a:pt x="8963663" y="6815289"/>
                  <a:pt x="8963663" y="6815289"/>
                  <a:pt x="7707295" y="4639193"/>
                </a:cubicBezTo>
                <a:cubicBezTo>
                  <a:pt x="7625888" y="4498193"/>
                  <a:pt x="7627546" y="4328036"/>
                  <a:pt x="7708590" y="4187244"/>
                </a:cubicBezTo>
                <a:cubicBezTo>
                  <a:pt x="7708590" y="4187244"/>
                  <a:pt x="7708590" y="4187244"/>
                  <a:pt x="8959501" y="2017434"/>
                </a:cubicBezTo>
                <a:cubicBezTo>
                  <a:pt x="9035863" y="1879345"/>
                  <a:pt x="9185707" y="1792833"/>
                  <a:pt x="9343478" y="1795745"/>
                </a:cubicBezTo>
                <a:close/>
                <a:moveTo>
                  <a:pt x="3102644" y="1739841"/>
                </a:moveTo>
                <a:cubicBezTo>
                  <a:pt x="3102644" y="1739841"/>
                  <a:pt x="3102644" y="1739841"/>
                  <a:pt x="3385876" y="1740020"/>
                </a:cubicBezTo>
                <a:cubicBezTo>
                  <a:pt x="3404247" y="1740043"/>
                  <a:pt x="3421005" y="1749503"/>
                  <a:pt x="3430211" y="1765448"/>
                </a:cubicBezTo>
                <a:cubicBezTo>
                  <a:pt x="3430211" y="1765448"/>
                  <a:pt x="3430211" y="1765448"/>
                  <a:pt x="3572289" y="2011533"/>
                </a:cubicBezTo>
                <a:cubicBezTo>
                  <a:pt x="3581188" y="2026948"/>
                  <a:pt x="3581308" y="2046721"/>
                  <a:pt x="3571836" y="2062111"/>
                </a:cubicBezTo>
                <a:cubicBezTo>
                  <a:pt x="3571836" y="2062111"/>
                  <a:pt x="3571836" y="2062111"/>
                  <a:pt x="3430681" y="2308019"/>
                </a:cubicBezTo>
                <a:cubicBezTo>
                  <a:pt x="3422046" y="2323634"/>
                  <a:pt x="3405101" y="2333418"/>
                  <a:pt x="3387260" y="2333088"/>
                </a:cubicBezTo>
                <a:cubicBezTo>
                  <a:pt x="3387260" y="2333088"/>
                  <a:pt x="3387260" y="2333088"/>
                  <a:pt x="3103720" y="2332378"/>
                </a:cubicBezTo>
                <a:cubicBezTo>
                  <a:pt x="3085656" y="2332886"/>
                  <a:pt x="3068592" y="2322895"/>
                  <a:pt x="3059693" y="2307481"/>
                </a:cubicBezTo>
                <a:cubicBezTo>
                  <a:pt x="3059693" y="2307481"/>
                  <a:pt x="3059693" y="2307481"/>
                  <a:pt x="2917615" y="2061395"/>
                </a:cubicBezTo>
                <a:cubicBezTo>
                  <a:pt x="2908409" y="2045450"/>
                  <a:pt x="2908596" y="2026208"/>
                  <a:pt x="2917761" y="2010286"/>
                </a:cubicBezTo>
                <a:cubicBezTo>
                  <a:pt x="2917761" y="2010286"/>
                  <a:pt x="2917761" y="2010286"/>
                  <a:pt x="3059222" y="1764910"/>
                </a:cubicBezTo>
                <a:cubicBezTo>
                  <a:pt x="3067857" y="1749295"/>
                  <a:pt x="3084803" y="1739511"/>
                  <a:pt x="3102644" y="1739841"/>
                </a:cubicBezTo>
                <a:close/>
                <a:moveTo>
                  <a:pt x="3522963" y="1598675"/>
                </a:moveTo>
                <a:cubicBezTo>
                  <a:pt x="3522963" y="1598675"/>
                  <a:pt x="3522963" y="1598675"/>
                  <a:pt x="3625194" y="1598740"/>
                </a:cubicBezTo>
                <a:cubicBezTo>
                  <a:pt x="3631826" y="1598748"/>
                  <a:pt x="3637874" y="1602162"/>
                  <a:pt x="3641197" y="1607918"/>
                </a:cubicBezTo>
                <a:cubicBezTo>
                  <a:pt x="3641197" y="1607918"/>
                  <a:pt x="3641197" y="1607918"/>
                  <a:pt x="3692479" y="1696742"/>
                </a:cubicBezTo>
                <a:cubicBezTo>
                  <a:pt x="3695691" y="1702305"/>
                  <a:pt x="3695735" y="1709443"/>
                  <a:pt x="3692315" y="1714998"/>
                </a:cubicBezTo>
                <a:cubicBezTo>
                  <a:pt x="3692315" y="1714998"/>
                  <a:pt x="3692315" y="1714998"/>
                  <a:pt x="3641367" y="1803757"/>
                </a:cubicBezTo>
                <a:cubicBezTo>
                  <a:pt x="3638250" y="1809393"/>
                  <a:pt x="3632134" y="1812924"/>
                  <a:pt x="3625694" y="1812806"/>
                </a:cubicBezTo>
                <a:cubicBezTo>
                  <a:pt x="3625694" y="1812806"/>
                  <a:pt x="3625694" y="1812806"/>
                  <a:pt x="3523352" y="1812549"/>
                </a:cubicBezTo>
                <a:cubicBezTo>
                  <a:pt x="3516832" y="1812733"/>
                  <a:pt x="3510671" y="1809127"/>
                  <a:pt x="3507459" y="1803563"/>
                </a:cubicBezTo>
                <a:cubicBezTo>
                  <a:pt x="3507459" y="1803563"/>
                  <a:pt x="3507459" y="1803563"/>
                  <a:pt x="3456177" y="1714739"/>
                </a:cubicBezTo>
                <a:cubicBezTo>
                  <a:pt x="3452854" y="1708984"/>
                  <a:pt x="3452922" y="1702038"/>
                  <a:pt x="3456230" y="1696292"/>
                </a:cubicBezTo>
                <a:cubicBezTo>
                  <a:pt x="3456230" y="1696292"/>
                  <a:pt x="3456230" y="1696292"/>
                  <a:pt x="3507290" y="1607724"/>
                </a:cubicBezTo>
                <a:cubicBezTo>
                  <a:pt x="3510406" y="1602087"/>
                  <a:pt x="3516523" y="1598556"/>
                  <a:pt x="3522963" y="1598675"/>
                </a:cubicBezTo>
                <a:close/>
                <a:moveTo>
                  <a:pt x="4199803" y="1370724"/>
                </a:moveTo>
                <a:cubicBezTo>
                  <a:pt x="4199803" y="1370724"/>
                  <a:pt x="4199803" y="1370724"/>
                  <a:pt x="4537019" y="1370938"/>
                </a:cubicBezTo>
                <a:cubicBezTo>
                  <a:pt x="4558892" y="1370965"/>
                  <a:pt x="4578843" y="1382227"/>
                  <a:pt x="4589804" y="1401211"/>
                </a:cubicBezTo>
                <a:cubicBezTo>
                  <a:pt x="4589804" y="1401211"/>
                  <a:pt x="4589804" y="1401211"/>
                  <a:pt x="4758963" y="1694203"/>
                </a:cubicBezTo>
                <a:cubicBezTo>
                  <a:pt x="4769558" y="1712554"/>
                  <a:pt x="4769700" y="1736097"/>
                  <a:pt x="4758423" y="1754421"/>
                </a:cubicBezTo>
                <a:cubicBezTo>
                  <a:pt x="4758423" y="1754421"/>
                  <a:pt x="4758423" y="1754421"/>
                  <a:pt x="4590365" y="2047199"/>
                </a:cubicBezTo>
                <a:cubicBezTo>
                  <a:pt x="4580083" y="2065790"/>
                  <a:pt x="4559908" y="2077438"/>
                  <a:pt x="4538665" y="2077046"/>
                </a:cubicBezTo>
                <a:cubicBezTo>
                  <a:pt x="4538665" y="2077046"/>
                  <a:pt x="4538665" y="2077046"/>
                  <a:pt x="4201084" y="2076201"/>
                </a:cubicBezTo>
                <a:cubicBezTo>
                  <a:pt x="4179577" y="2076805"/>
                  <a:pt x="4159259" y="2064910"/>
                  <a:pt x="4148664" y="2046559"/>
                </a:cubicBezTo>
                <a:cubicBezTo>
                  <a:pt x="4148664" y="2046559"/>
                  <a:pt x="4148664" y="2046559"/>
                  <a:pt x="3979505" y="1753567"/>
                </a:cubicBezTo>
                <a:cubicBezTo>
                  <a:pt x="3968545" y="1734583"/>
                  <a:pt x="3968768" y="1711673"/>
                  <a:pt x="3979680" y="1692718"/>
                </a:cubicBezTo>
                <a:cubicBezTo>
                  <a:pt x="3979680" y="1692718"/>
                  <a:pt x="3979680" y="1692718"/>
                  <a:pt x="4148104" y="1400573"/>
                </a:cubicBezTo>
                <a:cubicBezTo>
                  <a:pt x="4158385" y="1381980"/>
                  <a:pt x="4178560" y="1370332"/>
                  <a:pt x="4199803" y="1370724"/>
                </a:cubicBezTo>
                <a:close/>
                <a:moveTo>
                  <a:pt x="3525946" y="1141304"/>
                </a:moveTo>
                <a:cubicBezTo>
                  <a:pt x="3525946" y="1141304"/>
                  <a:pt x="3525946" y="1141304"/>
                  <a:pt x="3719554" y="1141427"/>
                </a:cubicBezTo>
                <a:cubicBezTo>
                  <a:pt x="3732112" y="1141443"/>
                  <a:pt x="3743567" y="1147909"/>
                  <a:pt x="3749860" y="1158808"/>
                </a:cubicBezTo>
                <a:cubicBezTo>
                  <a:pt x="3749860" y="1158808"/>
                  <a:pt x="3749860" y="1158808"/>
                  <a:pt x="3846980" y="1327024"/>
                </a:cubicBezTo>
                <a:cubicBezTo>
                  <a:pt x="3853063" y="1337561"/>
                  <a:pt x="3853144" y="1351077"/>
                  <a:pt x="3846670" y="1361598"/>
                </a:cubicBezTo>
                <a:cubicBezTo>
                  <a:pt x="3846670" y="1361598"/>
                  <a:pt x="3846670" y="1361598"/>
                  <a:pt x="3750182" y="1529691"/>
                </a:cubicBezTo>
                <a:cubicBezTo>
                  <a:pt x="3744279" y="1540366"/>
                  <a:pt x="3732695" y="1547054"/>
                  <a:pt x="3720499" y="1546828"/>
                </a:cubicBezTo>
                <a:cubicBezTo>
                  <a:pt x="3720499" y="1546828"/>
                  <a:pt x="3720499" y="1546828"/>
                  <a:pt x="3526682" y="1546343"/>
                </a:cubicBezTo>
                <a:cubicBezTo>
                  <a:pt x="3514334" y="1546689"/>
                  <a:pt x="3502669" y="1539861"/>
                  <a:pt x="3496586" y="1529324"/>
                </a:cubicBezTo>
                <a:cubicBezTo>
                  <a:pt x="3496586" y="1529324"/>
                  <a:pt x="3496586" y="1529324"/>
                  <a:pt x="3399466" y="1361108"/>
                </a:cubicBezTo>
                <a:cubicBezTo>
                  <a:pt x="3393173" y="1350208"/>
                  <a:pt x="3393302" y="1337055"/>
                  <a:pt x="3399566" y="1326172"/>
                </a:cubicBezTo>
                <a:cubicBezTo>
                  <a:pt x="3399566" y="1326172"/>
                  <a:pt x="3399566" y="1326172"/>
                  <a:pt x="3496264" y="1158441"/>
                </a:cubicBezTo>
                <a:cubicBezTo>
                  <a:pt x="3502167" y="1147767"/>
                  <a:pt x="3513750" y="1141079"/>
                  <a:pt x="3525946" y="1141304"/>
                </a:cubicBezTo>
                <a:close/>
                <a:moveTo>
                  <a:pt x="3955878" y="173494"/>
                </a:moveTo>
                <a:cubicBezTo>
                  <a:pt x="3955878" y="173494"/>
                  <a:pt x="3955878" y="173494"/>
                  <a:pt x="4500068" y="173838"/>
                </a:cubicBezTo>
                <a:cubicBezTo>
                  <a:pt x="4535365" y="173884"/>
                  <a:pt x="4567564" y="192057"/>
                  <a:pt x="4585252" y="222694"/>
                </a:cubicBezTo>
                <a:cubicBezTo>
                  <a:pt x="4585252" y="222694"/>
                  <a:pt x="4585252" y="222694"/>
                  <a:pt x="4858234" y="695514"/>
                </a:cubicBezTo>
                <a:cubicBezTo>
                  <a:pt x="4875332" y="725128"/>
                  <a:pt x="4875562" y="763121"/>
                  <a:pt x="4857363" y="792690"/>
                </a:cubicBezTo>
                <a:cubicBezTo>
                  <a:pt x="4857363" y="792690"/>
                  <a:pt x="4857363" y="792690"/>
                  <a:pt x="4586156" y="1265167"/>
                </a:cubicBezTo>
                <a:cubicBezTo>
                  <a:pt x="4569564" y="1295169"/>
                  <a:pt x="4537006" y="1313967"/>
                  <a:pt x="4502727" y="1313334"/>
                </a:cubicBezTo>
                <a:cubicBezTo>
                  <a:pt x="4502727" y="1313334"/>
                  <a:pt x="4502727" y="1313334"/>
                  <a:pt x="3957947" y="1311968"/>
                </a:cubicBezTo>
                <a:cubicBezTo>
                  <a:pt x="3923239" y="1312944"/>
                  <a:pt x="3890452" y="1293749"/>
                  <a:pt x="3873354" y="1264134"/>
                </a:cubicBezTo>
                <a:cubicBezTo>
                  <a:pt x="3873354" y="1264134"/>
                  <a:pt x="3873354" y="1264134"/>
                  <a:pt x="3600372" y="791315"/>
                </a:cubicBezTo>
                <a:cubicBezTo>
                  <a:pt x="3582684" y="760678"/>
                  <a:pt x="3583043" y="723707"/>
                  <a:pt x="3600653" y="693116"/>
                </a:cubicBezTo>
                <a:cubicBezTo>
                  <a:pt x="3600653" y="693116"/>
                  <a:pt x="3600653" y="693116"/>
                  <a:pt x="3872449" y="221662"/>
                </a:cubicBezTo>
                <a:cubicBezTo>
                  <a:pt x="3889041" y="191658"/>
                  <a:pt x="3921599" y="172861"/>
                  <a:pt x="3955878" y="173494"/>
                </a:cubicBezTo>
                <a:close/>
                <a:moveTo>
                  <a:pt x="3852283" y="0"/>
                </a:moveTo>
                <a:lnTo>
                  <a:pt x="6130031" y="0"/>
                </a:lnTo>
                <a:lnTo>
                  <a:pt x="6102465" y="36730"/>
                </a:lnTo>
                <a:cubicBezTo>
                  <a:pt x="6044520" y="95168"/>
                  <a:pt x="5963814" y="129272"/>
                  <a:pt x="5879948" y="127724"/>
                </a:cubicBezTo>
                <a:cubicBezTo>
                  <a:pt x="5879948" y="127724"/>
                  <a:pt x="5879948" y="127724"/>
                  <a:pt x="4102884" y="123270"/>
                </a:cubicBezTo>
                <a:cubicBezTo>
                  <a:pt x="4017972" y="125657"/>
                  <a:pt x="3936583" y="91034"/>
                  <a:pt x="3877665" y="32818"/>
                </a:cubicBezTo>
                <a:close/>
                <a:moveTo>
                  <a:pt x="0" y="0"/>
                </a:moveTo>
                <a:lnTo>
                  <a:pt x="3781476" y="0"/>
                </a:lnTo>
                <a:lnTo>
                  <a:pt x="3800985" y="47617"/>
                </a:lnTo>
                <a:cubicBezTo>
                  <a:pt x="3821943" y="127749"/>
                  <a:pt x="3811234" y="215546"/>
                  <a:pt x="3766711" y="287889"/>
                </a:cubicBezTo>
                <a:cubicBezTo>
                  <a:pt x="3766711" y="287889"/>
                  <a:pt x="3766711" y="287889"/>
                  <a:pt x="2882037" y="1829098"/>
                </a:cubicBezTo>
                <a:cubicBezTo>
                  <a:pt x="2827913" y="1926970"/>
                  <a:pt x="2721708" y="1988287"/>
                  <a:pt x="2609888" y="1986223"/>
                </a:cubicBezTo>
                <a:cubicBezTo>
                  <a:pt x="2609888" y="1986223"/>
                  <a:pt x="2609888" y="1986223"/>
                  <a:pt x="832823" y="1981768"/>
                </a:cubicBezTo>
                <a:cubicBezTo>
                  <a:pt x="719607" y="1984952"/>
                  <a:pt x="612654" y="1922338"/>
                  <a:pt x="556879" y="1825733"/>
                </a:cubicBezTo>
                <a:cubicBezTo>
                  <a:pt x="556879" y="1825733"/>
                  <a:pt x="556879" y="1825733"/>
                  <a:pt x="79254" y="998462"/>
                </a:cubicBezTo>
                <a:lnTo>
                  <a:pt x="0" y="861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864000" rtlCol="0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 слайда-разделителя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227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81149" y="1684742"/>
            <a:ext cx="4904790" cy="433376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C64B33BB-8F3A-42CE-BBDA-D08AA326673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282692" y="432000"/>
            <a:ext cx="5511800" cy="5760000"/>
          </a:xfrm>
          <a:custGeom>
            <a:avLst/>
            <a:gdLst>
              <a:gd name="connsiteX0" fmla="*/ 193823 w 5511800"/>
              <a:gd name="connsiteY0" fmla="*/ 0 h 5760000"/>
              <a:gd name="connsiteX1" fmla="*/ 5511800 w 5511800"/>
              <a:gd name="connsiteY1" fmla="*/ 0 h 5760000"/>
              <a:gd name="connsiteX2" fmla="*/ 5511800 w 5511800"/>
              <a:gd name="connsiteY2" fmla="*/ 5760000 h 5760000"/>
              <a:gd name="connsiteX3" fmla="*/ 193823 w 5511800"/>
              <a:gd name="connsiteY3" fmla="*/ 5760000 h 5760000"/>
              <a:gd name="connsiteX4" fmla="*/ 3937 w 5511800"/>
              <a:gd name="connsiteY4" fmla="*/ 5605239 h 5760000"/>
              <a:gd name="connsiteX5" fmla="*/ 0 w 5511800"/>
              <a:gd name="connsiteY5" fmla="*/ 5566186 h 5760000"/>
              <a:gd name="connsiteX6" fmla="*/ 0 w 5511800"/>
              <a:gd name="connsiteY6" fmla="*/ 193814 h 5760000"/>
              <a:gd name="connsiteX7" fmla="*/ 3937 w 5511800"/>
              <a:gd name="connsiteY7" fmla="*/ 154762 h 5760000"/>
              <a:gd name="connsiteX8" fmla="*/ 193823 w 5511800"/>
              <a:gd name="connsiteY8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11800" h="5760000">
                <a:moveTo>
                  <a:pt x="193823" y="0"/>
                </a:moveTo>
                <a:lnTo>
                  <a:pt x="5511800" y="0"/>
                </a:lnTo>
                <a:lnTo>
                  <a:pt x="5511800" y="5760000"/>
                </a:lnTo>
                <a:lnTo>
                  <a:pt x="193823" y="5760000"/>
                </a:lnTo>
                <a:cubicBezTo>
                  <a:pt x="100158" y="5760000"/>
                  <a:pt x="22011" y="5693561"/>
                  <a:pt x="3937" y="5605239"/>
                </a:cubicBezTo>
                <a:lnTo>
                  <a:pt x="0" y="5566186"/>
                </a:lnTo>
                <a:lnTo>
                  <a:pt x="0" y="193814"/>
                </a:lnTo>
                <a:lnTo>
                  <a:pt x="3937" y="154762"/>
                </a:lnTo>
                <a:cubicBezTo>
                  <a:pt x="22011" y="66440"/>
                  <a:pt x="100158" y="0"/>
                  <a:pt x="193823" y="0"/>
                </a:cubicBezTo>
                <a:close/>
              </a:path>
            </a:pathLst>
          </a:custGeom>
        </p:spPr>
        <p:txBody>
          <a:bodyPr wrap="square" tIns="0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62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12170" y="237629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01317B12-44C8-4227-9EB8-973D2226E63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812420" y="117614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1AD2255F-36DA-4BDE-B54D-F94F14B68B6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812419" y="3552739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</p:spTree>
    <p:extLst>
      <p:ext uri="{BB962C8B-B14F-4D97-AF65-F5344CB8AC3E}">
        <p14:creationId xmlns:p14="http://schemas.microsoft.com/office/powerpoint/2010/main" val="282955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5">
            <a:extLst>
              <a:ext uri="{FF2B5EF4-FFF2-40B4-BE49-F238E27FC236}">
                <a16:creationId xmlns:a16="http://schemas.microsoft.com/office/drawing/2014/main" id="{CD92D281-07CD-478F-9BF5-BA7D43439A3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1" name="Полилиния 5">
            <a:extLst>
              <a:ext uri="{FF2B5EF4-FFF2-40B4-BE49-F238E27FC236}">
                <a16:creationId xmlns:a16="http://schemas.microsoft.com/office/drawing/2014/main" id="{B2C53265-8805-42B3-82B4-151EFBC4273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3" name="Полилиния 5">
            <a:extLst>
              <a:ext uri="{FF2B5EF4-FFF2-40B4-BE49-F238E27FC236}">
                <a16:creationId xmlns:a16="http://schemas.microsoft.com/office/drawing/2014/main" id="{D0111EB4-98AF-4EB7-878B-31FD32A9514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4" name="Полилиния 5">
            <a:extLst>
              <a:ext uri="{FF2B5EF4-FFF2-40B4-BE49-F238E27FC236}">
                <a16:creationId xmlns:a16="http://schemas.microsoft.com/office/drawing/2014/main" id="{33809002-30A9-49C0-BE36-B14DD1E4D87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5" name="Полилиния 5">
            <a:extLst>
              <a:ext uri="{FF2B5EF4-FFF2-40B4-BE49-F238E27FC236}">
                <a16:creationId xmlns:a16="http://schemas.microsoft.com/office/drawing/2014/main" id="{FFD5C582-B212-4ADA-AB1B-0481AA39C3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Сравнение слева — заполнитель 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2" name="Сравнение слева — заполнитель 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ольшое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1771313" cy="619125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BC3BEE7-44AC-45BC-B4E7-93E3454EB8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0687" y="5066452"/>
            <a:ext cx="4459766" cy="539345"/>
          </a:xfrm>
          <a:prstGeom prst="roundRect">
            <a:avLst>
              <a:gd name="adj" fmla="val 10086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108000" rIns="180000" bIns="0" rtlCol="0" anchor="t"/>
          <a:lstStyle>
            <a:lvl1pPr algn="l">
              <a:lnSpc>
                <a:spcPct val="100000"/>
              </a:lnSpc>
              <a:defRPr sz="1800" b="0" spc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ru-RU" noProof="0" dirty="0"/>
              <a:t>Введите подпись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благодар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D31C544-1372-4B34-8149-B6058B8CC577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B2598CA-3443-4098-80E7-1F16DC9A13CC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BE421EAA-68E8-4AED-BA2F-01A6AC6685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834640"/>
            <a:ext cx="4459766" cy="2720356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Спасибо за внимание!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D907C852-B0E0-4C2E-88CE-B543605961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4849" y="3859066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Полное имя</a:t>
            </a:r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D84C0BEF-F601-4B10-8AEE-4859FE996B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34849" y="4220189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Номер телефона</a:t>
            </a:r>
          </a:p>
        </p:txBody>
      </p:sp>
      <p:sp>
        <p:nvSpPr>
          <p:cNvPr id="9" name="Текст 7">
            <a:extLst>
              <a:ext uri="{FF2B5EF4-FFF2-40B4-BE49-F238E27FC236}">
                <a16:creationId xmlns:a16="http://schemas.microsoft.com/office/drawing/2014/main" id="{83A6EF9B-EF2F-4949-9CC4-C16BF8DC8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4849" y="4581312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Электронная почта или контакт в социальной сети</a:t>
            </a:r>
          </a:p>
        </p:txBody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BE8CA170-9CA9-448E-B07A-E01AB84F7F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849" y="4942435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Веб-сайт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16328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 столб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7" name="Текст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E81F30-8FC8-4841-8404-4DC79218B945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5" name="Прямоугольник: Скругленные углы 24">
            <a:extLst>
              <a:ext uri="{FF2B5EF4-FFF2-40B4-BE49-F238E27FC236}">
                <a16:creationId xmlns:a16="http://schemas.microsoft.com/office/drawing/2014/main" id="{83D29F65-481C-4C80-BB65-121E5AED26B5}"/>
              </a:ext>
            </a:extLst>
          </p:cNvPr>
          <p:cNvSpPr/>
          <p:nvPr userDrawn="1"/>
        </p:nvSpPr>
        <p:spPr>
          <a:xfrm>
            <a:off x="11844618" y="6249961"/>
            <a:ext cx="230420" cy="460402"/>
          </a:xfrm>
          <a:prstGeom prst="roundRect">
            <a:avLst>
              <a:gd name="adj" fmla="val 7366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C6C03AE-289A-4BCC-971C-3400028C8764}"/>
              </a:ext>
            </a:extLst>
          </p:cNvPr>
          <p:cNvSpPr/>
          <p:nvPr userDrawn="1"/>
        </p:nvSpPr>
        <p:spPr>
          <a:xfrm rot="5400000">
            <a:off x="8694713" y="3406143"/>
            <a:ext cx="6857999" cy="457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1483"/>
            <a:ext cx="5484930" cy="20153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7656" y="6277243"/>
            <a:ext cx="464344" cy="400188"/>
          </a:xfrm>
          <a:prstGeom prst="roundRect">
            <a:avLst>
              <a:gd name="adj" fmla="val 9526"/>
            </a:avLst>
          </a:prstGeom>
          <a:gradFill>
            <a:gsLst>
              <a:gs pos="20000">
                <a:schemeClr val="tx1">
                  <a:lumMod val="75000"/>
                  <a:lumOff val="25000"/>
                </a:schemeClr>
              </a:gs>
              <a:gs pos="82000">
                <a:schemeClr val="tx1"/>
              </a:gs>
            </a:gsLst>
            <a:lin ang="3000000" scaled="0"/>
          </a:gradFill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62" r:id="rId3"/>
    <p:sldLayoutId id="2147483663" r:id="rId4"/>
    <p:sldLayoutId id="2147483658" r:id="rId5"/>
    <p:sldLayoutId id="2147483665" r:id="rId6"/>
    <p:sldLayoutId id="2147483666" r:id="rId7"/>
    <p:sldLayoutId id="2147483659" r:id="rId8"/>
    <p:sldLayoutId id="2147483660" r:id="rId9"/>
    <p:sldLayoutId id="2147483664" r:id="rId10"/>
    <p:sldLayoutId id="2147483650" r:id="rId11"/>
    <p:sldLayoutId id="2147483652" r:id="rId12"/>
    <p:sldLayoutId id="2147483656" r:id="rId13"/>
    <p:sldLayoutId id="2147483657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слайда">
            <a:extLst>
              <a:ext uri="{FF2B5EF4-FFF2-40B4-BE49-F238E27FC236}">
                <a16:creationId xmlns:a16="http://schemas.microsoft.com/office/drawing/2014/main" id="{FE5D908F-BAEF-2843-BC2F-691696E72E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5" name="Надпись 24" descr="Акцент слайда для поля заголовка">
            <a:extLst>
              <a:ext uri="{FF2B5EF4-FFF2-40B4-BE49-F238E27FC236}">
                <a16:creationId xmlns:a16="http://schemas.microsoft.com/office/drawing/2014/main" id="{7EF238CB-AB58-4787-8F9C-A1C16929A2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-1" y="3914775"/>
            <a:ext cx="1481849" cy="2200275"/>
          </a:xfrm>
          <a:custGeom>
            <a:avLst/>
            <a:gdLst>
              <a:gd name="connsiteX0" fmla="*/ 1494549 w 1494549"/>
              <a:gd name="connsiteY0" fmla="*/ 0 h 2200275"/>
              <a:gd name="connsiteX1" fmla="*/ 100333 w 1494549"/>
              <a:gd name="connsiteY1" fmla="*/ 0 h 2200275"/>
              <a:gd name="connsiteX2" fmla="*/ 0 w 1494549"/>
              <a:gd name="connsiteY2" fmla="*/ 100333 h 2200275"/>
              <a:gd name="connsiteX3" fmla="*/ 0 w 1494549"/>
              <a:gd name="connsiteY3" fmla="*/ 2099942 h 2200275"/>
              <a:gd name="connsiteX4" fmla="*/ 100333 w 1494549"/>
              <a:gd name="connsiteY4" fmla="*/ 2200275 h 2200275"/>
              <a:gd name="connsiteX5" fmla="*/ 1494549 w 1494549"/>
              <a:gd name="connsiteY5" fmla="*/ 2200275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4549" h="2200275">
                <a:moveTo>
                  <a:pt x="1494549" y="0"/>
                </a:moveTo>
                <a:lnTo>
                  <a:pt x="100333" y="0"/>
                </a:lnTo>
                <a:cubicBezTo>
                  <a:pt x="44921" y="0"/>
                  <a:pt x="0" y="44921"/>
                  <a:pt x="0" y="100333"/>
                </a:cubicBezTo>
                <a:lnTo>
                  <a:pt x="0" y="2099942"/>
                </a:lnTo>
                <a:cubicBezTo>
                  <a:pt x="0" y="2155354"/>
                  <a:pt x="44921" y="2200275"/>
                  <a:pt x="100333" y="2200275"/>
                </a:cubicBezTo>
                <a:lnTo>
                  <a:pt x="1494549" y="2200275"/>
                </a:ln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93" y="3114635"/>
            <a:ext cx="4459766" cy="2514635"/>
          </a:xfr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</a:gradFill>
          <a:ln>
            <a:solidFill>
              <a:schemeClr val="bg1">
                <a:lumMod val="50000"/>
              </a:schemeClr>
            </a:solidFill>
          </a:ln>
        </p:spPr>
        <p:txBody>
          <a:bodyPr rtlCol="0"/>
          <a:lstStyle/>
          <a:p>
            <a:r>
              <a:rPr lang="ru-RU" dirty="0"/>
              <a:t>Ранжирование и сборка результатов поиска</a:t>
            </a:r>
            <a:endParaRPr lang="ru-RU" sz="5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4420" y="4938518"/>
            <a:ext cx="4000500" cy="690752"/>
          </a:xfrm>
        </p:spPr>
        <p:txBody>
          <a:bodyPr rtlCol="0"/>
          <a:lstStyle/>
          <a:p>
            <a:r>
              <a:rPr lang="ru-RU" dirty="0" smtClean="0"/>
              <a:t>Основы обработки текстов</a:t>
            </a:r>
            <a:endParaRPr lang="ru-RU" dirty="0"/>
          </a:p>
        </p:txBody>
      </p:sp>
      <p:sp>
        <p:nvSpPr>
          <p:cNvPr id="20" name="Равнобедренный треугольник 19" descr="Тень на слайде для поля заголовка">
            <a:extLst>
              <a:ext uri="{FF2B5EF4-FFF2-40B4-BE49-F238E27FC236}">
                <a16:creationId xmlns:a16="http://schemas.microsoft.com/office/drawing/2014/main" id="{545D50A1-D634-4325-B06C-5450FDF7B8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000837" y="562927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слайда-разделителя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Надпись 23" descr="Контрастный элемент для поля заголовка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18" name="Равнобедренный треугольник 17" descr="Тень для поля заголовка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rtl="0"/>
            <a:r>
              <a:rPr lang="ru-RU" sz="5000" dirty="0" smtClean="0"/>
              <a:t>В предыдущей лекции…</a:t>
            </a:r>
            <a:endParaRPr lang="ru-RU" sz="5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15" name="Полилиния 5" descr="Контрастный блок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16" name="Полилиния 5" descr="Пустой контрастный блок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Взвешенный </a:t>
            </a:r>
            <a:r>
              <a:rPr lang="ru-RU" b="1" dirty="0" err="1"/>
              <a:t>tf-idf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/>
              <a:t>▪ Вес </a:t>
            </a:r>
            <a:r>
              <a:rPr lang="ru-RU" sz="3200" dirty="0" err="1"/>
              <a:t>tf-idf</a:t>
            </a:r>
            <a:r>
              <a:rPr lang="ru-RU" sz="3200" dirty="0"/>
              <a:t> термина — это произведение его веса </a:t>
            </a:r>
            <a:r>
              <a:rPr lang="ru-RU" sz="3200" dirty="0" err="1"/>
              <a:t>tf</a:t>
            </a:r>
            <a:r>
              <a:rPr lang="ru-RU" sz="3200" dirty="0"/>
              <a:t> и веса </a:t>
            </a:r>
            <a:r>
              <a:rPr lang="ru-RU" sz="3200" dirty="0" err="1"/>
              <a:t>idf</a:t>
            </a:r>
            <a:endParaRPr lang="ru-RU" sz="3200" dirty="0"/>
          </a:p>
          <a:p>
            <a:pPr marL="0" indent="0">
              <a:buNone/>
            </a:pPr>
            <a:r>
              <a:rPr lang="ru-RU" sz="3200" dirty="0"/>
              <a:t>▪ Наиболее известная схема взвешивания в поиске информации</a:t>
            </a:r>
          </a:p>
          <a:p>
            <a:pPr marL="0" indent="0">
              <a:buNone/>
            </a:pPr>
            <a:r>
              <a:rPr lang="ru-RU" sz="3200" dirty="0"/>
              <a:t>▪ Увеличивается с числом вхождений в документ</a:t>
            </a:r>
          </a:p>
          <a:p>
            <a:pPr marL="0" indent="0">
              <a:buNone/>
            </a:pPr>
            <a:r>
              <a:rPr lang="ru-RU" sz="3200" dirty="0"/>
              <a:t>▪ Увеличивается с редкостью термина в </a:t>
            </a:r>
            <a:r>
              <a:rPr lang="ru-RU" sz="3200" dirty="0" smtClean="0"/>
              <a:t>корпусе</a:t>
            </a:r>
            <a:endParaRPr lang="ru-RU" sz="3200" dirty="0"/>
          </a:p>
          <a:p>
            <a:pPr marL="0" indent="0">
              <a:buNone/>
            </a:pPr>
            <a:endParaRPr lang="ru-RU" sz="3200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328448"/>
              </p:ext>
            </p:extLst>
          </p:nvPr>
        </p:nvGraphicFramePr>
        <p:xfrm>
          <a:off x="2064229" y="3623483"/>
          <a:ext cx="667067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8" name="Equation" r:id="rId3" imgW="2209680" imgH="253800" progId="Equation.3">
                  <p:embed/>
                </p:oleObj>
              </mc:Choice>
              <mc:Fallback>
                <p:oleObj name="Equation" r:id="rId3" imgW="2209680" imgH="253800" progId="Equation.3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229" y="3623483"/>
                        <a:ext cx="6670675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442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Запросы как векторы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/>
              <a:t>▪ Ключевая идея 1: Представить запросы как векторы в этом же пространстве</a:t>
            </a:r>
          </a:p>
          <a:p>
            <a:pPr marL="0" indent="0">
              <a:buNone/>
            </a:pPr>
            <a:r>
              <a:rPr lang="ru-RU" sz="3200" dirty="0"/>
              <a:t>▪ Ключевая идея 2: Ранжировать документы по их близости к запросу</a:t>
            </a:r>
          </a:p>
          <a:p>
            <a:pPr marL="0" indent="0">
              <a:buNone/>
            </a:pPr>
            <a:r>
              <a:rPr lang="ru-RU" sz="3200" dirty="0"/>
              <a:t>▪ близость = сходство векторов</a:t>
            </a:r>
          </a:p>
          <a:p>
            <a:pPr marL="0" indent="0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315391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Косинусное </a:t>
            </a:r>
            <a:r>
              <a:rPr lang="ru-RU" dirty="0"/>
              <a:t>сходство </a:t>
            </a:r>
            <a:r>
              <a:rPr lang="ru-RU" dirty="0" smtClean="0"/>
              <a:t>(запрос, документ)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5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 smtClean="0"/>
              <a:t>▪ </a:t>
            </a:r>
            <a:r>
              <a:rPr lang="ru-RU" sz="3200" dirty="0" err="1"/>
              <a:t>cos</a:t>
            </a:r>
            <a:r>
              <a:rPr lang="ru-RU" sz="3200" dirty="0"/>
              <a:t>(</a:t>
            </a:r>
            <a:r>
              <a:rPr lang="ru-RU" sz="3200" dirty="0" err="1"/>
              <a:t>q,d</a:t>
            </a:r>
            <a:r>
              <a:rPr lang="ru-RU" sz="3200" dirty="0"/>
              <a:t>) — это косинусное сходство запроса и документа</a:t>
            </a:r>
          </a:p>
          <a:p>
            <a:pPr marL="0" indent="0">
              <a:buNone/>
            </a:pPr>
            <a:r>
              <a:rPr lang="ru-RU" sz="3200" dirty="0"/>
              <a:t>▪ Эквивалентно косинусу угла между q и </a:t>
            </a:r>
            <a:r>
              <a:rPr lang="ru-RU" sz="3200" dirty="0" smtClean="0"/>
              <a:t>d</a:t>
            </a:r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endParaRPr lang="ru-RU" sz="3200" dirty="0"/>
          </a:p>
        </p:txBody>
      </p:sp>
      <p:graphicFrame>
        <p:nvGraphicFramePr>
          <p:cNvPr id="6" name="Content Placeholder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383357"/>
              </p:ext>
            </p:extLst>
          </p:nvPr>
        </p:nvGraphicFramePr>
        <p:xfrm>
          <a:off x="2013489" y="2533410"/>
          <a:ext cx="721677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5" name="Equation" r:id="rId3" imgW="2946240" imgH="609480" progId="Equation.3">
                  <p:embed/>
                </p:oleObj>
              </mc:Choice>
              <mc:Fallback>
                <p:oleObj name="Equation" r:id="rId3" imgW="2946240" imgH="609480" progId="Equation.3">
                  <p:embed/>
                  <p:pic>
                    <p:nvPicPr>
                      <p:cNvPr id="3074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489" y="2533410"/>
                        <a:ext cx="7216775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883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Рисунок">
            <a:extLst>
              <a:ext uri="{FF2B5EF4-FFF2-40B4-BE49-F238E27FC236}">
                <a16:creationId xmlns:a16="http://schemas.microsoft.com/office/drawing/2014/main" id="{588C9C3E-7C4B-EA46-9848-A17249AC33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Полилиния 5" descr="Пустой контрастный элемент">
            <a:extLst>
              <a:ext uri="{FF2B5EF4-FFF2-40B4-BE49-F238E27FC236}">
                <a16:creationId xmlns:a16="http://schemas.microsoft.com/office/drawing/2014/main" id="{10117390-DCFE-4FAE-B3FD-DAECFE779A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713227" y="2049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31" name="Надпись 30" descr="Акцент флага для заголовка">
            <a:extLst>
              <a:ext uri="{FF2B5EF4-FFF2-40B4-BE49-F238E27FC236}">
                <a16:creationId xmlns:a16="http://schemas.microsoft.com/office/drawing/2014/main" id="{8FC2E368-898A-440B-A15C-4C5FB13C57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1897242" y="2364840"/>
            <a:ext cx="2494930" cy="3139768"/>
          </a:xfrm>
          <a:custGeom>
            <a:avLst/>
            <a:gdLst>
              <a:gd name="connsiteX0" fmla="*/ 2000924 w 2494930"/>
              <a:gd name="connsiteY0" fmla="*/ 1087415 h 3139768"/>
              <a:gd name="connsiteX1" fmla="*/ 2072963 w 2494930"/>
              <a:gd name="connsiteY1" fmla="*/ 1129282 h 3139768"/>
              <a:gd name="connsiteX2" fmla="*/ 2304085 w 2494930"/>
              <a:gd name="connsiteY2" fmla="*/ 1529014 h 3139768"/>
              <a:gd name="connsiteX3" fmla="*/ 2304085 w 2494930"/>
              <a:gd name="connsiteY3" fmla="*/ 1610754 h 3139768"/>
              <a:gd name="connsiteX4" fmla="*/ 2072963 w 2494930"/>
              <a:gd name="connsiteY4" fmla="*/ 2010486 h 3139768"/>
              <a:gd name="connsiteX5" fmla="*/ 2000924 w 2494930"/>
              <a:gd name="connsiteY5" fmla="*/ 2052353 h 3139768"/>
              <a:gd name="connsiteX6" fmla="*/ 1537679 w 2494930"/>
              <a:gd name="connsiteY6" fmla="*/ 2052353 h 3139768"/>
              <a:gd name="connsiteX7" fmla="*/ 1466641 w 2494930"/>
              <a:gd name="connsiteY7" fmla="*/ 2010486 h 3139768"/>
              <a:gd name="connsiteX8" fmla="*/ 1234518 w 2494930"/>
              <a:gd name="connsiteY8" fmla="*/ 1610754 h 3139768"/>
              <a:gd name="connsiteX9" fmla="*/ 1234518 w 2494930"/>
              <a:gd name="connsiteY9" fmla="*/ 1529014 h 3139768"/>
              <a:gd name="connsiteX10" fmla="*/ 1466641 w 2494930"/>
              <a:gd name="connsiteY10" fmla="*/ 1129282 h 3139768"/>
              <a:gd name="connsiteX11" fmla="*/ 1537679 w 2494930"/>
              <a:gd name="connsiteY11" fmla="*/ 1087415 h 3139768"/>
              <a:gd name="connsiteX12" fmla="*/ 2000924 w 2494930"/>
              <a:gd name="connsiteY12" fmla="*/ 1087415 h 3139768"/>
              <a:gd name="connsiteX13" fmla="*/ 1516872 w 2494930"/>
              <a:gd name="connsiteY13" fmla="*/ 0 h 3139768"/>
              <a:gd name="connsiteX14" fmla="*/ 1481849 w 2494930"/>
              <a:gd name="connsiteY14" fmla="*/ 0 h 3139768"/>
              <a:gd name="connsiteX15" fmla="*/ 1237282 w 2494930"/>
              <a:gd name="connsiteY15" fmla="*/ 0 h 3139768"/>
              <a:gd name="connsiteX16" fmla="*/ 99481 w 2494930"/>
              <a:gd name="connsiteY16" fmla="*/ 0 h 3139768"/>
              <a:gd name="connsiteX17" fmla="*/ 0 w 2494930"/>
              <a:gd name="connsiteY17" fmla="*/ 100333 h 3139768"/>
              <a:gd name="connsiteX18" fmla="*/ 0 w 2494930"/>
              <a:gd name="connsiteY18" fmla="*/ 1039826 h 3139768"/>
              <a:gd name="connsiteX19" fmla="*/ 0 w 2494930"/>
              <a:gd name="connsiteY19" fmla="*/ 2099942 h 3139768"/>
              <a:gd name="connsiteX20" fmla="*/ 0 w 2494930"/>
              <a:gd name="connsiteY20" fmla="*/ 3039435 h 3139768"/>
              <a:gd name="connsiteX21" fmla="*/ 99481 w 2494930"/>
              <a:gd name="connsiteY21" fmla="*/ 3139768 h 3139768"/>
              <a:gd name="connsiteX22" fmla="*/ 1237282 w 2494930"/>
              <a:gd name="connsiteY22" fmla="*/ 3139768 h 3139768"/>
              <a:gd name="connsiteX23" fmla="*/ 1481849 w 2494930"/>
              <a:gd name="connsiteY23" fmla="*/ 3139768 h 3139768"/>
              <a:gd name="connsiteX24" fmla="*/ 1556045 w 2494930"/>
              <a:gd name="connsiteY24" fmla="*/ 3139768 h 3139768"/>
              <a:gd name="connsiteX25" fmla="*/ 1600213 w 2494930"/>
              <a:gd name="connsiteY25" fmla="*/ 3121251 h 3139768"/>
              <a:gd name="connsiteX26" fmla="*/ 1699900 w 2494930"/>
              <a:gd name="connsiteY26" fmla="*/ 3020706 h 3139768"/>
              <a:gd name="connsiteX27" fmla="*/ 2458009 w 2494930"/>
              <a:gd name="connsiteY27" fmla="*/ 1709539 h 3139768"/>
              <a:gd name="connsiteX28" fmla="*/ 2458009 w 2494930"/>
              <a:gd name="connsiteY28" fmla="*/ 1441420 h 3139768"/>
              <a:gd name="connsiteX29" fmla="*/ 1699900 w 2494930"/>
              <a:gd name="connsiteY29" fmla="*/ 130253 h 3139768"/>
              <a:gd name="connsiteX30" fmla="*/ 1535140 w 2494930"/>
              <a:gd name="connsiteY30" fmla="*/ 2427 h 313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94930" h="3139768">
                <a:moveTo>
                  <a:pt x="2000924" y="1087415"/>
                </a:moveTo>
                <a:cubicBezTo>
                  <a:pt x="2030940" y="1087415"/>
                  <a:pt x="2057955" y="1103365"/>
                  <a:pt x="2072963" y="1129282"/>
                </a:cubicBezTo>
                <a:cubicBezTo>
                  <a:pt x="2304085" y="1529014"/>
                  <a:pt x="2304085" y="1529014"/>
                  <a:pt x="2304085" y="1529014"/>
                </a:cubicBezTo>
                <a:cubicBezTo>
                  <a:pt x="2319093" y="1553935"/>
                  <a:pt x="2319093" y="1585834"/>
                  <a:pt x="2304085" y="1610754"/>
                </a:cubicBezTo>
                <a:cubicBezTo>
                  <a:pt x="2072963" y="2010486"/>
                  <a:pt x="2072963" y="2010486"/>
                  <a:pt x="2072963" y="2010486"/>
                </a:cubicBezTo>
                <a:cubicBezTo>
                  <a:pt x="2057955" y="2036404"/>
                  <a:pt x="2030940" y="2052353"/>
                  <a:pt x="2000924" y="2052353"/>
                </a:cubicBezTo>
                <a:cubicBezTo>
                  <a:pt x="1537679" y="2052353"/>
                  <a:pt x="1537679" y="2052353"/>
                  <a:pt x="1537679" y="2052353"/>
                </a:cubicBezTo>
                <a:cubicBezTo>
                  <a:pt x="1508663" y="2052353"/>
                  <a:pt x="1480649" y="2036404"/>
                  <a:pt x="1466641" y="2010486"/>
                </a:cubicBezTo>
                <a:cubicBezTo>
                  <a:pt x="1234518" y="1610754"/>
                  <a:pt x="1234518" y="1610754"/>
                  <a:pt x="1234518" y="1610754"/>
                </a:cubicBezTo>
                <a:cubicBezTo>
                  <a:pt x="1219510" y="1585834"/>
                  <a:pt x="1219510" y="1553935"/>
                  <a:pt x="1234518" y="1529014"/>
                </a:cubicBezTo>
                <a:cubicBezTo>
                  <a:pt x="1466641" y="1129282"/>
                  <a:pt x="1466641" y="1129282"/>
                  <a:pt x="1466641" y="1129282"/>
                </a:cubicBezTo>
                <a:cubicBezTo>
                  <a:pt x="1480649" y="1103365"/>
                  <a:pt x="1508663" y="1087415"/>
                  <a:pt x="1537679" y="1087415"/>
                </a:cubicBezTo>
                <a:cubicBezTo>
                  <a:pt x="2000924" y="1087415"/>
                  <a:pt x="2000924" y="1087415"/>
                  <a:pt x="2000924" y="1087415"/>
                </a:cubicBezTo>
                <a:close/>
                <a:moveTo>
                  <a:pt x="1516872" y="0"/>
                </a:moveTo>
                <a:lnTo>
                  <a:pt x="1481849" y="0"/>
                </a:lnTo>
                <a:lnTo>
                  <a:pt x="1237282" y="0"/>
                </a:lnTo>
                <a:lnTo>
                  <a:pt x="99481" y="0"/>
                </a:lnTo>
                <a:cubicBezTo>
                  <a:pt x="44540" y="0"/>
                  <a:pt x="0" y="44921"/>
                  <a:pt x="0" y="100333"/>
                </a:cubicBezTo>
                <a:lnTo>
                  <a:pt x="0" y="1039826"/>
                </a:lnTo>
                <a:lnTo>
                  <a:pt x="0" y="2099942"/>
                </a:lnTo>
                <a:lnTo>
                  <a:pt x="0" y="3039435"/>
                </a:lnTo>
                <a:cubicBezTo>
                  <a:pt x="0" y="3094847"/>
                  <a:pt x="44540" y="3139768"/>
                  <a:pt x="99481" y="3139768"/>
                </a:cubicBezTo>
                <a:lnTo>
                  <a:pt x="1237282" y="3139768"/>
                </a:lnTo>
                <a:lnTo>
                  <a:pt x="1481849" y="3139768"/>
                </a:lnTo>
                <a:lnTo>
                  <a:pt x="1556045" y="3139768"/>
                </a:lnTo>
                <a:lnTo>
                  <a:pt x="1600213" y="3121251"/>
                </a:lnTo>
                <a:cubicBezTo>
                  <a:pt x="1640826" y="3097545"/>
                  <a:pt x="1675286" y="3063213"/>
                  <a:pt x="1699900" y="3020706"/>
                </a:cubicBezTo>
                <a:cubicBezTo>
                  <a:pt x="1699900" y="3020706"/>
                  <a:pt x="1699900" y="3020706"/>
                  <a:pt x="2458009" y="1709539"/>
                </a:cubicBezTo>
                <a:cubicBezTo>
                  <a:pt x="2507237" y="1627796"/>
                  <a:pt x="2507237" y="1523164"/>
                  <a:pt x="2458009" y="1441420"/>
                </a:cubicBezTo>
                <a:cubicBezTo>
                  <a:pt x="2458009" y="1441420"/>
                  <a:pt x="2458009" y="1441420"/>
                  <a:pt x="1699900" y="130253"/>
                </a:cubicBezTo>
                <a:cubicBezTo>
                  <a:pt x="1662979" y="66493"/>
                  <a:pt x="1603905" y="21126"/>
                  <a:pt x="1535140" y="2427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21" name="Равнобедренный треугольник 20" descr="Акцент тени для заголовка">
            <a:extLst>
              <a:ext uri="{FF2B5EF4-FFF2-40B4-BE49-F238E27FC236}">
                <a16:creationId xmlns:a16="http://schemas.microsoft.com/office/drawing/2014/main" id="{59A98ED3-718C-409B-BC1D-07842F9F58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915924" y="496252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117" y="1816509"/>
            <a:ext cx="4459766" cy="3146839"/>
          </a:xfrm>
        </p:spPr>
        <p:txBody>
          <a:bodyPr rtlCol="0"/>
          <a:lstStyle/>
          <a:p>
            <a:r>
              <a:rPr lang="ru-RU" dirty="0" smtClean="0"/>
              <a:t>Как улучшить ранжированный </a:t>
            </a:r>
            <a:r>
              <a:rPr lang="ru-RU" dirty="0"/>
              <a:t>поиск</a:t>
            </a:r>
            <a:endParaRPr lang="ru-RU" sz="5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</p:spPr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9739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Вычисление косинусных оценок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7</a:t>
            </a:fld>
            <a:endParaRPr lang="ru-RU" noProof="0" dirty="0"/>
          </a:p>
        </p:txBody>
      </p:sp>
      <p:pic>
        <p:nvPicPr>
          <p:cNvPr id="6" name="Content Placeholder 8" descr="cosinescore.gi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98963" y="1207697"/>
            <a:ext cx="7448886" cy="4739169"/>
          </a:xfrm>
        </p:spPr>
      </p:pic>
    </p:spTree>
    <p:extLst>
      <p:ext uri="{BB962C8B-B14F-4D97-AF65-F5344CB8AC3E}">
        <p14:creationId xmlns:p14="http://schemas.microsoft.com/office/powerpoint/2010/main" val="258560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Эффективное косинусное ранжирование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8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000" dirty="0"/>
              <a:t>▪ Найти K документов в коллекции с наибольшим косинусным сходством с запросом</a:t>
            </a:r>
          </a:p>
          <a:p>
            <a:pPr marL="0" indent="0" fontAlgn="base">
              <a:buNone/>
            </a:pPr>
            <a:r>
              <a:rPr lang="ru-RU" sz="3000" dirty="0"/>
              <a:t>▪ Эффективное ранжирование требует:</a:t>
            </a:r>
          </a:p>
          <a:p>
            <a:pPr lvl="2" fontAlgn="base"/>
            <a:r>
              <a:rPr lang="ru-RU" sz="2600" dirty="0" smtClean="0"/>
              <a:t>Быстрого </a:t>
            </a:r>
            <a:r>
              <a:rPr lang="ru-RU" sz="2600" dirty="0"/>
              <a:t>вычисления </a:t>
            </a:r>
            <a:r>
              <a:rPr lang="ru-RU" sz="2600" dirty="0" smtClean="0"/>
              <a:t>косинуса</a:t>
            </a:r>
            <a:endParaRPr lang="ru-RU" sz="2600" dirty="0"/>
          </a:p>
          <a:p>
            <a:pPr lvl="2" fontAlgn="base"/>
            <a:r>
              <a:rPr lang="ru-RU" sz="2600" dirty="0" smtClean="0"/>
              <a:t>Эффективного </a:t>
            </a:r>
            <a:r>
              <a:rPr lang="ru-RU" sz="2600" dirty="0"/>
              <a:t>выбора K наибольших значений</a:t>
            </a:r>
          </a:p>
          <a:p>
            <a:pPr marL="809625" lvl="3" indent="0" fontAlgn="base">
              <a:buNone/>
            </a:pPr>
            <a:r>
              <a:rPr lang="ru-RU" sz="2600" dirty="0"/>
              <a:t>▪ Вопрос: Можно ли это сделать без вычисления всех N косинусов?</a:t>
            </a:r>
          </a:p>
          <a:p>
            <a:pPr marL="0" indent="0" fontAlgn="base">
              <a:buNone/>
            </a:pP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2652812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Эффективное косинусное ранжирование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9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000" dirty="0" smtClean="0"/>
              <a:t>По </a:t>
            </a:r>
            <a:r>
              <a:rPr lang="ru-RU" sz="3000" dirty="0"/>
              <a:t>сути мы решаем задачу K-ближайших соседей для вектора запроса</a:t>
            </a:r>
          </a:p>
          <a:p>
            <a:pPr marL="0" indent="0" fontAlgn="base">
              <a:buNone/>
            </a:pPr>
            <a:r>
              <a:rPr lang="ru-RU" sz="3000" dirty="0" smtClean="0">
                <a:solidFill>
                  <a:srgbClr val="FF0000"/>
                </a:solidFill>
              </a:rPr>
              <a:t>В </a:t>
            </a:r>
            <a:r>
              <a:rPr lang="ru-RU" sz="3000" dirty="0">
                <a:solidFill>
                  <a:srgbClr val="FF0000"/>
                </a:solidFill>
              </a:rPr>
              <a:t>общем случае это неэффективно для пространств большой размерности</a:t>
            </a:r>
          </a:p>
          <a:p>
            <a:pPr marL="0" indent="0" fontAlgn="base">
              <a:buNone/>
            </a:pPr>
            <a:r>
              <a:rPr lang="ru-RU" sz="3000" dirty="0" smtClean="0"/>
              <a:t>Но </a:t>
            </a:r>
            <a:r>
              <a:rPr lang="ru-RU" sz="3000" dirty="0"/>
              <a:t>для коротких запросов это разрешимо, и стандартные индексы это хорошо поддерживают</a:t>
            </a:r>
          </a:p>
          <a:p>
            <a:pPr marL="0" indent="0" fontAlgn="base">
              <a:buNone/>
            </a:pP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2543359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Частный случай </a:t>
            </a:r>
            <a:r>
              <a:rPr lang="ru-RU" b="1" dirty="0" smtClean="0"/>
              <a:t>- </a:t>
            </a:r>
            <a:r>
              <a:rPr lang="ru-RU" b="1" dirty="0"/>
              <a:t>невзвешенные запросы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10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Без </a:t>
            </a:r>
            <a:r>
              <a:rPr lang="ru-RU" sz="3200" dirty="0"/>
              <a:t>взвешивания </a:t>
            </a:r>
            <a:r>
              <a:rPr lang="ru-RU" sz="3200" dirty="0" smtClean="0"/>
              <a:t>терминов </a:t>
            </a:r>
            <a:r>
              <a:rPr lang="ru-RU" sz="3200" dirty="0"/>
              <a:t>в запросе</a:t>
            </a:r>
          </a:p>
          <a:p>
            <a:pPr marL="0" indent="0" fontAlgn="base">
              <a:buNone/>
            </a:pPr>
            <a:r>
              <a:rPr lang="ru-RU" sz="3200" dirty="0" smtClean="0"/>
              <a:t>Предположим </a:t>
            </a:r>
            <a:r>
              <a:rPr lang="ru-RU" sz="3200" dirty="0"/>
              <a:t>каждый термин в запросе встречается только один раз</a:t>
            </a:r>
          </a:p>
          <a:p>
            <a:pPr marL="0" indent="0" fontAlgn="base">
              <a:buNone/>
            </a:pPr>
            <a:r>
              <a:rPr lang="ru-RU" sz="3200" dirty="0" smtClean="0"/>
              <a:t>Тогда </a:t>
            </a:r>
            <a:r>
              <a:rPr lang="ru-RU" sz="3200" dirty="0"/>
              <a:t>для ранжирования не нужно нормализовать вектор </a:t>
            </a:r>
            <a:r>
              <a:rPr lang="ru-RU" sz="3200" dirty="0" smtClean="0"/>
              <a:t>запроса</a:t>
            </a:r>
          </a:p>
          <a:p>
            <a:pPr marL="0" indent="0" fontAlgn="base">
              <a:buNone/>
            </a:pPr>
            <a:r>
              <a:rPr lang="ru-RU" sz="3200" dirty="0" smtClean="0"/>
              <a:t>Получаем небольшое </a:t>
            </a:r>
            <a:r>
              <a:rPr lang="ru-RU" sz="3200" dirty="0"/>
              <a:t>упрощение алгоритма</a:t>
            </a:r>
          </a:p>
        </p:txBody>
      </p:sp>
    </p:spTree>
    <p:extLst>
      <p:ext uri="{BB962C8B-B14F-4D97-AF65-F5344CB8AC3E}">
        <p14:creationId xmlns:p14="http://schemas.microsoft.com/office/powerpoint/2010/main" val="278803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Вычисление K наибольших косинусов: выбор </a:t>
            </a:r>
            <a:r>
              <a:rPr lang="ru-RU" b="1" dirty="0" err="1"/>
              <a:t>vs</a:t>
            </a:r>
            <a:r>
              <a:rPr lang="ru-RU" b="1" dirty="0"/>
              <a:t> сортировка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11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Обычно </a:t>
            </a:r>
            <a:r>
              <a:rPr lang="ru-RU" sz="3200" dirty="0"/>
              <a:t>нужно получить топ K документов (по косинусному ранжированию)</a:t>
            </a:r>
          </a:p>
          <a:p>
            <a:pPr marL="276225" lvl="1" indent="0" fontAlgn="base">
              <a:buNone/>
            </a:pPr>
            <a:r>
              <a:rPr lang="ru-RU" sz="3000" dirty="0" smtClean="0"/>
              <a:t>А </a:t>
            </a:r>
            <a:r>
              <a:rPr lang="ru-RU" sz="3000" dirty="0"/>
              <a:t>не полностью упорядочить все документы в коллекции</a:t>
            </a:r>
          </a:p>
          <a:p>
            <a:pPr marL="0" indent="0" fontAlgn="base">
              <a:buNone/>
            </a:pPr>
            <a:r>
              <a:rPr lang="ru-RU" sz="3200" dirty="0" smtClean="0">
                <a:solidFill>
                  <a:srgbClr val="FF0000"/>
                </a:solidFill>
              </a:rPr>
              <a:t>Можно </a:t>
            </a:r>
            <a:r>
              <a:rPr lang="ru-RU" sz="3200" dirty="0">
                <a:solidFill>
                  <a:srgbClr val="FF0000"/>
                </a:solidFill>
              </a:rPr>
              <a:t>ли отобрать документы с K наибольшими косинусами?</a:t>
            </a:r>
          </a:p>
          <a:p>
            <a:pPr marL="0" indent="0" fontAlgn="base">
              <a:buNone/>
            </a:pPr>
            <a:r>
              <a:rPr lang="ru-RU" sz="3200" dirty="0" smtClean="0"/>
              <a:t>Пусть </a:t>
            </a:r>
            <a:r>
              <a:rPr lang="ru-RU" sz="3200" dirty="0"/>
              <a:t>J = число документов с ненулевыми косинусами</a:t>
            </a:r>
          </a:p>
          <a:p>
            <a:pPr marL="276225" lvl="1" indent="0" fontAlgn="base">
              <a:buNone/>
            </a:pPr>
            <a:r>
              <a:rPr lang="ru-RU" sz="3000" dirty="0" smtClean="0"/>
              <a:t>Нужны </a:t>
            </a:r>
            <a:r>
              <a:rPr lang="ru-RU" sz="3000" dirty="0"/>
              <a:t>K лучших из этих J</a:t>
            </a:r>
          </a:p>
        </p:txBody>
      </p:sp>
    </p:spTree>
    <p:extLst>
      <p:ext uri="{BB962C8B-B14F-4D97-AF65-F5344CB8AC3E}">
        <p14:creationId xmlns:p14="http://schemas.microsoft.com/office/powerpoint/2010/main" val="2237055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Использование кучи (</a:t>
            </a:r>
            <a:r>
              <a:rPr lang="ru-RU" b="1" dirty="0" err="1"/>
              <a:t>heap</a:t>
            </a:r>
            <a:r>
              <a:rPr lang="ru-RU" b="1" dirty="0"/>
              <a:t>) для выбора топ K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12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Двоичное </a:t>
            </a:r>
            <a:r>
              <a:rPr lang="ru-RU" sz="3200" dirty="0"/>
              <a:t>дерево, где значение каждого узла &gt; значений его потомков</a:t>
            </a:r>
          </a:p>
          <a:p>
            <a:pPr marL="0" indent="0" fontAlgn="base">
              <a:buNone/>
            </a:pPr>
            <a:r>
              <a:rPr lang="ru-RU" sz="3200" dirty="0" smtClean="0"/>
              <a:t>Построение</a:t>
            </a:r>
            <a:r>
              <a:rPr lang="ru-RU" sz="3200" dirty="0"/>
              <a:t>: 2J операций, затем каждый из K "победителей" извлекается за 2log J шагов</a:t>
            </a:r>
          </a:p>
          <a:p>
            <a:pPr marL="0" indent="0" fontAlgn="base">
              <a:buNone/>
            </a:pPr>
            <a:r>
              <a:rPr lang="ru-RU" sz="3200" dirty="0" smtClean="0"/>
              <a:t>Для </a:t>
            </a:r>
            <a:r>
              <a:rPr lang="ru-RU" sz="3200" dirty="0"/>
              <a:t>J=1M, K=100 это примерно 10% </a:t>
            </a:r>
            <a:r>
              <a:rPr lang="ru-RU" sz="3200" dirty="0" smtClean="0"/>
              <a:t>«стоимости» </a:t>
            </a:r>
            <a:r>
              <a:rPr lang="ru-RU" sz="3200" dirty="0"/>
              <a:t>сортировки</a:t>
            </a:r>
          </a:p>
        </p:txBody>
      </p:sp>
      <p:grpSp>
        <p:nvGrpSpPr>
          <p:cNvPr id="3" name="Группа 2"/>
          <p:cNvGrpSpPr/>
          <p:nvPr/>
        </p:nvGrpSpPr>
        <p:grpSpPr>
          <a:xfrm>
            <a:off x="6551762" y="3711035"/>
            <a:ext cx="2057400" cy="2374900"/>
            <a:chOff x="6551762" y="3711035"/>
            <a:chExt cx="2057400" cy="2374900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7618562" y="3876135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itchFamily="2" charset="-122"/>
                </a:rPr>
                <a:t>1</a:t>
              </a: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7161362" y="4409535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itchFamily="2" charset="-122"/>
                </a:rPr>
                <a:t>.9</a:t>
              </a:r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8151962" y="4409535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itchFamily="2" charset="-122"/>
                </a:rPr>
                <a:t>.3</a:t>
              </a: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7466162" y="5019135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itchFamily="2" charset="-122"/>
                </a:rPr>
                <a:t>.8</a:t>
              </a:r>
            </a:p>
          </p:txBody>
        </p:sp>
        <p:cxnSp>
          <p:nvCxnSpPr>
            <p:cNvPr id="10" name="AutoShape 8"/>
            <p:cNvCxnSpPr>
              <a:cxnSpLocks noChangeShapeType="1"/>
              <a:stCxn id="6" idx="3"/>
              <a:endCxn id="7" idx="0"/>
            </p:cNvCxnSpPr>
            <p:nvPr/>
          </p:nvCxnSpPr>
          <p:spPr bwMode="auto">
            <a:xfrm flipH="1">
              <a:off x="7389962" y="4201573"/>
              <a:ext cx="295275" cy="2079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AutoShape 9"/>
            <p:cNvCxnSpPr>
              <a:cxnSpLocks noChangeShapeType="1"/>
              <a:stCxn id="6" idx="5"/>
              <a:endCxn id="8" idx="0"/>
            </p:cNvCxnSpPr>
            <p:nvPr/>
          </p:nvCxnSpPr>
          <p:spPr bwMode="auto">
            <a:xfrm>
              <a:off x="8009087" y="4201573"/>
              <a:ext cx="371475" cy="2079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6704162" y="5019135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itchFamily="2" charset="-122"/>
                </a:rPr>
                <a:t>.3</a:t>
              </a:r>
            </a:p>
          </p:txBody>
        </p:sp>
        <p:cxnSp>
          <p:nvCxnSpPr>
            <p:cNvPr id="13" name="AutoShape 11"/>
            <p:cNvCxnSpPr>
              <a:cxnSpLocks noChangeShapeType="1"/>
              <a:stCxn id="7" idx="3"/>
              <a:endCxn id="12" idx="0"/>
            </p:cNvCxnSpPr>
            <p:nvPr/>
          </p:nvCxnSpPr>
          <p:spPr bwMode="auto">
            <a:xfrm flipH="1">
              <a:off x="6932762" y="4734973"/>
              <a:ext cx="295275" cy="2841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AutoShape 12"/>
            <p:cNvCxnSpPr>
              <a:cxnSpLocks noChangeShapeType="1"/>
              <a:stCxn id="7" idx="5"/>
              <a:endCxn id="9" idx="0"/>
            </p:cNvCxnSpPr>
            <p:nvPr/>
          </p:nvCxnSpPr>
          <p:spPr bwMode="auto">
            <a:xfrm>
              <a:off x="7551887" y="4734973"/>
              <a:ext cx="142875" cy="2841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7466162" y="5704935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itchFamily="2" charset="-122"/>
                </a:rPr>
                <a:t>.1</a:t>
              </a:r>
            </a:p>
          </p:txBody>
        </p:sp>
        <p:sp>
          <p:nvSpPr>
            <p:cNvPr id="16" name="Oval 14"/>
            <p:cNvSpPr>
              <a:spLocks noChangeArrowheads="1"/>
            </p:cNvSpPr>
            <p:nvPr/>
          </p:nvSpPr>
          <p:spPr bwMode="auto">
            <a:xfrm>
              <a:off x="8151962" y="5019135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itchFamily="2" charset="-122"/>
                </a:rPr>
                <a:t>.1</a:t>
              </a:r>
            </a:p>
          </p:txBody>
        </p:sp>
        <p:cxnSp>
          <p:nvCxnSpPr>
            <p:cNvPr id="17" name="AutoShape 15"/>
            <p:cNvCxnSpPr>
              <a:cxnSpLocks noChangeShapeType="1"/>
              <a:stCxn id="9" idx="4"/>
              <a:endCxn id="15" idx="0"/>
            </p:cNvCxnSpPr>
            <p:nvPr/>
          </p:nvCxnSpPr>
          <p:spPr bwMode="auto">
            <a:xfrm>
              <a:off x="7694762" y="5400135"/>
              <a:ext cx="0" cy="304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16"/>
            <p:cNvCxnSpPr>
              <a:cxnSpLocks noChangeShapeType="1"/>
              <a:stCxn id="8" idx="4"/>
              <a:endCxn id="16" idx="0"/>
            </p:cNvCxnSpPr>
            <p:nvPr/>
          </p:nvCxnSpPr>
          <p:spPr bwMode="auto">
            <a:xfrm>
              <a:off x="8380562" y="4790535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6551762" y="3711035"/>
              <a:ext cx="1892300" cy="1892300"/>
            </a:xfrm>
            <a:custGeom>
              <a:avLst/>
              <a:gdLst>
                <a:gd name="T0" fmla="*/ 0 w 1192"/>
                <a:gd name="T1" fmla="*/ 2147483647 h 1192"/>
                <a:gd name="T2" fmla="*/ 2147483647 w 1192"/>
                <a:gd name="T3" fmla="*/ 2147483647 h 1192"/>
                <a:gd name="T4" fmla="*/ 2147483647 w 1192"/>
                <a:gd name="T5" fmla="*/ 2147483647 h 1192"/>
                <a:gd name="T6" fmla="*/ 2147483647 w 1192"/>
                <a:gd name="T7" fmla="*/ 2147483647 h 1192"/>
                <a:gd name="T8" fmla="*/ 2147483647 w 1192"/>
                <a:gd name="T9" fmla="*/ 2147483647 h 1192"/>
                <a:gd name="T10" fmla="*/ 2147483647 w 1192"/>
                <a:gd name="T11" fmla="*/ 2147483647 h 1192"/>
                <a:gd name="T12" fmla="*/ 2147483647 w 1192"/>
                <a:gd name="T13" fmla="*/ 2147483647 h 11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92"/>
                <a:gd name="T22" fmla="*/ 0 h 1192"/>
                <a:gd name="T23" fmla="*/ 1192 w 1192"/>
                <a:gd name="T24" fmla="*/ 1192 h 11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92" h="1192">
                  <a:moveTo>
                    <a:pt x="0" y="152"/>
                  </a:moveTo>
                  <a:cubicBezTo>
                    <a:pt x="12" y="116"/>
                    <a:pt x="24" y="80"/>
                    <a:pt x="96" y="200"/>
                  </a:cubicBezTo>
                  <a:cubicBezTo>
                    <a:pt x="168" y="320"/>
                    <a:pt x="312" y="712"/>
                    <a:pt x="432" y="872"/>
                  </a:cubicBezTo>
                  <a:cubicBezTo>
                    <a:pt x="552" y="1032"/>
                    <a:pt x="736" y="1192"/>
                    <a:pt x="816" y="1160"/>
                  </a:cubicBezTo>
                  <a:cubicBezTo>
                    <a:pt x="896" y="1128"/>
                    <a:pt x="856" y="856"/>
                    <a:pt x="912" y="680"/>
                  </a:cubicBezTo>
                  <a:cubicBezTo>
                    <a:pt x="968" y="504"/>
                    <a:pt x="1112" y="208"/>
                    <a:pt x="1152" y="104"/>
                  </a:cubicBezTo>
                  <a:cubicBezTo>
                    <a:pt x="1192" y="0"/>
                    <a:pt x="1152" y="64"/>
                    <a:pt x="1152" y="56"/>
                  </a:cubicBezTo>
                </a:path>
              </a:pathLst>
            </a:custGeom>
            <a:noFill/>
            <a:ln w="25400">
              <a:solidFill>
                <a:schemeClr val="folHlink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5739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Узкие места в производительности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13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Основное узкое место: </a:t>
            </a:r>
            <a:r>
              <a:rPr lang="ru-RU" sz="3200" b="1" dirty="0" smtClean="0"/>
              <a:t>вычисление косинусов</a:t>
            </a:r>
          </a:p>
          <a:p>
            <a:pPr marL="0" indent="0" fontAlgn="base">
              <a:buNone/>
            </a:pPr>
            <a:r>
              <a:rPr lang="ru-RU" sz="3200" dirty="0" smtClean="0">
                <a:solidFill>
                  <a:srgbClr val="FF0000"/>
                </a:solidFill>
              </a:rPr>
              <a:t>Можно </a:t>
            </a:r>
            <a:r>
              <a:rPr lang="ru-RU" sz="3200" dirty="0">
                <a:solidFill>
                  <a:srgbClr val="FF0000"/>
                </a:solidFill>
              </a:rPr>
              <a:t>ли избежать всех вычислений?</a:t>
            </a:r>
          </a:p>
          <a:p>
            <a:pPr marL="0" indent="0" fontAlgn="base">
              <a:buNone/>
            </a:pPr>
            <a:r>
              <a:rPr lang="ru-RU" sz="3200" dirty="0" smtClean="0"/>
              <a:t>Да</a:t>
            </a:r>
            <a:r>
              <a:rPr lang="ru-RU" sz="3200" dirty="0"/>
              <a:t>, но иногда результат может быть неточным</a:t>
            </a:r>
          </a:p>
          <a:p>
            <a:pPr marL="733425" lvl="1" indent="-457200" fontAlgn="base"/>
            <a:r>
              <a:rPr lang="ru-RU" sz="3000" dirty="0" smtClean="0"/>
              <a:t>Документ </a:t>
            </a:r>
            <a:r>
              <a:rPr lang="ru-RU" sz="3000" dirty="0"/>
              <a:t>вне топ K может попасть в результаты</a:t>
            </a:r>
          </a:p>
          <a:p>
            <a:pPr marL="733425" lvl="1" indent="-457200" fontAlgn="base"/>
            <a:r>
              <a:rPr lang="ru-RU" sz="3000" dirty="0" smtClean="0"/>
              <a:t>Это </a:t>
            </a:r>
            <a:r>
              <a:rPr lang="ru-RU" sz="3000" dirty="0"/>
              <a:t>плохо?</a:t>
            </a:r>
          </a:p>
        </p:txBody>
      </p:sp>
    </p:spTree>
    <p:extLst>
      <p:ext uri="{BB962C8B-B14F-4D97-AF65-F5344CB8AC3E}">
        <p14:creationId xmlns:p14="http://schemas.microsoft.com/office/powerpoint/2010/main" val="637665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Косинусное сходство </a:t>
            </a:r>
            <a:r>
              <a:rPr lang="ru-RU" b="1" dirty="0" smtClean="0"/>
              <a:t>- </a:t>
            </a:r>
            <a:r>
              <a:rPr lang="ru-RU" b="1" dirty="0"/>
              <a:t>это только приближение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14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Пользователь понимает </a:t>
            </a:r>
            <a:r>
              <a:rPr lang="ru-RU" sz="3200" dirty="0"/>
              <a:t>задачу и формулирует </a:t>
            </a:r>
            <a:r>
              <a:rPr lang="ru-RU" sz="3200" dirty="0" smtClean="0"/>
              <a:t>запрос.</a:t>
            </a:r>
            <a:endParaRPr lang="ru-RU" sz="3200" dirty="0"/>
          </a:p>
          <a:p>
            <a:pPr marL="0" indent="0" fontAlgn="base">
              <a:buNone/>
            </a:pPr>
            <a:r>
              <a:rPr lang="ru-RU" sz="3200" dirty="0" smtClean="0"/>
              <a:t>Косинус </a:t>
            </a:r>
            <a:r>
              <a:rPr lang="ru-RU" sz="3200" dirty="0"/>
              <a:t>подбирает документы к </a:t>
            </a:r>
            <a:r>
              <a:rPr lang="ru-RU" sz="3200" dirty="0" smtClean="0"/>
              <a:t>запросу.</a:t>
            </a:r>
            <a:endParaRPr lang="ru-RU" sz="3200" dirty="0"/>
          </a:p>
          <a:p>
            <a:pPr marL="0" indent="0" fontAlgn="base">
              <a:buNone/>
            </a:pPr>
            <a:r>
              <a:rPr lang="ru-RU" sz="3200" dirty="0" smtClean="0"/>
              <a:t>Поэтому </a:t>
            </a:r>
            <a:r>
              <a:rPr lang="ru-RU" sz="3200" dirty="0"/>
              <a:t>косинус </a:t>
            </a:r>
            <a:r>
              <a:rPr lang="ru-RU" sz="3200" dirty="0" smtClean="0"/>
              <a:t>- </a:t>
            </a:r>
            <a:r>
              <a:rPr lang="ru-RU" sz="3200" dirty="0"/>
              <a:t>приближение </a:t>
            </a:r>
            <a:r>
              <a:rPr lang="ru-RU" sz="3200" dirty="0" smtClean="0"/>
              <a:t>удовлетворенности пользователя.</a:t>
            </a:r>
            <a:endParaRPr lang="ru-RU" sz="3200" dirty="0"/>
          </a:p>
          <a:p>
            <a:pPr marL="0" indent="0" fontAlgn="base">
              <a:buNone/>
            </a:pPr>
            <a:r>
              <a:rPr lang="ru-RU" sz="3200" dirty="0" smtClean="0"/>
              <a:t>Если </a:t>
            </a:r>
            <a:r>
              <a:rPr lang="ru-RU" sz="3200" dirty="0"/>
              <a:t>получить список K документов "близких" к топ K по </a:t>
            </a:r>
            <a:r>
              <a:rPr lang="ru-RU" sz="3200" dirty="0" smtClean="0"/>
              <a:t>косинусной мере - </a:t>
            </a:r>
            <a:r>
              <a:rPr lang="ru-RU" sz="3200" dirty="0"/>
              <a:t>это </a:t>
            </a:r>
            <a:r>
              <a:rPr lang="ru-RU" sz="3200" dirty="0" smtClean="0"/>
              <a:t>хорошо.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58564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Общий подход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15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Найти </a:t>
            </a:r>
            <a:r>
              <a:rPr lang="ru-RU" sz="3200" dirty="0"/>
              <a:t>множество A </a:t>
            </a:r>
            <a:r>
              <a:rPr lang="ru-RU" sz="3200" dirty="0" smtClean="0"/>
              <a:t>претендентов, </a:t>
            </a:r>
            <a:r>
              <a:rPr lang="ru-RU" sz="3200" dirty="0"/>
              <a:t>где K &lt; |A| &lt;&lt; N</a:t>
            </a:r>
          </a:p>
          <a:p>
            <a:pPr marL="733425" lvl="1" indent="-457200" fontAlgn="base"/>
            <a:r>
              <a:rPr lang="ru-RU" sz="3000" dirty="0" smtClean="0"/>
              <a:t>A </a:t>
            </a:r>
            <a:r>
              <a:rPr lang="ru-RU" sz="3000" dirty="0"/>
              <a:t>не обязательно содержит топ K, но содержит много документов из топ K</a:t>
            </a:r>
          </a:p>
          <a:p>
            <a:pPr marL="733425" lvl="1" indent="-457200" fontAlgn="base"/>
            <a:r>
              <a:rPr lang="ru-RU" sz="3000" dirty="0" smtClean="0"/>
              <a:t>Вернуть </a:t>
            </a:r>
            <a:r>
              <a:rPr lang="ru-RU" sz="3000" dirty="0"/>
              <a:t>K лучших документов из A</a:t>
            </a:r>
          </a:p>
          <a:p>
            <a:pPr marL="0" indent="0" fontAlgn="base">
              <a:buNone/>
            </a:pPr>
            <a:r>
              <a:rPr lang="ru-RU" sz="3200" dirty="0" smtClean="0"/>
              <a:t>Думайте об </a:t>
            </a:r>
            <a:r>
              <a:rPr lang="ru-RU" sz="3200" dirty="0"/>
              <a:t>A как об </a:t>
            </a:r>
            <a:r>
              <a:rPr lang="ru-RU" sz="3200" dirty="0">
                <a:solidFill>
                  <a:srgbClr val="FF0000"/>
                </a:solidFill>
              </a:rPr>
              <a:t>отсеивании</a:t>
            </a:r>
            <a:r>
              <a:rPr lang="ru-RU" sz="3200" dirty="0"/>
              <a:t> неконкурентоспособных документов</a:t>
            </a:r>
          </a:p>
          <a:p>
            <a:pPr marL="0" indent="0" fontAlgn="base">
              <a:buNone/>
            </a:pPr>
            <a:r>
              <a:rPr lang="ru-RU" sz="3200" dirty="0" smtClean="0"/>
              <a:t>Этот </a:t>
            </a:r>
            <a:r>
              <a:rPr lang="ru-RU" sz="3200" dirty="0"/>
              <a:t>подход используется и для других (не-косинусных) функций </a:t>
            </a:r>
            <a:r>
              <a:rPr lang="ru-RU" sz="3200" dirty="0" smtClean="0"/>
              <a:t>ранжирования</a:t>
            </a:r>
          </a:p>
          <a:p>
            <a:pPr marL="0" indent="0" fontAlgn="base">
              <a:buNone/>
            </a:pPr>
            <a:r>
              <a:rPr lang="ru-RU" sz="3200" dirty="0"/>
              <a:t>Мы рассмотрим несколько схем, основанных на этом подходе</a:t>
            </a:r>
          </a:p>
        </p:txBody>
      </p:sp>
    </p:spTree>
    <p:extLst>
      <p:ext uri="{BB962C8B-B14F-4D97-AF65-F5344CB8AC3E}">
        <p14:creationId xmlns:p14="http://schemas.microsoft.com/office/powerpoint/2010/main" val="2318865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Исключение индексов (</a:t>
            </a:r>
            <a:r>
              <a:rPr lang="ru-RU" b="1" dirty="0" err="1"/>
              <a:t>Index</a:t>
            </a:r>
            <a:r>
              <a:rPr lang="ru-RU" b="1" dirty="0"/>
              <a:t> </a:t>
            </a:r>
            <a:r>
              <a:rPr lang="ru-RU" b="1" dirty="0" err="1"/>
              <a:t>Elimination</a:t>
            </a:r>
            <a:r>
              <a:rPr lang="ru-RU" b="1" dirty="0"/>
              <a:t>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16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Базовый </a:t>
            </a:r>
            <a:r>
              <a:rPr lang="ru-RU" sz="3200" dirty="0"/>
              <a:t>алгоритм вычисления косинуса рассматривает только документы, содержащие хотя бы один термин запроса</a:t>
            </a:r>
          </a:p>
          <a:p>
            <a:pPr marL="0" indent="0" fontAlgn="base">
              <a:buNone/>
            </a:pPr>
            <a:r>
              <a:rPr lang="ru-RU" sz="3200" dirty="0" smtClean="0"/>
              <a:t>Пойдем </a:t>
            </a:r>
            <a:r>
              <a:rPr lang="ru-RU" sz="3200" dirty="0"/>
              <a:t>дальше:</a:t>
            </a:r>
          </a:p>
          <a:p>
            <a:pPr lvl="1" fontAlgn="base"/>
            <a:r>
              <a:rPr lang="ru-RU" sz="3000" dirty="0" smtClean="0"/>
              <a:t>Рассматривать </a:t>
            </a:r>
            <a:r>
              <a:rPr lang="ru-RU" sz="3000" dirty="0"/>
              <a:t>только термины с высокой </a:t>
            </a:r>
            <a:r>
              <a:rPr lang="ru-RU" sz="3000" dirty="0" err="1"/>
              <a:t>idf</a:t>
            </a:r>
            <a:endParaRPr lang="ru-RU" sz="3000" dirty="0"/>
          </a:p>
          <a:p>
            <a:pPr lvl="1" fontAlgn="base"/>
            <a:r>
              <a:rPr lang="ru-RU" sz="3000" dirty="0" smtClean="0"/>
              <a:t>Рассматривать </a:t>
            </a:r>
            <a:r>
              <a:rPr lang="ru-RU" sz="3000" dirty="0"/>
              <a:t>только документы, содержащие много термов запроса</a:t>
            </a:r>
          </a:p>
          <a:p>
            <a:pPr marL="0" indent="0" fontAlgn="base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390683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Только для запросов с высоким уровнем </a:t>
            </a:r>
            <a:r>
              <a:rPr lang="ru-RU" b="1" dirty="0" err="1"/>
              <a:t>idf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17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Для </a:t>
            </a:r>
            <a:r>
              <a:rPr lang="ru-RU" sz="3200" dirty="0"/>
              <a:t>запроса типа </a:t>
            </a:r>
            <a:r>
              <a:rPr lang="ru-RU" sz="3200" dirty="0" smtClean="0"/>
              <a:t>«</a:t>
            </a:r>
            <a:r>
              <a:rPr lang="ru-RU" sz="3200" dirty="0" err="1" smtClean="0"/>
              <a:t>catcher</a:t>
            </a:r>
            <a:r>
              <a:rPr lang="ru-RU" sz="3200" dirty="0" smtClean="0"/>
              <a:t> </a:t>
            </a:r>
            <a:r>
              <a:rPr lang="ru-RU" sz="3200" dirty="0" err="1"/>
              <a:t>in</a:t>
            </a:r>
            <a:r>
              <a:rPr lang="ru-RU" sz="3200" dirty="0"/>
              <a:t> </a:t>
            </a:r>
            <a:r>
              <a:rPr lang="ru-RU" sz="3200" dirty="0" err="1"/>
              <a:t>the</a:t>
            </a:r>
            <a:r>
              <a:rPr lang="ru-RU" sz="3200" dirty="0"/>
              <a:t> </a:t>
            </a:r>
            <a:r>
              <a:rPr lang="ru-RU" sz="3200" dirty="0" err="1" smtClean="0"/>
              <a:t>rye</a:t>
            </a:r>
            <a:r>
              <a:rPr lang="ru-RU" sz="3200" dirty="0" smtClean="0"/>
              <a:t>» (Над </a:t>
            </a:r>
            <a:r>
              <a:rPr lang="ru-RU" sz="3200" dirty="0"/>
              <a:t>пропастью во ржи</a:t>
            </a:r>
            <a:r>
              <a:rPr lang="ru-RU" sz="3200" dirty="0" smtClean="0"/>
              <a:t>)</a:t>
            </a:r>
            <a:endParaRPr lang="ru-RU" sz="3200" dirty="0"/>
          </a:p>
          <a:p>
            <a:pPr marL="0" indent="0" fontAlgn="base">
              <a:buNone/>
            </a:pPr>
            <a:r>
              <a:rPr lang="ru-RU" sz="3200" dirty="0" smtClean="0"/>
              <a:t>Накапливать </a:t>
            </a:r>
            <a:r>
              <a:rPr lang="ru-RU" sz="3200" dirty="0"/>
              <a:t>оценки только от "</a:t>
            </a:r>
            <a:r>
              <a:rPr lang="ru-RU" sz="3200" dirty="0" err="1"/>
              <a:t>catcher</a:t>
            </a:r>
            <a:r>
              <a:rPr lang="ru-RU" sz="3200" dirty="0"/>
              <a:t>" и "</a:t>
            </a:r>
            <a:r>
              <a:rPr lang="ru-RU" sz="3200" dirty="0" err="1"/>
              <a:t>rye</a:t>
            </a:r>
            <a:r>
              <a:rPr lang="ru-RU" sz="3200" dirty="0"/>
              <a:t>"</a:t>
            </a:r>
          </a:p>
          <a:p>
            <a:pPr marL="0" indent="0" fontAlgn="base">
              <a:buNone/>
            </a:pPr>
            <a:r>
              <a:rPr lang="ru-RU" sz="3200" dirty="0" smtClean="0"/>
              <a:t>Интуиция</a:t>
            </a:r>
            <a:r>
              <a:rPr lang="ru-RU" sz="3200" dirty="0"/>
              <a:t>: "</a:t>
            </a:r>
            <a:r>
              <a:rPr lang="ru-RU" sz="3200" dirty="0" err="1"/>
              <a:t>in</a:t>
            </a:r>
            <a:r>
              <a:rPr lang="ru-RU" sz="3200" dirty="0"/>
              <a:t>" и "</a:t>
            </a:r>
            <a:r>
              <a:rPr lang="ru-RU" sz="3200" dirty="0" err="1"/>
              <a:t>the</a:t>
            </a:r>
            <a:r>
              <a:rPr lang="ru-RU" sz="3200" dirty="0"/>
              <a:t>" вносят мало в оценки и не сильно влияют на ранжирование</a:t>
            </a:r>
          </a:p>
          <a:p>
            <a:pPr marL="0" indent="0" fontAlgn="base">
              <a:buNone/>
            </a:pPr>
            <a:r>
              <a:rPr lang="ru-RU" sz="3200" dirty="0" smtClean="0"/>
              <a:t>Выгода</a:t>
            </a:r>
            <a:r>
              <a:rPr lang="ru-RU" sz="3200" dirty="0"/>
              <a:t>: постинги низкой-</a:t>
            </a:r>
            <a:r>
              <a:rPr lang="ru-RU" sz="3200" dirty="0" err="1"/>
              <a:t>idf</a:t>
            </a:r>
            <a:r>
              <a:rPr lang="ru-RU" sz="3200" dirty="0"/>
              <a:t> термов содержат много документов → они исключаются из множества кандидатов A</a:t>
            </a:r>
          </a:p>
          <a:p>
            <a:pPr marL="0" indent="0" fontAlgn="base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825300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Документы, содержащие много термов запроса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18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Любой </a:t>
            </a:r>
            <a:r>
              <a:rPr lang="ru-RU" sz="3200" dirty="0"/>
              <a:t>документ с хотя бы одним термом запроса — кандидат</a:t>
            </a:r>
          </a:p>
          <a:p>
            <a:pPr marL="0" indent="0" fontAlgn="base">
              <a:buNone/>
            </a:pPr>
            <a:r>
              <a:rPr lang="ru-RU" sz="3200" dirty="0" smtClean="0"/>
              <a:t>Для </a:t>
            </a:r>
            <a:r>
              <a:rPr lang="ru-RU" sz="3200" dirty="0" err="1"/>
              <a:t>многотермных</a:t>
            </a:r>
            <a:r>
              <a:rPr lang="ru-RU" sz="3200" dirty="0"/>
              <a:t> запросов: вычислять оценки только для документов, содержащих несколько термов</a:t>
            </a:r>
          </a:p>
          <a:p>
            <a:pPr lvl="1" fontAlgn="base"/>
            <a:r>
              <a:rPr lang="ru-RU" sz="3000" dirty="0" smtClean="0"/>
              <a:t>Например</a:t>
            </a:r>
            <a:r>
              <a:rPr lang="ru-RU" sz="3000" dirty="0"/>
              <a:t>, минимум 3 из 4</a:t>
            </a:r>
          </a:p>
          <a:p>
            <a:pPr lvl="1" fontAlgn="base"/>
            <a:r>
              <a:rPr lang="ru-RU" sz="3000" dirty="0" smtClean="0"/>
              <a:t>Это </a:t>
            </a:r>
            <a:r>
              <a:rPr lang="ru-RU" sz="3000" dirty="0"/>
              <a:t>"мягкое объединение" (</a:t>
            </a:r>
            <a:r>
              <a:rPr lang="ru-RU" sz="3000" dirty="0" err="1"/>
              <a:t>soft</a:t>
            </a:r>
            <a:r>
              <a:rPr lang="ru-RU" sz="3000" dirty="0"/>
              <a:t> </a:t>
            </a:r>
            <a:r>
              <a:rPr lang="ru-RU" sz="3000" dirty="0" err="1"/>
              <a:t>conjunction</a:t>
            </a:r>
            <a:r>
              <a:rPr lang="ru-RU" sz="3000" dirty="0"/>
              <a:t>), использовалось в ранних версиях </a:t>
            </a:r>
            <a:r>
              <a:rPr lang="ru-RU" sz="3000" dirty="0" err="1"/>
              <a:t>Google</a:t>
            </a:r>
            <a:endParaRPr lang="ru-RU" sz="3000" dirty="0"/>
          </a:p>
          <a:p>
            <a:pPr marL="0" indent="0" fontAlgn="base">
              <a:buNone/>
            </a:pPr>
            <a:r>
              <a:rPr lang="ru-RU" sz="3200" dirty="0" smtClean="0"/>
              <a:t>Легко </a:t>
            </a:r>
            <a:r>
              <a:rPr lang="ru-RU" sz="3200" dirty="0"/>
              <a:t>реализуется при обходе постингов</a:t>
            </a:r>
          </a:p>
        </p:txBody>
      </p:sp>
    </p:spTree>
    <p:extLst>
      <p:ext uri="{BB962C8B-B14F-4D97-AF65-F5344CB8AC3E}">
        <p14:creationId xmlns:p14="http://schemas.microsoft.com/office/powerpoint/2010/main" val="602848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Пример: 3 из 4 термов запроса</a:t>
            </a:r>
            <a:endParaRPr lang="en-US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19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r>
              <a:rPr lang="ru-RU" sz="3200" dirty="0"/>
              <a:t>На диаграмме показано пересечение постингов для терминов </a:t>
            </a:r>
            <a:r>
              <a:rPr lang="ru-RU" sz="3200" dirty="0" err="1"/>
              <a:t>Brutus</a:t>
            </a:r>
            <a:r>
              <a:rPr lang="ru-RU" sz="3200" dirty="0"/>
              <a:t>, </a:t>
            </a:r>
            <a:r>
              <a:rPr lang="ru-RU" sz="3200" dirty="0" err="1"/>
              <a:t>Caesar</a:t>
            </a:r>
            <a:r>
              <a:rPr lang="ru-RU" sz="3200" dirty="0"/>
              <a:t>, </a:t>
            </a:r>
            <a:r>
              <a:rPr lang="ru-RU" sz="3200" dirty="0" err="1"/>
              <a:t>Calpurnia</a:t>
            </a:r>
            <a:r>
              <a:rPr lang="ru-RU" sz="3200" dirty="0"/>
              <a:t>, </a:t>
            </a:r>
            <a:r>
              <a:rPr lang="ru-RU" sz="3200" dirty="0" err="1"/>
              <a:t>Antony</a:t>
            </a:r>
            <a:r>
              <a:rPr lang="ru-RU" sz="3200" dirty="0"/>
              <a:t>]</a:t>
            </a:r>
          </a:p>
          <a:p>
            <a:pPr marL="0" indent="0" fontAlgn="base">
              <a:buNone/>
            </a:pPr>
            <a:r>
              <a:rPr lang="ru-RU" sz="3200" dirty="0"/>
              <a:t>Оценки вычисляются только для документов 8, 16 и 32.</a:t>
            </a:r>
          </a:p>
        </p:txBody>
      </p:sp>
      <p:grpSp>
        <p:nvGrpSpPr>
          <p:cNvPr id="3" name="Группа 2"/>
          <p:cNvGrpSpPr/>
          <p:nvPr/>
        </p:nvGrpSpPr>
        <p:grpSpPr>
          <a:xfrm>
            <a:off x="2002766" y="1495245"/>
            <a:ext cx="7839075" cy="2138363"/>
            <a:chOff x="2002766" y="1495245"/>
            <a:chExt cx="7839075" cy="2138363"/>
          </a:xfrm>
        </p:grpSpPr>
        <p:sp>
          <p:nvSpPr>
            <p:cNvPr id="80" name="Text Box 4"/>
            <p:cNvSpPr txBox="1">
              <a:spLocks noChangeArrowheads="1"/>
            </p:cNvSpPr>
            <p:nvPr/>
          </p:nvSpPr>
          <p:spPr bwMode="auto">
            <a:xfrm>
              <a:off x="2002766" y="2095320"/>
              <a:ext cx="1176338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 b="1" i="1"/>
                <a:t>Brutus</a:t>
              </a:r>
            </a:p>
          </p:txBody>
        </p:sp>
        <p:sp>
          <p:nvSpPr>
            <p:cNvPr id="81" name="Text Box 5"/>
            <p:cNvSpPr txBox="1">
              <a:spLocks noChangeArrowheads="1"/>
            </p:cNvSpPr>
            <p:nvPr/>
          </p:nvSpPr>
          <p:spPr bwMode="auto">
            <a:xfrm>
              <a:off x="2002766" y="2628720"/>
              <a:ext cx="1285875" cy="4619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 b="1" i="1"/>
                <a:t>Caesar</a:t>
              </a:r>
            </a:p>
          </p:txBody>
        </p:sp>
        <p:sp>
          <p:nvSpPr>
            <p:cNvPr id="82" name="Text Box 6"/>
            <p:cNvSpPr txBox="1">
              <a:spLocks noChangeArrowheads="1"/>
            </p:cNvSpPr>
            <p:nvPr/>
          </p:nvSpPr>
          <p:spPr bwMode="auto">
            <a:xfrm>
              <a:off x="2002766" y="3162120"/>
              <a:ext cx="1749425" cy="4619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 b="1" i="1"/>
                <a:t>Calpurnia</a:t>
              </a:r>
            </a:p>
          </p:txBody>
        </p:sp>
        <p:sp>
          <p:nvSpPr>
            <p:cNvPr id="83" name="AutoShape 7"/>
            <p:cNvSpPr>
              <a:spLocks noChangeArrowheads="1"/>
            </p:cNvSpPr>
            <p:nvPr/>
          </p:nvSpPr>
          <p:spPr bwMode="auto">
            <a:xfrm>
              <a:off x="3679166" y="2171520"/>
              <a:ext cx="1143000" cy="22860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4" name="AutoShape 8"/>
            <p:cNvSpPr>
              <a:spLocks noChangeArrowheads="1"/>
            </p:cNvSpPr>
            <p:nvPr/>
          </p:nvSpPr>
          <p:spPr bwMode="auto">
            <a:xfrm>
              <a:off x="3679166" y="2704920"/>
              <a:ext cx="1143000" cy="22860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5" name="Group 26"/>
            <p:cNvGrpSpPr>
              <a:grpSpLocks/>
            </p:cNvGrpSpPr>
            <p:nvPr/>
          </p:nvGrpSpPr>
          <p:grpSpPr bwMode="auto">
            <a:xfrm>
              <a:off x="4898366" y="3238320"/>
              <a:ext cx="4876800" cy="304800"/>
              <a:chOff x="2064" y="2448"/>
              <a:chExt cx="3072" cy="192"/>
            </a:xfrm>
          </p:grpSpPr>
          <p:sp>
            <p:nvSpPr>
              <p:cNvPr id="86" name="Rectangle 27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7" name="Rectangle 28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8" name="Rectangle 29"/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9" name="Rectangle 30"/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0" name="Line 31"/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1" name="Group 51"/>
            <p:cNvGrpSpPr>
              <a:grpSpLocks/>
            </p:cNvGrpSpPr>
            <p:nvPr/>
          </p:nvGrpSpPr>
          <p:grpSpPr bwMode="auto">
            <a:xfrm>
              <a:off x="4898366" y="2628720"/>
              <a:ext cx="4943475" cy="457200"/>
              <a:chOff x="2064" y="2688"/>
              <a:chExt cx="3114" cy="288"/>
            </a:xfrm>
          </p:grpSpPr>
          <p:grpSp>
            <p:nvGrpSpPr>
              <p:cNvPr id="92" name="Group 20"/>
              <p:cNvGrpSpPr>
                <a:grpSpLocks/>
              </p:cNvGrpSpPr>
              <p:nvPr/>
            </p:nvGrpSpPr>
            <p:grpSpPr bwMode="auto">
              <a:xfrm>
                <a:off x="2064" y="2736"/>
                <a:ext cx="3072" cy="192"/>
                <a:chOff x="2064" y="2448"/>
                <a:chExt cx="3072" cy="192"/>
              </a:xfrm>
            </p:grpSpPr>
            <p:sp>
              <p:nvSpPr>
                <p:cNvPr id="101" name="Rectangle 21"/>
                <p:cNvSpPr>
                  <a:spLocks noChangeArrowheads="1"/>
                </p:cNvSpPr>
                <p:nvPr/>
              </p:nvSpPr>
              <p:spPr bwMode="auto">
                <a:xfrm>
                  <a:off x="2064" y="2448"/>
                  <a:ext cx="3072" cy="192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Rectangle 22"/>
                <p:cNvSpPr>
                  <a:spLocks noChangeArrowheads="1"/>
                </p:cNvSpPr>
                <p:nvPr/>
              </p:nvSpPr>
              <p:spPr bwMode="auto">
                <a:xfrm>
                  <a:off x="2448" y="2448"/>
                  <a:ext cx="230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3" name="Rectangle 23"/>
                <p:cNvSpPr>
                  <a:spLocks noChangeArrowheads="1"/>
                </p:cNvSpPr>
                <p:nvPr/>
              </p:nvSpPr>
              <p:spPr bwMode="auto">
                <a:xfrm>
                  <a:off x="2832" y="2448"/>
                  <a:ext cx="15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Rectangle 24"/>
                <p:cNvSpPr>
                  <a:spLocks noChangeArrowheads="1"/>
                </p:cNvSpPr>
                <p:nvPr/>
              </p:nvSpPr>
              <p:spPr bwMode="auto">
                <a:xfrm>
                  <a:off x="3216" y="2448"/>
                  <a:ext cx="76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5" name="Line 25"/>
                <p:cNvSpPr>
                  <a:spLocks noChangeShapeType="1"/>
                </p:cNvSpPr>
                <p:nvPr/>
              </p:nvSpPr>
              <p:spPr bwMode="auto">
                <a:xfrm>
                  <a:off x="3600" y="2448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3" name="Text Box 32"/>
              <p:cNvSpPr txBox="1">
                <a:spLocks noChangeArrowheads="1"/>
              </p:cNvSpPr>
              <p:nvPr/>
            </p:nvSpPr>
            <p:spPr bwMode="auto">
              <a:xfrm>
                <a:off x="2150" y="268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1</a:t>
                </a:r>
              </a:p>
            </p:txBody>
          </p:sp>
          <p:sp>
            <p:nvSpPr>
              <p:cNvPr id="94" name="Text Box 33"/>
              <p:cNvSpPr txBox="1">
                <a:spLocks noChangeArrowheads="1"/>
              </p:cNvSpPr>
              <p:nvPr/>
            </p:nvSpPr>
            <p:spPr bwMode="auto">
              <a:xfrm>
                <a:off x="2582" y="268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2</a:t>
                </a:r>
              </a:p>
            </p:txBody>
          </p:sp>
          <p:sp>
            <p:nvSpPr>
              <p:cNvPr id="95" name="Text Box 34"/>
              <p:cNvSpPr txBox="1">
                <a:spLocks noChangeArrowheads="1"/>
              </p:cNvSpPr>
              <p:nvPr/>
            </p:nvSpPr>
            <p:spPr bwMode="auto">
              <a:xfrm>
                <a:off x="2945" y="268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3</a:t>
                </a:r>
              </a:p>
            </p:txBody>
          </p:sp>
          <p:sp>
            <p:nvSpPr>
              <p:cNvPr id="96" name="Text Box 35"/>
              <p:cNvSpPr txBox="1">
                <a:spLocks noChangeArrowheads="1"/>
              </p:cNvSpPr>
              <p:nvPr/>
            </p:nvSpPr>
            <p:spPr bwMode="auto">
              <a:xfrm>
                <a:off x="3312" y="268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5</a:t>
                </a:r>
              </a:p>
            </p:txBody>
          </p:sp>
          <p:sp>
            <p:nvSpPr>
              <p:cNvPr id="97" name="Text Box 36"/>
              <p:cNvSpPr txBox="1">
                <a:spLocks noChangeArrowheads="1"/>
              </p:cNvSpPr>
              <p:nvPr/>
            </p:nvSpPr>
            <p:spPr bwMode="auto">
              <a:xfrm>
                <a:off x="3665" y="268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8</a:t>
                </a:r>
              </a:p>
            </p:txBody>
          </p:sp>
          <p:sp>
            <p:nvSpPr>
              <p:cNvPr id="98" name="Text Box 37"/>
              <p:cNvSpPr txBox="1">
                <a:spLocks noChangeArrowheads="1"/>
              </p:cNvSpPr>
              <p:nvPr/>
            </p:nvSpPr>
            <p:spPr bwMode="auto">
              <a:xfrm>
                <a:off x="4049" y="2688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13</a:t>
                </a:r>
              </a:p>
            </p:txBody>
          </p:sp>
          <p:sp>
            <p:nvSpPr>
              <p:cNvPr id="99" name="Text Box 38"/>
              <p:cNvSpPr txBox="1">
                <a:spLocks noChangeArrowheads="1"/>
              </p:cNvSpPr>
              <p:nvPr/>
            </p:nvSpPr>
            <p:spPr bwMode="auto">
              <a:xfrm>
                <a:off x="4464" y="2688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21</a:t>
                </a:r>
              </a:p>
            </p:txBody>
          </p:sp>
          <p:sp>
            <p:nvSpPr>
              <p:cNvPr id="100" name="Text Box 39"/>
              <p:cNvSpPr txBox="1">
                <a:spLocks noChangeArrowheads="1"/>
              </p:cNvSpPr>
              <p:nvPr/>
            </p:nvSpPr>
            <p:spPr bwMode="auto">
              <a:xfrm>
                <a:off x="4848" y="2688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34</a:t>
                </a:r>
              </a:p>
            </p:txBody>
          </p:sp>
        </p:grpSp>
        <p:grpSp>
          <p:nvGrpSpPr>
            <p:cNvPr id="106" name="Group 52"/>
            <p:cNvGrpSpPr>
              <a:grpSpLocks/>
            </p:cNvGrpSpPr>
            <p:nvPr/>
          </p:nvGrpSpPr>
          <p:grpSpPr bwMode="auto">
            <a:xfrm>
              <a:off x="4898366" y="2095320"/>
              <a:ext cx="4876800" cy="457200"/>
              <a:chOff x="2064" y="2400"/>
              <a:chExt cx="3072" cy="288"/>
            </a:xfrm>
          </p:grpSpPr>
          <p:grpSp>
            <p:nvGrpSpPr>
              <p:cNvPr id="107" name="Group 19"/>
              <p:cNvGrpSpPr>
                <a:grpSpLocks/>
              </p:cNvGrpSpPr>
              <p:nvPr/>
            </p:nvGrpSpPr>
            <p:grpSpPr bwMode="auto">
              <a:xfrm>
                <a:off x="2064" y="2448"/>
                <a:ext cx="3072" cy="192"/>
                <a:chOff x="2064" y="2448"/>
                <a:chExt cx="3072" cy="192"/>
              </a:xfrm>
            </p:grpSpPr>
            <p:sp>
              <p:nvSpPr>
                <p:cNvPr id="116" name="Rectangle 11"/>
                <p:cNvSpPr>
                  <a:spLocks noChangeArrowheads="1"/>
                </p:cNvSpPr>
                <p:nvPr/>
              </p:nvSpPr>
              <p:spPr bwMode="auto">
                <a:xfrm>
                  <a:off x="2064" y="2448"/>
                  <a:ext cx="3072" cy="192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7" name="Rectangle 13"/>
                <p:cNvSpPr>
                  <a:spLocks noChangeArrowheads="1"/>
                </p:cNvSpPr>
                <p:nvPr/>
              </p:nvSpPr>
              <p:spPr bwMode="auto">
                <a:xfrm>
                  <a:off x="2448" y="2448"/>
                  <a:ext cx="230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8" name="Rectangle 15"/>
                <p:cNvSpPr>
                  <a:spLocks noChangeArrowheads="1"/>
                </p:cNvSpPr>
                <p:nvPr/>
              </p:nvSpPr>
              <p:spPr bwMode="auto">
                <a:xfrm>
                  <a:off x="2832" y="2448"/>
                  <a:ext cx="15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9" name="Rectangle 16"/>
                <p:cNvSpPr>
                  <a:spLocks noChangeArrowheads="1"/>
                </p:cNvSpPr>
                <p:nvPr/>
              </p:nvSpPr>
              <p:spPr bwMode="auto">
                <a:xfrm>
                  <a:off x="3216" y="2448"/>
                  <a:ext cx="76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0" name="Line 18"/>
                <p:cNvSpPr>
                  <a:spLocks noChangeShapeType="1"/>
                </p:cNvSpPr>
                <p:nvPr/>
              </p:nvSpPr>
              <p:spPr bwMode="auto">
                <a:xfrm>
                  <a:off x="3600" y="2448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08" name="Text Box 40"/>
              <p:cNvSpPr txBox="1">
                <a:spLocks noChangeArrowheads="1"/>
              </p:cNvSpPr>
              <p:nvPr/>
            </p:nvSpPr>
            <p:spPr bwMode="auto">
              <a:xfrm>
                <a:off x="2160" y="2400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2</a:t>
                </a:r>
              </a:p>
            </p:txBody>
          </p:sp>
          <p:sp>
            <p:nvSpPr>
              <p:cNvPr id="109" name="Text Box 41"/>
              <p:cNvSpPr txBox="1">
                <a:spLocks noChangeArrowheads="1"/>
              </p:cNvSpPr>
              <p:nvPr/>
            </p:nvSpPr>
            <p:spPr bwMode="auto">
              <a:xfrm>
                <a:off x="2513" y="2400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4</a:t>
                </a:r>
              </a:p>
            </p:txBody>
          </p:sp>
          <p:sp>
            <p:nvSpPr>
              <p:cNvPr id="110" name="Text Box 42"/>
              <p:cNvSpPr txBox="1">
                <a:spLocks noChangeArrowheads="1"/>
              </p:cNvSpPr>
              <p:nvPr/>
            </p:nvSpPr>
            <p:spPr bwMode="auto">
              <a:xfrm>
                <a:off x="2928" y="2400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8</a:t>
                </a:r>
              </a:p>
            </p:txBody>
          </p:sp>
          <p:sp>
            <p:nvSpPr>
              <p:cNvPr id="111" name="Text Box 43"/>
              <p:cNvSpPr txBox="1">
                <a:spLocks noChangeArrowheads="1"/>
              </p:cNvSpPr>
              <p:nvPr/>
            </p:nvSpPr>
            <p:spPr bwMode="auto">
              <a:xfrm>
                <a:off x="3264" y="2400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16</a:t>
                </a:r>
              </a:p>
            </p:txBody>
          </p:sp>
          <p:sp>
            <p:nvSpPr>
              <p:cNvPr id="112" name="Text Box 44"/>
              <p:cNvSpPr txBox="1">
                <a:spLocks noChangeArrowheads="1"/>
              </p:cNvSpPr>
              <p:nvPr/>
            </p:nvSpPr>
            <p:spPr bwMode="auto">
              <a:xfrm>
                <a:off x="3665" y="2400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32</a:t>
                </a:r>
              </a:p>
            </p:txBody>
          </p:sp>
          <p:sp>
            <p:nvSpPr>
              <p:cNvPr id="113" name="Text Box 45"/>
              <p:cNvSpPr txBox="1">
                <a:spLocks noChangeArrowheads="1"/>
              </p:cNvSpPr>
              <p:nvPr/>
            </p:nvSpPr>
            <p:spPr bwMode="auto">
              <a:xfrm>
                <a:off x="4049" y="2400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64</a:t>
                </a:r>
              </a:p>
            </p:txBody>
          </p:sp>
          <p:sp>
            <p:nvSpPr>
              <p:cNvPr id="114" name="Text Box 46"/>
              <p:cNvSpPr txBox="1">
                <a:spLocks noChangeArrowheads="1"/>
              </p:cNvSpPr>
              <p:nvPr/>
            </p:nvSpPr>
            <p:spPr bwMode="auto">
              <a:xfrm>
                <a:off x="4320" y="2400"/>
                <a:ext cx="43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128</a:t>
                </a:r>
              </a:p>
            </p:txBody>
          </p:sp>
          <p:sp>
            <p:nvSpPr>
              <p:cNvPr id="115" name="Text Box 47"/>
              <p:cNvSpPr txBox="1">
                <a:spLocks noChangeArrowheads="1"/>
              </p:cNvSpPr>
              <p:nvPr/>
            </p:nvSpPr>
            <p:spPr bwMode="auto">
              <a:xfrm>
                <a:off x="4747" y="240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121" name="Text Box 48"/>
            <p:cNvSpPr txBox="1">
              <a:spLocks noChangeArrowheads="1"/>
            </p:cNvSpPr>
            <p:nvPr/>
          </p:nvSpPr>
          <p:spPr bwMode="auto">
            <a:xfrm>
              <a:off x="4898366" y="3162120"/>
              <a:ext cx="5238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13</a:t>
              </a:r>
            </a:p>
          </p:txBody>
        </p:sp>
        <p:sp>
          <p:nvSpPr>
            <p:cNvPr id="122" name="AutoShape 49"/>
            <p:cNvSpPr>
              <a:spLocks noChangeArrowheads="1"/>
            </p:cNvSpPr>
            <p:nvPr/>
          </p:nvSpPr>
          <p:spPr bwMode="auto">
            <a:xfrm>
              <a:off x="3679166" y="3238320"/>
              <a:ext cx="1143000" cy="22860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3" name="Text Box 50"/>
            <p:cNvSpPr txBox="1">
              <a:spLocks noChangeArrowheads="1"/>
            </p:cNvSpPr>
            <p:nvPr/>
          </p:nvSpPr>
          <p:spPr bwMode="auto">
            <a:xfrm>
              <a:off x="5517491" y="3162120"/>
              <a:ext cx="5238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16</a:t>
              </a:r>
            </a:p>
          </p:txBody>
        </p:sp>
        <p:sp>
          <p:nvSpPr>
            <p:cNvPr id="124" name="Text Box 4"/>
            <p:cNvSpPr txBox="1">
              <a:spLocks noChangeArrowheads="1"/>
            </p:cNvSpPr>
            <p:nvPr/>
          </p:nvSpPr>
          <p:spPr bwMode="auto">
            <a:xfrm>
              <a:off x="2002766" y="1495245"/>
              <a:ext cx="1309688" cy="4619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 b="1" i="1"/>
                <a:t>Antony</a:t>
              </a:r>
            </a:p>
          </p:txBody>
        </p:sp>
        <p:sp>
          <p:nvSpPr>
            <p:cNvPr id="125" name="AutoShape 7"/>
            <p:cNvSpPr>
              <a:spLocks noChangeArrowheads="1"/>
            </p:cNvSpPr>
            <p:nvPr/>
          </p:nvSpPr>
          <p:spPr bwMode="auto">
            <a:xfrm>
              <a:off x="3679166" y="1571445"/>
              <a:ext cx="1143000" cy="22860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126" name="Group 52"/>
            <p:cNvGrpSpPr>
              <a:grpSpLocks/>
            </p:cNvGrpSpPr>
            <p:nvPr/>
          </p:nvGrpSpPr>
          <p:grpSpPr bwMode="auto">
            <a:xfrm>
              <a:off x="4898366" y="1495245"/>
              <a:ext cx="4876800" cy="461963"/>
              <a:chOff x="2064" y="2400"/>
              <a:chExt cx="3072" cy="291"/>
            </a:xfrm>
          </p:grpSpPr>
          <p:grpSp>
            <p:nvGrpSpPr>
              <p:cNvPr id="127" name="Group 19"/>
              <p:cNvGrpSpPr>
                <a:grpSpLocks/>
              </p:cNvGrpSpPr>
              <p:nvPr/>
            </p:nvGrpSpPr>
            <p:grpSpPr bwMode="auto">
              <a:xfrm>
                <a:off x="2064" y="2448"/>
                <a:ext cx="3072" cy="192"/>
                <a:chOff x="2064" y="2448"/>
                <a:chExt cx="3072" cy="192"/>
              </a:xfrm>
            </p:grpSpPr>
            <p:sp>
              <p:nvSpPr>
                <p:cNvPr id="136" name="Rectangle 11"/>
                <p:cNvSpPr>
                  <a:spLocks noChangeArrowheads="1"/>
                </p:cNvSpPr>
                <p:nvPr/>
              </p:nvSpPr>
              <p:spPr bwMode="auto">
                <a:xfrm>
                  <a:off x="2064" y="2448"/>
                  <a:ext cx="3072" cy="192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7" name="Rectangle 13"/>
                <p:cNvSpPr>
                  <a:spLocks noChangeArrowheads="1"/>
                </p:cNvSpPr>
                <p:nvPr/>
              </p:nvSpPr>
              <p:spPr bwMode="auto">
                <a:xfrm>
                  <a:off x="2448" y="2448"/>
                  <a:ext cx="230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8" name="Rectangle 15"/>
                <p:cNvSpPr>
                  <a:spLocks noChangeArrowheads="1"/>
                </p:cNvSpPr>
                <p:nvPr/>
              </p:nvSpPr>
              <p:spPr bwMode="auto">
                <a:xfrm>
                  <a:off x="2832" y="2448"/>
                  <a:ext cx="15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9" name="Rectangle 16"/>
                <p:cNvSpPr>
                  <a:spLocks noChangeArrowheads="1"/>
                </p:cNvSpPr>
                <p:nvPr/>
              </p:nvSpPr>
              <p:spPr bwMode="auto">
                <a:xfrm>
                  <a:off x="3216" y="2448"/>
                  <a:ext cx="76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0" name="Line 18"/>
                <p:cNvSpPr>
                  <a:spLocks noChangeShapeType="1"/>
                </p:cNvSpPr>
                <p:nvPr/>
              </p:nvSpPr>
              <p:spPr bwMode="auto">
                <a:xfrm>
                  <a:off x="3600" y="2448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28" name="Text Box 40"/>
              <p:cNvSpPr txBox="1">
                <a:spLocks noChangeArrowheads="1"/>
              </p:cNvSpPr>
              <p:nvPr/>
            </p:nvSpPr>
            <p:spPr bwMode="auto">
              <a:xfrm>
                <a:off x="2160" y="2400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3</a:t>
                </a:r>
              </a:p>
            </p:txBody>
          </p:sp>
          <p:sp>
            <p:nvSpPr>
              <p:cNvPr id="129" name="Text Box 41"/>
              <p:cNvSpPr txBox="1">
                <a:spLocks noChangeArrowheads="1"/>
              </p:cNvSpPr>
              <p:nvPr/>
            </p:nvSpPr>
            <p:spPr bwMode="auto">
              <a:xfrm>
                <a:off x="2513" y="2400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4</a:t>
                </a:r>
              </a:p>
            </p:txBody>
          </p:sp>
          <p:sp>
            <p:nvSpPr>
              <p:cNvPr id="130" name="Text Box 42"/>
              <p:cNvSpPr txBox="1">
                <a:spLocks noChangeArrowheads="1"/>
              </p:cNvSpPr>
              <p:nvPr/>
            </p:nvSpPr>
            <p:spPr bwMode="auto">
              <a:xfrm>
                <a:off x="2928" y="2400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8</a:t>
                </a:r>
              </a:p>
            </p:txBody>
          </p:sp>
          <p:sp>
            <p:nvSpPr>
              <p:cNvPr id="131" name="Text Box 43"/>
              <p:cNvSpPr txBox="1">
                <a:spLocks noChangeArrowheads="1"/>
              </p:cNvSpPr>
              <p:nvPr/>
            </p:nvSpPr>
            <p:spPr bwMode="auto">
              <a:xfrm>
                <a:off x="3264" y="2400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16</a:t>
                </a:r>
              </a:p>
            </p:txBody>
          </p:sp>
          <p:sp>
            <p:nvSpPr>
              <p:cNvPr id="132" name="Text Box 44"/>
              <p:cNvSpPr txBox="1">
                <a:spLocks noChangeArrowheads="1"/>
              </p:cNvSpPr>
              <p:nvPr/>
            </p:nvSpPr>
            <p:spPr bwMode="auto">
              <a:xfrm>
                <a:off x="3665" y="2400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32</a:t>
                </a:r>
              </a:p>
            </p:txBody>
          </p:sp>
          <p:sp>
            <p:nvSpPr>
              <p:cNvPr id="133" name="Text Box 45"/>
              <p:cNvSpPr txBox="1">
                <a:spLocks noChangeArrowheads="1"/>
              </p:cNvSpPr>
              <p:nvPr/>
            </p:nvSpPr>
            <p:spPr bwMode="auto">
              <a:xfrm>
                <a:off x="4049" y="2400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64</a:t>
                </a:r>
              </a:p>
            </p:txBody>
          </p:sp>
          <p:sp>
            <p:nvSpPr>
              <p:cNvPr id="134" name="Text Box 46"/>
              <p:cNvSpPr txBox="1">
                <a:spLocks noChangeArrowheads="1"/>
              </p:cNvSpPr>
              <p:nvPr/>
            </p:nvSpPr>
            <p:spPr bwMode="auto">
              <a:xfrm>
                <a:off x="4320" y="2400"/>
                <a:ext cx="43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128</a:t>
                </a:r>
              </a:p>
            </p:txBody>
          </p:sp>
          <p:sp>
            <p:nvSpPr>
              <p:cNvPr id="135" name="Text Box 47"/>
              <p:cNvSpPr txBox="1">
                <a:spLocks noChangeArrowheads="1"/>
              </p:cNvSpPr>
              <p:nvPr/>
            </p:nvSpPr>
            <p:spPr bwMode="auto">
              <a:xfrm>
                <a:off x="4747" y="240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Lucida Sans" pitchFamily="34" charset="0"/>
                    <a:ea typeface="Arial Unicode MS" pitchFamily="34" charset="-128"/>
                    <a:cs typeface="Arial Unicode MS" pitchFamily="34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141" name="Text Box 50"/>
            <p:cNvSpPr txBox="1">
              <a:spLocks noChangeArrowheads="1"/>
            </p:cNvSpPr>
            <p:nvPr/>
          </p:nvSpPr>
          <p:spPr bwMode="auto">
            <a:xfrm>
              <a:off x="6154079" y="3171645"/>
              <a:ext cx="5730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r>
                <a:rPr lang="en-US"/>
                <a:t>32</a:t>
              </a:r>
            </a:p>
          </p:txBody>
        </p:sp>
        <p:grpSp>
          <p:nvGrpSpPr>
            <p:cNvPr id="142" name="Group 85"/>
            <p:cNvGrpSpPr>
              <a:grpSpLocks/>
            </p:cNvGrpSpPr>
            <p:nvPr/>
          </p:nvGrpSpPr>
          <p:grpSpPr bwMode="auto">
            <a:xfrm>
              <a:off x="6117566" y="1571445"/>
              <a:ext cx="1828800" cy="1447800"/>
              <a:chOff x="4495800" y="3276600"/>
              <a:chExt cx="1828800" cy="1447800"/>
            </a:xfrm>
          </p:grpSpPr>
          <p:sp>
            <p:nvSpPr>
              <p:cNvPr id="143" name="Rectangle 82"/>
              <p:cNvSpPr>
                <a:spLocks noChangeArrowheads="1"/>
              </p:cNvSpPr>
              <p:nvPr/>
            </p:nvSpPr>
            <p:spPr bwMode="auto">
              <a:xfrm>
                <a:off x="4495800" y="3276600"/>
                <a:ext cx="609600" cy="304800"/>
              </a:xfrm>
              <a:prstGeom prst="rect">
                <a:avLst/>
              </a:prstGeom>
              <a:solidFill>
                <a:schemeClr val="accent1">
                  <a:alpha val="12157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" name="Rectangle 83"/>
              <p:cNvSpPr>
                <a:spLocks noChangeArrowheads="1"/>
              </p:cNvSpPr>
              <p:nvPr/>
            </p:nvSpPr>
            <p:spPr bwMode="auto">
              <a:xfrm>
                <a:off x="4495800" y="3886200"/>
                <a:ext cx="609600" cy="304800"/>
              </a:xfrm>
              <a:prstGeom prst="rect">
                <a:avLst/>
              </a:prstGeom>
              <a:solidFill>
                <a:schemeClr val="accent1">
                  <a:alpha val="12157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" name="Rectangle 84"/>
              <p:cNvSpPr>
                <a:spLocks noChangeArrowheads="1"/>
              </p:cNvSpPr>
              <p:nvPr/>
            </p:nvSpPr>
            <p:spPr bwMode="auto">
              <a:xfrm>
                <a:off x="5715000" y="4419600"/>
                <a:ext cx="609600" cy="304800"/>
              </a:xfrm>
              <a:prstGeom prst="rect">
                <a:avLst/>
              </a:prstGeom>
              <a:solidFill>
                <a:schemeClr val="accent1">
                  <a:alpha val="12157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6" name="Group 90"/>
            <p:cNvGrpSpPr/>
            <p:nvPr/>
          </p:nvGrpSpPr>
          <p:grpSpPr>
            <a:xfrm>
              <a:off x="5507966" y="1571445"/>
              <a:ext cx="1828800" cy="1981200"/>
              <a:chOff x="3886200" y="3276600"/>
              <a:chExt cx="1828800" cy="1981200"/>
            </a:xfrm>
            <a:solidFill>
              <a:schemeClr val="accent1">
                <a:alpha val="12000"/>
              </a:schemeClr>
            </a:solidFill>
          </p:grpSpPr>
          <p:sp>
            <p:nvSpPr>
              <p:cNvPr id="147" name="Rectangle 87"/>
              <p:cNvSpPr/>
              <p:nvPr/>
            </p:nvSpPr>
            <p:spPr bwMode="auto">
              <a:xfrm>
                <a:off x="5105400" y="3276600"/>
                <a:ext cx="609600" cy="304800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+mn-ea"/>
                  <a:cs typeface="Arial Unicode MS" charset="0"/>
                </a:endParaRPr>
              </a:p>
            </p:txBody>
          </p:sp>
          <p:sp>
            <p:nvSpPr>
              <p:cNvPr id="148" name="Rectangle 88"/>
              <p:cNvSpPr/>
              <p:nvPr/>
            </p:nvSpPr>
            <p:spPr bwMode="auto">
              <a:xfrm>
                <a:off x="5105400" y="3886200"/>
                <a:ext cx="609600" cy="304800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+mn-ea"/>
                  <a:cs typeface="Arial Unicode MS" charset="0"/>
                </a:endParaRPr>
              </a:p>
            </p:txBody>
          </p:sp>
          <p:sp>
            <p:nvSpPr>
              <p:cNvPr id="149" name="Rectangle 89"/>
              <p:cNvSpPr/>
              <p:nvPr/>
            </p:nvSpPr>
            <p:spPr bwMode="auto">
              <a:xfrm>
                <a:off x="3886200" y="4953000"/>
                <a:ext cx="609600" cy="304800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+mn-ea"/>
                  <a:cs typeface="Arial Unicode MS" charset="0"/>
                </a:endParaRPr>
              </a:p>
            </p:txBody>
          </p:sp>
        </p:grpSp>
        <p:grpSp>
          <p:nvGrpSpPr>
            <p:cNvPr id="150" name="Group 91"/>
            <p:cNvGrpSpPr/>
            <p:nvPr/>
          </p:nvGrpSpPr>
          <p:grpSpPr>
            <a:xfrm>
              <a:off x="6117566" y="1571445"/>
              <a:ext cx="1828800" cy="1981200"/>
              <a:chOff x="3886200" y="3276600"/>
              <a:chExt cx="1828800" cy="1981200"/>
            </a:xfrm>
            <a:solidFill>
              <a:schemeClr val="accent1">
                <a:alpha val="12000"/>
              </a:schemeClr>
            </a:solidFill>
          </p:grpSpPr>
          <p:sp>
            <p:nvSpPr>
              <p:cNvPr id="151" name="Rectangle 92"/>
              <p:cNvSpPr/>
              <p:nvPr/>
            </p:nvSpPr>
            <p:spPr bwMode="auto">
              <a:xfrm>
                <a:off x="5105400" y="3276600"/>
                <a:ext cx="609600" cy="304800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+mn-ea"/>
                  <a:cs typeface="Arial Unicode MS" charset="0"/>
                </a:endParaRPr>
              </a:p>
            </p:txBody>
          </p:sp>
          <p:sp>
            <p:nvSpPr>
              <p:cNvPr id="152" name="Rectangle 93"/>
              <p:cNvSpPr/>
              <p:nvPr/>
            </p:nvSpPr>
            <p:spPr bwMode="auto">
              <a:xfrm>
                <a:off x="5105400" y="3886200"/>
                <a:ext cx="609600" cy="304800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+mn-ea"/>
                  <a:cs typeface="Arial Unicode MS" charset="0"/>
                </a:endParaRPr>
              </a:p>
            </p:txBody>
          </p:sp>
          <p:sp>
            <p:nvSpPr>
              <p:cNvPr id="153" name="Rectangle 94"/>
              <p:cNvSpPr/>
              <p:nvPr/>
            </p:nvSpPr>
            <p:spPr bwMode="auto">
              <a:xfrm>
                <a:off x="3886200" y="4953000"/>
                <a:ext cx="609600" cy="304800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+mn-ea"/>
                  <a:cs typeface="Arial Unicode MS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311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Списки "чемпионов" (</a:t>
            </a:r>
            <a:r>
              <a:rPr lang="en-US" b="1" dirty="0"/>
              <a:t>Champion Lists)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20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Предварительно вычислите для каждого словарного термина t документы r, имеющие наибольший вес в публикациях </a:t>
            </a:r>
            <a:r>
              <a:rPr lang="ru-RU" sz="3200" dirty="0" smtClean="0"/>
              <a:t>t</a:t>
            </a:r>
          </a:p>
          <a:p>
            <a:pPr lvl="1" fontAlgn="base"/>
            <a:r>
              <a:rPr lang="ru-RU" sz="3000" dirty="0"/>
              <a:t>э</a:t>
            </a:r>
            <a:r>
              <a:rPr lang="ru-RU" sz="3000" dirty="0" smtClean="0"/>
              <a:t>то </a:t>
            </a:r>
            <a:r>
              <a:rPr lang="ru-RU" sz="3000" dirty="0"/>
              <a:t>называется список чемпионов для t </a:t>
            </a:r>
            <a:endParaRPr lang="ru-RU" sz="3000" dirty="0" smtClean="0"/>
          </a:p>
          <a:p>
            <a:pPr lvl="1" fontAlgn="base"/>
            <a:r>
              <a:rPr lang="ru-RU" sz="3000" dirty="0" smtClean="0"/>
              <a:t>(</a:t>
            </a:r>
            <a:r>
              <a:rPr lang="ru-RU" sz="3000" dirty="0"/>
              <a:t>он же "</a:t>
            </a:r>
            <a:r>
              <a:rPr lang="ru-RU" sz="3000" dirty="0" err="1"/>
              <a:t>fancy</a:t>
            </a:r>
            <a:r>
              <a:rPr lang="ru-RU" sz="3000" dirty="0"/>
              <a:t> </a:t>
            </a:r>
            <a:r>
              <a:rPr lang="ru-RU" sz="3000" dirty="0" err="1"/>
              <a:t>list</a:t>
            </a:r>
            <a:r>
              <a:rPr lang="ru-RU" sz="3000" dirty="0"/>
              <a:t>" или топ-документы для t)</a:t>
            </a:r>
          </a:p>
          <a:p>
            <a:pPr marL="0" indent="0" fontAlgn="base">
              <a:buNone/>
            </a:pPr>
            <a:r>
              <a:rPr lang="ru-RU" sz="3200" dirty="0" smtClean="0"/>
              <a:t>Параметр </a:t>
            </a:r>
            <a:r>
              <a:rPr lang="ru-RU" sz="3200" dirty="0"/>
              <a:t>r выбирается при построении индекса</a:t>
            </a:r>
          </a:p>
          <a:p>
            <a:pPr lvl="1" fontAlgn="base"/>
            <a:r>
              <a:rPr lang="ru-RU" sz="3000" dirty="0" smtClean="0"/>
              <a:t>Возможно</a:t>
            </a:r>
            <a:r>
              <a:rPr lang="ru-RU" sz="3000" dirty="0"/>
              <a:t>, что r &lt; K</a:t>
            </a:r>
          </a:p>
          <a:p>
            <a:pPr marL="0" indent="0" fontAlgn="base">
              <a:buNone/>
            </a:pPr>
            <a:r>
              <a:rPr lang="ru-RU" sz="3200" dirty="0" smtClean="0"/>
              <a:t>При </a:t>
            </a:r>
            <a:r>
              <a:rPr lang="ru-RU" sz="3200" dirty="0"/>
              <a:t>обработке запроса: вычислять оценки только для документов в списке чемпионов какого-то термина запроса</a:t>
            </a:r>
          </a:p>
          <a:p>
            <a:pPr lvl="1" fontAlgn="base"/>
            <a:r>
              <a:rPr lang="ru-RU" sz="3000" dirty="0" smtClean="0"/>
              <a:t>Выбрать </a:t>
            </a:r>
            <a:r>
              <a:rPr lang="ru-RU" sz="3000" dirty="0"/>
              <a:t>K документов с наибольшими оценками из этих кандидатов</a:t>
            </a:r>
          </a:p>
          <a:p>
            <a:pPr marL="0" indent="0" fontAlgn="base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016609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Задания на «подумать»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21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Как </a:t>
            </a:r>
            <a:r>
              <a:rPr lang="ru-RU" sz="3200" dirty="0"/>
              <a:t>списки чемпионов связаны с исключением индексов? </a:t>
            </a:r>
            <a:endParaRPr lang="ru-RU" sz="3200" dirty="0" smtClean="0"/>
          </a:p>
          <a:p>
            <a:pPr marL="0" indent="0" fontAlgn="base">
              <a:buNone/>
            </a:pPr>
            <a:r>
              <a:rPr lang="ru-RU" sz="3200" dirty="0" smtClean="0"/>
              <a:t>Можно </a:t>
            </a:r>
            <a:r>
              <a:rPr lang="ru-RU" sz="3200" dirty="0"/>
              <a:t>ли использовать их вместе?</a:t>
            </a:r>
          </a:p>
          <a:p>
            <a:pPr marL="0" indent="0" fontAlgn="base">
              <a:buNone/>
            </a:pPr>
            <a:r>
              <a:rPr lang="ru-RU" sz="3200" dirty="0" smtClean="0"/>
              <a:t>Как </a:t>
            </a:r>
            <a:r>
              <a:rPr lang="ru-RU" sz="3200" dirty="0"/>
              <a:t>реализовать списки чемпионов в инвертированном индексе?</a:t>
            </a:r>
          </a:p>
          <a:p>
            <a:pPr lvl="1" fontAlgn="base"/>
            <a:r>
              <a:rPr lang="ru-RU" sz="3000" dirty="0" smtClean="0"/>
              <a:t>Список </a:t>
            </a:r>
            <a:r>
              <a:rPr lang="ru-RU" sz="3000" dirty="0"/>
              <a:t>чемпионов не имеет ничего общего с малыми ID документов</a:t>
            </a:r>
          </a:p>
        </p:txBody>
      </p:sp>
    </p:spTree>
    <p:extLst>
      <p:ext uri="{BB962C8B-B14F-4D97-AF65-F5344CB8AC3E}">
        <p14:creationId xmlns:p14="http://schemas.microsoft.com/office/powerpoint/2010/main" val="2325260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Оценки статического качества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22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ru-RU" sz="3200" dirty="0" smtClean="0"/>
              <a:t>Хотим</a:t>
            </a:r>
            <a:r>
              <a:rPr lang="ru-RU" sz="3200" dirty="0"/>
              <a:t>, чтобы топ-ранжированные документы были одновременно </a:t>
            </a:r>
            <a:r>
              <a:rPr lang="ru-RU" sz="3200" dirty="0" err="1"/>
              <a:t>релевантны</a:t>
            </a:r>
            <a:r>
              <a:rPr lang="ru-RU" sz="3200" dirty="0"/>
              <a:t> </a:t>
            </a:r>
            <a:r>
              <a:rPr lang="ru-RU" sz="3200" dirty="0" smtClean="0"/>
              <a:t>и </a:t>
            </a:r>
            <a:r>
              <a:rPr lang="ru-RU" sz="3200" dirty="0"/>
              <a:t>авторитетны</a:t>
            </a:r>
          </a:p>
          <a:p>
            <a:pPr marL="0" indent="0" fontAlgn="base">
              <a:buNone/>
            </a:pPr>
            <a:r>
              <a:rPr lang="ru-RU" sz="3200" dirty="0" smtClean="0"/>
              <a:t>Релевантность </a:t>
            </a:r>
            <a:r>
              <a:rPr lang="ru-RU" sz="3200" dirty="0"/>
              <a:t>моделируется косинусом</a:t>
            </a:r>
          </a:p>
          <a:p>
            <a:pPr marL="0" indent="0" fontAlgn="base">
              <a:buNone/>
            </a:pPr>
            <a:r>
              <a:rPr lang="ru-RU" sz="3200" dirty="0" smtClean="0"/>
              <a:t>Авторитет - </a:t>
            </a:r>
            <a:r>
              <a:rPr lang="ru-RU" sz="3200" dirty="0"/>
              <a:t>это обычно независимое от запроса свойство документа</a:t>
            </a:r>
          </a:p>
          <a:p>
            <a:pPr marL="0" indent="0" fontAlgn="base">
              <a:buNone/>
            </a:pPr>
            <a:r>
              <a:rPr lang="ru-RU" sz="3200" dirty="0"/>
              <a:t>Примеры сигналов </a:t>
            </a:r>
            <a:r>
              <a:rPr lang="ru-RU" sz="3200" dirty="0" smtClean="0"/>
              <a:t>авторитета:</a:t>
            </a:r>
            <a:endParaRPr lang="ru-RU" sz="3200" dirty="0"/>
          </a:p>
          <a:p>
            <a:pPr marL="276225" lvl="1" indent="0" fontAlgn="base">
              <a:buNone/>
            </a:pPr>
            <a:r>
              <a:rPr lang="ru-RU" sz="3000" dirty="0"/>
              <a:t>▪ </a:t>
            </a:r>
            <a:r>
              <a:rPr lang="ru-RU" sz="3000" dirty="0" err="1"/>
              <a:t>Wikipedia</a:t>
            </a:r>
            <a:r>
              <a:rPr lang="ru-RU" sz="3000" dirty="0"/>
              <a:t> среди вебсайтов</a:t>
            </a:r>
          </a:p>
          <a:p>
            <a:pPr marL="276225" lvl="1" indent="0" fontAlgn="base">
              <a:buNone/>
            </a:pPr>
            <a:r>
              <a:rPr lang="ru-RU" sz="3000" dirty="0"/>
              <a:t>▪ Статьи в </a:t>
            </a:r>
            <a:r>
              <a:rPr lang="ru-RU" sz="3000" dirty="0" smtClean="0"/>
              <a:t>определенных </a:t>
            </a:r>
            <a:r>
              <a:rPr lang="ru-RU" sz="3000" dirty="0"/>
              <a:t>газетах</a:t>
            </a:r>
          </a:p>
          <a:p>
            <a:pPr marL="276225" lvl="1" indent="0" fontAlgn="base">
              <a:buNone/>
            </a:pPr>
            <a:r>
              <a:rPr lang="ru-RU" sz="3000" dirty="0"/>
              <a:t>▪ Статья со множеством цитирований</a:t>
            </a:r>
          </a:p>
          <a:p>
            <a:pPr marL="276225" lvl="1" indent="0" fontAlgn="base">
              <a:buNone/>
            </a:pPr>
            <a:r>
              <a:rPr lang="ru-RU" sz="3000" dirty="0"/>
              <a:t>▪ Много </a:t>
            </a:r>
            <a:r>
              <a:rPr lang="ru-RU" sz="3000" dirty="0" err="1"/>
              <a:t>репостов</a:t>
            </a:r>
            <a:r>
              <a:rPr lang="ru-RU" sz="3000" dirty="0"/>
              <a:t> на </a:t>
            </a:r>
            <a:r>
              <a:rPr lang="ru-RU" sz="3000" dirty="0" smtClean="0"/>
              <a:t>избранных сайтах</a:t>
            </a:r>
            <a:endParaRPr lang="ru-RU" sz="3000" dirty="0"/>
          </a:p>
          <a:p>
            <a:pPr marL="276225" lvl="1" indent="0" fontAlgn="base">
              <a:buNone/>
            </a:pPr>
            <a:r>
              <a:rPr lang="ru-RU" sz="3000" dirty="0"/>
              <a:t>▪ (</a:t>
            </a:r>
            <a:r>
              <a:rPr lang="ru-RU" sz="3000" dirty="0" err="1"/>
              <a:t>PageRank</a:t>
            </a:r>
            <a:r>
              <a:rPr lang="ru-RU" sz="3000" dirty="0"/>
              <a:t>)</a:t>
            </a:r>
          </a:p>
          <a:p>
            <a:pPr marL="0" indent="0" fontAlgn="base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588499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Моделирование авторитета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23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▪ </a:t>
            </a:r>
            <a:r>
              <a:rPr lang="ru-RU" sz="3200" dirty="0"/>
              <a:t>Присваиваем каждому документу независимую от запроса оценку качества g(d) </a:t>
            </a:r>
            <a:r>
              <a:rPr lang="ru-RU" sz="3200" dirty="0" smtClean="0"/>
              <a:t>в </a:t>
            </a:r>
            <a:r>
              <a:rPr lang="en-US" sz="3200" dirty="0">
                <a:ea typeface="ＭＳ Ｐゴシック" pitchFamily="34" charset="-128"/>
              </a:rPr>
              <a:t>[0,1] </a:t>
            </a:r>
            <a:endParaRPr lang="ru-RU" sz="3200" dirty="0" smtClean="0">
              <a:ea typeface="ＭＳ Ｐゴシック" pitchFamily="34" charset="-128"/>
            </a:endParaRPr>
          </a:p>
          <a:p>
            <a:pPr marL="0" indent="0" fontAlgn="base">
              <a:buNone/>
            </a:pPr>
            <a:r>
              <a:rPr lang="ru-RU" sz="3200" dirty="0" smtClean="0"/>
              <a:t>▪ </a:t>
            </a:r>
            <a:r>
              <a:rPr lang="ru-RU" sz="3200" dirty="0"/>
              <a:t>Таким образом, количество цитирований масштабируется </a:t>
            </a:r>
            <a:r>
              <a:rPr lang="ru-RU" sz="3200" dirty="0" smtClean="0"/>
              <a:t>в </a:t>
            </a:r>
            <a:r>
              <a:rPr lang="en-US" sz="3200" dirty="0">
                <a:ea typeface="ＭＳ Ｐゴシック" pitchFamily="34" charset="-128"/>
              </a:rPr>
              <a:t>[0,1</a:t>
            </a:r>
            <a:r>
              <a:rPr lang="en-US" sz="3200" dirty="0" smtClean="0">
                <a:ea typeface="ＭＳ Ｐゴシック" pitchFamily="34" charset="-128"/>
              </a:rPr>
              <a:t>]</a:t>
            </a:r>
            <a:endParaRPr lang="ru-RU" sz="3200" dirty="0" smtClean="0">
              <a:ea typeface="ＭＳ Ｐゴシック" pitchFamily="34" charset="-128"/>
            </a:endParaRPr>
          </a:p>
          <a:p>
            <a:pPr marL="0" indent="0" fontAlgn="base">
              <a:buNone/>
            </a:pPr>
            <a:r>
              <a:rPr lang="ru-RU" sz="3200" dirty="0" smtClean="0"/>
              <a:t>Предложите </a:t>
            </a:r>
            <a:r>
              <a:rPr lang="ru-RU" sz="3200" dirty="0"/>
              <a:t>формулу для </a:t>
            </a:r>
            <a:r>
              <a:rPr lang="ru-RU" sz="3200" dirty="0" smtClean="0"/>
              <a:t>этого перевода.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2330337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Итоговая оценка (</a:t>
            </a:r>
            <a:r>
              <a:rPr lang="en-US" b="1" dirty="0"/>
              <a:t>Net Score)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24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Рассмотрим </a:t>
            </a:r>
            <a:r>
              <a:rPr lang="ru-RU" sz="3200" dirty="0"/>
              <a:t>простую комбинацию релевантности и авторитета:</a:t>
            </a:r>
          </a:p>
          <a:p>
            <a:pPr marL="0" indent="0" fontAlgn="base">
              <a:buNone/>
            </a:pPr>
            <a:r>
              <a:rPr lang="ru-RU" sz="3200" dirty="0" err="1" smtClean="0"/>
              <a:t>net-score</a:t>
            </a:r>
            <a:r>
              <a:rPr lang="ru-RU" sz="3200" dirty="0" smtClean="0"/>
              <a:t>(</a:t>
            </a:r>
            <a:r>
              <a:rPr lang="ru-RU" sz="3200" dirty="0" err="1" smtClean="0"/>
              <a:t>q,d</a:t>
            </a:r>
            <a:r>
              <a:rPr lang="ru-RU" sz="3200" dirty="0"/>
              <a:t>) = g(d) + </a:t>
            </a:r>
            <a:r>
              <a:rPr lang="ru-RU" sz="3200" dirty="0" err="1"/>
              <a:t>cos</a:t>
            </a:r>
            <a:r>
              <a:rPr lang="ru-RU" sz="3200" dirty="0"/>
              <a:t>(</a:t>
            </a:r>
            <a:r>
              <a:rPr lang="ru-RU" sz="3200" dirty="0" err="1"/>
              <a:t>q,d</a:t>
            </a:r>
            <a:r>
              <a:rPr lang="ru-RU" sz="3200" dirty="0"/>
              <a:t>)</a:t>
            </a:r>
          </a:p>
          <a:p>
            <a:pPr lvl="1" fontAlgn="base"/>
            <a:r>
              <a:rPr lang="ru-RU" sz="3000" dirty="0" smtClean="0"/>
              <a:t>Можно </a:t>
            </a:r>
            <a:r>
              <a:rPr lang="ru-RU" sz="3000" dirty="0"/>
              <a:t>использовать другие линейные комбинации</a:t>
            </a:r>
          </a:p>
          <a:p>
            <a:pPr lvl="1" fontAlgn="base"/>
            <a:r>
              <a:rPr lang="ru-RU" sz="3000" dirty="0" smtClean="0"/>
              <a:t>Любая </a:t>
            </a:r>
            <a:r>
              <a:rPr lang="ru-RU" sz="3000" dirty="0"/>
              <a:t>функция двух "сигналов" </a:t>
            </a:r>
            <a:r>
              <a:rPr lang="ru-RU" sz="3000" dirty="0" smtClean="0"/>
              <a:t>удовлетворенности </a:t>
            </a:r>
            <a:r>
              <a:rPr lang="ru-RU" sz="3000" dirty="0"/>
              <a:t>пользователя</a:t>
            </a:r>
          </a:p>
          <a:p>
            <a:pPr marL="0" indent="0" fontAlgn="base">
              <a:buNone/>
            </a:pPr>
            <a:r>
              <a:rPr lang="ru-RU" sz="3200" dirty="0" smtClean="0"/>
              <a:t>Теперь </a:t>
            </a:r>
            <a:r>
              <a:rPr lang="ru-RU" sz="3200" dirty="0"/>
              <a:t>ищем K документов с наибольшей итоговой оценкой</a:t>
            </a:r>
          </a:p>
          <a:p>
            <a:pPr marL="0" indent="0" fontAlgn="base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80552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Быстрые методы для топ K по итоговой оценке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25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Первая </a:t>
            </a:r>
            <a:r>
              <a:rPr lang="ru-RU" sz="3200" dirty="0"/>
              <a:t>идея: упорядочить все постинги по g(d)</a:t>
            </a:r>
          </a:p>
          <a:p>
            <a:pPr marL="0" indent="0" fontAlgn="base">
              <a:buNone/>
            </a:pPr>
            <a:r>
              <a:rPr lang="ru-RU" sz="3200" dirty="0" smtClean="0"/>
              <a:t>Ключевое </a:t>
            </a:r>
            <a:r>
              <a:rPr lang="ru-RU" sz="3200" dirty="0"/>
              <a:t>свойство: это единая упорядоченность для всех постингов</a:t>
            </a:r>
          </a:p>
          <a:p>
            <a:pPr marL="0" indent="0" fontAlgn="base">
              <a:buNone/>
            </a:pPr>
            <a:r>
              <a:rPr lang="ru-RU" sz="3200" dirty="0" smtClean="0"/>
              <a:t>Можно </a:t>
            </a:r>
            <a:r>
              <a:rPr lang="ru-RU" sz="3200" dirty="0"/>
              <a:t>одновременно проходить постинги терминов запроса для:</a:t>
            </a:r>
          </a:p>
          <a:p>
            <a:pPr lvl="1" fontAlgn="base"/>
            <a:r>
              <a:rPr lang="ru-RU" sz="3000" dirty="0" smtClean="0"/>
              <a:t>Пересечения </a:t>
            </a:r>
            <a:r>
              <a:rPr lang="ru-RU" sz="3000" dirty="0"/>
              <a:t>постингов</a:t>
            </a:r>
          </a:p>
          <a:p>
            <a:pPr lvl="1" fontAlgn="base"/>
            <a:r>
              <a:rPr lang="ru-RU" sz="3000" dirty="0" smtClean="0"/>
              <a:t>Вычисления </a:t>
            </a:r>
            <a:r>
              <a:rPr lang="ru-RU" sz="3000" dirty="0"/>
              <a:t>косинусной </a:t>
            </a:r>
            <a:r>
              <a:rPr lang="ru-RU" sz="3000" dirty="0" smtClean="0"/>
              <a:t>оценки</a:t>
            </a: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3761469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Почему упорядочивать по </a:t>
            </a:r>
            <a:r>
              <a:rPr lang="en-US" b="1" dirty="0"/>
              <a:t>g(d)?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26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При таком подходе </a:t>
            </a:r>
            <a:r>
              <a:rPr lang="ru-RU" sz="3200" dirty="0"/>
              <a:t>документы с высокой оценкой появятся в начале постингов</a:t>
            </a:r>
          </a:p>
          <a:p>
            <a:pPr marL="0" indent="0" fontAlgn="base">
              <a:buNone/>
            </a:pPr>
            <a:r>
              <a:rPr lang="ru-RU" sz="3200" dirty="0" smtClean="0"/>
              <a:t>В </a:t>
            </a:r>
            <a:r>
              <a:rPr lang="ru-RU" sz="3200" dirty="0"/>
              <a:t>приложениях с ограничением по времени (например, вернуть результаты за 50 </a:t>
            </a:r>
            <a:r>
              <a:rPr lang="ru-RU" sz="3200" dirty="0" err="1"/>
              <a:t>мс</a:t>
            </a:r>
            <a:r>
              <a:rPr lang="ru-RU" sz="3200" dirty="0"/>
              <a:t>) это позволяет остановить обход постингов </a:t>
            </a:r>
            <a:r>
              <a:rPr lang="ru-RU" sz="3200" dirty="0" smtClean="0"/>
              <a:t>за обозначенное время</a:t>
            </a:r>
            <a:endParaRPr lang="ru-RU" sz="3200" dirty="0"/>
          </a:p>
          <a:p>
            <a:pPr lvl="1" fontAlgn="base"/>
            <a:r>
              <a:rPr lang="ru-RU" sz="3000" dirty="0" smtClean="0"/>
              <a:t>Нет </a:t>
            </a:r>
            <a:r>
              <a:rPr lang="ru-RU" sz="3000" dirty="0"/>
              <a:t>необходимости вычислять оценки для всех документов в постингах</a:t>
            </a:r>
          </a:p>
        </p:txBody>
      </p:sp>
    </p:spTree>
    <p:extLst>
      <p:ext uri="{BB962C8B-B14F-4D97-AF65-F5344CB8AC3E}">
        <p14:creationId xmlns:p14="http://schemas.microsoft.com/office/powerpoint/2010/main" val="198860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Списки чемпионов с упорядочением g(d)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27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Можно </a:t>
            </a:r>
            <a:r>
              <a:rPr lang="ru-RU" sz="3200" dirty="0"/>
              <a:t>комбинировать списки чемпионов с упорядочением g(d)</a:t>
            </a:r>
          </a:p>
          <a:p>
            <a:pPr marL="0" indent="0" fontAlgn="base">
              <a:buNone/>
            </a:pPr>
            <a:r>
              <a:rPr lang="ru-RU" sz="3200" dirty="0" smtClean="0"/>
              <a:t>Для </a:t>
            </a:r>
            <a:r>
              <a:rPr lang="ru-RU" sz="3200" dirty="0"/>
              <a:t>каждого термина </a:t>
            </a:r>
            <a:r>
              <a:rPr lang="ru-RU" sz="3200" dirty="0" smtClean="0"/>
              <a:t>ведем </a:t>
            </a:r>
            <a:r>
              <a:rPr lang="ru-RU" sz="3200" dirty="0"/>
              <a:t>список чемпионов r документов с наибольшим g(d) + </a:t>
            </a:r>
            <a:r>
              <a:rPr lang="ru-RU" sz="3200" dirty="0" err="1"/>
              <a:t>tf-idf</a:t>
            </a:r>
            <a:endParaRPr lang="ru-RU" sz="3200" dirty="0"/>
          </a:p>
          <a:p>
            <a:pPr marL="0" indent="0" fontAlgn="base">
              <a:buNone/>
            </a:pPr>
            <a:r>
              <a:rPr lang="ru-RU" sz="3200" dirty="0" smtClean="0"/>
              <a:t>Ищем </a:t>
            </a:r>
            <a:r>
              <a:rPr lang="ru-RU" sz="3200" dirty="0"/>
              <a:t>топ-K результаты только в этих списках чемпионов</a:t>
            </a:r>
          </a:p>
          <a:p>
            <a:pPr marL="0" indent="0" fontAlgn="base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602315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Списки "высокие" и "низкие" (</a:t>
            </a:r>
            <a:r>
              <a:rPr lang="ru-RU" b="1" dirty="0" err="1"/>
              <a:t>High</a:t>
            </a:r>
            <a:r>
              <a:rPr lang="ru-RU" b="1" dirty="0"/>
              <a:t> </a:t>
            </a:r>
            <a:r>
              <a:rPr lang="ru-RU" b="1" dirty="0" err="1"/>
              <a:t>and</a:t>
            </a:r>
            <a:r>
              <a:rPr lang="ru-RU" b="1" dirty="0"/>
              <a:t> </a:t>
            </a:r>
            <a:r>
              <a:rPr lang="ru-RU" b="1" dirty="0" err="1"/>
              <a:t>Low</a:t>
            </a:r>
            <a:r>
              <a:rPr lang="ru-RU" b="1" dirty="0"/>
              <a:t> </a:t>
            </a:r>
            <a:r>
              <a:rPr lang="ru-RU" b="1" dirty="0" err="1"/>
              <a:t>lists</a:t>
            </a:r>
            <a:r>
              <a:rPr lang="ru-RU" b="1" dirty="0"/>
              <a:t>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28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ru-RU" sz="3200" dirty="0" smtClean="0"/>
              <a:t>Для </a:t>
            </a:r>
            <a:r>
              <a:rPr lang="ru-RU" sz="3200" dirty="0"/>
              <a:t>каждого термина </a:t>
            </a:r>
            <a:r>
              <a:rPr lang="ru-RU" sz="3200" dirty="0" smtClean="0"/>
              <a:t>ведем </a:t>
            </a:r>
            <a:r>
              <a:rPr lang="ru-RU" sz="3200" dirty="0"/>
              <a:t>два списка постингов: "высокий" и "низкий"</a:t>
            </a:r>
          </a:p>
          <a:p>
            <a:pPr lvl="1" fontAlgn="base"/>
            <a:r>
              <a:rPr lang="ru-RU" sz="3000" dirty="0" smtClean="0"/>
              <a:t>"</a:t>
            </a:r>
            <a:r>
              <a:rPr lang="ru-RU" sz="3000" dirty="0"/>
              <a:t>Высокий" </a:t>
            </a:r>
            <a:r>
              <a:rPr lang="ru-RU" sz="3000" dirty="0" smtClean="0"/>
              <a:t>- </a:t>
            </a:r>
            <a:r>
              <a:rPr lang="ru-RU" sz="3000" dirty="0"/>
              <a:t>это список чемпионов</a:t>
            </a:r>
          </a:p>
          <a:p>
            <a:pPr marL="0" indent="0" fontAlgn="base">
              <a:buNone/>
            </a:pPr>
            <a:r>
              <a:rPr lang="ru-RU" sz="3200" dirty="0" smtClean="0"/>
              <a:t>При </a:t>
            </a:r>
            <a:r>
              <a:rPr lang="ru-RU" sz="3200" dirty="0"/>
              <a:t>обработке запроса сначала проходим только "высокие" списки</a:t>
            </a:r>
          </a:p>
          <a:p>
            <a:pPr lvl="1" fontAlgn="base"/>
            <a:r>
              <a:rPr lang="ru-RU" sz="3000" dirty="0" smtClean="0"/>
              <a:t>Если </a:t>
            </a:r>
            <a:r>
              <a:rPr lang="ru-RU" sz="3000" dirty="0"/>
              <a:t>получили &gt; K документов, выбираем топ K и останавливаемся</a:t>
            </a:r>
          </a:p>
          <a:p>
            <a:pPr lvl="1" fontAlgn="base"/>
            <a:r>
              <a:rPr lang="ru-RU" sz="3000" dirty="0" smtClean="0"/>
              <a:t>Иначе </a:t>
            </a:r>
            <a:r>
              <a:rPr lang="ru-RU" sz="3000" dirty="0"/>
              <a:t>переходим к "низким" спискам</a:t>
            </a:r>
          </a:p>
          <a:p>
            <a:pPr marL="0" indent="0" fontAlgn="base">
              <a:buNone/>
            </a:pPr>
            <a:r>
              <a:rPr lang="ru-RU" sz="3200" dirty="0" smtClean="0"/>
              <a:t>Можно </a:t>
            </a:r>
            <a:r>
              <a:rPr lang="ru-RU" sz="3200" dirty="0"/>
              <a:t>использовать даже для простых косинусных оценок, без глобального качества g(d)</a:t>
            </a:r>
          </a:p>
          <a:p>
            <a:pPr marL="0" indent="0" fontAlgn="base">
              <a:buNone/>
            </a:pPr>
            <a:r>
              <a:rPr lang="ru-RU" sz="3200" dirty="0" smtClean="0"/>
              <a:t>Способ </a:t>
            </a:r>
            <a:r>
              <a:rPr lang="ru-RU" sz="3200" dirty="0"/>
              <a:t>разделить индекс на </a:t>
            </a:r>
            <a:r>
              <a:rPr lang="ru-RU" sz="3200" b="1" dirty="0"/>
              <a:t>два уровня</a:t>
            </a:r>
          </a:p>
        </p:txBody>
      </p:sp>
    </p:spTree>
    <p:extLst>
      <p:ext uri="{BB962C8B-B14F-4D97-AF65-F5344CB8AC3E}">
        <p14:creationId xmlns:p14="http://schemas.microsoft.com/office/powerpoint/2010/main" val="1861774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Постинги, упорядоченные по влиянию (</a:t>
            </a:r>
            <a:r>
              <a:rPr lang="ru-RU" b="1" dirty="0" err="1"/>
              <a:t>Impact-ordered</a:t>
            </a:r>
            <a:r>
              <a:rPr lang="ru-RU" b="1" dirty="0"/>
              <a:t> </a:t>
            </a:r>
            <a:r>
              <a:rPr lang="ru-RU" b="1" dirty="0" err="1"/>
              <a:t>postings</a:t>
            </a:r>
            <a:r>
              <a:rPr lang="ru-RU" b="1" dirty="0"/>
              <a:t>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29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399656" y="1341803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Хотим </a:t>
            </a:r>
            <a:r>
              <a:rPr lang="ru-RU" sz="3200" dirty="0"/>
              <a:t>вычислять оценки только для документов с достаточно высоким </a:t>
            </a:r>
            <a:r>
              <a:rPr lang="ru-RU" sz="3200" dirty="0" err="1" smtClean="0"/>
              <a:t>wf</a:t>
            </a:r>
            <a:r>
              <a:rPr lang="ru-RU" sz="3200" baseline="-25000" dirty="0" err="1" smtClean="0"/>
              <a:t>t,d</a:t>
            </a:r>
            <a:endParaRPr lang="ru-RU" sz="3200" baseline="-25000" dirty="0"/>
          </a:p>
          <a:p>
            <a:pPr marL="0" indent="0" fontAlgn="base">
              <a:buNone/>
            </a:pPr>
            <a:r>
              <a:rPr lang="ru-RU" sz="3200" dirty="0" smtClean="0"/>
              <a:t>Сортируем </a:t>
            </a:r>
            <a:r>
              <a:rPr lang="ru-RU" sz="3200" dirty="0"/>
              <a:t>каждый список постингов по </a:t>
            </a:r>
            <a:r>
              <a:rPr lang="ru-RU" sz="3200" dirty="0" err="1" smtClean="0"/>
              <a:t>wf</a:t>
            </a:r>
            <a:r>
              <a:rPr lang="ru-RU" sz="3200" baseline="-25000" dirty="0" err="1" smtClean="0"/>
              <a:t>t,d</a:t>
            </a:r>
            <a:endParaRPr lang="ru-RU" sz="3200" dirty="0"/>
          </a:p>
          <a:p>
            <a:pPr marL="0" indent="0" fontAlgn="base">
              <a:buNone/>
            </a:pPr>
            <a:r>
              <a:rPr lang="ru-RU" sz="3200" dirty="0" smtClean="0"/>
              <a:t>Из-за этого </a:t>
            </a:r>
            <a:r>
              <a:rPr lang="ru-RU" sz="3200" dirty="0"/>
              <a:t>постинги не в единой упорядоченности!</a:t>
            </a:r>
          </a:p>
          <a:p>
            <a:pPr marL="0" indent="0" fontAlgn="base">
              <a:buNone/>
            </a:pPr>
            <a:r>
              <a:rPr lang="ru-RU" sz="3200" dirty="0" smtClean="0"/>
              <a:t>Как </a:t>
            </a:r>
            <a:r>
              <a:rPr lang="ru-RU" sz="3200" dirty="0"/>
              <a:t>вычислять оценки и выбирать топ K?</a:t>
            </a:r>
          </a:p>
        </p:txBody>
      </p:sp>
    </p:spTree>
    <p:extLst>
      <p:ext uri="{BB962C8B-B14F-4D97-AF65-F5344CB8AC3E}">
        <p14:creationId xmlns:p14="http://schemas.microsoft.com/office/powerpoint/2010/main" val="28298009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Идея 1: Ранняя остановка (</a:t>
            </a:r>
            <a:r>
              <a:rPr lang="ru-RU" b="1" dirty="0" err="1"/>
              <a:t>Early</a:t>
            </a:r>
            <a:r>
              <a:rPr lang="ru-RU" b="1" dirty="0"/>
              <a:t> </a:t>
            </a:r>
            <a:r>
              <a:rPr lang="ru-RU" b="1" dirty="0" err="1"/>
              <a:t>Termination</a:t>
            </a:r>
            <a:r>
              <a:rPr lang="ru-RU" b="1" dirty="0"/>
              <a:t>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30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При </a:t>
            </a:r>
            <a:r>
              <a:rPr lang="ru-RU" sz="3200" dirty="0"/>
              <a:t>обходе постингов термина t останавливаемся </a:t>
            </a:r>
            <a:r>
              <a:rPr lang="ru-RU" sz="3200" dirty="0" smtClean="0"/>
              <a:t>после:</a:t>
            </a:r>
          </a:p>
          <a:p>
            <a:pPr lvl="1" fontAlgn="base"/>
            <a:r>
              <a:rPr lang="ru-RU" sz="3000" dirty="0" smtClean="0"/>
              <a:t>Фиксированного числа r документов</a:t>
            </a:r>
          </a:p>
          <a:p>
            <a:pPr lvl="1" fontAlgn="base"/>
            <a:r>
              <a:rPr lang="ru-RU" sz="3000" dirty="0" smtClean="0"/>
              <a:t>Когда </a:t>
            </a:r>
            <a:r>
              <a:rPr lang="ru-RU" sz="2800" dirty="0" err="1" smtClean="0"/>
              <a:t>wf</a:t>
            </a:r>
            <a:r>
              <a:rPr lang="ru-RU" sz="2800" baseline="-25000" dirty="0" err="1" smtClean="0"/>
              <a:t>t,d</a:t>
            </a:r>
            <a:r>
              <a:rPr lang="ru-RU" sz="2800" baseline="-25000" dirty="0" smtClean="0"/>
              <a:t> </a:t>
            </a:r>
            <a:r>
              <a:rPr lang="ru-RU" sz="3000" dirty="0" smtClean="0"/>
              <a:t> станет </a:t>
            </a:r>
            <a:r>
              <a:rPr lang="ru-RU" sz="3000" dirty="0"/>
              <a:t>ниже </a:t>
            </a:r>
            <a:r>
              <a:rPr lang="ru-RU" sz="3000" dirty="0" smtClean="0"/>
              <a:t>порогового значения</a:t>
            </a:r>
            <a:endParaRPr lang="ru-RU" sz="3000" dirty="0"/>
          </a:p>
          <a:p>
            <a:pPr marL="0" indent="0" fontAlgn="base">
              <a:buNone/>
            </a:pPr>
            <a:r>
              <a:rPr lang="ru-RU" sz="3200" dirty="0" smtClean="0"/>
              <a:t>Берем </a:t>
            </a:r>
            <a:r>
              <a:rPr lang="ru-RU" sz="3200" dirty="0"/>
              <a:t>объединение полученных множеств (по одному из постингов каждого термина запроса)</a:t>
            </a:r>
          </a:p>
          <a:p>
            <a:pPr marL="0" indent="0" fontAlgn="base">
              <a:buNone/>
            </a:pPr>
            <a:r>
              <a:rPr lang="ru-RU" sz="3200" dirty="0" smtClean="0"/>
              <a:t>Вычисляем </a:t>
            </a:r>
            <a:r>
              <a:rPr lang="ru-RU" sz="3200" dirty="0"/>
              <a:t>оценки только для документов в этом объединении</a:t>
            </a:r>
          </a:p>
          <a:p>
            <a:pPr marL="0" indent="0" fontAlgn="base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462253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Идея 2: Упорядочение терминов по </a:t>
            </a:r>
            <a:r>
              <a:rPr lang="ru-RU" b="1" dirty="0" err="1"/>
              <a:t>idf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31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При </a:t>
            </a:r>
            <a:r>
              <a:rPr lang="ru-RU" sz="3200" dirty="0"/>
              <a:t>рассмотрении постингов терминов запроса</a:t>
            </a:r>
          </a:p>
          <a:p>
            <a:pPr marL="0" indent="0" fontAlgn="base">
              <a:buNone/>
            </a:pPr>
            <a:r>
              <a:rPr lang="ru-RU" sz="3200" dirty="0" smtClean="0"/>
              <a:t>Смотрим </a:t>
            </a:r>
            <a:r>
              <a:rPr lang="ru-RU" sz="3200" dirty="0"/>
              <a:t>их в порядке убывания </a:t>
            </a:r>
            <a:r>
              <a:rPr lang="ru-RU" sz="3200" dirty="0" err="1"/>
              <a:t>idf</a:t>
            </a:r>
            <a:endParaRPr lang="ru-RU" sz="3200" dirty="0"/>
          </a:p>
          <a:p>
            <a:pPr marL="276225" lvl="1" indent="0" fontAlgn="base">
              <a:buNone/>
            </a:pPr>
            <a:r>
              <a:rPr lang="ru-RU" sz="3000" dirty="0"/>
              <a:t>▪ Термины с высокой </a:t>
            </a:r>
            <a:r>
              <a:rPr lang="ru-RU" sz="3000" dirty="0" err="1"/>
              <a:t>idf</a:t>
            </a:r>
            <a:r>
              <a:rPr lang="ru-RU" sz="3000" dirty="0"/>
              <a:t> вносят больше в оценку</a:t>
            </a:r>
          </a:p>
          <a:p>
            <a:pPr marL="0" indent="0" fontAlgn="base">
              <a:buNone/>
            </a:pPr>
            <a:r>
              <a:rPr lang="ru-RU" sz="3200" dirty="0" smtClean="0"/>
              <a:t>По </a:t>
            </a:r>
            <a:r>
              <a:rPr lang="ru-RU" sz="3200" dirty="0"/>
              <a:t>мере обновления вклада каждого термина в оценку</a:t>
            </a:r>
          </a:p>
          <a:p>
            <a:pPr marL="276225" lvl="1" indent="0" fontAlgn="base">
              <a:buNone/>
            </a:pPr>
            <a:r>
              <a:rPr lang="ru-RU" sz="3000" dirty="0"/>
              <a:t>▪ Останавливаемся, если оценки документов практически не меняются</a:t>
            </a:r>
          </a:p>
          <a:p>
            <a:pPr marL="0" indent="0" fontAlgn="base">
              <a:buNone/>
            </a:pPr>
            <a:r>
              <a:rPr lang="ru-RU" sz="3200" dirty="0" smtClean="0"/>
              <a:t>Применимо </a:t>
            </a:r>
            <a:r>
              <a:rPr lang="ru-RU" sz="3200" dirty="0"/>
              <a:t>к косинусным или другим итоговым оценкам</a:t>
            </a:r>
          </a:p>
          <a:p>
            <a:pPr marL="0" indent="0" fontAlgn="base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278154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10644317" cy="432000"/>
          </a:xfrm>
        </p:spPr>
        <p:txBody>
          <a:bodyPr/>
          <a:lstStyle/>
          <a:p>
            <a:r>
              <a:rPr lang="ru-RU" b="1" dirty="0" smtClean="0"/>
              <a:t>Кластерное </a:t>
            </a:r>
            <a:r>
              <a:rPr lang="ru-RU" b="1" dirty="0"/>
              <a:t>отсеивание (</a:t>
            </a:r>
            <a:r>
              <a:rPr lang="en-US" b="1" dirty="0"/>
              <a:t>Cluster Pruning)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193738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 smtClean="0"/>
              <a:t>Этап </a:t>
            </a:r>
            <a:r>
              <a:rPr lang="ru-RU" sz="3200" dirty="0"/>
              <a:t>предварительной обработки</a:t>
            </a:r>
          </a:p>
          <a:p>
            <a:pPr marL="0" indent="0">
              <a:buNone/>
            </a:pPr>
            <a:r>
              <a:rPr lang="ru-RU" sz="3200" dirty="0" smtClean="0"/>
              <a:t>Выбираем </a:t>
            </a:r>
            <a:r>
              <a:rPr lang="en-US" altLang="zh-CN" sz="3200" dirty="0">
                <a:ea typeface="宋体" pitchFamily="2" charset="-122"/>
                <a:sym typeface="Symbol" pitchFamily="18" charset="2"/>
              </a:rPr>
              <a:t>N </a:t>
            </a:r>
            <a:r>
              <a:rPr lang="ru-RU" sz="3200" dirty="0" smtClean="0"/>
              <a:t>документов </a:t>
            </a:r>
            <a:r>
              <a:rPr lang="ru-RU" sz="3200" dirty="0"/>
              <a:t>случайно: называем их лидерами</a:t>
            </a:r>
          </a:p>
          <a:p>
            <a:pPr marL="0" indent="0">
              <a:buNone/>
            </a:pPr>
            <a:r>
              <a:rPr lang="ru-RU" sz="3200" dirty="0" smtClean="0"/>
              <a:t>Для </a:t>
            </a:r>
            <a:r>
              <a:rPr lang="ru-RU" sz="3200" dirty="0"/>
              <a:t>каждого другого документа </a:t>
            </a:r>
            <a:r>
              <a:rPr lang="ru-RU" sz="3200" dirty="0" err="1"/>
              <a:t>предвычисляем</a:t>
            </a:r>
            <a:r>
              <a:rPr lang="ru-RU" sz="3200" dirty="0"/>
              <a:t> его ближайшего лидера</a:t>
            </a:r>
          </a:p>
          <a:p>
            <a:pPr lvl="1"/>
            <a:r>
              <a:rPr lang="ru-RU" sz="3000" dirty="0" smtClean="0"/>
              <a:t>Документы</a:t>
            </a:r>
            <a:r>
              <a:rPr lang="ru-RU" sz="3000" dirty="0"/>
              <a:t>, </a:t>
            </a:r>
            <a:r>
              <a:rPr lang="ru-RU" sz="3000" dirty="0" smtClean="0"/>
              <a:t>прикрепленные </a:t>
            </a:r>
            <a:r>
              <a:rPr lang="ru-RU" sz="3000" dirty="0"/>
              <a:t>к лидеру — его последователи</a:t>
            </a:r>
          </a:p>
          <a:p>
            <a:pPr lvl="1"/>
            <a:r>
              <a:rPr lang="ru-RU" sz="3000" dirty="0" smtClean="0"/>
              <a:t>Обычно </a:t>
            </a:r>
            <a:r>
              <a:rPr lang="ru-RU" sz="3000" dirty="0"/>
              <a:t>каждый лидер имеет ~ 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N</a:t>
            </a:r>
            <a:r>
              <a:rPr lang="ru-RU" sz="3000" dirty="0" smtClean="0"/>
              <a:t> </a:t>
            </a:r>
            <a:r>
              <a:rPr lang="ru-RU" sz="3000" dirty="0"/>
              <a:t>последователей</a:t>
            </a:r>
          </a:p>
          <a:p>
            <a:pPr marL="0" indent="0">
              <a:buNone/>
            </a:pPr>
            <a:endParaRPr lang="ru-RU" sz="2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32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488222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10644317" cy="432000"/>
          </a:xfrm>
        </p:spPr>
        <p:txBody>
          <a:bodyPr/>
          <a:lstStyle/>
          <a:p>
            <a:r>
              <a:rPr lang="ru-RU" b="1" dirty="0" smtClean="0"/>
              <a:t>Кластерное </a:t>
            </a:r>
            <a:r>
              <a:rPr lang="ru-RU" b="1" dirty="0"/>
              <a:t>отсеивание (</a:t>
            </a:r>
            <a:r>
              <a:rPr lang="en-US" b="1" dirty="0"/>
              <a:t>Cluster Pruning)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193738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Обработка запроса</a:t>
            </a:r>
          </a:p>
          <a:p>
            <a:pPr marL="0" indent="0">
              <a:buNone/>
            </a:pPr>
            <a:r>
              <a:rPr lang="ru-RU" sz="2800" dirty="0" smtClean="0"/>
              <a:t>Для </a:t>
            </a:r>
            <a:r>
              <a:rPr lang="ru-RU" sz="2800" dirty="0"/>
              <a:t>запроса Q:</a:t>
            </a:r>
          </a:p>
          <a:p>
            <a:pPr lvl="1"/>
            <a:r>
              <a:rPr lang="ru-RU" sz="2800" dirty="0" smtClean="0"/>
              <a:t>Находим </a:t>
            </a:r>
            <a:r>
              <a:rPr lang="ru-RU" sz="2800" dirty="0"/>
              <a:t>его ближайшего лидера L</a:t>
            </a:r>
          </a:p>
          <a:p>
            <a:pPr lvl="1"/>
            <a:r>
              <a:rPr lang="ru-RU" sz="2800" dirty="0" smtClean="0"/>
              <a:t>Ищем </a:t>
            </a:r>
            <a:r>
              <a:rPr lang="ru-RU" sz="2800" dirty="0"/>
              <a:t>K ближайших документов среди последователей L</a:t>
            </a:r>
          </a:p>
          <a:p>
            <a:pPr lvl="1"/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33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42319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10644317" cy="432000"/>
          </a:xfrm>
        </p:spPr>
        <p:txBody>
          <a:bodyPr/>
          <a:lstStyle/>
          <a:p>
            <a:r>
              <a:rPr lang="ru-RU" b="1" dirty="0" smtClean="0"/>
              <a:t>Кластерное </a:t>
            </a:r>
            <a:r>
              <a:rPr lang="ru-RU" b="1" dirty="0"/>
              <a:t>отсеивание (</a:t>
            </a:r>
            <a:r>
              <a:rPr lang="en-US" b="1" dirty="0"/>
              <a:t>Cluster Pruning)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34</a:t>
            </a:fld>
            <a:endParaRPr lang="ru-RU" noProof="0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2859657" y="1154381"/>
            <a:ext cx="6249988" cy="5122862"/>
            <a:chOff x="1600200" y="1582738"/>
            <a:chExt cx="6249988" cy="5122862"/>
          </a:xfrm>
        </p:grpSpPr>
        <p:sp>
          <p:nvSpPr>
            <p:cNvPr id="7" name="Oval 15"/>
            <p:cNvSpPr>
              <a:spLocks noChangeArrowheads="1"/>
            </p:cNvSpPr>
            <p:nvPr/>
          </p:nvSpPr>
          <p:spPr bwMode="auto">
            <a:xfrm>
              <a:off x="2011363" y="3173413"/>
              <a:ext cx="212725" cy="250825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Oval 16"/>
            <p:cNvSpPr>
              <a:spLocks noChangeArrowheads="1"/>
            </p:cNvSpPr>
            <p:nvPr/>
          </p:nvSpPr>
          <p:spPr bwMode="auto">
            <a:xfrm>
              <a:off x="1806575" y="2684463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17"/>
            <p:cNvSpPr>
              <a:spLocks noChangeArrowheads="1"/>
            </p:cNvSpPr>
            <p:nvPr/>
          </p:nvSpPr>
          <p:spPr bwMode="auto">
            <a:xfrm>
              <a:off x="2422525" y="3009900"/>
              <a:ext cx="212725" cy="252413"/>
            </a:xfrm>
            <a:prstGeom prst="ellipse">
              <a:avLst/>
            </a:prstGeom>
            <a:solidFill>
              <a:srgbClr val="9933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18"/>
            <p:cNvSpPr>
              <a:spLocks noChangeArrowheads="1"/>
            </p:cNvSpPr>
            <p:nvPr/>
          </p:nvSpPr>
          <p:spPr bwMode="auto">
            <a:xfrm>
              <a:off x="2422525" y="3416300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9"/>
            <p:cNvSpPr>
              <a:spLocks noChangeArrowheads="1"/>
            </p:cNvSpPr>
            <p:nvPr/>
          </p:nvSpPr>
          <p:spPr bwMode="auto">
            <a:xfrm>
              <a:off x="1806575" y="3822700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20"/>
            <p:cNvSpPr>
              <a:spLocks noChangeArrowheads="1"/>
            </p:cNvSpPr>
            <p:nvPr/>
          </p:nvSpPr>
          <p:spPr bwMode="auto">
            <a:xfrm>
              <a:off x="6743700" y="5367338"/>
              <a:ext cx="212725" cy="252412"/>
            </a:xfrm>
            <a:prstGeom prst="ellipse">
              <a:avLst/>
            </a:prstGeom>
            <a:solidFill>
              <a:srgbClr val="9933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Oval 21"/>
            <p:cNvSpPr>
              <a:spLocks noChangeArrowheads="1"/>
            </p:cNvSpPr>
            <p:nvPr/>
          </p:nvSpPr>
          <p:spPr bwMode="auto">
            <a:xfrm>
              <a:off x="5715000" y="1954213"/>
              <a:ext cx="212725" cy="250825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Oval 22"/>
            <p:cNvSpPr>
              <a:spLocks noChangeArrowheads="1"/>
            </p:cNvSpPr>
            <p:nvPr/>
          </p:nvSpPr>
          <p:spPr bwMode="auto">
            <a:xfrm>
              <a:off x="5867400" y="2262188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Oval 24"/>
            <p:cNvSpPr>
              <a:spLocks noChangeArrowheads="1"/>
            </p:cNvSpPr>
            <p:nvPr/>
          </p:nvSpPr>
          <p:spPr bwMode="auto">
            <a:xfrm>
              <a:off x="6950075" y="5122863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Oval 25"/>
            <p:cNvSpPr>
              <a:spLocks noChangeArrowheads="1"/>
            </p:cNvSpPr>
            <p:nvPr/>
          </p:nvSpPr>
          <p:spPr bwMode="auto">
            <a:xfrm>
              <a:off x="6743700" y="5854700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Oval 26"/>
            <p:cNvSpPr>
              <a:spLocks noChangeArrowheads="1"/>
            </p:cNvSpPr>
            <p:nvPr/>
          </p:nvSpPr>
          <p:spPr bwMode="auto">
            <a:xfrm>
              <a:off x="7154863" y="5529263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Oval 27"/>
            <p:cNvSpPr>
              <a:spLocks noChangeArrowheads="1"/>
            </p:cNvSpPr>
            <p:nvPr/>
          </p:nvSpPr>
          <p:spPr bwMode="auto">
            <a:xfrm>
              <a:off x="7154863" y="5854700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Oval 28"/>
            <p:cNvSpPr>
              <a:spLocks noChangeArrowheads="1"/>
            </p:cNvSpPr>
            <p:nvPr/>
          </p:nvSpPr>
          <p:spPr bwMode="auto">
            <a:xfrm>
              <a:off x="6469063" y="2360613"/>
              <a:ext cx="212725" cy="250825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29"/>
            <p:cNvSpPr>
              <a:spLocks noChangeArrowheads="1"/>
            </p:cNvSpPr>
            <p:nvPr/>
          </p:nvSpPr>
          <p:spPr bwMode="auto">
            <a:xfrm>
              <a:off x="6743700" y="2197100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30"/>
            <p:cNvSpPr>
              <a:spLocks noChangeArrowheads="1"/>
            </p:cNvSpPr>
            <p:nvPr/>
          </p:nvSpPr>
          <p:spPr bwMode="auto">
            <a:xfrm>
              <a:off x="2217738" y="4879975"/>
              <a:ext cx="212725" cy="252413"/>
            </a:xfrm>
            <a:prstGeom prst="ellipse">
              <a:avLst/>
            </a:prstGeom>
            <a:solidFill>
              <a:srgbClr val="9933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Oval 31"/>
            <p:cNvSpPr>
              <a:spLocks noChangeArrowheads="1"/>
            </p:cNvSpPr>
            <p:nvPr/>
          </p:nvSpPr>
          <p:spPr bwMode="auto">
            <a:xfrm>
              <a:off x="4275138" y="4392613"/>
              <a:ext cx="212725" cy="250825"/>
            </a:xfrm>
            <a:prstGeom prst="ellipse">
              <a:avLst/>
            </a:prstGeom>
            <a:solidFill>
              <a:srgbClr val="9933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Oval 32"/>
            <p:cNvSpPr>
              <a:spLocks noChangeArrowheads="1"/>
            </p:cNvSpPr>
            <p:nvPr/>
          </p:nvSpPr>
          <p:spPr bwMode="auto">
            <a:xfrm>
              <a:off x="2628900" y="5122863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Oval 33"/>
            <p:cNvSpPr>
              <a:spLocks noChangeArrowheads="1"/>
            </p:cNvSpPr>
            <p:nvPr/>
          </p:nvSpPr>
          <p:spPr bwMode="auto">
            <a:xfrm>
              <a:off x="2628900" y="4879975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34"/>
            <p:cNvSpPr>
              <a:spLocks noChangeArrowheads="1"/>
            </p:cNvSpPr>
            <p:nvPr/>
          </p:nvSpPr>
          <p:spPr bwMode="auto">
            <a:xfrm>
              <a:off x="1806575" y="5122863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Oval 35"/>
            <p:cNvSpPr>
              <a:spLocks noChangeArrowheads="1"/>
            </p:cNvSpPr>
            <p:nvPr/>
          </p:nvSpPr>
          <p:spPr bwMode="auto">
            <a:xfrm>
              <a:off x="2149475" y="5367338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Oval 36"/>
            <p:cNvSpPr>
              <a:spLocks noChangeArrowheads="1"/>
            </p:cNvSpPr>
            <p:nvPr/>
          </p:nvSpPr>
          <p:spPr bwMode="auto">
            <a:xfrm>
              <a:off x="4479925" y="4148138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Oval 37"/>
            <p:cNvSpPr>
              <a:spLocks noChangeArrowheads="1"/>
            </p:cNvSpPr>
            <p:nvPr/>
          </p:nvSpPr>
          <p:spPr bwMode="auto">
            <a:xfrm>
              <a:off x="4686300" y="4554538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Oval 38"/>
            <p:cNvSpPr>
              <a:spLocks noChangeArrowheads="1"/>
            </p:cNvSpPr>
            <p:nvPr/>
          </p:nvSpPr>
          <p:spPr bwMode="auto">
            <a:xfrm>
              <a:off x="4479925" y="4879975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Oval 39"/>
            <p:cNvSpPr>
              <a:spLocks noChangeArrowheads="1"/>
            </p:cNvSpPr>
            <p:nvPr/>
          </p:nvSpPr>
          <p:spPr bwMode="auto">
            <a:xfrm>
              <a:off x="4068763" y="4635500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40"/>
            <p:cNvSpPr>
              <a:spLocks noChangeArrowheads="1"/>
            </p:cNvSpPr>
            <p:nvPr/>
          </p:nvSpPr>
          <p:spPr bwMode="auto">
            <a:xfrm>
              <a:off x="5921375" y="3173413"/>
              <a:ext cx="212725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Oval 41"/>
            <p:cNvSpPr>
              <a:spLocks noChangeArrowheads="1"/>
            </p:cNvSpPr>
            <p:nvPr/>
          </p:nvSpPr>
          <p:spPr bwMode="auto">
            <a:xfrm>
              <a:off x="5715000" y="3173413"/>
              <a:ext cx="212725" cy="250825"/>
            </a:xfrm>
            <a:prstGeom prst="ellipse">
              <a:avLst/>
            </a:prstGeom>
            <a:solidFill>
              <a:srgbClr val="339966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Oval 42"/>
            <p:cNvSpPr>
              <a:spLocks noChangeArrowheads="1"/>
            </p:cNvSpPr>
            <p:nvPr/>
          </p:nvSpPr>
          <p:spPr bwMode="auto">
            <a:xfrm>
              <a:off x="1600200" y="6342063"/>
              <a:ext cx="212725" cy="252412"/>
            </a:xfrm>
            <a:prstGeom prst="ellipse">
              <a:avLst/>
            </a:prstGeom>
            <a:solidFill>
              <a:srgbClr val="9933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Oval 43"/>
            <p:cNvSpPr>
              <a:spLocks noChangeArrowheads="1"/>
            </p:cNvSpPr>
            <p:nvPr/>
          </p:nvSpPr>
          <p:spPr bwMode="auto">
            <a:xfrm>
              <a:off x="4892675" y="6342063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Box 4"/>
            <p:cNvSpPr txBox="1">
              <a:spLocks noChangeArrowheads="1"/>
            </p:cNvSpPr>
            <p:nvPr/>
          </p:nvSpPr>
          <p:spPr bwMode="auto">
            <a:xfrm>
              <a:off x="5867400" y="3200400"/>
              <a:ext cx="946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r>
                <a:rPr lang="en-US" altLang="zh-CN">
                  <a:latin typeface="Times New Roman" pitchFamily="18" charset="0"/>
                  <a:ea typeface="宋体" pitchFamily="2" charset="-122"/>
                </a:rPr>
                <a:t>Query</a:t>
              </a:r>
            </a:p>
          </p:txBody>
        </p:sp>
        <p:cxnSp>
          <p:nvCxnSpPr>
            <p:cNvPr id="36" name="AutoShape 5"/>
            <p:cNvCxnSpPr>
              <a:cxnSpLocks noChangeShapeType="1"/>
              <a:stCxn id="35" idx="1"/>
              <a:endCxn id="35" idx="1"/>
            </p:cNvCxnSpPr>
            <p:nvPr/>
          </p:nvCxnSpPr>
          <p:spPr bwMode="auto">
            <a:xfrm>
              <a:off x="5867400" y="3429000"/>
              <a:ext cx="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" name="Text Box 11"/>
            <p:cNvSpPr txBox="1">
              <a:spLocks noChangeArrowheads="1"/>
            </p:cNvSpPr>
            <p:nvPr/>
          </p:nvSpPr>
          <p:spPr bwMode="auto">
            <a:xfrm>
              <a:off x="1752600" y="6248400"/>
              <a:ext cx="10287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r>
                <a:rPr lang="en-US" altLang="zh-CN">
                  <a:latin typeface="Times New Roman" pitchFamily="18" charset="0"/>
                  <a:ea typeface="宋体" pitchFamily="2" charset="-122"/>
                </a:rPr>
                <a:t>Leader</a:t>
              </a:r>
            </a:p>
          </p:txBody>
        </p:sp>
        <p:sp>
          <p:nvSpPr>
            <p:cNvPr id="38" name="Text Box 12"/>
            <p:cNvSpPr txBox="1">
              <a:spLocks noChangeArrowheads="1"/>
            </p:cNvSpPr>
            <p:nvPr/>
          </p:nvSpPr>
          <p:spPr bwMode="auto">
            <a:xfrm>
              <a:off x="5029200" y="6248400"/>
              <a:ext cx="12842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r>
                <a:rPr lang="en-US" altLang="zh-CN">
                  <a:latin typeface="Times New Roman" pitchFamily="18" charset="0"/>
                  <a:ea typeface="宋体" pitchFamily="2" charset="-122"/>
                </a:rPr>
                <a:t>Follower</a:t>
              </a:r>
            </a:p>
          </p:txBody>
        </p:sp>
        <p:sp>
          <p:nvSpPr>
            <p:cNvPr id="39" name="Oval 13"/>
            <p:cNvSpPr>
              <a:spLocks noChangeArrowheads="1"/>
            </p:cNvSpPr>
            <p:nvPr/>
          </p:nvSpPr>
          <p:spPr bwMode="auto">
            <a:xfrm>
              <a:off x="6248400" y="2286000"/>
              <a:ext cx="76200" cy="76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40" name="AutoShape 45"/>
            <p:cNvCxnSpPr>
              <a:cxnSpLocks noChangeShapeType="1"/>
              <a:stCxn id="39" idx="5"/>
              <a:endCxn id="19" idx="1"/>
            </p:cNvCxnSpPr>
            <p:nvPr/>
          </p:nvCxnSpPr>
          <p:spPr bwMode="auto">
            <a:xfrm>
              <a:off x="6313488" y="2351088"/>
              <a:ext cx="187325" cy="365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AutoShape 46"/>
            <p:cNvCxnSpPr>
              <a:cxnSpLocks noChangeShapeType="1"/>
              <a:stCxn id="39" idx="6"/>
              <a:endCxn id="20" idx="2"/>
            </p:cNvCxnSpPr>
            <p:nvPr/>
          </p:nvCxnSpPr>
          <p:spPr bwMode="auto">
            <a:xfrm>
              <a:off x="6324600" y="2324100"/>
              <a:ext cx="4095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AutoShape 48"/>
            <p:cNvCxnSpPr>
              <a:cxnSpLocks noChangeShapeType="1"/>
              <a:stCxn id="39" idx="0"/>
            </p:cNvCxnSpPr>
            <p:nvPr/>
          </p:nvCxnSpPr>
          <p:spPr bwMode="auto">
            <a:xfrm>
              <a:off x="6286500" y="2286000"/>
              <a:ext cx="1588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AutoShape 50"/>
            <p:cNvCxnSpPr>
              <a:cxnSpLocks noChangeShapeType="1"/>
              <a:stCxn id="39" idx="7"/>
            </p:cNvCxnSpPr>
            <p:nvPr/>
          </p:nvCxnSpPr>
          <p:spPr bwMode="auto">
            <a:xfrm flipH="1" flipV="1">
              <a:off x="6232525" y="2012950"/>
              <a:ext cx="80963" cy="2841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51"/>
            <p:cNvCxnSpPr>
              <a:cxnSpLocks noChangeShapeType="1"/>
              <a:stCxn id="39" idx="1"/>
              <a:endCxn id="13" idx="6"/>
            </p:cNvCxnSpPr>
            <p:nvPr/>
          </p:nvCxnSpPr>
          <p:spPr bwMode="auto">
            <a:xfrm flipH="1" flipV="1">
              <a:off x="5937250" y="2079625"/>
              <a:ext cx="322263" cy="2174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AutoShape 52"/>
            <p:cNvCxnSpPr>
              <a:cxnSpLocks noChangeShapeType="1"/>
              <a:stCxn id="39" idx="1"/>
              <a:endCxn id="14" idx="6"/>
            </p:cNvCxnSpPr>
            <p:nvPr/>
          </p:nvCxnSpPr>
          <p:spPr bwMode="auto">
            <a:xfrm flipH="1">
              <a:off x="6089650" y="2297113"/>
              <a:ext cx="169863" cy="920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AutoShape 53"/>
            <p:cNvCxnSpPr>
              <a:cxnSpLocks noChangeShapeType="1"/>
              <a:stCxn id="32" idx="0"/>
              <a:endCxn id="39" idx="3"/>
            </p:cNvCxnSpPr>
            <p:nvPr/>
          </p:nvCxnSpPr>
          <p:spPr bwMode="auto">
            <a:xfrm flipV="1">
              <a:off x="5821363" y="2351088"/>
              <a:ext cx="438150" cy="81280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Freeform 54"/>
            <p:cNvSpPr>
              <a:spLocks/>
            </p:cNvSpPr>
            <p:nvPr/>
          </p:nvSpPr>
          <p:spPr bwMode="auto">
            <a:xfrm>
              <a:off x="5062538" y="1582738"/>
              <a:ext cx="2787650" cy="1485900"/>
            </a:xfrm>
            <a:custGeom>
              <a:avLst/>
              <a:gdLst>
                <a:gd name="T0" fmla="*/ 2147483647 w 1756"/>
                <a:gd name="T1" fmla="*/ 2147483647 h 936"/>
                <a:gd name="T2" fmla="*/ 2147483647 w 1756"/>
                <a:gd name="T3" fmla="*/ 2147483647 h 936"/>
                <a:gd name="T4" fmla="*/ 2147483647 w 1756"/>
                <a:gd name="T5" fmla="*/ 2147483647 h 936"/>
                <a:gd name="T6" fmla="*/ 2147483647 w 1756"/>
                <a:gd name="T7" fmla="*/ 2147483647 h 936"/>
                <a:gd name="T8" fmla="*/ 2147483647 w 1756"/>
                <a:gd name="T9" fmla="*/ 2147483647 h 936"/>
                <a:gd name="T10" fmla="*/ 2147483647 w 1756"/>
                <a:gd name="T11" fmla="*/ 2147483647 h 936"/>
                <a:gd name="T12" fmla="*/ 2147483647 w 1756"/>
                <a:gd name="T13" fmla="*/ 2147483647 h 936"/>
                <a:gd name="T14" fmla="*/ 2147483647 w 1756"/>
                <a:gd name="T15" fmla="*/ 2147483647 h 936"/>
                <a:gd name="T16" fmla="*/ 2147483647 w 1756"/>
                <a:gd name="T17" fmla="*/ 2147483647 h 936"/>
                <a:gd name="T18" fmla="*/ 2147483647 w 1756"/>
                <a:gd name="T19" fmla="*/ 2147483647 h 936"/>
                <a:gd name="T20" fmla="*/ 2147483647 w 1756"/>
                <a:gd name="T21" fmla="*/ 2147483647 h 936"/>
                <a:gd name="T22" fmla="*/ 2147483647 w 1756"/>
                <a:gd name="T23" fmla="*/ 2147483647 h 936"/>
                <a:gd name="T24" fmla="*/ 2147483647 w 1756"/>
                <a:gd name="T25" fmla="*/ 2147483647 h 936"/>
                <a:gd name="T26" fmla="*/ 2147483647 w 1756"/>
                <a:gd name="T27" fmla="*/ 2147483647 h 936"/>
                <a:gd name="T28" fmla="*/ 2147483647 w 1756"/>
                <a:gd name="T29" fmla="*/ 0 h 936"/>
                <a:gd name="T30" fmla="*/ 2147483647 w 1756"/>
                <a:gd name="T31" fmla="*/ 2147483647 h 936"/>
                <a:gd name="T32" fmla="*/ 2147483647 w 1756"/>
                <a:gd name="T33" fmla="*/ 2147483647 h 936"/>
                <a:gd name="T34" fmla="*/ 2147483647 w 1756"/>
                <a:gd name="T35" fmla="*/ 2147483647 h 936"/>
                <a:gd name="T36" fmla="*/ 2147483647 w 1756"/>
                <a:gd name="T37" fmla="*/ 2147483647 h 936"/>
                <a:gd name="T38" fmla="*/ 2147483647 w 1756"/>
                <a:gd name="T39" fmla="*/ 2147483647 h 936"/>
                <a:gd name="T40" fmla="*/ 2147483647 w 1756"/>
                <a:gd name="T41" fmla="*/ 2147483647 h 9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756"/>
                <a:gd name="T64" fmla="*/ 0 h 936"/>
                <a:gd name="T65" fmla="*/ 1756 w 1756"/>
                <a:gd name="T66" fmla="*/ 936 h 9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756" h="936">
                  <a:moveTo>
                    <a:pt x="52" y="267"/>
                  </a:moveTo>
                  <a:cubicBezTo>
                    <a:pt x="131" y="371"/>
                    <a:pt x="0" y="200"/>
                    <a:pt x="129" y="361"/>
                  </a:cubicBezTo>
                  <a:cubicBezTo>
                    <a:pt x="185" y="430"/>
                    <a:pt x="219" y="505"/>
                    <a:pt x="293" y="559"/>
                  </a:cubicBezTo>
                  <a:cubicBezTo>
                    <a:pt x="341" y="594"/>
                    <a:pt x="412" y="601"/>
                    <a:pt x="465" y="628"/>
                  </a:cubicBezTo>
                  <a:cubicBezTo>
                    <a:pt x="502" y="647"/>
                    <a:pt x="538" y="671"/>
                    <a:pt x="576" y="688"/>
                  </a:cubicBezTo>
                  <a:cubicBezTo>
                    <a:pt x="629" y="712"/>
                    <a:pt x="687" y="731"/>
                    <a:pt x="740" y="757"/>
                  </a:cubicBezTo>
                  <a:cubicBezTo>
                    <a:pt x="853" y="814"/>
                    <a:pt x="965" y="884"/>
                    <a:pt x="1092" y="903"/>
                  </a:cubicBezTo>
                  <a:cubicBezTo>
                    <a:pt x="1188" y="936"/>
                    <a:pt x="1281" y="916"/>
                    <a:pt x="1385" y="912"/>
                  </a:cubicBezTo>
                  <a:cubicBezTo>
                    <a:pt x="1453" y="906"/>
                    <a:pt x="1508" y="896"/>
                    <a:pt x="1574" y="886"/>
                  </a:cubicBezTo>
                  <a:cubicBezTo>
                    <a:pt x="1616" y="862"/>
                    <a:pt x="1653" y="850"/>
                    <a:pt x="1686" y="817"/>
                  </a:cubicBezTo>
                  <a:cubicBezTo>
                    <a:pt x="1697" y="783"/>
                    <a:pt x="1737" y="722"/>
                    <a:pt x="1737" y="722"/>
                  </a:cubicBezTo>
                  <a:cubicBezTo>
                    <a:pt x="1742" y="702"/>
                    <a:pt x="1756" y="683"/>
                    <a:pt x="1754" y="662"/>
                  </a:cubicBezTo>
                  <a:cubicBezTo>
                    <a:pt x="1745" y="584"/>
                    <a:pt x="1701" y="519"/>
                    <a:pt x="1677" y="447"/>
                  </a:cubicBezTo>
                  <a:cubicBezTo>
                    <a:pt x="1654" y="377"/>
                    <a:pt x="1629" y="289"/>
                    <a:pt x="1582" y="232"/>
                  </a:cubicBezTo>
                  <a:cubicBezTo>
                    <a:pt x="1442" y="65"/>
                    <a:pt x="1160" y="16"/>
                    <a:pt x="955" y="0"/>
                  </a:cubicBezTo>
                  <a:cubicBezTo>
                    <a:pt x="845" y="5"/>
                    <a:pt x="759" y="14"/>
                    <a:pt x="654" y="26"/>
                  </a:cubicBezTo>
                  <a:cubicBezTo>
                    <a:pt x="598" y="40"/>
                    <a:pt x="539" y="51"/>
                    <a:pt x="482" y="60"/>
                  </a:cubicBezTo>
                  <a:cubicBezTo>
                    <a:pt x="409" y="91"/>
                    <a:pt x="328" y="111"/>
                    <a:pt x="250" y="129"/>
                  </a:cubicBezTo>
                  <a:cubicBezTo>
                    <a:pt x="202" y="152"/>
                    <a:pt x="153" y="180"/>
                    <a:pt x="104" y="198"/>
                  </a:cubicBezTo>
                  <a:cubicBezTo>
                    <a:pt x="98" y="204"/>
                    <a:pt x="90" y="208"/>
                    <a:pt x="86" y="215"/>
                  </a:cubicBezTo>
                  <a:cubicBezTo>
                    <a:pt x="72" y="239"/>
                    <a:pt x="86" y="267"/>
                    <a:pt x="52" y="267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lg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56"/>
            <p:cNvSpPr>
              <a:spLocks noChangeArrowheads="1"/>
            </p:cNvSpPr>
            <p:nvPr/>
          </p:nvSpPr>
          <p:spPr bwMode="auto">
            <a:xfrm>
              <a:off x="6172200" y="2187575"/>
              <a:ext cx="212725" cy="250825"/>
            </a:xfrm>
            <a:prstGeom prst="ellipse">
              <a:avLst/>
            </a:prstGeom>
            <a:solidFill>
              <a:srgbClr val="9933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Oval 58"/>
            <p:cNvSpPr>
              <a:spLocks noChangeArrowheads="1"/>
            </p:cNvSpPr>
            <p:nvPr/>
          </p:nvSpPr>
          <p:spPr bwMode="auto">
            <a:xfrm>
              <a:off x="6096000" y="1752600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15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10644317" cy="432000"/>
          </a:xfrm>
        </p:spPr>
        <p:txBody>
          <a:bodyPr/>
          <a:lstStyle/>
          <a:p>
            <a:r>
              <a:rPr lang="ru-RU" b="1" dirty="0"/>
              <a:t>Общие варианты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193738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 smtClean="0"/>
              <a:t>Каждый </a:t>
            </a:r>
            <a:r>
              <a:rPr lang="ru-RU" sz="2800" dirty="0"/>
              <a:t>последователь </a:t>
            </a:r>
            <a:r>
              <a:rPr lang="ru-RU" sz="2800" dirty="0" smtClean="0"/>
              <a:t>прикреплен </a:t>
            </a:r>
            <a:r>
              <a:rPr lang="ru-RU" sz="2800" dirty="0"/>
              <a:t>к b₁=3 (например) ближайшим лидерам</a:t>
            </a:r>
          </a:p>
          <a:p>
            <a:pPr marL="0" indent="0">
              <a:buNone/>
            </a:pPr>
            <a:r>
              <a:rPr lang="ru-RU" sz="2800" dirty="0" smtClean="0"/>
              <a:t>Из </a:t>
            </a:r>
            <a:r>
              <a:rPr lang="ru-RU" sz="2800" dirty="0"/>
              <a:t>запроса находим b₂=4 (например) ближайших лидеров и их последователей</a:t>
            </a:r>
          </a:p>
          <a:p>
            <a:pPr marL="0" indent="0">
              <a:buNone/>
            </a:pPr>
            <a:r>
              <a:rPr lang="ru-RU" sz="2800" dirty="0" smtClean="0"/>
              <a:t>Можно </a:t>
            </a:r>
            <a:r>
              <a:rPr lang="ru-RU" sz="2800" dirty="0"/>
              <a:t>применить рекурсию к построению лидер-последователь</a:t>
            </a:r>
          </a:p>
          <a:p>
            <a:pPr marL="0" indent="0">
              <a:buNone/>
            </a:pPr>
            <a:endParaRPr lang="ru-RU" sz="2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35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660090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10644317" cy="432000"/>
          </a:xfrm>
        </p:spPr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193738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Чтобы найти ближайшего лидера на шаге 1, сколько вычислений косинуса мы должны выполнить</a:t>
            </a:r>
            <a:r>
              <a:rPr lang="ru-RU" sz="2800" dirty="0" smtClean="0"/>
              <a:t>?</a:t>
            </a:r>
          </a:p>
          <a:p>
            <a:pPr marL="0" indent="0">
              <a:buNone/>
            </a:pPr>
            <a:r>
              <a:rPr lang="ru-RU" sz="2800" dirty="0" smtClean="0"/>
              <a:t>Почему </a:t>
            </a:r>
            <a:r>
              <a:rPr lang="ru-RU" sz="2800" dirty="0"/>
              <a:t>у нас изначально было 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N</a:t>
            </a:r>
            <a:r>
              <a:rPr lang="ru-RU" sz="2800" dirty="0" smtClean="0"/>
              <a:t>?</a:t>
            </a:r>
          </a:p>
          <a:p>
            <a:pPr marL="0" indent="0">
              <a:buNone/>
            </a:pPr>
            <a:r>
              <a:rPr lang="ru-RU" sz="2800" dirty="0" smtClean="0"/>
              <a:t>Как </a:t>
            </a:r>
            <a:r>
              <a:rPr lang="ru-RU" sz="2800" dirty="0"/>
              <a:t>влияют константы b</a:t>
            </a:r>
            <a:r>
              <a:rPr lang="ru-RU" sz="2800" baseline="-25000" dirty="0"/>
              <a:t>1</a:t>
            </a:r>
            <a:r>
              <a:rPr lang="ru-RU" sz="2800" dirty="0"/>
              <a:t>, </a:t>
            </a:r>
            <a:r>
              <a:rPr lang="ru-RU" sz="2800" dirty="0" smtClean="0"/>
              <a:t>b</a:t>
            </a:r>
            <a:r>
              <a:rPr lang="ru-RU" sz="2800" baseline="-25000" dirty="0" smtClean="0"/>
              <a:t>2</a:t>
            </a:r>
            <a:r>
              <a:rPr lang="ru-RU" sz="2800" dirty="0" smtClean="0"/>
              <a:t>?</a:t>
            </a:r>
          </a:p>
          <a:p>
            <a:pPr marL="0" indent="0">
              <a:buNone/>
            </a:pPr>
            <a:r>
              <a:rPr lang="ru-RU" sz="2800" dirty="0" smtClean="0"/>
              <a:t>Придумайте </a:t>
            </a:r>
            <a:r>
              <a:rPr lang="ru-RU" sz="2800" dirty="0"/>
              <a:t>пример, где это, скорее всего, не сработает – т.е. мы пропустим один из K ближайших документов</a:t>
            </a:r>
            <a:r>
              <a:rPr lang="ru-RU" sz="2800" dirty="0" smtClean="0"/>
              <a:t>.</a:t>
            </a:r>
          </a:p>
          <a:p>
            <a:pPr marL="733425" lvl="1" indent="-457200"/>
            <a:r>
              <a:rPr lang="ru-RU" sz="2600" dirty="0" smtClean="0"/>
              <a:t>Вероятно</a:t>
            </a:r>
            <a:r>
              <a:rPr lang="ru-RU" sz="2600" dirty="0"/>
              <a:t>, при случайной выборке.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36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79409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10946243" cy="432000"/>
          </a:xfrm>
        </p:spPr>
        <p:txBody>
          <a:bodyPr/>
          <a:lstStyle/>
          <a:p>
            <a:r>
              <a:rPr lang="ru-RU" sz="2400" b="1" dirty="0"/>
              <a:t>Параметрические индексы и индексы зон (</a:t>
            </a:r>
            <a:r>
              <a:rPr lang="ru-RU" sz="2400" b="1" dirty="0" err="1"/>
              <a:t>Parametric</a:t>
            </a:r>
            <a:r>
              <a:rPr lang="ru-RU" sz="2400" b="1" dirty="0"/>
              <a:t> </a:t>
            </a:r>
            <a:r>
              <a:rPr lang="ru-RU" sz="2400" b="1" dirty="0" err="1"/>
              <a:t>and</a:t>
            </a:r>
            <a:r>
              <a:rPr lang="ru-RU" sz="2400" b="1" dirty="0"/>
              <a:t> </a:t>
            </a:r>
            <a:r>
              <a:rPr lang="ru-RU" sz="2400" b="1" dirty="0" err="1"/>
              <a:t>Zone</a:t>
            </a:r>
            <a:r>
              <a:rPr lang="ru-RU" sz="2400" b="1" dirty="0"/>
              <a:t> </a:t>
            </a:r>
            <a:r>
              <a:rPr lang="ru-RU" sz="2400" b="1" dirty="0" err="1"/>
              <a:t>Indexes</a:t>
            </a:r>
            <a:r>
              <a:rPr lang="ru-RU" sz="2400" b="1" dirty="0"/>
              <a:t>)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До </a:t>
            </a:r>
            <a:r>
              <a:rPr lang="ru-RU" sz="2400" dirty="0"/>
              <a:t>сих пор документ — это последовательность термов</a:t>
            </a:r>
          </a:p>
          <a:p>
            <a:pPr marL="0" indent="0">
              <a:buNone/>
            </a:pPr>
            <a:r>
              <a:rPr lang="ru-RU" sz="2400" dirty="0" smtClean="0"/>
              <a:t>На </a:t>
            </a:r>
            <a:r>
              <a:rPr lang="ru-RU" sz="2400" dirty="0"/>
              <a:t>самом деле документы содержат несколько частей со специальной семантикой:</a:t>
            </a:r>
          </a:p>
          <a:p>
            <a:r>
              <a:rPr lang="ru-RU" sz="2400" dirty="0" smtClean="0"/>
              <a:t>Автор</a:t>
            </a:r>
            <a:endParaRPr lang="ru-RU" sz="2400" dirty="0"/>
          </a:p>
          <a:p>
            <a:r>
              <a:rPr lang="ru-RU" sz="2400" dirty="0" smtClean="0"/>
              <a:t>Название</a:t>
            </a:r>
            <a:endParaRPr lang="ru-RU" sz="2400" dirty="0"/>
          </a:p>
          <a:p>
            <a:r>
              <a:rPr lang="ru-RU" sz="2400" dirty="0" smtClean="0"/>
              <a:t>Дата </a:t>
            </a:r>
            <a:r>
              <a:rPr lang="ru-RU" sz="2400" dirty="0"/>
              <a:t>публикации</a:t>
            </a:r>
          </a:p>
          <a:p>
            <a:r>
              <a:rPr lang="ru-RU" sz="2400" dirty="0" smtClean="0"/>
              <a:t>Язык</a:t>
            </a:r>
            <a:endParaRPr lang="ru-RU" sz="2400" dirty="0"/>
          </a:p>
          <a:p>
            <a:r>
              <a:rPr lang="ru-RU" sz="2400" dirty="0" smtClean="0"/>
              <a:t>Формат и </a:t>
            </a:r>
            <a:r>
              <a:rPr lang="ru-RU" sz="2400" dirty="0"/>
              <a:t>т.д.</a:t>
            </a:r>
          </a:p>
          <a:p>
            <a:pPr marL="0" indent="0">
              <a:buNone/>
            </a:pPr>
            <a:r>
              <a:rPr lang="ru-RU" sz="2400" dirty="0" smtClean="0"/>
              <a:t>Это </a:t>
            </a:r>
            <a:r>
              <a:rPr lang="ru-RU" sz="2400" dirty="0"/>
              <a:t>метаданные о </a:t>
            </a:r>
            <a:r>
              <a:rPr lang="ru-RU" sz="2400" dirty="0" smtClean="0"/>
              <a:t>документе.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37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09114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b="1" dirty="0"/>
              <a:t>Поля (</a:t>
            </a:r>
            <a:r>
              <a:rPr lang="en-US" b="1" dirty="0"/>
              <a:t>Fields)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 smtClean="0"/>
              <a:t>Иногда </a:t>
            </a:r>
            <a:r>
              <a:rPr lang="ru-RU" sz="2800" dirty="0"/>
              <a:t>нужно искать по этим метаданным</a:t>
            </a:r>
          </a:p>
          <a:p>
            <a:pPr lvl="1"/>
            <a:r>
              <a:rPr lang="ru-RU" sz="2600" dirty="0" smtClean="0"/>
              <a:t>Например</a:t>
            </a:r>
            <a:r>
              <a:rPr lang="ru-RU" sz="2600" dirty="0"/>
              <a:t>: найти документы, написанные </a:t>
            </a:r>
            <a:r>
              <a:rPr lang="ru-RU" sz="2600" dirty="0" err="1"/>
              <a:t>William</a:t>
            </a:r>
            <a:r>
              <a:rPr lang="ru-RU" sz="2600" dirty="0"/>
              <a:t> </a:t>
            </a:r>
            <a:r>
              <a:rPr lang="ru-RU" sz="2600" dirty="0" err="1"/>
              <a:t>Shakespeare</a:t>
            </a:r>
            <a:r>
              <a:rPr lang="ru-RU" sz="2600" dirty="0"/>
              <a:t> в 1601, содержащие "</a:t>
            </a:r>
            <a:r>
              <a:rPr lang="ru-RU" sz="2600" dirty="0" err="1"/>
              <a:t>alas</a:t>
            </a:r>
            <a:r>
              <a:rPr lang="ru-RU" sz="2600" dirty="0"/>
              <a:t> </a:t>
            </a:r>
            <a:r>
              <a:rPr lang="ru-RU" sz="2600" dirty="0" err="1"/>
              <a:t>poor</a:t>
            </a:r>
            <a:r>
              <a:rPr lang="ru-RU" sz="2600" dirty="0"/>
              <a:t> </a:t>
            </a:r>
            <a:r>
              <a:rPr lang="ru-RU" sz="2600" dirty="0" err="1"/>
              <a:t>Yorick</a:t>
            </a:r>
            <a:r>
              <a:rPr lang="ru-RU" sz="2600" dirty="0"/>
              <a:t>"</a:t>
            </a:r>
          </a:p>
          <a:p>
            <a:pPr marL="0" indent="0">
              <a:buNone/>
            </a:pPr>
            <a:r>
              <a:rPr lang="ru-RU" sz="2800" dirty="0" err="1" smtClean="0"/>
              <a:t>Year</a:t>
            </a:r>
            <a:r>
              <a:rPr lang="ru-RU" sz="2800" dirty="0" smtClean="0"/>
              <a:t> </a:t>
            </a:r>
            <a:r>
              <a:rPr lang="ru-RU" sz="2800" dirty="0"/>
              <a:t>= 1601 — это пример поля</a:t>
            </a:r>
          </a:p>
          <a:p>
            <a:pPr marL="0" indent="0">
              <a:buNone/>
            </a:pPr>
            <a:r>
              <a:rPr lang="ru-RU" sz="2800" dirty="0" smtClean="0"/>
              <a:t>Также</a:t>
            </a:r>
            <a:r>
              <a:rPr lang="ru-RU" sz="2800" dirty="0"/>
              <a:t>: автор (фамилия) = </a:t>
            </a:r>
            <a:r>
              <a:rPr lang="ru-RU" sz="2800" dirty="0" err="1"/>
              <a:t>shakespeare</a:t>
            </a:r>
            <a:r>
              <a:rPr lang="ru-RU" sz="2800" dirty="0"/>
              <a:t> и т.д.</a:t>
            </a:r>
          </a:p>
          <a:p>
            <a:pPr marL="0" indent="0">
              <a:buNone/>
            </a:pPr>
            <a:r>
              <a:rPr lang="ru-RU" sz="2800" dirty="0" smtClean="0"/>
              <a:t>Параметрический </a:t>
            </a:r>
            <a:r>
              <a:rPr lang="ru-RU" sz="2800" dirty="0"/>
              <a:t>индекс: постинги для каждого значения поля</a:t>
            </a:r>
          </a:p>
          <a:p>
            <a:pPr lvl="1"/>
            <a:r>
              <a:rPr lang="ru-RU" sz="2600" dirty="0" smtClean="0"/>
              <a:t>Иногда </a:t>
            </a:r>
            <a:r>
              <a:rPr lang="ru-RU" sz="2600" dirty="0"/>
              <a:t>строят деревья диапазонов (например, для дат)</a:t>
            </a:r>
          </a:p>
          <a:p>
            <a:pPr marL="0" indent="0">
              <a:buNone/>
            </a:pPr>
            <a:r>
              <a:rPr lang="ru-RU" sz="2800" dirty="0" smtClean="0"/>
              <a:t>Запрос </a:t>
            </a:r>
            <a:r>
              <a:rPr lang="ru-RU" sz="2800" dirty="0"/>
              <a:t>по полю обычно трактуется как объединение (AND)</a:t>
            </a:r>
          </a:p>
          <a:p>
            <a:pPr marL="733425" lvl="1" indent="-457200"/>
            <a:r>
              <a:rPr lang="ru-RU" sz="2600" dirty="0" smtClean="0"/>
              <a:t>(</a:t>
            </a:r>
            <a:r>
              <a:rPr lang="ru-RU" sz="2600" dirty="0"/>
              <a:t>документ должен быть автором </a:t>
            </a:r>
            <a:r>
              <a:rPr lang="ru-RU" sz="2600" dirty="0" err="1"/>
              <a:t>shakespeare</a:t>
            </a:r>
            <a:r>
              <a:rPr lang="ru-RU" sz="2600" dirty="0"/>
              <a:t>)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38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893981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b="1" dirty="0"/>
              <a:t>Зоны (</a:t>
            </a:r>
            <a:r>
              <a:rPr lang="en-US" b="1" dirty="0"/>
              <a:t>Zones)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 smtClean="0"/>
              <a:t>Зона </a:t>
            </a:r>
            <a:r>
              <a:rPr lang="ru-RU" sz="2800" dirty="0"/>
              <a:t>— это </a:t>
            </a:r>
            <a:r>
              <a:rPr lang="ru-RU" sz="2800" dirty="0" smtClean="0"/>
              <a:t>часть </a:t>
            </a:r>
            <a:r>
              <a:rPr lang="ru-RU" sz="2800" dirty="0"/>
              <a:t>документа, </a:t>
            </a:r>
            <a:r>
              <a:rPr lang="ru-RU" sz="2800" dirty="0" smtClean="0"/>
              <a:t>содержащая </a:t>
            </a:r>
            <a:r>
              <a:rPr lang="ru-RU" sz="2800" dirty="0"/>
              <a:t>произвольное количество текста, например:</a:t>
            </a:r>
          </a:p>
          <a:p>
            <a:pPr lvl="1"/>
            <a:r>
              <a:rPr lang="ru-RU" sz="2600" dirty="0" smtClean="0"/>
              <a:t>Название</a:t>
            </a:r>
            <a:endParaRPr lang="ru-RU" sz="2600" dirty="0"/>
          </a:p>
          <a:p>
            <a:pPr lvl="1"/>
            <a:r>
              <a:rPr lang="ru-RU" sz="2600" dirty="0" smtClean="0"/>
              <a:t>Аннотация</a:t>
            </a:r>
            <a:endParaRPr lang="ru-RU" sz="2600" dirty="0"/>
          </a:p>
          <a:p>
            <a:pPr lvl="1"/>
            <a:r>
              <a:rPr lang="ru-RU" sz="2600" dirty="0" smtClean="0"/>
              <a:t>Список </a:t>
            </a:r>
            <a:r>
              <a:rPr lang="ru-RU" sz="2600" dirty="0"/>
              <a:t>литературы...</a:t>
            </a:r>
          </a:p>
          <a:p>
            <a:pPr marL="0" indent="0">
              <a:buNone/>
            </a:pPr>
            <a:r>
              <a:rPr lang="ru-RU" sz="2800" dirty="0" smtClean="0"/>
              <a:t>Строим </a:t>
            </a:r>
            <a:r>
              <a:rPr lang="ru-RU" sz="2800" dirty="0"/>
              <a:t>инвертированные индексы по зонам для поиска</a:t>
            </a:r>
          </a:p>
          <a:p>
            <a:pPr marL="0" indent="0">
              <a:buNone/>
            </a:pPr>
            <a:r>
              <a:rPr lang="ru-RU" sz="2800" dirty="0" smtClean="0"/>
              <a:t>Например</a:t>
            </a:r>
            <a:r>
              <a:rPr lang="ru-RU" sz="2800" dirty="0"/>
              <a:t>: "найти документы с '</a:t>
            </a:r>
            <a:r>
              <a:rPr lang="ru-RU" sz="2800" dirty="0" err="1"/>
              <a:t>merchant</a:t>
            </a:r>
            <a:r>
              <a:rPr lang="ru-RU" sz="2800" dirty="0"/>
              <a:t>' в зоне названия и соответствующие запросу '</a:t>
            </a:r>
            <a:r>
              <a:rPr lang="ru-RU" sz="2800" dirty="0" err="1"/>
              <a:t>gentle</a:t>
            </a:r>
            <a:r>
              <a:rPr lang="ru-RU" sz="2800" dirty="0"/>
              <a:t> </a:t>
            </a:r>
            <a:r>
              <a:rPr lang="ru-RU" sz="2800" dirty="0" err="1"/>
              <a:t>rain</a:t>
            </a:r>
            <a:r>
              <a:rPr lang="ru-RU" sz="2800" dirty="0" smtClean="0"/>
              <a:t>'</a:t>
            </a:r>
            <a:endParaRPr lang="ru-RU" sz="28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39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241717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b="1" dirty="0"/>
              <a:t>Зоны (</a:t>
            </a:r>
            <a:r>
              <a:rPr lang="en-US" b="1" dirty="0"/>
              <a:t>Zones)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40</a:t>
            </a:fld>
            <a:endParaRPr lang="ru-RU" noProof="0" dirty="0"/>
          </a:p>
        </p:txBody>
      </p:sp>
      <p:pic>
        <p:nvPicPr>
          <p:cNvPr id="7" name="Content Placeholder 3" descr="zoneindex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0610" y="1190446"/>
            <a:ext cx="8686800" cy="2608263"/>
          </a:xfrm>
          <a:prstGeom prst="rect">
            <a:avLst/>
          </a:prstGeom>
        </p:spPr>
      </p:pic>
      <p:pic>
        <p:nvPicPr>
          <p:cNvPr id="8" name="Picture 5" descr="zoneindex2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410" y="5335409"/>
            <a:ext cx="81899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1821610" y="4314646"/>
            <a:ext cx="76987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ru-RU" dirty="0"/>
              <a:t>Диаграмма с кодированием зон в словаре </a:t>
            </a:r>
            <a:r>
              <a:rPr lang="en-US" dirty="0" smtClean="0"/>
              <a:t>vs</a:t>
            </a:r>
            <a:r>
              <a:rPr lang="ru-RU" dirty="0" smtClean="0"/>
              <a:t> </a:t>
            </a:r>
            <a:r>
              <a:rPr lang="ru-RU" dirty="0"/>
              <a:t>постингах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10" name="Up Arrow 8"/>
          <p:cNvSpPr>
            <a:spLocks noChangeArrowheads="1"/>
          </p:cNvSpPr>
          <p:nvPr/>
        </p:nvSpPr>
        <p:spPr bwMode="auto">
          <a:xfrm>
            <a:off x="5784010" y="3933646"/>
            <a:ext cx="484188" cy="457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Down Arrow 9"/>
          <p:cNvSpPr>
            <a:spLocks noChangeArrowheads="1"/>
          </p:cNvSpPr>
          <p:nvPr/>
        </p:nvSpPr>
        <p:spPr bwMode="auto">
          <a:xfrm>
            <a:off x="8527210" y="4848046"/>
            <a:ext cx="484188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926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b="1" dirty="0"/>
              <a:t>Многоуровневые индексы (</a:t>
            </a:r>
            <a:r>
              <a:rPr lang="en-US" b="1" dirty="0"/>
              <a:t>Tiered Indexes)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 smtClean="0"/>
              <a:t>Разделить </a:t>
            </a:r>
            <a:r>
              <a:rPr lang="ru-RU" sz="3200" dirty="0"/>
              <a:t>постинги на иерархию списков:</a:t>
            </a:r>
          </a:p>
          <a:p>
            <a:pPr lvl="1"/>
            <a:r>
              <a:rPr lang="ru-RU" sz="2800" dirty="0" smtClean="0"/>
              <a:t>Наиболее </a:t>
            </a:r>
            <a:r>
              <a:rPr lang="ru-RU" sz="2800" dirty="0"/>
              <a:t>важные</a:t>
            </a:r>
          </a:p>
          <a:p>
            <a:pPr lvl="1"/>
            <a:r>
              <a:rPr lang="ru-RU" sz="2800" dirty="0" smtClean="0"/>
              <a:t>...</a:t>
            </a:r>
            <a:endParaRPr lang="ru-RU" sz="2800" dirty="0"/>
          </a:p>
          <a:p>
            <a:pPr lvl="1"/>
            <a:r>
              <a:rPr lang="ru-RU" sz="2800" dirty="0" smtClean="0"/>
              <a:t>Наименее </a:t>
            </a:r>
            <a:r>
              <a:rPr lang="ru-RU" sz="2800" dirty="0"/>
              <a:t>важные</a:t>
            </a:r>
          </a:p>
          <a:p>
            <a:pPr marL="0" indent="0">
              <a:buNone/>
            </a:pPr>
            <a:r>
              <a:rPr lang="ru-RU" sz="3200" dirty="0" smtClean="0"/>
              <a:t>Можно </a:t>
            </a:r>
            <a:r>
              <a:rPr lang="ru-RU" sz="3200" dirty="0"/>
              <a:t>разделять по g(d) или другой мере</a:t>
            </a:r>
          </a:p>
          <a:p>
            <a:pPr marL="0" indent="0">
              <a:buNone/>
            </a:pPr>
            <a:r>
              <a:rPr lang="ru-RU" sz="3200" dirty="0" smtClean="0"/>
              <a:t>Инвертированный </a:t>
            </a:r>
            <a:r>
              <a:rPr lang="ru-RU" sz="3200" dirty="0"/>
              <a:t>индекс разбивается на уровни убывающей важности</a:t>
            </a:r>
          </a:p>
          <a:p>
            <a:pPr marL="0" indent="0">
              <a:buNone/>
            </a:pPr>
            <a:r>
              <a:rPr lang="ru-RU" sz="3200" dirty="0" smtClean="0"/>
              <a:t>При </a:t>
            </a:r>
            <a:r>
              <a:rPr lang="ru-RU" sz="3200" dirty="0"/>
              <a:t>обработке запроса используем топ-уровень, если не </a:t>
            </a:r>
            <a:r>
              <a:rPr lang="ru-RU" sz="3200" dirty="0" smtClean="0"/>
              <a:t>да</a:t>
            </a:r>
            <a:r>
              <a:rPr lang="ru-RU" sz="3200" dirty="0"/>
              <a:t>е</a:t>
            </a:r>
            <a:r>
              <a:rPr lang="ru-RU" sz="3200" dirty="0" smtClean="0"/>
              <a:t>т </a:t>
            </a:r>
            <a:r>
              <a:rPr lang="ru-RU" sz="3200" dirty="0"/>
              <a:t>K документов, переходим </a:t>
            </a:r>
            <a:r>
              <a:rPr lang="ru-RU" sz="3200" dirty="0" smtClean="0"/>
              <a:t>ниже</a:t>
            </a:r>
            <a:endParaRPr lang="ru-RU" sz="32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41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494726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b="1" dirty="0"/>
              <a:t>Многоуровневые индексы (</a:t>
            </a:r>
            <a:r>
              <a:rPr lang="en-US" b="1" dirty="0"/>
              <a:t>Tiered Indexes)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42</a:t>
            </a:fld>
            <a:endParaRPr lang="ru-RU" noProof="0" dirty="0"/>
          </a:p>
        </p:txBody>
      </p:sp>
      <p:pic>
        <p:nvPicPr>
          <p:cNvPr id="7" name="Content Placeholder 3" descr="tiered.gif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72498" y="1055688"/>
            <a:ext cx="4550141" cy="5221287"/>
          </a:xfrm>
        </p:spPr>
      </p:pic>
    </p:spTree>
    <p:extLst>
      <p:ext uri="{BB962C8B-B14F-4D97-AF65-F5344CB8AC3E}">
        <p14:creationId xmlns:p14="http://schemas.microsoft.com/office/powerpoint/2010/main" val="21969142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dirty="0"/>
              <a:t>Близость терминов запроса (</a:t>
            </a:r>
            <a:r>
              <a:rPr lang="ru-RU" dirty="0" err="1"/>
              <a:t>Query</a:t>
            </a:r>
            <a:r>
              <a:rPr lang="ru-RU" dirty="0"/>
              <a:t> </a:t>
            </a:r>
            <a:r>
              <a:rPr lang="ru-RU" dirty="0" err="1"/>
              <a:t>Term</a:t>
            </a:r>
            <a:r>
              <a:rPr lang="ru-RU" dirty="0"/>
              <a:t> </a:t>
            </a:r>
            <a:r>
              <a:rPr lang="ru-RU" dirty="0" err="1"/>
              <a:t>Proximity</a:t>
            </a:r>
            <a:r>
              <a:rPr lang="ru-RU" dirty="0"/>
              <a:t>)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 smtClean="0"/>
              <a:t>Произвольный запрос: </a:t>
            </a:r>
            <a:r>
              <a:rPr lang="ru-RU" sz="2800" dirty="0"/>
              <a:t>просто набор терминов в поисковом окне (обычно в вебе)</a:t>
            </a:r>
          </a:p>
          <a:p>
            <a:pPr marL="0" indent="0">
              <a:buNone/>
            </a:pPr>
            <a:r>
              <a:rPr lang="ru-RU" sz="2800" dirty="0" smtClean="0"/>
              <a:t>Пользователи </a:t>
            </a:r>
            <a:r>
              <a:rPr lang="ru-RU" sz="2800" dirty="0"/>
              <a:t>предпочитают документы, где термины запроса находятся близко друг к другу</a:t>
            </a:r>
          </a:p>
          <a:p>
            <a:pPr marL="0" indent="0">
              <a:buNone/>
            </a:pPr>
            <a:r>
              <a:rPr lang="ru-RU" sz="2800" dirty="0" smtClean="0"/>
              <a:t>Пусть </a:t>
            </a:r>
            <a:r>
              <a:rPr lang="ru-RU" sz="2800" dirty="0"/>
              <a:t>w — наименьшее окно в документе, содержащее все термины запроса, например:</a:t>
            </a:r>
          </a:p>
          <a:p>
            <a:pPr marL="0" indent="0">
              <a:buNone/>
            </a:pPr>
            <a:r>
              <a:rPr lang="ru-RU" sz="2800" dirty="0" smtClean="0"/>
              <a:t>Для </a:t>
            </a:r>
            <a:r>
              <a:rPr lang="ru-RU" sz="2800" dirty="0"/>
              <a:t>запроса "</a:t>
            </a:r>
            <a:r>
              <a:rPr lang="ru-RU" sz="2800" dirty="0" err="1"/>
              <a:t>strained</a:t>
            </a:r>
            <a:r>
              <a:rPr lang="ru-RU" sz="2800" dirty="0"/>
              <a:t> </a:t>
            </a:r>
            <a:r>
              <a:rPr lang="ru-RU" sz="2800" dirty="0" err="1"/>
              <a:t>mercy</a:t>
            </a:r>
            <a:r>
              <a:rPr lang="ru-RU" sz="2800" dirty="0"/>
              <a:t>" в тексте "</a:t>
            </a:r>
            <a:r>
              <a:rPr lang="ru-RU" sz="2800" dirty="0" err="1"/>
              <a:t>The</a:t>
            </a:r>
            <a:r>
              <a:rPr lang="ru-RU" sz="2800" dirty="0"/>
              <a:t> </a:t>
            </a:r>
            <a:r>
              <a:rPr lang="ru-RU" sz="2800" dirty="0" err="1"/>
              <a:t>quality</a:t>
            </a:r>
            <a:r>
              <a:rPr lang="ru-RU" sz="2800" dirty="0"/>
              <a:t> </a:t>
            </a:r>
            <a:r>
              <a:rPr lang="ru-RU" sz="2800" dirty="0" err="1"/>
              <a:t>of</a:t>
            </a:r>
            <a:r>
              <a:rPr lang="ru-RU" sz="2800" dirty="0"/>
              <a:t> </a:t>
            </a:r>
            <a:r>
              <a:rPr lang="ru-RU" sz="2800" dirty="0" err="1"/>
              <a:t>mercy</a:t>
            </a:r>
            <a:r>
              <a:rPr lang="ru-RU" sz="2800" dirty="0"/>
              <a:t> </a:t>
            </a:r>
            <a:r>
              <a:rPr lang="ru-RU" sz="2800" dirty="0" err="1"/>
              <a:t>is</a:t>
            </a:r>
            <a:r>
              <a:rPr lang="ru-RU" sz="2800" dirty="0"/>
              <a:t> </a:t>
            </a:r>
            <a:r>
              <a:rPr lang="ru-RU" sz="2800" dirty="0" err="1"/>
              <a:t>not</a:t>
            </a:r>
            <a:r>
              <a:rPr lang="ru-RU" sz="2800" dirty="0"/>
              <a:t> </a:t>
            </a:r>
            <a:r>
              <a:rPr lang="ru-RU" sz="2800" dirty="0" err="1"/>
              <a:t>strained</a:t>
            </a:r>
            <a:r>
              <a:rPr lang="ru-RU" sz="2800" dirty="0"/>
              <a:t>" — окно это 4 слова</a:t>
            </a:r>
          </a:p>
          <a:p>
            <a:pPr marL="0" indent="0">
              <a:buNone/>
            </a:pPr>
            <a:r>
              <a:rPr lang="ru-RU" sz="2800" dirty="0" smtClean="0"/>
              <a:t>Хотим</a:t>
            </a:r>
            <a:r>
              <a:rPr lang="ru-RU" sz="2800" dirty="0"/>
              <a:t>, чтобы функция ранжирования это учитывала — как?</a:t>
            </a: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43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459567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b="1" dirty="0" err="1"/>
              <a:t>Парсеры</a:t>
            </a:r>
            <a:r>
              <a:rPr lang="ru-RU" b="1" dirty="0"/>
              <a:t> запросов (</a:t>
            </a:r>
            <a:r>
              <a:rPr lang="en-US" b="1" dirty="0"/>
              <a:t>Query Parsers)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 smtClean="0"/>
              <a:t>Произвольный запрос от </a:t>
            </a:r>
            <a:r>
              <a:rPr lang="ru-RU" sz="3200" dirty="0"/>
              <a:t>пользователя может порождать один или несколько запросов к индексам, например запрос "</a:t>
            </a:r>
            <a:r>
              <a:rPr lang="ru-RU" sz="3200" dirty="0" err="1"/>
              <a:t>rising</a:t>
            </a:r>
            <a:r>
              <a:rPr lang="ru-RU" sz="3200" dirty="0"/>
              <a:t> </a:t>
            </a:r>
            <a:r>
              <a:rPr lang="ru-RU" sz="3200" dirty="0" err="1"/>
              <a:t>interest</a:t>
            </a:r>
            <a:r>
              <a:rPr lang="ru-RU" sz="3200" dirty="0"/>
              <a:t> </a:t>
            </a:r>
            <a:r>
              <a:rPr lang="ru-RU" sz="3200" dirty="0" err="1"/>
              <a:t>rates</a:t>
            </a:r>
            <a:r>
              <a:rPr lang="ru-RU" sz="3200" dirty="0"/>
              <a:t>":</a:t>
            </a:r>
          </a:p>
          <a:p>
            <a:pPr marL="733425" lvl="1" indent="-457200">
              <a:buFont typeface="+mj-lt"/>
              <a:buAutoNum type="arabicPeriod"/>
            </a:pPr>
            <a:r>
              <a:rPr lang="ru-RU" sz="2800" dirty="0" smtClean="0"/>
              <a:t>Запустить </a:t>
            </a:r>
            <a:r>
              <a:rPr lang="ru-RU" sz="2800" dirty="0"/>
              <a:t>как фразовый запрос</a:t>
            </a:r>
          </a:p>
          <a:p>
            <a:pPr marL="733425" lvl="1" indent="-457200">
              <a:buFont typeface="+mj-lt"/>
              <a:buAutoNum type="arabicPeriod"/>
            </a:pPr>
            <a:r>
              <a:rPr lang="ru-RU" sz="2800" dirty="0" smtClean="0"/>
              <a:t>Если </a:t>
            </a:r>
            <a:r>
              <a:rPr lang="ru-RU" sz="2800" dirty="0"/>
              <a:t>&lt; K документов содержат фразу "</a:t>
            </a:r>
            <a:r>
              <a:rPr lang="ru-RU" sz="2800" dirty="0" err="1"/>
              <a:t>rising</a:t>
            </a:r>
            <a:r>
              <a:rPr lang="ru-RU" sz="2800" dirty="0"/>
              <a:t> </a:t>
            </a:r>
            <a:r>
              <a:rPr lang="ru-RU" sz="2800" dirty="0" err="1"/>
              <a:t>interest</a:t>
            </a:r>
            <a:r>
              <a:rPr lang="ru-RU" sz="2800" dirty="0"/>
              <a:t> </a:t>
            </a:r>
            <a:r>
              <a:rPr lang="ru-RU" sz="2800" dirty="0" err="1"/>
              <a:t>rates</a:t>
            </a:r>
            <a:r>
              <a:rPr lang="ru-RU" sz="2800" dirty="0"/>
              <a:t>", запустить фразовые запросы "</a:t>
            </a:r>
            <a:r>
              <a:rPr lang="ru-RU" sz="2800" dirty="0" err="1"/>
              <a:t>rising</a:t>
            </a:r>
            <a:r>
              <a:rPr lang="ru-RU" sz="2800" dirty="0"/>
              <a:t> </a:t>
            </a:r>
            <a:r>
              <a:rPr lang="ru-RU" sz="2800" dirty="0" err="1"/>
              <a:t>interest</a:t>
            </a:r>
            <a:r>
              <a:rPr lang="ru-RU" sz="2800" dirty="0"/>
              <a:t>" и "</a:t>
            </a:r>
            <a:r>
              <a:rPr lang="ru-RU" sz="2800" dirty="0" err="1"/>
              <a:t>interest</a:t>
            </a:r>
            <a:r>
              <a:rPr lang="ru-RU" sz="2800" dirty="0"/>
              <a:t> </a:t>
            </a:r>
            <a:r>
              <a:rPr lang="ru-RU" sz="2800" dirty="0" err="1"/>
              <a:t>rates</a:t>
            </a:r>
            <a:r>
              <a:rPr lang="ru-RU" sz="2800" dirty="0"/>
              <a:t>"</a:t>
            </a:r>
          </a:p>
          <a:p>
            <a:pPr marL="733425" lvl="1" indent="-457200">
              <a:buFont typeface="+mj-lt"/>
              <a:buAutoNum type="arabicPeriod"/>
            </a:pPr>
            <a:r>
              <a:rPr lang="ru-RU" sz="2800" dirty="0" smtClean="0"/>
              <a:t>Если все еще </a:t>
            </a:r>
            <a:r>
              <a:rPr lang="ru-RU" sz="2800" dirty="0"/>
              <a:t>&lt; K документов, запустить векторный запрос "</a:t>
            </a:r>
            <a:r>
              <a:rPr lang="ru-RU" sz="2800" dirty="0" err="1"/>
              <a:t>rising</a:t>
            </a:r>
            <a:r>
              <a:rPr lang="ru-RU" sz="2800" dirty="0"/>
              <a:t> </a:t>
            </a:r>
            <a:r>
              <a:rPr lang="ru-RU" sz="2800" dirty="0" err="1"/>
              <a:t>interest</a:t>
            </a:r>
            <a:r>
              <a:rPr lang="ru-RU" sz="2800" dirty="0"/>
              <a:t> </a:t>
            </a:r>
            <a:r>
              <a:rPr lang="ru-RU" sz="2800" dirty="0" err="1"/>
              <a:t>rates</a:t>
            </a:r>
            <a:r>
              <a:rPr lang="ru-RU" sz="2800" dirty="0"/>
              <a:t>"</a:t>
            </a:r>
          </a:p>
          <a:p>
            <a:pPr marL="733425" lvl="1" indent="-457200">
              <a:buFont typeface="+mj-lt"/>
              <a:buAutoNum type="arabicPeriod"/>
            </a:pPr>
            <a:r>
              <a:rPr lang="ru-RU" sz="2800" dirty="0" smtClean="0"/>
              <a:t>Ранжировать </a:t>
            </a:r>
            <a:r>
              <a:rPr lang="ru-RU" sz="2800" dirty="0"/>
              <a:t>соответствующие документы по векторному ранжированию</a:t>
            </a:r>
          </a:p>
          <a:p>
            <a:pPr marL="0" indent="0">
              <a:buNone/>
            </a:pPr>
            <a:r>
              <a:rPr lang="ru-RU" sz="3200" dirty="0" smtClean="0"/>
              <a:t>Эта </a:t>
            </a:r>
            <a:r>
              <a:rPr lang="ru-RU" sz="3200" dirty="0"/>
              <a:t>последовательность </a:t>
            </a:r>
            <a:r>
              <a:rPr lang="ru-RU" sz="3200" dirty="0" smtClean="0"/>
              <a:t>выдается </a:t>
            </a:r>
            <a:r>
              <a:rPr lang="ru-RU" sz="3200" dirty="0" err="1"/>
              <a:t>парсером</a:t>
            </a:r>
            <a:r>
              <a:rPr lang="ru-RU" sz="3200" dirty="0"/>
              <a:t> </a:t>
            </a:r>
            <a:r>
              <a:rPr lang="ru-RU" sz="3200" dirty="0" smtClean="0"/>
              <a:t>запросов</a:t>
            </a:r>
            <a:endParaRPr lang="ru-RU" sz="32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44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955299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b="1" dirty="0" smtClean="0"/>
              <a:t>Резюме</a:t>
            </a:r>
            <a:endParaRPr lang="en-US" b="1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 smtClean="0"/>
              <a:t>Мы посмотрели как построить </a:t>
            </a:r>
            <a:r>
              <a:rPr lang="ru-RU" sz="3200" dirty="0"/>
              <a:t>эффективную систему поиска информации в больших коллекциях документов. Основная проблема:</a:t>
            </a:r>
          </a:p>
          <a:p>
            <a:pPr lvl="1"/>
            <a:r>
              <a:rPr lang="ru-RU" sz="3000" dirty="0" smtClean="0"/>
              <a:t>У </a:t>
            </a:r>
            <a:r>
              <a:rPr lang="ru-RU" sz="3000" dirty="0"/>
              <a:t>вас есть миллиарды документов</a:t>
            </a:r>
          </a:p>
          <a:p>
            <a:pPr lvl="1"/>
            <a:r>
              <a:rPr lang="ru-RU" sz="3000" dirty="0" smtClean="0"/>
              <a:t>Пользователь </a:t>
            </a:r>
            <a:r>
              <a:rPr lang="ru-RU" sz="3000" dirty="0"/>
              <a:t>вводит запрос (несколько слов)</a:t>
            </a:r>
          </a:p>
          <a:p>
            <a:pPr lvl="1"/>
            <a:r>
              <a:rPr lang="ru-RU" sz="3000" dirty="0" smtClean="0"/>
              <a:t>Вам </a:t>
            </a:r>
            <a:r>
              <a:rPr lang="ru-RU" sz="3000" dirty="0"/>
              <a:t>нужно найти K лучших документов за 50 миллисекунд</a:t>
            </a:r>
          </a:p>
          <a:p>
            <a:pPr marL="0" indent="0">
              <a:buNone/>
            </a:pPr>
            <a:r>
              <a:rPr lang="ru-RU" sz="3200" dirty="0"/>
              <a:t>Наивный подход НЕ работает: вычислить косинусное сходство для каждого из миллиардов документов невозможно за такое время.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45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015981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b="1" dirty="0" smtClean="0"/>
              <a:t>Резюме</a:t>
            </a:r>
            <a:endParaRPr lang="en-US" b="1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200" dirty="0"/>
              <a:t>1. Векторное пространство и косинусное сходство</a:t>
            </a:r>
          </a:p>
          <a:p>
            <a:pPr marL="0" indent="0">
              <a:buNone/>
            </a:pPr>
            <a:r>
              <a:rPr lang="ru-RU" sz="3200" dirty="0"/>
              <a:t>•	Каждый документ и запрос представляются как векторы (используя </a:t>
            </a:r>
            <a:r>
              <a:rPr lang="ru-RU" sz="3200" dirty="0" err="1"/>
              <a:t>tf-idf</a:t>
            </a:r>
            <a:r>
              <a:rPr lang="ru-RU" sz="3200" dirty="0"/>
              <a:t>)</a:t>
            </a:r>
          </a:p>
          <a:p>
            <a:pPr marL="0" indent="0">
              <a:buNone/>
            </a:pPr>
            <a:r>
              <a:rPr lang="ru-RU" sz="3200" dirty="0"/>
              <a:t>•	Релевантность = косинусное сходство между вектором запроса и документа</a:t>
            </a:r>
          </a:p>
          <a:p>
            <a:pPr marL="0" indent="0">
              <a:buNone/>
            </a:pPr>
            <a:r>
              <a:rPr lang="ru-RU" sz="3200" dirty="0"/>
              <a:t>•	Это математический способ измерить, насколько хорошо документ соответствует запросу</a:t>
            </a:r>
          </a:p>
          <a:p>
            <a:pPr marL="0" indent="0">
              <a:buNone/>
            </a:pPr>
            <a:r>
              <a:rPr lang="ru-RU" sz="3200" dirty="0"/>
              <a:t>2. Проблема масштаба</a:t>
            </a:r>
          </a:p>
          <a:p>
            <a:pPr marL="0" indent="0">
              <a:buNone/>
            </a:pPr>
            <a:r>
              <a:rPr lang="ru-RU" sz="3200" dirty="0"/>
              <a:t>•	Нельзя вычислить косинус для всех документов</a:t>
            </a:r>
          </a:p>
          <a:p>
            <a:pPr marL="0" indent="0">
              <a:buNone/>
            </a:pPr>
            <a:r>
              <a:rPr lang="ru-RU" sz="3200" dirty="0"/>
              <a:t>•	Нужна стратегия, чтобы вычислять косинусы только для "перспективных" </a:t>
            </a:r>
            <a:r>
              <a:rPr lang="ru-RU" sz="3200" dirty="0" smtClean="0"/>
              <a:t>документов</a:t>
            </a:r>
            <a:endParaRPr lang="ru-RU" sz="32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46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537118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b="1" dirty="0" smtClean="0"/>
              <a:t>Резюме. 3 Оптимизация поиска</a:t>
            </a:r>
            <a:endParaRPr lang="en-US" b="1" dirty="0"/>
          </a:p>
        </p:txBody>
      </p:sp>
      <p:graphicFrame>
        <p:nvGraphicFramePr>
          <p:cNvPr id="2" name="Объект 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45327248"/>
              </p:ext>
            </p:extLst>
          </p:nvPr>
        </p:nvGraphicFramePr>
        <p:xfrm>
          <a:off x="431800" y="863999"/>
          <a:ext cx="11031537" cy="5545521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2251015">
                  <a:extLst>
                    <a:ext uri="{9D8B030D-6E8A-4147-A177-3AD203B41FA5}">
                      <a16:colId xmlns:a16="http://schemas.microsoft.com/office/drawing/2014/main" val="2734222271"/>
                    </a:ext>
                  </a:extLst>
                </a:gridCol>
                <a:gridCol w="4615132">
                  <a:extLst>
                    <a:ext uri="{9D8B030D-6E8A-4147-A177-3AD203B41FA5}">
                      <a16:colId xmlns:a16="http://schemas.microsoft.com/office/drawing/2014/main" val="306325130"/>
                    </a:ext>
                  </a:extLst>
                </a:gridCol>
                <a:gridCol w="4165390">
                  <a:extLst>
                    <a:ext uri="{9D8B030D-6E8A-4147-A177-3AD203B41FA5}">
                      <a16:colId xmlns:a16="http://schemas.microsoft.com/office/drawing/2014/main" val="2500489277"/>
                    </a:ext>
                  </a:extLst>
                </a:gridCol>
              </a:tblGrid>
              <a:tr h="6034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Метод</a:t>
                      </a:r>
                      <a:endParaRPr lang="ru-RU" sz="24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Суть</a:t>
                      </a:r>
                      <a:endParaRPr lang="ru-RU" sz="24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Где использовать</a:t>
                      </a:r>
                      <a:endParaRPr lang="ru-RU" sz="24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extLst>
                  <a:ext uri="{0D108BD9-81ED-4DB2-BD59-A6C34878D82A}">
                    <a16:rowId xmlns:a16="http://schemas.microsoft.com/office/drawing/2014/main" val="1692666339"/>
                  </a:ext>
                </a:extLst>
              </a:tr>
              <a:tr h="6034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Index Elimination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Игнорировать документы, содержащие только частые слова</a:t>
                      </a:r>
                      <a:endParaRPr lang="ru-RU" sz="24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Быстрое отсеивание неподходящих документов</a:t>
                      </a:r>
                      <a:endParaRPr lang="ru-RU" sz="24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extLst>
                  <a:ext uri="{0D108BD9-81ED-4DB2-BD59-A6C34878D82A}">
                    <a16:rowId xmlns:a16="http://schemas.microsoft.com/office/drawing/2014/main" val="1028264949"/>
                  </a:ext>
                </a:extLst>
              </a:tr>
              <a:tr h="9997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Champion Lists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Для каждого слова ведём список K лучших документов (предвычисляем)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Когда индекс строится один раз, запросы часто</a:t>
                      </a:r>
                      <a:endParaRPr lang="ru-RU" sz="24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extLst>
                  <a:ext uri="{0D108BD9-81ED-4DB2-BD59-A6C34878D82A}">
                    <a16:rowId xmlns:a16="http://schemas.microsoft.com/office/drawing/2014/main" val="2632911850"/>
                  </a:ext>
                </a:extLst>
              </a:tr>
              <a:tr h="9997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Heap Selection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Вместо сортировки всех документов, используем структуру heap для выбора топ K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Очень эффективно для K &lt;&lt; N</a:t>
                      </a:r>
                      <a:endParaRPr lang="ru-RU" sz="24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extLst>
                  <a:ext uri="{0D108BD9-81ED-4DB2-BD59-A6C34878D82A}">
                    <a16:rowId xmlns:a16="http://schemas.microsoft.com/office/drawing/2014/main" val="3293114881"/>
                  </a:ext>
                </a:extLst>
              </a:tr>
              <a:tr h="6034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High/Low Lists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Два списка: популярные документы + редкие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Балансирование между точностью и скоростью</a:t>
                      </a:r>
                      <a:endParaRPr lang="ru-RU" sz="24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extLst>
                  <a:ext uri="{0D108BD9-81ED-4DB2-BD59-A6C34878D82A}">
                    <a16:rowId xmlns:a16="http://schemas.microsoft.com/office/drawing/2014/main" val="321868202"/>
                  </a:ext>
                </a:extLst>
              </a:tr>
              <a:tr h="6034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Impact-ordered Postings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Сортируем постинги по весам, останавливаемся рано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Когда нет единой глобальной упорядоченности</a:t>
                      </a:r>
                      <a:endParaRPr lang="ru-RU" sz="24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extLst>
                  <a:ext uri="{0D108BD9-81ED-4DB2-BD59-A6C34878D82A}">
                    <a16:rowId xmlns:a16="http://schemas.microsoft.com/office/drawing/2014/main" val="104179663"/>
                  </a:ext>
                </a:extLst>
              </a:tr>
              <a:tr h="9997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Cluster Pruning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Случайно выбираем лидер-документы, для запроса ищем в их соседях</a:t>
                      </a:r>
                      <a:endParaRPr lang="ru-RU" sz="2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Распределённый поиск</a:t>
                      </a:r>
                      <a:endParaRPr lang="ru-RU" sz="24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938" marR="98938" marT="49469" marB="49469"/>
                </a:tc>
                <a:extLst>
                  <a:ext uri="{0D108BD9-81ED-4DB2-BD59-A6C34878D82A}">
                    <a16:rowId xmlns:a16="http://schemas.microsoft.com/office/drawing/2014/main" val="1575456061"/>
                  </a:ext>
                </a:extLst>
              </a:tr>
            </a:tbl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47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410983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b="1" dirty="0" smtClean="0"/>
              <a:t>Резюме</a:t>
            </a:r>
            <a:endParaRPr lang="en-US" b="1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3200" dirty="0"/>
              <a:t>4. Авторитетность документа</a:t>
            </a:r>
          </a:p>
          <a:p>
            <a:pPr marL="0" indent="0">
              <a:buNone/>
            </a:pPr>
            <a:r>
              <a:rPr lang="ru-RU" sz="3200" dirty="0"/>
              <a:t>•	Косинус только показывает релевантность к запросу</a:t>
            </a:r>
          </a:p>
          <a:p>
            <a:pPr marL="0" indent="0">
              <a:buNone/>
            </a:pPr>
            <a:r>
              <a:rPr lang="ru-RU" sz="3200" dirty="0"/>
              <a:t>•	Нужно также учитывать авторитетность документа: </a:t>
            </a:r>
            <a:r>
              <a:rPr lang="ru-RU" sz="3200" dirty="0" err="1"/>
              <a:t>Wikipedia</a:t>
            </a:r>
            <a:r>
              <a:rPr lang="ru-RU" sz="3200" dirty="0"/>
              <a:t>, цитируемость, </a:t>
            </a:r>
            <a:r>
              <a:rPr lang="ru-RU" sz="3200" dirty="0" err="1"/>
              <a:t>PageRank</a:t>
            </a:r>
            <a:endParaRPr lang="ru-RU" sz="3200" dirty="0"/>
          </a:p>
          <a:p>
            <a:pPr marL="0" indent="0">
              <a:buNone/>
            </a:pPr>
            <a:r>
              <a:rPr lang="ru-RU" sz="3200" dirty="0"/>
              <a:t>•	Итоговая оценка = авторитет + релевантность</a:t>
            </a:r>
          </a:p>
          <a:p>
            <a:pPr marL="0" indent="0">
              <a:buNone/>
            </a:pPr>
            <a:r>
              <a:rPr lang="ru-RU" sz="3200" dirty="0"/>
              <a:t>5. Дополнительные оптимизации</a:t>
            </a:r>
          </a:p>
          <a:p>
            <a:pPr marL="0" indent="0">
              <a:buNone/>
            </a:pPr>
            <a:r>
              <a:rPr lang="ru-RU" sz="3200" dirty="0"/>
              <a:t>•	Параметрические индексы: поиск по полям (автор, дата)</a:t>
            </a:r>
          </a:p>
          <a:p>
            <a:pPr marL="0" indent="0">
              <a:buNone/>
            </a:pPr>
            <a:r>
              <a:rPr lang="ru-RU" sz="3200" dirty="0"/>
              <a:t>•	Зоны: учитывать, в каком разделе документа встречается слово (название важнее, чем основной текст)</a:t>
            </a:r>
          </a:p>
          <a:p>
            <a:pPr marL="0" indent="0">
              <a:buNone/>
            </a:pPr>
            <a:r>
              <a:rPr lang="ru-RU" sz="3200" dirty="0"/>
              <a:t>•	Многоуровневые индексы: сначала ищем в самых популярных документах</a:t>
            </a:r>
          </a:p>
          <a:p>
            <a:pPr marL="0" indent="0">
              <a:buNone/>
            </a:pPr>
            <a:r>
              <a:rPr lang="ru-RU" sz="3200" dirty="0"/>
              <a:t>•	Близость термов: документы, где слова близко друг к другу — лучше</a:t>
            </a:r>
          </a:p>
          <a:p>
            <a:pPr marL="0" indent="0">
              <a:buNone/>
            </a:pPr>
            <a:r>
              <a:rPr lang="ru-RU" sz="3200" dirty="0"/>
              <a:t>•	</a:t>
            </a:r>
            <a:r>
              <a:rPr lang="ru-RU" sz="3200" dirty="0" err="1"/>
              <a:t>Парсеры</a:t>
            </a:r>
            <a:r>
              <a:rPr lang="ru-RU" sz="3200" dirty="0"/>
              <a:t> запросов: интеллектуальная обработка запроса (фразовый поиск → при неудаче → векторный поиск)</a:t>
            </a:r>
          </a:p>
          <a:p>
            <a:pPr marL="0" indent="0">
              <a:buNone/>
            </a:pPr>
            <a:endParaRPr lang="ru-RU" sz="32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48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000576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b="1" dirty="0" smtClean="0"/>
              <a:t>Резюме</a:t>
            </a:r>
            <a:endParaRPr lang="en-US" b="1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3200" dirty="0"/>
              <a:t>Запрос: "стойкие к засухе растения"</a:t>
            </a:r>
          </a:p>
          <a:p>
            <a:pPr marL="0" indent="0">
              <a:buNone/>
            </a:pPr>
            <a:r>
              <a:rPr lang="ru-RU" sz="3200" dirty="0"/>
              <a:t>1.	Исключение индексов: игнорируем постинги слова "к" (очень частое)</a:t>
            </a:r>
          </a:p>
          <a:p>
            <a:pPr marL="0" indent="0">
              <a:buNone/>
            </a:pPr>
            <a:r>
              <a:rPr lang="ru-RU" sz="3200" dirty="0"/>
              <a:t>2.	</a:t>
            </a:r>
            <a:r>
              <a:rPr lang="ru-RU" sz="3200" dirty="0" err="1"/>
              <a:t>Champion</a:t>
            </a:r>
            <a:r>
              <a:rPr lang="ru-RU" sz="3200" dirty="0"/>
              <a:t> </a:t>
            </a:r>
            <a:r>
              <a:rPr lang="ru-RU" sz="3200" dirty="0" err="1"/>
              <a:t>Lists</a:t>
            </a:r>
            <a:r>
              <a:rPr lang="ru-RU" sz="3200" dirty="0"/>
              <a:t>: для "стойкие", "засухе", "растения" </a:t>
            </a:r>
            <a:r>
              <a:rPr lang="ru-RU" sz="3200" dirty="0" smtClean="0"/>
              <a:t>берем </a:t>
            </a:r>
            <a:r>
              <a:rPr lang="ru-RU" sz="3200" dirty="0"/>
              <a:t>только топ-1000 документов каждого</a:t>
            </a:r>
          </a:p>
          <a:p>
            <a:pPr marL="0" indent="0">
              <a:buNone/>
            </a:pPr>
            <a:r>
              <a:rPr lang="ru-RU" sz="3200" dirty="0"/>
              <a:t>3.	Пересечение: остаются документы, встречающиеся в 2+ списках</a:t>
            </a:r>
          </a:p>
          <a:p>
            <a:pPr marL="0" indent="0">
              <a:buNone/>
            </a:pPr>
            <a:r>
              <a:rPr lang="ru-RU" sz="3200" dirty="0"/>
              <a:t>4.	Вычисление косинуса: только для оставшихся ~100 документов</a:t>
            </a:r>
          </a:p>
          <a:p>
            <a:pPr marL="0" indent="0">
              <a:buNone/>
            </a:pPr>
            <a:r>
              <a:rPr lang="ru-RU" sz="3200" dirty="0"/>
              <a:t>5.	</a:t>
            </a:r>
            <a:r>
              <a:rPr lang="ru-RU" sz="3200" dirty="0" smtClean="0"/>
              <a:t>Учет </a:t>
            </a:r>
            <a:r>
              <a:rPr lang="ru-RU" sz="3200" dirty="0"/>
              <a:t>авторитета: если это статья из </a:t>
            </a:r>
            <a:r>
              <a:rPr lang="ru-RU" sz="3200" dirty="0" err="1"/>
              <a:t>Wikipedia</a:t>
            </a:r>
            <a:r>
              <a:rPr lang="ru-RU" sz="3200" dirty="0"/>
              <a:t>, повышаем оценку</a:t>
            </a:r>
          </a:p>
          <a:p>
            <a:pPr marL="0" indent="0">
              <a:buNone/>
            </a:pPr>
            <a:r>
              <a:rPr lang="ru-RU" sz="3200" dirty="0"/>
              <a:t>6.	Близость: если "стойкие растения" встречаются рядом — помещаем в топ</a:t>
            </a:r>
          </a:p>
          <a:p>
            <a:pPr marL="0" indent="0">
              <a:buNone/>
            </a:pPr>
            <a:r>
              <a:rPr lang="ru-RU" sz="3200" dirty="0"/>
              <a:t>Результат: находим K=10 лучших документов за миллисекунды вместо часов!</a:t>
            </a:r>
          </a:p>
          <a:p>
            <a:pPr marL="0" indent="0">
              <a:buNone/>
            </a:pPr>
            <a:endParaRPr lang="ru-RU" sz="32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49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131044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b="1" dirty="0" smtClean="0"/>
              <a:t>Резюме</a:t>
            </a:r>
            <a:endParaRPr lang="en-US" b="1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•	</a:t>
            </a:r>
            <a:r>
              <a:rPr lang="ru-RU" sz="3200" dirty="0" err="1"/>
              <a:t>Google</a:t>
            </a:r>
            <a:r>
              <a:rPr lang="ru-RU" sz="3200" dirty="0"/>
              <a:t>, </a:t>
            </a:r>
            <a:r>
              <a:rPr lang="ru-RU" sz="3200" dirty="0" err="1"/>
              <a:t>Yandex</a:t>
            </a:r>
            <a:r>
              <a:rPr lang="ru-RU" sz="3200" dirty="0"/>
              <a:t>, </a:t>
            </a:r>
            <a:r>
              <a:rPr lang="ru-RU" sz="3200" dirty="0" err="1"/>
              <a:t>Baidu</a:t>
            </a:r>
            <a:r>
              <a:rPr lang="ru-RU" sz="3200" dirty="0"/>
              <a:t> — все используют эти техники</a:t>
            </a:r>
          </a:p>
          <a:p>
            <a:pPr marL="0" indent="0">
              <a:buNone/>
            </a:pPr>
            <a:r>
              <a:rPr lang="ru-RU" sz="3200" dirty="0"/>
              <a:t>•	Без них интернет-поиск был бы невозможен</a:t>
            </a:r>
          </a:p>
          <a:p>
            <a:pPr marL="0" indent="0">
              <a:buNone/>
            </a:pPr>
            <a:r>
              <a:rPr lang="ru-RU" sz="3200" dirty="0"/>
              <a:t>•	Применяется не только в веб-поиске, но и в e-</a:t>
            </a:r>
            <a:r>
              <a:rPr lang="ru-RU" sz="3200" dirty="0" err="1"/>
              <a:t>commerce</a:t>
            </a:r>
            <a:r>
              <a:rPr lang="ru-RU" sz="3200" dirty="0"/>
              <a:t>, медицинских базах, </a:t>
            </a:r>
            <a:r>
              <a:rPr lang="ru-RU" sz="3200" dirty="0" err="1" smtClean="0"/>
              <a:t>соцсетях</a:t>
            </a:r>
            <a:endParaRPr lang="ru-RU" sz="32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50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81442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">
            <a:extLst>
              <a:ext uri="{FF2B5EF4-FFF2-40B4-BE49-F238E27FC236}">
                <a16:creationId xmlns:a16="http://schemas.microsoft.com/office/drawing/2014/main" id="{C4330FBA-FEA8-B941-8864-B3DEDDE804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8" name="Надпись 37" descr="Акцент для блока заголовка">
            <a:extLst>
              <a:ext uri="{FF2B5EF4-FFF2-40B4-BE49-F238E27FC236}">
                <a16:creationId xmlns:a16="http://schemas.microsoft.com/office/drawing/2014/main" id="{B231FB9C-F234-41D0-A4CE-8C29A5F2F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54303" y="3842399"/>
            <a:ext cx="846997" cy="2200275"/>
          </a:xfrm>
          <a:custGeom>
            <a:avLst/>
            <a:gdLst>
              <a:gd name="connsiteX0" fmla="*/ 99480 w 846997"/>
              <a:gd name="connsiteY0" fmla="*/ 0 h 2200275"/>
              <a:gd name="connsiteX1" fmla="*/ 846997 w 846997"/>
              <a:gd name="connsiteY1" fmla="*/ 0 h 2200275"/>
              <a:gd name="connsiteX2" fmla="*/ 846997 w 846997"/>
              <a:gd name="connsiteY2" fmla="*/ 2200275 h 2200275"/>
              <a:gd name="connsiteX3" fmla="*/ 99480 w 846997"/>
              <a:gd name="connsiteY3" fmla="*/ 2200275 h 2200275"/>
              <a:gd name="connsiteX4" fmla="*/ 0 w 846997"/>
              <a:gd name="connsiteY4" fmla="*/ 2099942 h 2200275"/>
              <a:gd name="connsiteX5" fmla="*/ 0 w 846997"/>
              <a:gd name="connsiteY5" fmla="*/ 100333 h 2200275"/>
              <a:gd name="connsiteX6" fmla="*/ 99480 w 846997"/>
              <a:gd name="connsiteY6" fmla="*/ 0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997" h="2200275">
                <a:moveTo>
                  <a:pt x="99480" y="0"/>
                </a:moveTo>
                <a:lnTo>
                  <a:pt x="846997" y="0"/>
                </a:lnTo>
                <a:lnTo>
                  <a:pt x="846997" y="2200275"/>
                </a:lnTo>
                <a:lnTo>
                  <a:pt x="99480" y="2200275"/>
                </a:lnTo>
                <a:cubicBezTo>
                  <a:pt x="44539" y="2200275"/>
                  <a:pt x="0" y="2155354"/>
                  <a:pt x="0" y="2099942"/>
                </a:cubicBezTo>
                <a:lnTo>
                  <a:pt x="0" y="100333"/>
                </a:lnTo>
                <a:cubicBezTo>
                  <a:pt x="0" y="44921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35" name="Равнобедренный треугольник 34" descr="Тень для блока заголовка">
            <a:extLst>
              <a:ext uri="{FF2B5EF4-FFF2-40B4-BE49-F238E27FC236}">
                <a16:creationId xmlns:a16="http://schemas.microsoft.com/office/drawing/2014/main" id="{FE193317-B8BD-46CA-B0A6-8A7511B086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59065" y="5556894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2" name="Полилиния 5" descr="Сплошной контрастный блок">
            <a:extLst>
              <a:ext uri="{FF2B5EF4-FFF2-40B4-BE49-F238E27FC236}">
                <a16:creationId xmlns:a16="http://schemas.microsoft.com/office/drawing/2014/main" id="{85E0D4E1-E389-4671-B0E7-165A10A054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257349" y="2355010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33" name="Полилиния 5" descr="Пустой контрастный блок">
            <a:extLst>
              <a:ext uri="{FF2B5EF4-FFF2-40B4-BE49-F238E27FC236}">
                <a16:creationId xmlns:a16="http://schemas.microsoft.com/office/drawing/2014/main" id="{8186FEAF-6E1E-4258-94C3-5C589D4B5A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7C11A64B-7EA5-442C-8405-73273A5331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dirty="0"/>
              <a:t>Спасибо за внимание!</a:t>
            </a:r>
          </a:p>
        </p:txBody>
      </p:sp>
      <p:pic>
        <p:nvPicPr>
          <p:cNvPr id="8" name="Графический объект 7" descr="Пользователь" title="Значок — имя докладчика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678512" y="3859066"/>
            <a:ext cx="218900" cy="21890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ru-RU" sz="1800" dirty="0" smtClean="0"/>
              <a:t>Сергей Ткаченко</a:t>
            </a:r>
            <a:endParaRPr lang="ru-RU" sz="1800" dirty="0"/>
          </a:p>
        </p:txBody>
      </p:sp>
      <p:pic>
        <p:nvPicPr>
          <p:cNvPr id="9" name="Графический объект 8" descr="Конверт" title="Значок — адрес электронной почты докладчика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678512" y="4253359"/>
            <a:ext cx="218900" cy="218900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34849" y="4246905"/>
            <a:ext cx="3521514" cy="288000"/>
          </a:xfrm>
        </p:spPr>
        <p:txBody>
          <a:bodyPr rtlCol="0"/>
          <a:lstStyle/>
          <a:p>
            <a:pPr rtl="0"/>
            <a:r>
              <a:rPr lang="en-US" sz="1800" dirty="0" err="1" smtClean="0"/>
              <a:t>SNTkachenko</a:t>
            </a:r>
            <a:r>
              <a:rPr lang="ru-RU" sz="1800" dirty="0" smtClean="0"/>
              <a:t>@</a:t>
            </a:r>
            <a:r>
              <a:rPr lang="en-US" sz="1800" dirty="0" err="1" smtClean="0"/>
              <a:t>kantiana</a:t>
            </a:r>
            <a:r>
              <a:rPr lang="ru-RU" sz="1800" dirty="0" smtClean="0"/>
              <a:t>.</a:t>
            </a:r>
            <a:r>
              <a:rPr lang="en-US" sz="1800" dirty="0" err="1" smtClean="0"/>
              <a:t>ru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552_TF16411253.potx" id="{484AC4F0-DFB1-44B1-A48A-4A4E5B9BAE55}" vid="{642D7752-446B-4E16-8C1E-EACC99EB30B7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D4F06F66-218D-4D1C-873A-158A1848B8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8A50AA-654B-45CA-B6AD-FDA9E9535EF9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fb0879af-3eba-417a-a55a-ffe6dcd6ca77"/>
    <ds:schemaRef ds:uri="6dc4bcd6-49db-4c07-9060-8acfc67cef9f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Геометрическая презентация</Template>
  <TotalTime>0</TotalTime>
  <Words>2409</Words>
  <Application>Microsoft Office PowerPoint</Application>
  <PresentationFormat>Широкоэкранный</PresentationFormat>
  <Paragraphs>385</Paragraphs>
  <Slides>51</Slides>
  <Notes>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51</vt:i4>
      </vt:variant>
    </vt:vector>
  </HeadingPairs>
  <TitlesOfParts>
    <vt:vector size="64" baseType="lpstr">
      <vt:lpstr>MS PGothic</vt:lpstr>
      <vt:lpstr>SimSun</vt:lpstr>
      <vt:lpstr>Arial</vt:lpstr>
      <vt:lpstr>Arial Unicode MS</vt:lpstr>
      <vt:lpstr>Calibri</vt:lpstr>
      <vt:lpstr>Calibri Light</vt:lpstr>
      <vt:lpstr>Corbel</vt:lpstr>
      <vt:lpstr>Georgia</vt:lpstr>
      <vt:lpstr>Lucida Sans</vt:lpstr>
      <vt:lpstr>Symbol</vt:lpstr>
      <vt:lpstr>Times New Roman</vt:lpstr>
      <vt:lpstr>Тема Office</vt:lpstr>
      <vt:lpstr>Equation</vt:lpstr>
      <vt:lpstr>Ранжирование и сборка результатов поиска</vt:lpstr>
      <vt:lpstr>В предыдущей лекции…</vt:lpstr>
      <vt:lpstr>Взвешенный tf-idf</vt:lpstr>
      <vt:lpstr>Запросы как векторы</vt:lpstr>
      <vt:lpstr>Косинусное сходство (запрос, документ)</vt:lpstr>
      <vt:lpstr>Как улучшить ранжированный поиск</vt:lpstr>
      <vt:lpstr>Вычисление косинусных оценок</vt:lpstr>
      <vt:lpstr>Эффективное косинусное ранжирование</vt:lpstr>
      <vt:lpstr>Эффективное косинусное ранжирование</vt:lpstr>
      <vt:lpstr>Частный случай - невзвешенные запросы</vt:lpstr>
      <vt:lpstr>Вычисление K наибольших косинусов: выбор vs сортировка</vt:lpstr>
      <vt:lpstr>Использование кучи (heap) для выбора топ K</vt:lpstr>
      <vt:lpstr>Узкие места в производительности</vt:lpstr>
      <vt:lpstr>Косинусное сходство - это только приближение</vt:lpstr>
      <vt:lpstr>Общий подход</vt:lpstr>
      <vt:lpstr>Исключение индексов (Index Elimination)</vt:lpstr>
      <vt:lpstr>Только для запросов с высоким уровнем idf</vt:lpstr>
      <vt:lpstr>Документы, содержащие много термов запроса</vt:lpstr>
      <vt:lpstr>Пример: 3 из 4 термов запроса</vt:lpstr>
      <vt:lpstr>Списки "чемпионов" (Champion Lists)</vt:lpstr>
      <vt:lpstr>Задания на «подумать»</vt:lpstr>
      <vt:lpstr>Оценки статического качества</vt:lpstr>
      <vt:lpstr>Моделирование авторитета</vt:lpstr>
      <vt:lpstr>Итоговая оценка (Net Score)</vt:lpstr>
      <vt:lpstr>Быстрые методы для топ K по итоговой оценке</vt:lpstr>
      <vt:lpstr>Почему упорядочивать по g(d)?</vt:lpstr>
      <vt:lpstr>Списки чемпионов с упорядочением g(d)</vt:lpstr>
      <vt:lpstr>Списки "высокие" и "низкие" (High and Low lists)</vt:lpstr>
      <vt:lpstr>Постинги, упорядоченные по влиянию (Impact-ordered postings)</vt:lpstr>
      <vt:lpstr>Идея 1: Ранняя остановка (Early Termination)</vt:lpstr>
      <vt:lpstr>Идея 2: Упорядочение терминов по idf</vt:lpstr>
      <vt:lpstr>Кластерное отсеивание (Cluster Pruning)</vt:lpstr>
      <vt:lpstr>Кластерное отсеивание (Cluster Pruning)</vt:lpstr>
      <vt:lpstr>Кластерное отсеивание (Cluster Pruning)</vt:lpstr>
      <vt:lpstr>Общие варианты</vt:lpstr>
      <vt:lpstr>Пример</vt:lpstr>
      <vt:lpstr>Параметрические индексы и индексы зон (Parametric and Zone Indexes)</vt:lpstr>
      <vt:lpstr>Поля (Fields)</vt:lpstr>
      <vt:lpstr>Зоны (Zones)</vt:lpstr>
      <vt:lpstr>Зоны (Zones)</vt:lpstr>
      <vt:lpstr>Многоуровневые индексы (Tiered Indexes)</vt:lpstr>
      <vt:lpstr>Многоуровневые индексы (Tiered Indexes)</vt:lpstr>
      <vt:lpstr>Близость терминов запроса (Query Term Proximity)</vt:lpstr>
      <vt:lpstr>Парсеры запросов (Query Parsers)</vt:lpstr>
      <vt:lpstr>Резюме</vt:lpstr>
      <vt:lpstr>Резюме</vt:lpstr>
      <vt:lpstr>Резюме. 3 Оптимизация поиска</vt:lpstr>
      <vt:lpstr>Резюме</vt:lpstr>
      <vt:lpstr>Резюме</vt:lpstr>
      <vt:lpstr>Резюме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2025-08-26T15:19:12Z</dcterms:created>
  <dcterms:modified xsi:type="dcterms:W3CDTF">2026-01-27T14:27:40Z</dcterms:modified>
</cp:coreProperties>
</file>