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3"/>
  </p:sldMasterIdLst>
  <p:notesMasterIdLst>
    <p:notesMasterId r:id="rId43"/>
  </p:notesMasterIdLst>
  <p:handoutMasterIdLst>
    <p:handoutMasterId r:id="rId44"/>
  </p:handoutMasterIdLst>
  <p:sldIdLst>
    <p:sldId id="282" r:id="rId4"/>
    <p:sldId id="486" r:id="rId5"/>
    <p:sldId id="509" r:id="rId6"/>
    <p:sldId id="533" r:id="rId7"/>
    <p:sldId id="534" r:id="rId8"/>
    <p:sldId id="544" r:id="rId9"/>
    <p:sldId id="535" r:id="rId10"/>
    <p:sldId id="543" r:id="rId11"/>
    <p:sldId id="510" r:id="rId12"/>
    <p:sldId id="545" r:id="rId13"/>
    <p:sldId id="511" r:id="rId14"/>
    <p:sldId id="546" r:id="rId15"/>
    <p:sldId id="537" r:id="rId16"/>
    <p:sldId id="487" r:id="rId17"/>
    <p:sldId id="513" r:id="rId18"/>
    <p:sldId id="536" r:id="rId19"/>
    <p:sldId id="525" r:id="rId20"/>
    <p:sldId id="547" r:id="rId21"/>
    <p:sldId id="548" r:id="rId22"/>
    <p:sldId id="524" r:id="rId23"/>
    <p:sldId id="527" r:id="rId24"/>
    <p:sldId id="532" r:id="rId25"/>
    <p:sldId id="514" r:id="rId26"/>
    <p:sldId id="549" r:id="rId27"/>
    <p:sldId id="550" r:id="rId28"/>
    <p:sldId id="538" r:id="rId29"/>
    <p:sldId id="539" r:id="rId30"/>
    <p:sldId id="551" r:id="rId31"/>
    <p:sldId id="552" r:id="rId32"/>
    <p:sldId id="553" r:id="rId33"/>
    <p:sldId id="554" r:id="rId34"/>
    <p:sldId id="555" r:id="rId35"/>
    <p:sldId id="556" r:id="rId36"/>
    <p:sldId id="541" r:id="rId37"/>
    <p:sldId id="558" r:id="rId38"/>
    <p:sldId id="557" r:id="rId39"/>
    <p:sldId id="559" r:id="rId40"/>
    <p:sldId id="560" r:id="rId41"/>
    <p:sldId id="296" r:id="rId42"/>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Средний стиль 3 — акцент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31" autoAdjust="0"/>
  </p:normalViewPr>
  <p:slideViewPr>
    <p:cSldViewPr snapToGrid="0">
      <p:cViewPr varScale="1">
        <p:scale>
          <a:sx n="111" d="100"/>
          <a:sy n="111" d="100"/>
        </p:scale>
        <p:origin x="456" y="114"/>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dirty="0"/>
          </a:p>
        </p:txBody>
      </p:sp>
      <p:sp>
        <p:nvSpPr>
          <p:cNvPr id="3" name="Дата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F8DD750-E9C8-498E-B02F-A465CB2BB798}" type="datetime1">
              <a:rPr lang="ru-RU" smtClean="0"/>
              <a:t>07.04.2026</a:t>
            </a:fld>
            <a:endParaRPr lang="ru-RU" dirty="0"/>
          </a:p>
        </p:txBody>
      </p:sp>
      <p:sp>
        <p:nvSpPr>
          <p:cNvPr id="4" name="Нижний колонтитул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dirty="0"/>
          </a:p>
        </p:txBody>
      </p:sp>
      <p:sp>
        <p:nvSpPr>
          <p:cNvPr id="5" name="Номер слайда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ru-RU" smtClean="0"/>
              <a:t>‹#›</a:t>
            </a:fld>
            <a:endParaRPr lang="ru-RU"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7C6E7-B645-4B70-AC63-7A575D94CEB1}" type="datetime1">
              <a:rPr lang="ru-RU" smtClean="0"/>
              <a:pPr/>
              <a:t>07.04.2026</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ru-RU" noProof="0" smtClean="0"/>
              <a:t>‹#›</a:t>
            </a:fld>
            <a:endParaRPr lang="ru-RU"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1</a:t>
            </a:fld>
            <a:endParaRPr lang="ru-RU" dirty="0"/>
          </a:p>
        </p:txBody>
      </p:sp>
    </p:spTree>
    <p:extLst>
      <p:ext uri="{BB962C8B-B14F-4D97-AF65-F5344CB8AC3E}">
        <p14:creationId xmlns:p14="http://schemas.microsoft.com/office/powerpoint/2010/main" val="138300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2</a:t>
            </a:fld>
            <a:endParaRPr lang="ru-RU" dirty="0"/>
          </a:p>
        </p:txBody>
      </p:sp>
    </p:spTree>
    <p:extLst>
      <p:ext uri="{BB962C8B-B14F-4D97-AF65-F5344CB8AC3E}">
        <p14:creationId xmlns:p14="http://schemas.microsoft.com/office/powerpoint/2010/main" val="3041480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8</a:t>
            </a:fld>
            <a:endParaRPr lang="ru-RU" dirty="0"/>
          </a:p>
        </p:txBody>
      </p:sp>
    </p:spTree>
    <p:extLst>
      <p:ext uri="{BB962C8B-B14F-4D97-AF65-F5344CB8AC3E}">
        <p14:creationId xmlns:p14="http://schemas.microsoft.com/office/powerpoint/2010/main" val="2896596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14</a:t>
            </a:fld>
            <a:endParaRPr lang="ru-RU" dirty="0"/>
          </a:p>
        </p:txBody>
      </p:sp>
    </p:spTree>
    <p:extLst>
      <p:ext uri="{BB962C8B-B14F-4D97-AF65-F5344CB8AC3E}">
        <p14:creationId xmlns:p14="http://schemas.microsoft.com/office/powerpoint/2010/main" val="1375764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20</a:t>
            </a:fld>
            <a:endParaRPr lang="ru-RU" dirty="0"/>
          </a:p>
        </p:txBody>
      </p:sp>
    </p:spTree>
    <p:extLst>
      <p:ext uri="{BB962C8B-B14F-4D97-AF65-F5344CB8AC3E}">
        <p14:creationId xmlns:p14="http://schemas.microsoft.com/office/powerpoint/2010/main" val="3573693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39</a:t>
            </a:fld>
            <a:endParaRPr lang="ru-RU" dirty="0"/>
          </a:p>
        </p:txBody>
      </p:sp>
    </p:spTree>
    <p:extLst>
      <p:ext uri="{BB962C8B-B14F-4D97-AF65-F5344CB8AC3E}">
        <p14:creationId xmlns:p14="http://schemas.microsoft.com/office/powerpoint/2010/main" val="2855929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5" name="Подзаголовок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6" name="Номер слайда 5">
            <a:extLst>
              <a:ext uri="{FF2B5EF4-FFF2-40B4-BE49-F238E27FC236}">
                <a16:creationId xmlns:a16="http://schemas.microsoft.com/office/drawing/2014/main" id="{7A47F3D0-41FC-4430-9F9E-1F78A18D65F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
        <p:nvSpPr>
          <p:cNvPr id="7" name="Нижний колонтитул 6">
            <a:extLst>
              <a:ext uri="{FF2B5EF4-FFF2-40B4-BE49-F238E27FC236}">
                <a16:creationId xmlns:a16="http://schemas.microsoft.com/office/drawing/2014/main" id="{2ED798F6-1F12-46CE-9AFD-CC66555A191D}"/>
              </a:ext>
            </a:extLst>
          </p:cNvPr>
          <p:cNvSpPr>
            <a:spLocks noGrp="1"/>
          </p:cNvSpPr>
          <p:nvPr>
            <p:ph type="ftr" sz="quarter" idx="34"/>
          </p:nvPr>
        </p:nvSpPr>
        <p:spPr/>
        <p:txBody>
          <a:bodyPr rtlCol="0"/>
          <a:lstStyle/>
          <a:p>
            <a:pPr rtl="0"/>
            <a:r>
              <a:rPr lang="ru-RU" noProof="0" dirty="0"/>
              <a:t>Добавить нижний колонтитул</a:t>
            </a:r>
          </a:p>
        </p:txBody>
      </p:sp>
    </p:spTree>
    <p:extLst>
      <p:ext uri="{BB962C8B-B14F-4D97-AF65-F5344CB8AC3E}">
        <p14:creationId xmlns:p14="http://schemas.microsoft.com/office/powerpoint/2010/main" val="1505855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Титульный слайд">
    <p:spTree>
      <p:nvGrpSpPr>
        <p:cNvPr id="1" name=""/>
        <p:cNvGrpSpPr/>
        <p:nvPr/>
      </p:nvGrpSpPr>
      <p:grpSpPr>
        <a:xfrm>
          <a:off x="0" y="0"/>
          <a:ext cx="0" cy="0"/>
          <a:chOff x="0" y="0"/>
          <a:chExt cx="0" cy="0"/>
        </a:xfrm>
      </p:grpSpPr>
      <p:sp>
        <p:nvSpPr>
          <p:cNvPr id="21" name="Рисунок 20">
            <a:extLst>
              <a:ext uri="{FF2B5EF4-FFF2-40B4-BE49-F238E27FC236}">
                <a16:creationId xmlns:a16="http://schemas.microsoft.com/office/drawing/2014/main" id="{9A70B137-2503-4803-9F56-620A586FA494}"/>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948293" y="32717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название презентации</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1130300" y="52504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endParaRPr lang="ru-RU"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7CE129D0-CB7B-444C-AF89-B1CB663E3679}"/>
              </a:ext>
            </a:extLst>
          </p:cNvPr>
          <p:cNvSpPr>
            <a:spLocks noGrp="1"/>
          </p:cNvSpPr>
          <p:nvPr>
            <p:ph type="pic" sz="quarter" idx="13" hasCustomPrompt="1"/>
          </p:nvPr>
        </p:nvSpPr>
        <p:spPr>
          <a:xfrm>
            <a:off x="0" y="418374"/>
            <a:ext cx="8687356" cy="6439627"/>
          </a:xfrm>
          <a:custGeom>
            <a:avLst/>
            <a:gdLst>
              <a:gd name="connsiteX0" fmla="*/ 0 w 8687356"/>
              <a:gd name="connsiteY0" fmla="*/ 5592682 h 6439627"/>
              <a:gd name="connsiteX1" fmla="*/ 186296 w 8687356"/>
              <a:gd name="connsiteY1" fmla="*/ 5593149 h 6439627"/>
              <a:gd name="connsiteX2" fmla="*/ 1348900 w 8687356"/>
              <a:gd name="connsiteY2" fmla="*/ 5596063 h 6439627"/>
              <a:gd name="connsiteX3" fmla="*/ 1800991 w 8687356"/>
              <a:gd name="connsiteY3" fmla="*/ 5851702 h 6439627"/>
              <a:gd name="connsiteX4" fmla="*/ 2106366 w 8687356"/>
              <a:gd name="connsiteY4" fmla="*/ 6380627 h 6439627"/>
              <a:gd name="connsiteX5" fmla="*/ 2140430 w 8687356"/>
              <a:gd name="connsiteY5" fmla="*/ 6439627 h 6439627"/>
              <a:gd name="connsiteX6" fmla="*/ 0 w 8687356"/>
              <a:gd name="connsiteY6" fmla="*/ 6439627 h 6439627"/>
              <a:gd name="connsiteX7" fmla="*/ 693821 w 8687356"/>
              <a:gd name="connsiteY7" fmla="*/ 3646328 h 6439627"/>
              <a:gd name="connsiteX8" fmla="*/ 1586357 w 8687356"/>
              <a:gd name="connsiteY8" fmla="*/ 3648566 h 6439627"/>
              <a:gd name="connsiteX9" fmla="*/ 1724950 w 8687356"/>
              <a:gd name="connsiteY9" fmla="*/ 3726935 h 6439627"/>
              <a:gd name="connsiteX10" fmla="*/ 2172189 w 8687356"/>
              <a:gd name="connsiteY10" fmla="*/ 4501577 h 6439627"/>
              <a:gd name="connsiteX11" fmla="*/ 2171729 w 8687356"/>
              <a:gd name="connsiteY11" fmla="*/ 4662459 h 6439627"/>
              <a:gd name="connsiteX12" fmla="*/ 1726432 w 8687356"/>
              <a:gd name="connsiteY12" fmla="*/ 5434863 h 6439627"/>
              <a:gd name="connsiteX13" fmla="*/ 1589746 w 8687356"/>
              <a:gd name="connsiteY13" fmla="*/ 5513779 h 6439627"/>
              <a:gd name="connsiteX14" fmla="*/ 698177 w 8687356"/>
              <a:gd name="connsiteY14" fmla="*/ 5513215 h 6439627"/>
              <a:gd name="connsiteX15" fmla="*/ 558617 w 8687356"/>
              <a:gd name="connsiteY15" fmla="*/ 5433172 h 6439627"/>
              <a:gd name="connsiteX16" fmla="*/ 111378 w 8687356"/>
              <a:gd name="connsiteY16" fmla="*/ 4658531 h 6439627"/>
              <a:gd name="connsiteX17" fmla="*/ 112805 w 8687356"/>
              <a:gd name="connsiteY17" fmla="*/ 4499321 h 6439627"/>
              <a:gd name="connsiteX18" fmla="*/ 557135 w 8687356"/>
              <a:gd name="connsiteY18" fmla="*/ 3725244 h 6439627"/>
              <a:gd name="connsiteX19" fmla="*/ 693821 w 8687356"/>
              <a:gd name="connsiteY19" fmla="*/ 3646328 h 6439627"/>
              <a:gd name="connsiteX20" fmla="*/ 1975378 w 8687356"/>
              <a:gd name="connsiteY20" fmla="*/ 3263784 h 6439627"/>
              <a:gd name="connsiteX21" fmla="*/ 2292917 w 8687356"/>
              <a:gd name="connsiteY21" fmla="*/ 3264581 h 6439627"/>
              <a:gd name="connsiteX22" fmla="*/ 2342225 w 8687356"/>
              <a:gd name="connsiteY22" fmla="*/ 3292462 h 6439627"/>
              <a:gd name="connsiteX23" fmla="*/ 2501341 w 8687356"/>
              <a:gd name="connsiteY23" fmla="*/ 3568059 h 6439627"/>
              <a:gd name="connsiteX24" fmla="*/ 2501177 w 8687356"/>
              <a:gd name="connsiteY24" fmla="*/ 3625297 h 6439627"/>
              <a:gd name="connsiteX25" fmla="*/ 2342753 w 8687356"/>
              <a:gd name="connsiteY25" fmla="*/ 3900096 h 6439627"/>
              <a:gd name="connsiteX26" fmla="*/ 2294123 w 8687356"/>
              <a:gd name="connsiteY26" fmla="*/ 3928173 h 6439627"/>
              <a:gd name="connsiteX27" fmla="*/ 1976927 w 8687356"/>
              <a:gd name="connsiteY27" fmla="*/ 3927972 h 6439627"/>
              <a:gd name="connsiteX28" fmla="*/ 1927275 w 8687356"/>
              <a:gd name="connsiteY28" fmla="*/ 3899495 h 6439627"/>
              <a:gd name="connsiteX29" fmla="*/ 1768160 w 8687356"/>
              <a:gd name="connsiteY29" fmla="*/ 3623899 h 6439627"/>
              <a:gd name="connsiteX30" fmla="*/ 1768668 w 8687356"/>
              <a:gd name="connsiteY30" fmla="*/ 3567256 h 6439627"/>
              <a:gd name="connsiteX31" fmla="*/ 1926748 w 8687356"/>
              <a:gd name="connsiteY31" fmla="*/ 3291861 h 6439627"/>
              <a:gd name="connsiteX32" fmla="*/ 1975378 w 8687356"/>
              <a:gd name="connsiteY32" fmla="*/ 3263784 h 6439627"/>
              <a:gd name="connsiteX33" fmla="*/ 2130702 w 8687356"/>
              <a:gd name="connsiteY33" fmla="*/ 2828022 h 6439627"/>
              <a:gd name="connsiteX34" fmla="*/ 2298374 w 8687356"/>
              <a:gd name="connsiteY34" fmla="*/ 2828442 h 6439627"/>
              <a:gd name="connsiteX35" fmla="*/ 2324410 w 8687356"/>
              <a:gd name="connsiteY35" fmla="*/ 2843165 h 6439627"/>
              <a:gd name="connsiteX36" fmla="*/ 2408429 w 8687356"/>
              <a:gd name="connsiteY36" fmla="*/ 2988689 h 6439627"/>
              <a:gd name="connsiteX37" fmla="*/ 2408342 w 8687356"/>
              <a:gd name="connsiteY37" fmla="*/ 3018913 h 6439627"/>
              <a:gd name="connsiteX38" fmla="*/ 2324689 w 8687356"/>
              <a:gd name="connsiteY38" fmla="*/ 3164017 h 6439627"/>
              <a:gd name="connsiteX39" fmla="*/ 2299011 w 8687356"/>
              <a:gd name="connsiteY39" fmla="*/ 3178842 h 6439627"/>
              <a:gd name="connsiteX40" fmla="*/ 2131520 w 8687356"/>
              <a:gd name="connsiteY40" fmla="*/ 3178736 h 6439627"/>
              <a:gd name="connsiteX41" fmla="*/ 2105302 w 8687356"/>
              <a:gd name="connsiteY41" fmla="*/ 3163699 h 6439627"/>
              <a:gd name="connsiteX42" fmla="*/ 2021284 w 8687356"/>
              <a:gd name="connsiteY42" fmla="*/ 3018175 h 6439627"/>
              <a:gd name="connsiteX43" fmla="*/ 2021552 w 8687356"/>
              <a:gd name="connsiteY43" fmla="*/ 2988265 h 6439627"/>
              <a:gd name="connsiteX44" fmla="*/ 2105024 w 8687356"/>
              <a:gd name="connsiteY44" fmla="*/ 2842847 h 6439627"/>
              <a:gd name="connsiteX45" fmla="*/ 2130702 w 8687356"/>
              <a:gd name="connsiteY45" fmla="*/ 2828022 h 6439627"/>
              <a:gd name="connsiteX46" fmla="*/ 3794942 w 8687356"/>
              <a:gd name="connsiteY46" fmla="*/ 2543905 h 6439627"/>
              <a:gd name="connsiteX47" fmla="*/ 6706383 w 8687356"/>
              <a:gd name="connsiteY47" fmla="*/ 2551204 h 6439627"/>
              <a:gd name="connsiteX48" fmla="*/ 7158474 w 8687356"/>
              <a:gd name="connsiteY48" fmla="*/ 2806842 h 6439627"/>
              <a:gd name="connsiteX49" fmla="*/ 8617364 w 8687356"/>
              <a:gd name="connsiteY49" fmla="*/ 5333715 h 6439627"/>
              <a:gd name="connsiteX50" fmla="*/ 8615859 w 8687356"/>
              <a:gd name="connsiteY50" fmla="*/ 5858514 h 6439627"/>
              <a:gd name="connsiteX51" fmla="*/ 8311811 w 8687356"/>
              <a:gd name="connsiteY51" fmla="*/ 6385912 h 6439627"/>
              <a:gd name="connsiteX52" fmla="*/ 8280844 w 8687356"/>
              <a:gd name="connsiteY52" fmla="*/ 6439627 h 6439627"/>
              <a:gd name="connsiteX53" fmla="*/ 2237916 w 8687356"/>
              <a:gd name="connsiteY53" fmla="*/ 6439627 h 6439627"/>
              <a:gd name="connsiteX54" fmla="*/ 2151815 w 8687356"/>
              <a:gd name="connsiteY54" fmla="*/ 6290497 h 6439627"/>
              <a:gd name="connsiteX55" fmla="*/ 1895013 w 8687356"/>
              <a:gd name="connsiteY55" fmla="*/ 5845703 h 6439627"/>
              <a:gd name="connsiteX56" fmla="*/ 1899669 w 8687356"/>
              <a:gd name="connsiteY56" fmla="*/ 5326361 h 6439627"/>
              <a:gd name="connsiteX57" fmla="*/ 3349069 w 8687356"/>
              <a:gd name="connsiteY57" fmla="*/ 2801330 h 6439627"/>
              <a:gd name="connsiteX58" fmla="*/ 3794942 w 8687356"/>
              <a:gd name="connsiteY58" fmla="*/ 2543905 h 6439627"/>
              <a:gd name="connsiteX59" fmla="*/ 634940 w 8687356"/>
              <a:gd name="connsiteY59" fmla="*/ 2395105 h 6439627"/>
              <a:gd name="connsiteX60" fmla="*/ 1188015 w 8687356"/>
              <a:gd name="connsiteY60" fmla="*/ 2396492 h 6439627"/>
              <a:gd name="connsiteX61" fmla="*/ 1273897 w 8687356"/>
              <a:gd name="connsiteY61" fmla="*/ 2445054 h 6439627"/>
              <a:gd name="connsiteX62" fmla="*/ 1551037 w 8687356"/>
              <a:gd name="connsiteY62" fmla="*/ 2925075 h 6439627"/>
              <a:gd name="connsiteX63" fmla="*/ 1550752 w 8687356"/>
              <a:gd name="connsiteY63" fmla="*/ 3024769 h 6439627"/>
              <a:gd name="connsiteX64" fmla="*/ 1274816 w 8687356"/>
              <a:gd name="connsiteY64" fmla="*/ 3503403 h 6439627"/>
              <a:gd name="connsiteX65" fmla="*/ 1190116 w 8687356"/>
              <a:gd name="connsiteY65" fmla="*/ 3552304 h 6439627"/>
              <a:gd name="connsiteX66" fmla="*/ 637639 w 8687356"/>
              <a:gd name="connsiteY66" fmla="*/ 3551955 h 6439627"/>
              <a:gd name="connsiteX67" fmla="*/ 551158 w 8687356"/>
              <a:gd name="connsiteY67" fmla="*/ 3502355 h 6439627"/>
              <a:gd name="connsiteX68" fmla="*/ 274018 w 8687356"/>
              <a:gd name="connsiteY68" fmla="*/ 3022335 h 6439627"/>
              <a:gd name="connsiteX69" fmla="*/ 274903 w 8687356"/>
              <a:gd name="connsiteY69" fmla="*/ 2923678 h 6439627"/>
              <a:gd name="connsiteX70" fmla="*/ 550240 w 8687356"/>
              <a:gd name="connsiteY70" fmla="*/ 2444007 h 6439627"/>
              <a:gd name="connsiteX71" fmla="*/ 634940 w 8687356"/>
              <a:gd name="connsiteY71" fmla="*/ 2395105 h 6439627"/>
              <a:gd name="connsiteX72" fmla="*/ 2521339 w 8687356"/>
              <a:gd name="connsiteY72" fmla="*/ 1975621 h 6439627"/>
              <a:gd name="connsiteX73" fmla="*/ 2985874 w 8687356"/>
              <a:gd name="connsiteY73" fmla="*/ 1976785 h 6439627"/>
              <a:gd name="connsiteX74" fmla="*/ 3058007 w 8687356"/>
              <a:gd name="connsiteY74" fmla="*/ 2017574 h 6439627"/>
              <a:gd name="connsiteX75" fmla="*/ 3290779 w 8687356"/>
              <a:gd name="connsiteY75" fmla="*/ 2420748 h 6439627"/>
              <a:gd name="connsiteX76" fmla="*/ 3290540 w 8687356"/>
              <a:gd name="connsiteY76" fmla="*/ 2504482 h 6439627"/>
              <a:gd name="connsiteX77" fmla="*/ 3058778 w 8687356"/>
              <a:gd name="connsiteY77" fmla="*/ 2906492 h 6439627"/>
              <a:gd name="connsiteX78" fmla="*/ 2987637 w 8687356"/>
              <a:gd name="connsiteY78" fmla="*/ 2947565 h 6439627"/>
              <a:gd name="connsiteX79" fmla="*/ 2523606 w 8687356"/>
              <a:gd name="connsiteY79" fmla="*/ 2947271 h 6439627"/>
              <a:gd name="connsiteX80" fmla="*/ 2450970 w 8687356"/>
              <a:gd name="connsiteY80" fmla="*/ 2905612 h 6439627"/>
              <a:gd name="connsiteX81" fmla="*/ 2218197 w 8687356"/>
              <a:gd name="connsiteY81" fmla="*/ 2502438 h 6439627"/>
              <a:gd name="connsiteX82" fmla="*/ 2218941 w 8687356"/>
              <a:gd name="connsiteY82" fmla="*/ 2419574 h 6439627"/>
              <a:gd name="connsiteX83" fmla="*/ 2450199 w 8687356"/>
              <a:gd name="connsiteY83" fmla="*/ 2016694 h 6439627"/>
              <a:gd name="connsiteX84" fmla="*/ 2521339 w 8687356"/>
              <a:gd name="connsiteY84" fmla="*/ 1975621 h 6439627"/>
              <a:gd name="connsiteX85" fmla="*/ 3564142 w 8687356"/>
              <a:gd name="connsiteY85" fmla="*/ 34 h 6439627"/>
              <a:gd name="connsiteX86" fmla="*/ 4738405 w 8687356"/>
              <a:gd name="connsiteY86" fmla="*/ 2977 h 6439627"/>
              <a:gd name="connsiteX87" fmla="*/ 4920745 w 8687356"/>
              <a:gd name="connsiteY87" fmla="*/ 106084 h 6439627"/>
              <a:gd name="connsiteX88" fmla="*/ 5509155 w 8687356"/>
              <a:gd name="connsiteY88" fmla="*/ 1125240 h 6439627"/>
              <a:gd name="connsiteX89" fmla="*/ 5508549 w 8687356"/>
              <a:gd name="connsiteY89" fmla="*/ 1336906 h 6439627"/>
              <a:gd name="connsiteX90" fmla="*/ 4922696 w 8687356"/>
              <a:gd name="connsiteY90" fmla="*/ 2353119 h 6439627"/>
              <a:gd name="connsiteX91" fmla="*/ 4742864 w 8687356"/>
              <a:gd name="connsiteY91" fmla="*/ 2456945 h 6439627"/>
              <a:gd name="connsiteX92" fmla="*/ 3569871 w 8687356"/>
              <a:gd name="connsiteY92" fmla="*/ 2456203 h 6439627"/>
              <a:gd name="connsiteX93" fmla="*/ 3386259 w 8687356"/>
              <a:gd name="connsiteY93" fmla="*/ 2350896 h 6439627"/>
              <a:gd name="connsiteX94" fmla="*/ 2797848 w 8687356"/>
              <a:gd name="connsiteY94" fmla="*/ 1331739 h 6439627"/>
              <a:gd name="connsiteX95" fmla="*/ 2799727 w 8687356"/>
              <a:gd name="connsiteY95" fmla="*/ 1122274 h 6439627"/>
              <a:gd name="connsiteX96" fmla="*/ 3384310 w 8687356"/>
              <a:gd name="connsiteY96" fmla="*/ 103860 h 6439627"/>
              <a:gd name="connsiteX97" fmla="*/ 3564142 w 8687356"/>
              <a:gd name="connsiteY97" fmla="*/ 34 h 643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687356" h="6439627">
                <a:moveTo>
                  <a:pt x="0" y="5592682"/>
                </a:moveTo>
                <a:lnTo>
                  <a:pt x="186296" y="5593149"/>
                </a:lnTo>
                <a:cubicBezTo>
                  <a:pt x="510155" y="5593961"/>
                  <a:pt x="893987" y="5594923"/>
                  <a:pt x="1348900" y="5596063"/>
                </a:cubicBezTo>
                <a:cubicBezTo>
                  <a:pt x="1534387" y="5590847"/>
                  <a:pt x="1709614" y="5693431"/>
                  <a:pt x="1800991" y="5851702"/>
                </a:cubicBezTo>
                <a:cubicBezTo>
                  <a:pt x="1800991" y="5851702"/>
                  <a:pt x="1800991" y="5851702"/>
                  <a:pt x="2106366" y="6380627"/>
                </a:cubicBezTo>
                <a:lnTo>
                  <a:pt x="2140430" y="6439627"/>
                </a:lnTo>
                <a:lnTo>
                  <a:pt x="0" y="6439627"/>
                </a:lnTo>
                <a:close/>
                <a:moveTo>
                  <a:pt x="693821" y="3646328"/>
                </a:moveTo>
                <a:cubicBezTo>
                  <a:pt x="693821" y="3646328"/>
                  <a:pt x="693821" y="3646328"/>
                  <a:pt x="1586357" y="3648566"/>
                </a:cubicBezTo>
                <a:cubicBezTo>
                  <a:pt x="1643220" y="3646968"/>
                  <a:pt x="1696937" y="3678416"/>
                  <a:pt x="1724950" y="3726935"/>
                </a:cubicBezTo>
                <a:cubicBezTo>
                  <a:pt x="1724950" y="3726935"/>
                  <a:pt x="1724950" y="3726935"/>
                  <a:pt x="2172189" y="4501577"/>
                </a:cubicBezTo>
                <a:cubicBezTo>
                  <a:pt x="2201168" y="4551769"/>
                  <a:pt x="2200578" y="4612341"/>
                  <a:pt x="2171729" y="4662459"/>
                </a:cubicBezTo>
                <a:cubicBezTo>
                  <a:pt x="2171729" y="4662459"/>
                  <a:pt x="2171729" y="4662459"/>
                  <a:pt x="1726432" y="5434863"/>
                </a:cubicBezTo>
                <a:cubicBezTo>
                  <a:pt x="1699249" y="5484020"/>
                  <a:pt x="1645909" y="5514815"/>
                  <a:pt x="1589746" y="5513779"/>
                </a:cubicBezTo>
                <a:cubicBezTo>
                  <a:pt x="1589746" y="5513779"/>
                  <a:pt x="1589746" y="5513779"/>
                  <a:pt x="698177" y="5513215"/>
                </a:cubicBezTo>
                <a:cubicBezTo>
                  <a:pt x="640348" y="5513140"/>
                  <a:pt x="587596" y="5483366"/>
                  <a:pt x="558617" y="5433172"/>
                </a:cubicBezTo>
                <a:cubicBezTo>
                  <a:pt x="558617" y="5433172"/>
                  <a:pt x="558617" y="5433172"/>
                  <a:pt x="111378" y="4658531"/>
                </a:cubicBezTo>
                <a:cubicBezTo>
                  <a:pt x="83365" y="4610012"/>
                  <a:pt x="82990" y="4547767"/>
                  <a:pt x="112805" y="4499321"/>
                </a:cubicBezTo>
                <a:cubicBezTo>
                  <a:pt x="112805" y="4499321"/>
                  <a:pt x="112805" y="4499321"/>
                  <a:pt x="557135" y="3725244"/>
                </a:cubicBezTo>
                <a:cubicBezTo>
                  <a:pt x="584319" y="3676088"/>
                  <a:pt x="637659" y="3645292"/>
                  <a:pt x="693821" y="3646328"/>
                </a:cubicBezTo>
                <a:close/>
                <a:moveTo>
                  <a:pt x="1975378" y="3263784"/>
                </a:moveTo>
                <a:cubicBezTo>
                  <a:pt x="1975378" y="3263784"/>
                  <a:pt x="1975378" y="3263784"/>
                  <a:pt x="2292917" y="3264581"/>
                </a:cubicBezTo>
                <a:cubicBezTo>
                  <a:pt x="2313148" y="3264012"/>
                  <a:pt x="2332259" y="3275200"/>
                  <a:pt x="2342225" y="3292462"/>
                </a:cubicBezTo>
                <a:cubicBezTo>
                  <a:pt x="2342225" y="3292462"/>
                  <a:pt x="2342225" y="3292462"/>
                  <a:pt x="2501341" y="3568059"/>
                </a:cubicBezTo>
                <a:cubicBezTo>
                  <a:pt x="2511651" y="3585916"/>
                  <a:pt x="2511441" y="3607466"/>
                  <a:pt x="2501177" y="3625297"/>
                </a:cubicBezTo>
                <a:cubicBezTo>
                  <a:pt x="2501177" y="3625297"/>
                  <a:pt x="2501177" y="3625297"/>
                  <a:pt x="2342753" y="3900096"/>
                </a:cubicBezTo>
                <a:cubicBezTo>
                  <a:pt x="2333082" y="3917585"/>
                  <a:pt x="2314104" y="3928542"/>
                  <a:pt x="2294123" y="3928173"/>
                </a:cubicBezTo>
                <a:cubicBezTo>
                  <a:pt x="2294123" y="3928173"/>
                  <a:pt x="2294123" y="3928173"/>
                  <a:pt x="1976927" y="3927972"/>
                </a:cubicBezTo>
                <a:cubicBezTo>
                  <a:pt x="1956353" y="3927946"/>
                  <a:pt x="1937585" y="3917353"/>
                  <a:pt x="1927275" y="3899495"/>
                </a:cubicBezTo>
                <a:cubicBezTo>
                  <a:pt x="1927275" y="3899495"/>
                  <a:pt x="1927275" y="3899495"/>
                  <a:pt x="1768160" y="3623899"/>
                </a:cubicBezTo>
                <a:cubicBezTo>
                  <a:pt x="1758193" y="3606636"/>
                  <a:pt x="1758060" y="3584492"/>
                  <a:pt x="1768668" y="3567256"/>
                </a:cubicBezTo>
                <a:cubicBezTo>
                  <a:pt x="1768668" y="3567256"/>
                  <a:pt x="1768668" y="3567256"/>
                  <a:pt x="1926748" y="3291861"/>
                </a:cubicBezTo>
                <a:cubicBezTo>
                  <a:pt x="1936419" y="3274372"/>
                  <a:pt x="1955397" y="3263416"/>
                  <a:pt x="1975378" y="3263784"/>
                </a:cubicBezTo>
                <a:close/>
                <a:moveTo>
                  <a:pt x="2130702" y="2828022"/>
                </a:moveTo>
                <a:cubicBezTo>
                  <a:pt x="2130702" y="2828022"/>
                  <a:pt x="2130702" y="2828022"/>
                  <a:pt x="2298374" y="2828442"/>
                </a:cubicBezTo>
                <a:cubicBezTo>
                  <a:pt x="2309057" y="2828143"/>
                  <a:pt x="2319148" y="2834050"/>
                  <a:pt x="2324410" y="2843165"/>
                </a:cubicBezTo>
                <a:cubicBezTo>
                  <a:pt x="2324410" y="2843165"/>
                  <a:pt x="2324410" y="2843165"/>
                  <a:pt x="2408429" y="2988689"/>
                </a:cubicBezTo>
                <a:cubicBezTo>
                  <a:pt x="2413873" y="2998119"/>
                  <a:pt x="2413762" y="3009498"/>
                  <a:pt x="2408342" y="3018913"/>
                </a:cubicBezTo>
                <a:cubicBezTo>
                  <a:pt x="2408342" y="3018913"/>
                  <a:pt x="2408342" y="3018913"/>
                  <a:pt x="2324689" y="3164017"/>
                </a:cubicBezTo>
                <a:cubicBezTo>
                  <a:pt x="2319583" y="3173251"/>
                  <a:pt x="2309561" y="3179037"/>
                  <a:pt x="2299011" y="3178842"/>
                </a:cubicBezTo>
                <a:cubicBezTo>
                  <a:pt x="2299011" y="3178842"/>
                  <a:pt x="2299011" y="3178842"/>
                  <a:pt x="2131520" y="3178736"/>
                </a:cubicBezTo>
                <a:cubicBezTo>
                  <a:pt x="2120657" y="3178722"/>
                  <a:pt x="2110746" y="3173129"/>
                  <a:pt x="2105302" y="3163699"/>
                </a:cubicBezTo>
                <a:cubicBezTo>
                  <a:pt x="2105302" y="3163699"/>
                  <a:pt x="2105302" y="3163699"/>
                  <a:pt x="2021284" y="3018175"/>
                </a:cubicBezTo>
                <a:cubicBezTo>
                  <a:pt x="2016021" y="3009060"/>
                  <a:pt x="2015951" y="2997367"/>
                  <a:pt x="2021552" y="2988265"/>
                </a:cubicBezTo>
                <a:cubicBezTo>
                  <a:pt x="2021552" y="2988265"/>
                  <a:pt x="2021552" y="2988265"/>
                  <a:pt x="2105024" y="2842847"/>
                </a:cubicBezTo>
                <a:cubicBezTo>
                  <a:pt x="2110131" y="2833613"/>
                  <a:pt x="2120152" y="2827827"/>
                  <a:pt x="2130702" y="2828022"/>
                </a:cubicBezTo>
                <a:close/>
                <a:moveTo>
                  <a:pt x="3794942" y="2543905"/>
                </a:moveTo>
                <a:cubicBezTo>
                  <a:pt x="3794942" y="2543905"/>
                  <a:pt x="3794942" y="2543905"/>
                  <a:pt x="6706383" y="2551204"/>
                </a:cubicBezTo>
                <a:cubicBezTo>
                  <a:pt x="6891871" y="2545988"/>
                  <a:pt x="7067096" y="2648572"/>
                  <a:pt x="7158474" y="2806842"/>
                </a:cubicBezTo>
                <a:cubicBezTo>
                  <a:pt x="7158474" y="2806842"/>
                  <a:pt x="7158474" y="2806842"/>
                  <a:pt x="8617364" y="5333715"/>
                </a:cubicBezTo>
                <a:cubicBezTo>
                  <a:pt x="8711893" y="5497443"/>
                  <a:pt x="8709969" y="5695027"/>
                  <a:pt x="8615859" y="5858514"/>
                </a:cubicBezTo>
                <a:cubicBezTo>
                  <a:pt x="8615859" y="5858514"/>
                  <a:pt x="8615859" y="5858514"/>
                  <a:pt x="8311811" y="6385912"/>
                </a:cubicBezTo>
                <a:lnTo>
                  <a:pt x="8280844" y="6439627"/>
                </a:lnTo>
                <a:lnTo>
                  <a:pt x="2237916" y="6439627"/>
                </a:lnTo>
                <a:lnTo>
                  <a:pt x="2151815" y="6290497"/>
                </a:lnTo>
                <a:cubicBezTo>
                  <a:pt x="2071676" y="6151692"/>
                  <a:pt x="1986194" y="6003633"/>
                  <a:pt x="1895013" y="5845703"/>
                </a:cubicBezTo>
                <a:cubicBezTo>
                  <a:pt x="1803636" y="5687432"/>
                  <a:pt x="1802408" y="5484390"/>
                  <a:pt x="1899669" y="5326361"/>
                </a:cubicBezTo>
                <a:cubicBezTo>
                  <a:pt x="1899669" y="5326361"/>
                  <a:pt x="1899669" y="5326361"/>
                  <a:pt x="3349069" y="2801330"/>
                </a:cubicBezTo>
                <a:cubicBezTo>
                  <a:pt x="3437742" y="2640982"/>
                  <a:pt x="3611741" y="2540524"/>
                  <a:pt x="3794942" y="2543905"/>
                </a:cubicBezTo>
                <a:close/>
                <a:moveTo>
                  <a:pt x="634940" y="2395105"/>
                </a:moveTo>
                <a:cubicBezTo>
                  <a:pt x="634940" y="2395105"/>
                  <a:pt x="634940" y="2395105"/>
                  <a:pt x="1188015" y="2396492"/>
                </a:cubicBezTo>
                <a:cubicBezTo>
                  <a:pt x="1223252" y="2395501"/>
                  <a:pt x="1256539" y="2414988"/>
                  <a:pt x="1273897" y="2445054"/>
                </a:cubicBezTo>
                <a:cubicBezTo>
                  <a:pt x="1273897" y="2445054"/>
                  <a:pt x="1273897" y="2445054"/>
                  <a:pt x="1551037" y="2925075"/>
                </a:cubicBezTo>
                <a:cubicBezTo>
                  <a:pt x="1568994" y="2956177"/>
                  <a:pt x="1568629" y="2993712"/>
                  <a:pt x="1550752" y="3024769"/>
                </a:cubicBezTo>
                <a:cubicBezTo>
                  <a:pt x="1550752" y="3024769"/>
                  <a:pt x="1550752" y="3024769"/>
                  <a:pt x="1274816" y="3503403"/>
                </a:cubicBezTo>
                <a:cubicBezTo>
                  <a:pt x="1257971" y="3533863"/>
                  <a:pt x="1224917" y="3552947"/>
                  <a:pt x="1190116" y="3552304"/>
                </a:cubicBezTo>
                <a:cubicBezTo>
                  <a:pt x="1190116" y="3552304"/>
                  <a:pt x="1190116" y="3552304"/>
                  <a:pt x="637639" y="3551955"/>
                </a:cubicBezTo>
                <a:cubicBezTo>
                  <a:pt x="601804" y="3551909"/>
                  <a:pt x="569115" y="3533458"/>
                  <a:pt x="551158" y="3502355"/>
                </a:cubicBezTo>
                <a:cubicBezTo>
                  <a:pt x="551158" y="3502355"/>
                  <a:pt x="551158" y="3502355"/>
                  <a:pt x="274018" y="3022335"/>
                </a:cubicBezTo>
                <a:cubicBezTo>
                  <a:pt x="256660" y="2992269"/>
                  <a:pt x="256426" y="2953698"/>
                  <a:pt x="274903" y="2923678"/>
                </a:cubicBezTo>
                <a:cubicBezTo>
                  <a:pt x="274903" y="2923678"/>
                  <a:pt x="274903" y="2923678"/>
                  <a:pt x="550240" y="2444007"/>
                </a:cubicBezTo>
                <a:cubicBezTo>
                  <a:pt x="567085" y="2413547"/>
                  <a:pt x="600139" y="2394463"/>
                  <a:pt x="634940" y="2395105"/>
                </a:cubicBezTo>
                <a:close/>
                <a:moveTo>
                  <a:pt x="2521339" y="1975621"/>
                </a:moveTo>
                <a:cubicBezTo>
                  <a:pt x="2521339" y="1975621"/>
                  <a:pt x="2521339" y="1975621"/>
                  <a:pt x="2985874" y="1976785"/>
                </a:cubicBezTo>
                <a:cubicBezTo>
                  <a:pt x="3015469" y="1975952"/>
                  <a:pt x="3043427" y="1992321"/>
                  <a:pt x="3058007" y="2017574"/>
                </a:cubicBezTo>
                <a:cubicBezTo>
                  <a:pt x="3058007" y="2017574"/>
                  <a:pt x="3058007" y="2017574"/>
                  <a:pt x="3290779" y="2420748"/>
                </a:cubicBezTo>
                <a:cubicBezTo>
                  <a:pt x="3305862" y="2446871"/>
                  <a:pt x="3305555" y="2478396"/>
                  <a:pt x="3290540" y="2504482"/>
                </a:cubicBezTo>
                <a:cubicBezTo>
                  <a:pt x="3290540" y="2504482"/>
                  <a:pt x="3290540" y="2504482"/>
                  <a:pt x="3058778" y="2906492"/>
                </a:cubicBezTo>
                <a:cubicBezTo>
                  <a:pt x="3044630" y="2932076"/>
                  <a:pt x="3016868" y="2948104"/>
                  <a:pt x="2987637" y="2947565"/>
                </a:cubicBezTo>
                <a:cubicBezTo>
                  <a:pt x="2987637" y="2947565"/>
                  <a:pt x="2987637" y="2947565"/>
                  <a:pt x="2523606" y="2947271"/>
                </a:cubicBezTo>
                <a:cubicBezTo>
                  <a:pt x="2493508" y="2947232"/>
                  <a:pt x="2466052" y="2931735"/>
                  <a:pt x="2450970" y="2905612"/>
                </a:cubicBezTo>
                <a:cubicBezTo>
                  <a:pt x="2450970" y="2905612"/>
                  <a:pt x="2450970" y="2905612"/>
                  <a:pt x="2218197" y="2502438"/>
                </a:cubicBezTo>
                <a:cubicBezTo>
                  <a:pt x="2203617" y="2477185"/>
                  <a:pt x="2203422" y="2444788"/>
                  <a:pt x="2218941" y="2419574"/>
                </a:cubicBezTo>
                <a:cubicBezTo>
                  <a:pt x="2218941" y="2419574"/>
                  <a:pt x="2218941" y="2419574"/>
                  <a:pt x="2450199" y="2016694"/>
                </a:cubicBezTo>
                <a:cubicBezTo>
                  <a:pt x="2464347" y="1991110"/>
                  <a:pt x="2492109" y="1975081"/>
                  <a:pt x="2521339" y="1975621"/>
                </a:cubicBezTo>
                <a:close/>
                <a:moveTo>
                  <a:pt x="3564142" y="34"/>
                </a:moveTo>
                <a:cubicBezTo>
                  <a:pt x="3564142" y="34"/>
                  <a:pt x="3564142" y="34"/>
                  <a:pt x="4738405" y="2977"/>
                </a:cubicBezTo>
                <a:cubicBezTo>
                  <a:pt x="4813218" y="874"/>
                  <a:pt x="4883890" y="42249"/>
                  <a:pt x="4920745" y="106084"/>
                </a:cubicBezTo>
                <a:cubicBezTo>
                  <a:pt x="4920745" y="106084"/>
                  <a:pt x="4920745" y="106084"/>
                  <a:pt x="5509155" y="1125240"/>
                </a:cubicBezTo>
                <a:cubicBezTo>
                  <a:pt x="5547281" y="1191277"/>
                  <a:pt x="5546507" y="1270967"/>
                  <a:pt x="5508549" y="1336906"/>
                </a:cubicBezTo>
                <a:cubicBezTo>
                  <a:pt x="5508549" y="1336906"/>
                  <a:pt x="5508549" y="1336906"/>
                  <a:pt x="4922696" y="2353119"/>
                </a:cubicBezTo>
                <a:cubicBezTo>
                  <a:pt x="4886932" y="2417792"/>
                  <a:pt x="4816753" y="2458309"/>
                  <a:pt x="4742864" y="2456945"/>
                </a:cubicBezTo>
                <a:cubicBezTo>
                  <a:pt x="4742864" y="2456945"/>
                  <a:pt x="4742864" y="2456945"/>
                  <a:pt x="3569871" y="2456203"/>
                </a:cubicBezTo>
                <a:cubicBezTo>
                  <a:pt x="3493788" y="2456106"/>
                  <a:pt x="3424385" y="2416932"/>
                  <a:pt x="3386259" y="2350896"/>
                </a:cubicBezTo>
                <a:cubicBezTo>
                  <a:pt x="3386259" y="2350896"/>
                  <a:pt x="3386259" y="2350896"/>
                  <a:pt x="2797848" y="1331739"/>
                </a:cubicBezTo>
                <a:cubicBezTo>
                  <a:pt x="2760993" y="1267904"/>
                  <a:pt x="2760499" y="1186012"/>
                  <a:pt x="2799727" y="1122274"/>
                </a:cubicBezTo>
                <a:cubicBezTo>
                  <a:pt x="2799727" y="1122274"/>
                  <a:pt x="2799727" y="1122274"/>
                  <a:pt x="3384310" y="103860"/>
                </a:cubicBezTo>
                <a:cubicBezTo>
                  <a:pt x="3420073" y="39188"/>
                  <a:pt x="3490251" y="-1330"/>
                  <a:pt x="3564142" y="34"/>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4081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7607300" y="43868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54517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2">
    <p:spTree>
      <p:nvGrpSpPr>
        <p:cNvPr id="1" name=""/>
        <p:cNvGrpSpPr/>
        <p:nvPr/>
      </p:nvGrpSpPr>
      <p:grpSpPr>
        <a:xfrm>
          <a:off x="0" y="0"/>
          <a:ext cx="0" cy="0"/>
          <a:chOff x="0" y="0"/>
          <a:chExt cx="0" cy="0"/>
        </a:xfrm>
      </p:grpSpPr>
      <p:sp>
        <p:nvSpPr>
          <p:cNvPr id="12" name="Рисунок 11">
            <a:extLst>
              <a:ext uri="{FF2B5EF4-FFF2-40B4-BE49-F238E27FC236}">
                <a16:creationId xmlns:a16="http://schemas.microsoft.com/office/drawing/2014/main" id="{7B7C90C9-77F3-4C3C-97F8-425EF81FB7A7}"/>
              </a:ext>
            </a:extLst>
          </p:cNvPr>
          <p:cNvSpPr>
            <a:spLocks noGrp="1"/>
          </p:cNvSpPr>
          <p:nvPr>
            <p:ph type="pic" sz="quarter" idx="13" hasCustomPrompt="1"/>
          </p:nvPr>
        </p:nvSpPr>
        <p:spPr>
          <a:xfrm>
            <a:off x="-1" y="0"/>
            <a:ext cx="11795125" cy="6858000"/>
          </a:xfrm>
          <a:custGeom>
            <a:avLst/>
            <a:gdLst>
              <a:gd name="connsiteX0" fmla="*/ 4729712 w 11795125"/>
              <a:gd name="connsiteY0" fmla="*/ 4417922 h 6858000"/>
              <a:gd name="connsiteX1" fmla="*/ 7234278 w 11795125"/>
              <a:gd name="connsiteY1" fmla="*/ 4419507 h 6858000"/>
              <a:gd name="connsiteX2" fmla="*/ 7626325 w 11795125"/>
              <a:gd name="connsiteY2" fmla="*/ 4644358 h 6858000"/>
              <a:gd name="connsiteX3" fmla="*/ 8882694 w 11795125"/>
              <a:gd name="connsiteY3" fmla="*/ 6820455 h 6858000"/>
              <a:gd name="connsiteX4" fmla="*/ 8898077 w 11795125"/>
              <a:gd name="connsiteY4" fmla="*/ 6858000 h 6858000"/>
              <a:gd name="connsiteX5" fmla="*/ 3070863 w 11795125"/>
              <a:gd name="connsiteY5" fmla="*/ 6858000 h 6858000"/>
              <a:gd name="connsiteX6" fmla="*/ 3094823 w 11795125"/>
              <a:gd name="connsiteY6" fmla="*/ 6809422 h 6858000"/>
              <a:gd name="connsiteX7" fmla="*/ 4345735 w 11795125"/>
              <a:gd name="connsiteY7" fmla="*/ 4639611 h 6858000"/>
              <a:gd name="connsiteX8" fmla="*/ 4729712 w 11795125"/>
              <a:gd name="connsiteY8" fmla="*/ 4417922 h 6858000"/>
              <a:gd name="connsiteX9" fmla="*/ 2031302 w 11795125"/>
              <a:gd name="connsiteY9" fmla="*/ 2039301 h 6858000"/>
              <a:gd name="connsiteX10" fmla="*/ 2747265 w 11795125"/>
              <a:gd name="connsiteY10" fmla="*/ 2039754 h 6858000"/>
              <a:gd name="connsiteX11" fmla="*/ 2859337 w 11795125"/>
              <a:gd name="connsiteY11" fmla="*/ 2104031 h 6858000"/>
              <a:gd name="connsiteX12" fmla="*/ 3218486 w 11795125"/>
              <a:gd name="connsiteY12" fmla="*/ 2726096 h 6858000"/>
              <a:gd name="connsiteX13" fmla="*/ 3217340 w 11795125"/>
              <a:gd name="connsiteY13" fmla="*/ 2853948 h 6858000"/>
              <a:gd name="connsiteX14" fmla="*/ 2860527 w 11795125"/>
              <a:gd name="connsiteY14" fmla="*/ 3475560 h 6858000"/>
              <a:gd name="connsiteX15" fmla="*/ 2750762 w 11795125"/>
              <a:gd name="connsiteY15" fmla="*/ 3538933 h 6858000"/>
              <a:gd name="connsiteX16" fmla="*/ 2034023 w 11795125"/>
              <a:gd name="connsiteY16" fmla="*/ 3537136 h 6858000"/>
              <a:gd name="connsiteX17" fmla="*/ 1922728 w 11795125"/>
              <a:gd name="connsiteY17" fmla="*/ 3474202 h 6858000"/>
              <a:gd name="connsiteX18" fmla="*/ 1563578 w 11795125"/>
              <a:gd name="connsiteY18" fmla="*/ 2852137 h 6858000"/>
              <a:gd name="connsiteX19" fmla="*/ 1563948 w 11795125"/>
              <a:gd name="connsiteY19" fmla="*/ 2722942 h 6858000"/>
              <a:gd name="connsiteX20" fmla="*/ 1921537 w 11795125"/>
              <a:gd name="connsiteY20" fmla="*/ 2102674 h 6858000"/>
              <a:gd name="connsiteX21" fmla="*/ 2031302 w 11795125"/>
              <a:gd name="connsiteY21" fmla="*/ 2039301 h 6858000"/>
              <a:gd name="connsiteX22" fmla="*/ 9343478 w 11795125"/>
              <a:gd name="connsiteY22" fmla="*/ 1795745 h 6858000"/>
              <a:gd name="connsiteX23" fmla="*/ 11620502 w 11795125"/>
              <a:gd name="connsiteY23" fmla="*/ 1797185 h 6858000"/>
              <a:gd name="connsiteX24" fmla="*/ 11795125 w 11795125"/>
              <a:gd name="connsiteY24" fmla="*/ 1797296 h 6858000"/>
              <a:gd name="connsiteX25" fmla="*/ 11795125 w 11795125"/>
              <a:gd name="connsiteY25" fmla="*/ 6858000 h 6858000"/>
              <a:gd name="connsiteX26" fmla="*/ 8996698 w 11795125"/>
              <a:gd name="connsiteY26" fmla="*/ 6858000 h 6858000"/>
              <a:gd name="connsiteX27" fmla="*/ 8963663 w 11795125"/>
              <a:gd name="connsiteY27" fmla="*/ 6815289 h 6858000"/>
              <a:gd name="connsiteX28" fmla="*/ 7707295 w 11795125"/>
              <a:gd name="connsiteY28" fmla="*/ 4639193 h 6858000"/>
              <a:gd name="connsiteX29" fmla="*/ 7708590 w 11795125"/>
              <a:gd name="connsiteY29" fmla="*/ 4187244 h 6858000"/>
              <a:gd name="connsiteX30" fmla="*/ 8959501 w 11795125"/>
              <a:gd name="connsiteY30" fmla="*/ 2017434 h 6858000"/>
              <a:gd name="connsiteX31" fmla="*/ 9343478 w 11795125"/>
              <a:gd name="connsiteY31" fmla="*/ 1795745 h 6858000"/>
              <a:gd name="connsiteX32" fmla="*/ 3102644 w 11795125"/>
              <a:gd name="connsiteY32" fmla="*/ 1739841 h 6858000"/>
              <a:gd name="connsiteX33" fmla="*/ 3385876 w 11795125"/>
              <a:gd name="connsiteY33" fmla="*/ 1740020 h 6858000"/>
              <a:gd name="connsiteX34" fmla="*/ 3430211 w 11795125"/>
              <a:gd name="connsiteY34" fmla="*/ 1765448 h 6858000"/>
              <a:gd name="connsiteX35" fmla="*/ 3572289 w 11795125"/>
              <a:gd name="connsiteY35" fmla="*/ 2011533 h 6858000"/>
              <a:gd name="connsiteX36" fmla="*/ 3571836 w 11795125"/>
              <a:gd name="connsiteY36" fmla="*/ 2062111 h 6858000"/>
              <a:gd name="connsiteX37" fmla="*/ 3430681 w 11795125"/>
              <a:gd name="connsiteY37" fmla="*/ 2308019 h 6858000"/>
              <a:gd name="connsiteX38" fmla="*/ 3387260 w 11795125"/>
              <a:gd name="connsiteY38" fmla="*/ 2333088 h 6858000"/>
              <a:gd name="connsiteX39" fmla="*/ 3103720 w 11795125"/>
              <a:gd name="connsiteY39" fmla="*/ 2332378 h 6858000"/>
              <a:gd name="connsiteX40" fmla="*/ 3059693 w 11795125"/>
              <a:gd name="connsiteY40" fmla="*/ 2307481 h 6858000"/>
              <a:gd name="connsiteX41" fmla="*/ 2917615 w 11795125"/>
              <a:gd name="connsiteY41" fmla="*/ 2061395 h 6858000"/>
              <a:gd name="connsiteX42" fmla="*/ 2917761 w 11795125"/>
              <a:gd name="connsiteY42" fmla="*/ 2010286 h 6858000"/>
              <a:gd name="connsiteX43" fmla="*/ 3059222 w 11795125"/>
              <a:gd name="connsiteY43" fmla="*/ 1764910 h 6858000"/>
              <a:gd name="connsiteX44" fmla="*/ 3102644 w 11795125"/>
              <a:gd name="connsiteY44" fmla="*/ 1739841 h 6858000"/>
              <a:gd name="connsiteX45" fmla="*/ 3522963 w 11795125"/>
              <a:gd name="connsiteY45" fmla="*/ 1598675 h 6858000"/>
              <a:gd name="connsiteX46" fmla="*/ 3625194 w 11795125"/>
              <a:gd name="connsiteY46" fmla="*/ 1598740 h 6858000"/>
              <a:gd name="connsiteX47" fmla="*/ 3641197 w 11795125"/>
              <a:gd name="connsiteY47" fmla="*/ 1607918 h 6858000"/>
              <a:gd name="connsiteX48" fmla="*/ 3692479 w 11795125"/>
              <a:gd name="connsiteY48" fmla="*/ 1696742 h 6858000"/>
              <a:gd name="connsiteX49" fmla="*/ 3692315 w 11795125"/>
              <a:gd name="connsiteY49" fmla="*/ 1714998 h 6858000"/>
              <a:gd name="connsiteX50" fmla="*/ 3641367 w 11795125"/>
              <a:gd name="connsiteY50" fmla="*/ 1803757 h 6858000"/>
              <a:gd name="connsiteX51" fmla="*/ 3625694 w 11795125"/>
              <a:gd name="connsiteY51" fmla="*/ 1812806 h 6858000"/>
              <a:gd name="connsiteX52" fmla="*/ 3523352 w 11795125"/>
              <a:gd name="connsiteY52" fmla="*/ 1812549 h 6858000"/>
              <a:gd name="connsiteX53" fmla="*/ 3507459 w 11795125"/>
              <a:gd name="connsiteY53" fmla="*/ 1803563 h 6858000"/>
              <a:gd name="connsiteX54" fmla="*/ 3456177 w 11795125"/>
              <a:gd name="connsiteY54" fmla="*/ 1714739 h 6858000"/>
              <a:gd name="connsiteX55" fmla="*/ 3456230 w 11795125"/>
              <a:gd name="connsiteY55" fmla="*/ 1696292 h 6858000"/>
              <a:gd name="connsiteX56" fmla="*/ 3507290 w 11795125"/>
              <a:gd name="connsiteY56" fmla="*/ 1607724 h 6858000"/>
              <a:gd name="connsiteX57" fmla="*/ 3522963 w 11795125"/>
              <a:gd name="connsiteY57" fmla="*/ 1598675 h 6858000"/>
              <a:gd name="connsiteX58" fmla="*/ 4199803 w 11795125"/>
              <a:gd name="connsiteY58" fmla="*/ 1370724 h 6858000"/>
              <a:gd name="connsiteX59" fmla="*/ 4537019 w 11795125"/>
              <a:gd name="connsiteY59" fmla="*/ 1370938 h 6858000"/>
              <a:gd name="connsiteX60" fmla="*/ 4589804 w 11795125"/>
              <a:gd name="connsiteY60" fmla="*/ 1401211 h 6858000"/>
              <a:gd name="connsiteX61" fmla="*/ 4758963 w 11795125"/>
              <a:gd name="connsiteY61" fmla="*/ 1694203 h 6858000"/>
              <a:gd name="connsiteX62" fmla="*/ 4758423 w 11795125"/>
              <a:gd name="connsiteY62" fmla="*/ 1754421 h 6858000"/>
              <a:gd name="connsiteX63" fmla="*/ 4590365 w 11795125"/>
              <a:gd name="connsiteY63" fmla="*/ 2047199 h 6858000"/>
              <a:gd name="connsiteX64" fmla="*/ 4538665 w 11795125"/>
              <a:gd name="connsiteY64" fmla="*/ 2077046 h 6858000"/>
              <a:gd name="connsiteX65" fmla="*/ 4201084 w 11795125"/>
              <a:gd name="connsiteY65" fmla="*/ 2076201 h 6858000"/>
              <a:gd name="connsiteX66" fmla="*/ 4148664 w 11795125"/>
              <a:gd name="connsiteY66" fmla="*/ 2046559 h 6858000"/>
              <a:gd name="connsiteX67" fmla="*/ 3979505 w 11795125"/>
              <a:gd name="connsiteY67" fmla="*/ 1753567 h 6858000"/>
              <a:gd name="connsiteX68" fmla="*/ 3979680 w 11795125"/>
              <a:gd name="connsiteY68" fmla="*/ 1692718 h 6858000"/>
              <a:gd name="connsiteX69" fmla="*/ 4148104 w 11795125"/>
              <a:gd name="connsiteY69" fmla="*/ 1400573 h 6858000"/>
              <a:gd name="connsiteX70" fmla="*/ 4199803 w 11795125"/>
              <a:gd name="connsiteY70" fmla="*/ 1370724 h 6858000"/>
              <a:gd name="connsiteX71" fmla="*/ 3525946 w 11795125"/>
              <a:gd name="connsiteY71" fmla="*/ 1141304 h 6858000"/>
              <a:gd name="connsiteX72" fmla="*/ 3719554 w 11795125"/>
              <a:gd name="connsiteY72" fmla="*/ 1141427 h 6858000"/>
              <a:gd name="connsiteX73" fmla="*/ 3749860 w 11795125"/>
              <a:gd name="connsiteY73" fmla="*/ 1158808 h 6858000"/>
              <a:gd name="connsiteX74" fmla="*/ 3846980 w 11795125"/>
              <a:gd name="connsiteY74" fmla="*/ 1327024 h 6858000"/>
              <a:gd name="connsiteX75" fmla="*/ 3846670 w 11795125"/>
              <a:gd name="connsiteY75" fmla="*/ 1361598 h 6858000"/>
              <a:gd name="connsiteX76" fmla="*/ 3750182 w 11795125"/>
              <a:gd name="connsiteY76" fmla="*/ 1529691 h 6858000"/>
              <a:gd name="connsiteX77" fmla="*/ 3720499 w 11795125"/>
              <a:gd name="connsiteY77" fmla="*/ 1546828 h 6858000"/>
              <a:gd name="connsiteX78" fmla="*/ 3526682 w 11795125"/>
              <a:gd name="connsiteY78" fmla="*/ 1546343 h 6858000"/>
              <a:gd name="connsiteX79" fmla="*/ 3496586 w 11795125"/>
              <a:gd name="connsiteY79" fmla="*/ 1529324 h 6858000"/>
              <a:gd name="connsiteX80" fmla="*/ 3399466 w 11795125"/>
              <a:gd name="connsiteY80" fmla="*/ 1361108 h 6858000"/>
              <a:gd name="connsiteX81" fmla="*/ 3399566 w 11795125"/>
              <a:gd name="connsiteY81" fmla="*/ 1326172 h 6858000"/>
              <a:gd name="connsiteX82" fmla="*/ 3496264 w 11795125"/>
              <a:gd name="connsiteY82" fmla="*/ 1158441 h 6858000"/>
              <a:gd name="connsiteX83" fmla="*/ 3525946 w 11795125"/>
              <a:gd name="connsiteY83" fmla="*/ 1141304 h 6858000"/>
              <a:gd name="connsiteX84" fmla="*/ 3955878 w 11795125"/>
              <a:gd name="connsiteY84" fmla="*/ 173494 h 6858000"/>
              <a:gd name="connsiteX85" fmla="*/ 4500068 w 11795125"/>
              <a:gd name="connsiteY85" fmla="*/ 173838 h 6858000"/>
              <a:gd name="connsiteX86" fmla="*/ 4585252 w 11795125"/>
              <a:gd name="connsiteY86" fmla="*/ 222694 h 6858000"/>
              <a:gd name="connsiteX87" fmla="*/ 4858234 w 11795125"/>
              <a:gd name="connsiteY87" fmla="*/ 695514 h 6858000"/>
              <a:gd name="connsiteX88" fmla="*/ 4857363 w 11795125"/>
              <a:gd name="connsiteY88" fmla="*/ 792690 h 6858000"/>
              <a:gd name="connsiteX89" fmla="*/ 4586156 w 11795125"/>
              <a:gd name="connsiteY89" fmla="*/ 1265167 h 6858000"/>
              <a:gd name="connsiteX90" fmla="*/ 4502727 w 11795125"/>
              <a:gd name="connsiteY90" fmla="*/ 1313334 h 6858000"/>
              <a:gd name="connsiteX91" fmla="*/ 3957947 w 11795125"/>
              <a:gd name="connsiteY91" fmla="*/ 1311968 h 6858000"/>
              <a:gd name="connsiteX92" fmla="*/ 3873354 w 11795125"/>
              <a:gd name="connsiteY92" fmla="*/ 1264134 h 6858000"/>
              <a:gd name="connsiteX93" fmla="*/ 3600372 w 11795125"/>
              <a:gd name="connsiteY93" fmla="*/ 791315 h 6858000"/>
              <a:gd name="connsiteX94" fmla="*/ 3600653 w 11795125"/>
              <a:gd name="connsiteY94" fmla="*/ 693116 h 6858000"/>
              <a:gd name="connsiteX95" fmla="*/ 3872449 w 11795125"/>
              <a:gd name="connsiteY95" fmla="*/ 221662 h 6858000"/>
              <a:gd name="connsiteX96" fmla="*/ 3955878 w 11795125"/>
              <a:gd name="connsiteY96" fmla="*/ 173494 h 6858000"/>
              <a:gd name="connsiteX97" fmla="*/ 3852283 w 11795125"/>
              <a:gd name="connsiteY97" fmla="*/ 0 h 6858000"/>
              <a:gd name="connsiteX98" fmla="*/ 6130031 w 11795125"/>
              <a:gd name="connsiteY98" fmla="*/ 0 h 6858000"/>
              <a:gd name="connsiteX99" fmla="*/ 6102465 w 11795125"/>
              <a:gd name="connsiteY99" fmla="*/ 36730 h 6858000"/>
              <a:gd name="connsiteX100" fmla="*/ 5879948 w 11795125"/>
              <a:gd name="connsiteY100" fmla="*/ 127724 h 6858000"/>
              <a:gd name="connsiteX101" fmla="*/ 4102884 w 11795125"/>
              <a:gd name="connsiteY101" fmla="*/ 123270 h 6858000"/>
              <a:gd name="connsiteX102" fmla="*/ 3877665 w 11795125"/>
              <a:gd name="connsiteY102" fmla="*/ 32818 h 6858000"/>
              <a:gd name="connsiteX103" fmla="*/ 0 w 11795125"/>
              <a:gd name="connsiteY103" fmla="*/ 0 h 6858000"/>
              <a:gd name="connsiteX104" fmla="*/ 3781476 w 11795125"/>
              <a:gd name="connsiteY104" fmla="*/ 0 h 6858000"/>
              <a:gd name="connsiteX105" fmla="*/ 3800985 w 11795125"/>
              <a:gd name="connsiteY105" fmla="*/ 47617 h 6858000"/>
              <a:gd name="connsiteX106" fmla="*/ 3766711 w 11795125"/>
              <a:gd name="connsiteY106" fmla="*/ 287889 h 6858000"/>
              <a:gd name="connsiteX107" fmla="*/ 2882037 w 11795125"/>
              <a:gd name="connsiteY107" fmla="*/ 1829098 h 6858000"/>
              <a:gd name="connsiteX108" fmla="*/ 2609888 w 11795125"/>
              <a:gd name="connsiteY108" fmla="*/ 1986223 h 6858000"/>
              <a:gd name="connsiteX109" fmla="*/ 832823 w 11795125"/>
              <a:gd name="connsiteY109" fmla="*/ 1981768 h 6858000"/>
              <a:gd name="connsiteX110" fmla="*/ 556879 w 11795125"/>
              <a:gd name="connsiteY110" fmla="*/ 1825733 h 6858000"/>
              <a:gd name="connsiteX111" fmla="*/ 79254 w 11795125"/>
              <a:gd name="connsiteY111" fmla="*/ 998462 h 6858000"/>
              <a:gd name="connsiteX112" fmla="*/ 0 w 11795125"/>
              <a:gd name="connsiteY112" fmla="*/ 8611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1795125" h="6858000">
                <a:moveTo>
                  <a:pt x="4729712" y="4417922"/>
                </a:moveTo>
                <a:cubicBezTo>
                  <a:pt x="4729712" y="4417922"/>
                  <a:pt x="4729712" y="4417922"/>
                  <a:pt x="7234278" y="4419507"/>
                </a:cubicBezTo>
                <a:cubicBezTo>
                  <a:pt x="7396730" y="4419716"/>
                  <a:pt x="7544918" y="4503359"/>
                  <a:pt x="7626325" y="4644358"/>
                </a:cubicBezTo>
                <a:cubicBezTo>
                  <a:pt x="7626325" y="4644358"/>
                  <a:pt x="7626325" y="4644358"/>
                  <a:pt x="8882694" y="6820455"/>
                </a:cubicBezTo>
                <a:lnTo>
                  <a:pt x="8898077" y="6858000"/>
                </a:lnTo>
                <a:lnTo>
                  <a:pt x="3070863" y="6858000"/>
                </a:lnTo>
                <a:lnTo>
                  <a:pt x="3094823" y="6809422"/>
                </a:lnTo>
                <a:cubicBezTo>
                  <a:pt x="3094823" y="6809422"/>
                  <a:pt x="3094823" y="6809422"/>
                  <a:pt x="4345735" y="4639611"/>
                </a:cubicBezTo>
                <a:cubicBezTo>
                  <a:pt x="4422097" y="4501523"/>
                  <a:pt x="4571941" y="4415010"/>
                  <a:pt x="4729712" y="4417922"/>
                </a:cubicBezTo>
                <a:close/>
                <a:moveTo>
                  <a:pt x="2031302" y="2039301"/>
                </a:moveTo>
                <a:cubicBezTo>
                  <a:pt x="2031302" y="2039301"/>
                  <a:pt x="2031302" y="2039301"/>
                  <a:pt x="2747265" y="2039754"/>
                </a:cubicBezTo>
                <a:cubicBezTo>
                  <a:pt x="2793703" y="2039814"/>
                  <a:pt x="2836066" y="2063724"/>
                  <a:pt x="2859337" y="2104031"/>
                </a:cubicBezTo>
                <a:cubicBezTo>
                  <a:pt x="2859337" y="2104031"/>
                  <a:pt x="2859337" y="2104031"/>
                  <a:pt x="3218486" y="2726096"/>
                </a:cubicBezTo>
                <a:cubicBezTo>
                  <a:pt x="3240981" y="2765058"/>
                  <a:pt x="3241283" y="2815045"/>
                  <a:pt x="3217340" y="2853948"/>
                </a:cubicBezTo>
                <a:cubicBezTo>
                  <a:pt x="3217340" y="2853948"/>
                  <a:pt x="3217340" y="2853948"/>
                  <a:pt x="2860527" y="3475560"/>
                </a:cubicBezTo>
                <a:cubicBezTo>
                  <a:pt x="2838697" y="3515034"/>
                  <a:pt x="2795862" y="3539765"/>
                  <a:pt x="2750762" y="3538933"/>
                </a:cubicBezTo>
                <a:cubicBezTo>
                  <a:pt x="2750762" y="3538933"/>
                  <a:pt x="2750762" y="3538933"/>
                  <a:pt x="2034023" y="3537136"/>
                </a:cubicBezTo>
                <a:cubicBezTo>
                  <a:pt x="1988359" y="3538420"/>
                  <a:pt x="1945223" y="3513165"/>
                  <a:pt x="1922728" y="3474202"/>
                </a:cubicBezTo>
                <a:cubicBezTo>
                  <a:pt x="1922728" y="3474202"/>
                  <a:pt x="1922728" y="3474202"/>
                  <a:pt x="1563578" y="2852137"/>
                </a:cubicBezTo>
                <a:cubicBezTo>
                  <a:pt x="1540307" y="2811831"/>
                  <a:pt x="1540780" y="2763190"/>
                  <a:pt x="1563948" y="2722942"/>
                </a:cubicBezTo>
                <a:cubicBezTo>
                  <a:pt x="1563948" y="2722942"/>
                  <a:pt x="1563948" y="2722942"/>
                  <a:pt x="1921537" y="2102674"/>
                </a:cubicBezTo>
                <a:cubicBezTo>
                  <a:pt x="1943366" y="2063199"/>
                  <a:pt x="1986202" y="2038468"/>
                  <a:pt x="2031302" y="2039301"/>
                </a:cubicBezTo>
                <a:close/>
                <a:moveTo>
                  <a:pt x="9343478" y="1795745"/>
                </a:moveTo>
                <a:cubicBezTo>
                  <a:pt x="9343478" y="1795745"/>
                  <a:pt x="9343478" y="1795745"/>
                  <a:pt x="11620502" y="1797185"/>
                </a:cubicBezTo>
                <a:lnTo>
                  <a:pt x="11795125" y="1797296"/>
                </a:lnTo>
                <a:lnTo>
                  <a:pt x="11795125" y="6858000"/>
                </a:lnTo>
                <a:lnTo>
                  <a:pt x="8996698" y="6858000"/>
                </a:lnTo>
                <a:lnTo>
                  <a:pt x="8963663" y="6815289"/>
                </a:lnTo>
                <a:cubicBezTo>
                  <a:pt x="8963663" y="6815289"/>
                  <a:pt x="8963663" y="6815289"/>
                  <a:pt x="7707295" y="4639193"/>
                </a:cubicBezTo>
                <a:cubicBezTo>
                  <a:pt x="7625888" y="4498193"/>
                  <a:pt x="7627546" y="4328036"/>
                  <a:pt x="7708590" y="4187244"/>
                </a:cubicBezTo>
                <a:cubicBezTo>
                  <a:pt x="7708590" y="4187244"/>
                  <a:pt x="7708590" y="4187244"/>
                  <a:pt x="8959501" y="2017434"/>
                </a:cubicBezTo>
                <a:cubicBezTo>
                  <a:pt x="9035863" y="1879345"/>
                  <a:pt x="9185707" y="1792833"/>
                  <a:pt x="9343478" y="1795745"/>
                </a:cubicBezTo>
                <a:close/>
                <a:moveTo>
                  <a:pt x="3102644" y="1739841"/>
                </a:moveTo>
                <a:cubicBezTo>
                  <a:pt x="3102644" y="1739841"/>
                  <a:pt x="3102644" y="1739841"/>
                  <a:pt x="3385876" y="1740020"/>
                </a:cubicBezTo>
                <a:cubicBezTo>
                  <a:pt x="3404247" y="1740043"/>
                  <a:pt x="3421005" y="1749503"/>
                  <a:pt x="3430211" y="1765448"/>
                </a:cubicBezTo>
                <a:cubicBezTo>
                  <a:pt x="3430211" y="1765448"/>
                  <a:pt x="3430211" y="1765448"/>
                  <a:pt x="3572289" y="2011533"/>
                </a:cubicBezTo>
                <a:cubicBezTo>
                  <a:pt x="3581188" y="2026948"/>
                  <a:pt x="3581308" y="2046721"/>
                  <a:pt x="3571836" y="2062111"/>
                </a:cubicBezTo>
                <a:cubicBezTo>
                  <a:pt x="3571836" y="2062111"/>
                  <a:pt x="3571836" y="2062111"/>
                  <a:pt x="3430681" y="2308019"/>
                </a:cubicBezTo>
                <a:cubicBezTo>
                  <a:pt x="3422046" y="2323634"/>
                  <a:pt x="3405101" y="2333418"/>
                  <a:pt x="3387260" y="2333088"/>
                </a:cubicBezTo>
                <a:cubicBezTo>
                  <a:pt x="3387260" y="2333088"/>
                  <a:pt x="3387260" y="2333088"/>
                  <a:pt x="3103720" y="2332378"/>
                </a:cubicBezTo>
                <a:cubicBezTo>
                  <a:pt x="3085656" y="2332886"/>
                  <a:pt x="3068592" y="2322895"/>
                  <a:pt x="3059693" y="2307481"/>
                </a:cubicBezTo>
                <a:cubicBezTo>
                  <a:pt x="3059693" y="2307481"/>
                  <a:pt x="3059693" y="2307481"/>
                  <a:pt x="2917615" y="2061395"/>
                </a:cubicBezTo>
                <a:cubicBezTo>
                  <a:pt x="2908409" y="2045450"/>
                  <a:pt x="2908596" y="2026208"/>
                  <a:pt x="2917761" y="2010286"/>
                </a:cubicBezTo>
                <a:cubicBezTo>
                  <a:pt x="2917761" y="2010286"/>
                  <a:pt x="2917761" y="2010286"/>
                  <a:pt x="3059222" y="1764910"/>
                </a:cubicBezTo>
                <a:cubicBezTo>
                  <a:pt x="3067857" y="1749295"/>
                  <a:pt x="3084803" y="1739511"/>
                  <a:pt x="3102644" y="1739841"/>
                </a:cubicBezTo>
                <a:close/>
                <a:moveTo>
                  <a:pt x="3522963" y="1598675"/>
                </a:moveTo>
                <a:cubicBezTo>
                  <a:pt x="3522963" y="1598675"/>
                  <a:pt x="3522963" y="1598675"/>
                  <a:pt x="3625194" y="1598740"/>
                </a:cubicBezTo>
                <a:cubicBezTo>
                  <a:pt x="3631826" y="1598748"/>
                  <a:pt x="3637874" y="1602162"/>
                  <a:pt x="3641197" y="1607918"/>
                </a:cubicBezTo>
                <a:cubicBezTo>
                  <a:pt x="3641197" y="1607918"/>
                  <a:pt x="3641197" y="1607918"/>
                  <a:pt x="3692479" y="1696742"/>
                </a:cubicBezTo>
                <a:cubicBezTo>
                  <a:pt x="3695691" y="1702305"/>
                  <a:pt x="3695735" y="1709443"/>
                  <a:pt x="3692315" y="1714998"/>
                </a:cubicBezTo>
                <a:cubicBezTo>
                  <a:pt x="3692315" y="1714998"/>
                  <a:pt x="3692315" y="1714998"/>
                  <a:pt x="3641367" y="1803757"/>
                </a:cubicBezTo>
                <a:cubicBezTo>
                  <a:pt x="3638250" y="1809393"/>
                  <a:pt x="3632134" y="1812924"/>
                  <a:pt x="3625694" y="1812806"/>
                </a:cubicBezTo>
                <a:cubicBezTo>
                  <a:pt x="3625694" y="1812806"/>
                  <a:pt x="3625694" y="1812806"/>
                  <a:pt x="3523352" y="1812549"/>
                </a:cubicBezTo>
                <a:cubicBezTo>
                  <a:pt x="3516832" y="1812733"/>
                  <a:pt x="3510671" y="1809127"/>
                  <a:pt x="3507459" y="1803563"/>
                </a:cubicBezTo>
                <a:cubicBezTo>
                  <a:pt x="3507459" y="1803563"/>
                  <a:pt x="3507459" y="1803563"/>
                  <a:pt x="3456177" y="1714739"/>
                </a:cubicBezTo>
                <a:cubicBezTo>
                  <a:pt x="3452854" y="1708984"/>
                  <a:pt x="3452922" y="1702038"/>
                  <a:pt x="3456230" y="1696292"/>
                </a:cubicBezTo>
                <a:cubicBezTo>
                  <a:pt x="3456230" y="1696292"/>
                  <a:pt x="3456230" y="1696292"/>
                  <a:pt x="3507290" y="1607724"/>
                </a:cubicBezTo>
                <a:cubicBezTo>
                  <a:pt x="3510406" y="1602087"/>
                  <a:pt x="3516523" y="1598556"/>
                  <a:pt x="3522963" y="1598675"/>
                </a:cubicBezTo>
                <a:close/>
                <a:moveTo>
                  <a:pt x="4199803" y="1370724"/>
                </a:moveTo>
                <a:cubicBezTo>
                  <a:pt x="4199803" y="1370724"/>
                  <a:pt x="4199803" y="1370724"/>
                  <a:pt x="4537019" y="1370938"/>
                </a:cubicBezTo>
                <a:cubicBezTo>
                  <a:pt x="4558892" y="1370965"/>
                  <a:pt x="4578843" y="1382227"/>
                  <a:pt x="4589804" y="1401211"/>
                </a:cubicBezTo>
                <a:cubicBezTo>
                  <a:pt x="4589804" y="1401211"/>
                  <a:pt x="4589804" y="1401211"/>
                  <a:pt x="4758963" y="1694203"/>
                </a:cubicBezTo>
                <a:cubicBezTo>
                  <a:pt x="4769558" y="1712554"/>
                  <a:pt x="4769700" y="1736097"/>
                  <a:pt x="4758423" y="1754421"/>
                </a:cubicBezTo>
                <a:cubicBezTo>
                  <a:pt x="4758423" y="1754421"/>
                  <a:pt x="4758423" y="1754421"/>
                  <a:pt x="4590365" y="2047199"/>
                </a:cubicBezTo>
                <a:cubicBezTo>
                  <a:pt x="4580083" y="2065790"/>
                  <a:pt x="4559908" y="2077438"/>
                  <a:pt x="4538665" y="2077046"/>
                </a:cubicBezTo>
                <a:cubicBezTo>
                  <a:pt x="4538665" y="2077046"/>
                  <a:pt x="4538665" y="2077046"/>
                  <a:pt x="4201084" y="2076201"/>
                </a:cubicBezTo>
                <a:cubicBezTo>
                  <a:pt x="4179577" y="2076805"/>
                  <a:pt x="4159259" y="2064910"/>
                  <a:pt x="4148664" y="2046559"/>
                </a:cubicBezTo>
                <a:cubicBezTo>
                  <a:pt x="4148664" y="2046559"/>
                  <a:pt x="4148664" y="2046559"/>
                  <a:pt x="3979505" y="1753567"/>
                </a:cubicBezTo>
                <a:cubicBezTo>
                  <a:pt x="3968545" y="1734583"/>
                  <a:pt x="3968768" y="1711673"/>
                  <a:pt x="3979680" y="1692718"/>
                </a:cubicBezTo>
                <a:cubicBezTo>
                  <a:pt x="3979680" y="1692718"/>
                  <a:pt x="3979680" y="1692718"/>
                  <a:pt x="4148104" y="1400573"/>
                </a:cubicBezTo>
                <a:cubicBezTo>
                  <a:pt x="4158385" y="1381980"/>
                  <a:pt x="4178560" y="1370332"/>
                  <a:pt x="4199803" y="1370724"/>
                </a:cubicBezTo>
                <a:close/>
                <a:moveTo>
                  <a:pt x="3525946" y="1141304"/>
                </a:moveTo>
                <a:cubicBezTo>
                  <a:pt x="3525946" y="1141304"/>
                  <a:pt x="3525946" y="1141304"/>
                  <a:pt x="3719554" y="1141427"/>
                </a:cubicBezTo>
                <a:cubicBezTo>
                  <a:pt x="3732112" y="1141443"/>
                  <a:pt x="3743567" y="1147909"/>
                  <a:pt x="3749860" y="1158808"/>
                </a:cubicBezTo>
                <a:cubicBezTo>
                  <a:pt x="3749860" y="1158808"/>
                  <a:pt x="3749860" y="1158808"/>
                  <a:pt x="3846980" y="1327024"/>
                </a:cubicBezTo>
                <a:cubicBezTo>
                  <a:pt x="3853063" y="1337561"/>
                  <a:pt x="3853144" y="1351077"/>
                  <a:pt x="3846670" y="1361598"/>
                </a:cubicBezTo>
                <a:cubicBezTo>
                  <a:pt x="3846670" y="1361598"/>
                  <a:pt x="3846670" y="1361598"/>
                  <a:pt x="3750182" y="1529691"/>
                </a:cubicBezTo>
                <a:cubicBezTo>
                  <a:pt x="3744279" y="1540366"/>
                  <a:pt x="3732695" y="1547054"/>
                  <a:pt x="3720499" y="1546828"/>
                </a:cubicBezTo>
                <a:cubicBezTo>
                  <a:pt x="3720499" y="1546828"/>
                  <a:pt x="3720499" y="1546828"/>
                  <a:pt x="3526682" y="1546343"/>
                </a:cubicBezTo>
                <a:cubicBezTo>
                  <a:pt x="3514334" y="1546689"/>
                  <a:pt x="3502669" y="1539861"/>
                  <a:pt x="3496586" y="1529324"/>
                </a:cubicBezTo>
                <a:cubicBezTo>
                  <a:pt x="3496586" y="1529324"/>
                  <a:pt x="3496586" y="1529324"/>
                  <a:pt x="3399466" y="1361108"/>
                </a:cubicBezTo>
                <a:cubicBezTo>
                  <a:pt x="3393173" y="1350208"/>
                  <a:pt x="3393302" y="1337055"/>
                  <a:pt x="3399566" y="1326172"/>
                </a:cubicBezTo>
                <a:cubicBezTo>
                  <a:pt x="3399566" y="1326172"/>
                  <a:pt x="3399566" y="1326172"/>
                  <a:pt x="3496264" y="1158441"/>
                </a:cubicBezTo>
                <a:cubicBezTo>
                  <a:pt x="3502167" y="1147767"/>
                  <a:pt x="3513750" y="1141079"/>
                  <a:pt x="3525946" y="1141304"/>
                </a:cubicBezTo>
                <a:close/>
                <a:moveTo>
                  <a:pt x="3955878" y="173494"/>
                </a:moveTo>
                <a:cubicBezTo>
                  <a:pt x="3955878" y="173494"/>
                  <a:pt x="3955878" y="173494"/>
                  <a:pt x="4500068" y="173838"/>
                </a:cubicBezTo>
                <a:cubicBezTo>
                  <a:pt x="4535365" y="173884"/>
                  <a:pt x="4567564" y="192057"/>
                  <a:pt x="4585252" y="222694"/>
                </a:cubicBezTo>
                <a:cubicBezTo>
                  <a:pt x="4585252" y="222694"/>
                  <a:pt x="4585252" y="222694"/>
                  <a:pt x="4858234" y="695514"/>
                </a:cubicBezTo>
                <a:cubicBezTo>
                  <a:pt x="4875332" y="725128"/>
                  <a:pt x="4875562" y="763121"/>
                  <a:pt x="4857363" y="792690"/>
                </a:cubicBezTo>
                <a:cubicBezTo>
                  <a:pt x="4857363" y="792690"/>
                  <a:pt x="4857363" y="792690"/>
                  <a:pt x="4586156" y="1265167"/>
                </a:cubicBezTo>
                <a:cubicBezTo>
                  <a:pt x="4569564" y="1295169"/>
                  <a:pt x="4537006" y="1313967"/>
                  <a:pt x="4502727" y="1313334"/>
                </a:cubicBezTo>
                <a:cubicBezTo>
                  <a:pt x="4502727" y="1313334"/>
                  <a:pt x="4502727" y="1313334"/>
                  <a:pt x="3957947" y="1311968"/>
                </a:cubicBezTo>
                <a:cubicBezTo>
                  <a:pt x="3923239" y="1312944"/>
                  <a:pt x="3890452" y="1293749"/>
                  <a:pt x="3873354" y="1264134"/>
                </a:cubicBezTo>
                <a:cubicBezTo>
                  <a:pt x="3873354" y="1264134"/>
                  <a:pt x="3873354" y="1264134"/>
                  <a:pt x="3600372" y="791315"/>
                </a:cubicBezTo>
                <a:cubicBezTo>
                  <a:pt x="3582684" y="760678"/>
                  <a:pt x="3583043" y="723707"/>
                  <a:pt x="3600653" y="693116"/>
                </a:cubicBezTo>
                <a:cubicBezTo>
                  <a:pt x="3600653" y="693116"/>
                  <a:pt x="3600653" y="693116"/>
                  <a:pt x="3872449" y="221662"/>
                </a:cubicBezTo>
                <a:cubicBezTo>
                  <a:pt x="3889041" y="191658"/>
                  <a:pt x="3921599" y="172861"/>
                  <a:pt x="3955878" y="173494"/>
                </a:cubicBezTo>
                <a:close/>
                <a:moveTo>
                  <a:pt x="3852283" y="0"/>
                </a:moveTo>
                <a:lnTo>
                  <a:pt x="6130031" y="0"/>
                </a:lnTo>
                <a:lnTo>
                  <a:pt x="6102465" y="36730"/>
                </a:lnTo>
                <a:cubicBezTo>
                  <a:pt x="6044520" y="95168"/>
                  <a:pt x="5963814" y="129272"/>
                  <a:pt x="5879948" y="127724"/>
                </a:cubicBezTo>
                <a:cubicBezTo>
                  <a:pt x="5879948" y="127724"/>
                  <a:pt x="5879948" y="127724"/>
                  <a:pt x="4102884" y="123270"/>
                </a:cubicBezTo>
                <a:cubicBezTo>
                  <a:pt x="4017972" y="125657"/>
                  <a:pt x="3936583" y="91034"/>
                  <a:pt x="3877665" y="32818"/>
                </a:cubicBezTo>
                <a:close/>
                <a:moveTo>
                  <a:pt x="0" y="0"/>
                </a:moveTo>
                <a:lnTo>
                  <a:pt x="3781476" y="0"/>
                </a:lnTo>
                <a:lnTo>
                  <a:pt x="3800985" y="47617"/>
                </a:lnTo>
                <a:cubicBezTo>
                  <a:pt x="3821943" y="127749"/>
                  <a:pt x="3811234" y="215546"/>
                  <a:pt x="3766711" y="287889"/>
                </a:cubicBezTo>
                <a:cubicBezTo>
                  <a:pt x="3766711" y="287889"/>
                  <a:pt x="3766711" y="287889"/>
                  <a:pt x="2882037" y="1829098"/>
                </a:cubicBezTo>
                <a:cubicBezTo>
                  <a:pt x="2827913" y="1926970"/>
                  <a:pt x="2721708" y="1988287"/>
                  <a:pt x="2609888" y="1986223"/>
                </a:cubicBezTo>
                <a:cubicBezTo>
                  <a:pt x="2609888" y="1986223"/>
                  <a:pt x="2609888" y="1986223"/>
                  <a:pt x="832823" y="1981768"/>
                </a:cubicBezTo>
                <a:cubicBezTo>
                  <a:pt x="719607" y="1984952"/>
                  <a:pt x="612654" y="1922338"/>
                  <a:pt x="556879" y="1825733"/>
                </a:cubicBezTo>
                <a:cubicBezTo>
                  <a:pt x="556879" y="1825733"/>
                  <a:pt x="556879" y="1825733"/>
                  <a:pt x="79254" y="998462"/>
                </a:cubicBezTo>
                <a:lnTo>
                  <a:pt x="0" y="861190"/>
                </a:lnTo>
                <a:close/>
              </a:path>
            </a:pathLst>
          </a:custGeom>
          <a:solidFill>
            <a:schemeClr val="bg1">
              <a:lumMod val="95000"/>
            </a:schemeClr>
          </a:solidFill>
        </p:spPr>
        <p:txBody>
          <a:bodyPr wrap="square" tIns="864000" rtlCol="0">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866117" y="1816509"/>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4048124" y="3795246"/>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62273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481149" y="1684742"/>
            <a:ext cx="4904790" cy="433376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2">
    <p:spTree>
      <p:nvGrpSpPr>
        <p:cNvPr id="1" name=""/>
        <p:cNvGrpSpPr/>
        <p:nvPr/>
      </p:nvGrpSpPr>
      <p:grpSpPr>
        <a:xfrm>
          <a:off x="0" y="0"/>
          <a:ext cx="0" cy="0"/>
          <a:chOff x="0" y="0"/>
          <a:chExt cx="0" cy="0"/>
        </a:xfrm>
      </p:grpSpPr>
      <p:sp>
        <p:nvSpPr>
          <p:cNvPr id="13" name="Рисунок 12">
            <a:extLst>
              <a:ext uri="{FF2B5EF4-FFF2-40B4-BE49-F238E27FC236}">
                <a16:creationId xmlns:a16="http://schemas.microsoft.com/office/drawing/2014/main" id="{C64B33BB-8F3A-42CE-BBDA-D08AA3266737}"/>
              </a:ext>
            </a:extLst>
          </p:cNvPr>
          <p:cNvSpPr>
            <a:spLocks noGrp="1"/>
          </p:cNvSpPr>
          <p:nvPr>
            <p:ph type="pic" sz="quarter" idx="36" hasCustomPrompt="1"/>
          </p:nvPr>
        </p:nvSpPr>
        <p:spPr>
          <a:xfrm>
            <a:off x="6282692" y="432000"/>
            <a:ext cx="5511800" cy="5760000"/>
          </a:xfrm>
          <a:custGeom>
            <a:avLst/>
            <a:gdLst>
              <a:gd name="connsiteX0" fmla="*/ 193823 w 5511800"/>
              <a:gd name="connsiteY0" fmla="*/ 0 h 5760000"/>
              <a:gd name="connsiteX1" fmla="*/ 5511800 w 5511800"/>
              <a:gd name="connsiteY1" fmla="*/ 0 h 5760000"/>
              <a:gd name="connsiteX2" fmla="*/ 5511800 w 5511800"/>
              <a:gd name="connsiteY2" fmla="*/ 5760000 h 5760000"/>
              <a:gd name="connsiteX3" fmla="*/ 193823 w 5511800"/>
              <a:gd name="connsiteY3" fmla="*/ 5760000 h 5760000"/>
              <a:gd name="connsiteX4" fmla="*/ 3937 w 5511800"/>
              <a:gd name="connsiteY4" fmla="*/ 5605239 h 5760000"/>
              <a:gd name="connsiteX5" fmla="*/ 0 w 5511800"/>
              <a:gd name="connsiteY5" fmla="*/ 5566186 h 5760000"/>
              <a:gd name="connsiteX6" fmla="*/ 0 w 5511800"/>
              <a:gd name="connsiteY6" fmla="*/ 193814 h 5760000"/>
              <a:gd name="connsiteX7" fmla="*/ 3937 w 5511800"/>
              <a:gd name="connsiteY7" fmla="*/ 154762 h 5760000"/>
              <a:gd name="connsiteX8" fmla="*/ 193823 w 5511800"/>
              <a:gd name="connsiteY8" fmla="*/ 0 h 57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11800" h="5760000">
                <a:moveTo>
                  <a:pt x="193823" y="0"/>
                </a:moveTo>
                <a:lnTo>
                  <a:pt x="5511800" y="0"/>
                </a:lnTo>
                <a:lnTo>
                  <a:pt x="5511800" y="5760000"/>
                </a:lnTo>
                <a:lnTo>
                  <a:pt x="193823" y="5760000"/>
                </a:lnTo>
                <a:cubicBezTo>
                  <a:pt x="100158" y="5760000"/>
                  <a:pt x="22011" y="5693561"/>
                  <a:pt x="3937" y="5605239"/>
                </a:cubicBezTo>
                <a:lnTo>
                  <a:pt x="0" y="5566186"/>
                </a:lnTo>
                <a:lnTo>
                  <a:pt x="0" y="193814"/>
                </a:lnTo>
                <a:lnTo>
                  <a:pt x="3937" y="154762"/>
                </a:lnTo>
                <a:cubicBezTo>
                  <a:pt x="22011" y="66440"/>
                  <a:pt x="100158" y="0"/>
                  <a:pt x="193823" y="0"/>
                </a:cubicBezTo>
                <a:close/>
              </a:path>
            </a:pathLst>
          </a:custGeom>
        </p:spPr>
        <p:txBody>
          <a:bodyPr wrap="square" tIns="0"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41629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3">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812170" y="237629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
        <p:nvSpPr>
          <p:cNvPr id="8" name="Рисунок 7">
            <a:extLst>
              <a:ext uri="{FF2B5EF4-FFF2-40B4-BE49-F238E27FC236}">
                <a16:creationId xmlns:a16="http://schemas.microsoft.com/office/drawing/2014/main" id="{01317B12-44C8-4227-9EB8-973D2226E63F}"/>
              </a:ext>
            </a:extLst>
          </p:cNvPr>
          <p:cNvSpPr>
            <a:spLocks noGrp="1"/>
          </p:cNvSpPr>
          <p:nvPr>
            <p:ph type="pic" sz="quarter" idx="34" hasCustomPrompt="1"/>
          </p:nvPr>
        </p:nvSpPr>
        <p:spPr>
          <a:xfrm>
            <a:off x="8812420" y="117614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9" name="Рисунок 8">
            <a:extLst>
              <a:ext uri="{FF2B5EF4-FFF2-40B4-BE49-F238E27FC236}">
                <a16:creationId xmlns:a16="http://schemas.microsoft.com/office/drawing/2014/main" id="{1AD2255F-36DA-4BDE-B54D-F94F14B68B6C}"/>
              </a:ext>
            </a:extLst>
          </p:cNvPr>
          <p:cNvSpPr>
            <a:spLocks noGrp="1"/>
          </p:cNvSpPr>
          <p:nvPr>
            <p:ph type="pic" sz="quarter" idx="35" hasCustomPrompt="1"/>
          </p:nvPr>
        </p:nvSpPr>
        <p:spPr>
          <a:xfrm>
            <a:off x="8812419" y="3552739"/>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Tree>
    <p:extLst>
      <p:ext uri="{BB962C8B-B14F-4D97-AF65-F5344CB8AC3E}">
        <p14:creationId xmlns:p14="http://schemas.microsoft.com/office/powerpoint/2010/main" val="2829556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10" name="Полилиния 5">
            <a:extLst>
              <a:ext uri="{FF2B5EF4-FFF2-40B4-BE49-F238E27FC236}">
                <a16:creationId xmlns:a16="http://schemas.microsoft.com/office/drawing/2014/main" id="{CD92D281-07CD-478F-9BF5-BA7D43439A3D}"/>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1" name="Полилиния 5">
            <a:extLst>
              <a:ext uri="{FF2B5EF4-FFF2-40B4-BE49-F238E27FC236}">
                <a16:creationId xmlns:a16="http://schemas.microsoft.com/office/drawing/2014/main" id="{B2C53265-8805-42B3-82B4-151EFBC42731}"/>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3" name="Полилиния 5">
            <a:extLst>
              <a:ext uri="{FF2B5EF4-FFF2-40B4-BE49-F238E27FC236}">
                <a16:creationId xmlns:a16="http://schemas.microsoft.com/office/drawing/2014/main" id="{D0111EB4-98AF-4EB7-878B-31FD32A95141}"/>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4" name="Полилиния 5">
            <a:extLst>
              <a:ext uri="{FF2B5EF4-FFF2-40B4-BE49-F238E27FC236}">
                <a16:creationId xmlns:a16="http://schemas.microsoft.com/office/drawing/2014/main" id="{33809002-30A9-49C0-BE36-B14DD1E4D872}"/>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5" name="Полилиния 5">
            <a:extLst>
              <a:ext uri="{FF2B5EF4-FFF2-40B4-BE49-F238E27FC236}">
                <a16:creationId xmlns:a16="http://schemas.microsoft.com/office/drawing/2014/main" id="{FFD5C582-B212-4ADA-AB1B-0481AA39C3A9}"/>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2" name="Заголовок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Сравнение слева — заполнитель 1">
            <a:extLst>
              <a:ext uri="{FF2B5EF4-FFF2-40B4-BE49-F238E27FC236}">
                <a16:creationId xmlns:a16="http://schemas.microsoft.com/office/drawing/2014/main" id="{9322B50D-6A7D-41C6-BA57-613BC231DF36}"/>
              </a:ext>
            </a:extLst>
          </p:cNvPr>
          <p:cNvSpPr>
            <a:spLocks noGrp="1"/>
          </p:cNvSpPr>
          <p:nvPr>
            <p:ph type="body" idx="1"/>
          </p:nvPr>
        </p:nvSpPr>
        <p:spPr>
          <a:xfrm>
            <a:off x="432000" y="1515834"/>
            <a:ext cx="5472000" cy="360000"/>
          </a:xfrm>
        </p:spPr>
        <p:txBody>
          <a:bodyPr rtlCol="0"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a:t>Образец текста</a:t>
            </a:r>
          </a:p>
        </p:txBody>
      </p:sp>
      <p:sp>
        <p:nvSpPr>
          <p:cNvPr id="4" name="Объект 2">
            <a:extLst>
              <a:ext uri="{FF2B5EF4-FFF2-40B4-BE49-F238E27FC236}">
                <a16:creationId xmlns:a16="http://schemas.microsoft.com/office/drawing/2014/main" id="{9FD584DA-F775-47B8-A1D7-6556AD5FCBD2}"/>
              </a:ext>
            </a:extLst>
          </p:cNvPr>
          <p:cNvSpPr>
            <a:spLocks noGrp="1"/>
          </p:cNvSpPr>
          <p:nvPr>
            <p:ph sz="half" idx="2"/>
          </p:nvPr>
        </p:nvSpPr>
        <p:spPr>
          <a:xfrm>
            <a:off x="432000" y="2023668"/>
            <a:ext cx="5472000" cy="4168332"/>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2" name="Сравнение слева — заполнитель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1516359"/>
            <a:ext cx="5472000" cy="358775"/>
          </a:xfrm>
        </p:spPr>
        <p:txBody>
          <a:bodyPr rtlCol="0"/>
          <a:lstStyle>
            <a:lvl1pPr marL="0" indent="0">
              <a:buNone/>
              <a:defRPr sz="2400" b="1"/>
            </a:lvl1pPr>
          </a:lstStyle>
          <a:p>
            <a:pPr lvl="0" rtl="0"/>
            <a:r>
              <a:rPr lang="ru-RU" noProof="0"/>
              <a:t>Образец текста</a:t>
            </a:r>
          </a:p>
        </p:txBody>
      </p:sp>
      <p:sp>
        <p:nvSpPr>
          <p:cNvPr id="8" name="Текст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020359"/>
            <a:ext cx="5472113" cy="4170891"/>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5" name="Нижний колонтитул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Большое фото">
    <p:spTree>
      <p:nvGrpSpPr>
        <p:cNvPr id="1" name=""/>
        <p:cNvGrpSpPr/>
        <p:nvPr/>
      </p:nvGrpSpPr>
      <p:grpSpPr>
        <a:xfrm>
          <a:off x="0" y="0"/>
          <a:ext cx="0" cy="0"/>
          <a:chOff x="0" y="0"/>
          <a:chExt cx="0" cy="0"/>
        </a:xfrm>
      </p:grpSpPr>
      <p:sp>
        <p:nvSpPr>
          <p:cNvPr id="7" name="Рисунок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0"/>
            <a:ext cx="11771313" cy="6191250"/>
          </a:xfrm>
          <a:solidFill>
            <a:schemeClr val="bg1">
              <a:lumMod val="9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2" name="Номер слайда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rtlCol="0"/>
          <a:lstStyle/>
          <a:p>
            <a:pPr rtl="0"/>
            <a:fld id="{19B51A1E-902D-48AF-9020-955120F399B6}" type="slidenum">
              <a:rPr lang="ru-RU" noProof="0" smtClean="0"/>
              <a:pPr/>
              <a:t>‹#›</a:t>
            </a:fld>
            <a:endParaRPr lang="ru-RU" noProof="0" dirty="0"/>
          </a:p>
        </p:txBody>
      </p:sp>
      <p:sp>
        <p:nvSpPr>
          <p:cNvPr id="6" name="Заголовок 1">
            <a:extLst>
              <a:ext uri="{FF2B5EF4-FFF2-40B4-BE49-F238E27FC236}">
                <a16:creationId xmlns:a16="http://schemas.microsoft.com/office/drawing/2014/main" id="{BBC3BEE7-44AC-45BC-B4E7-93E3454EB83C}"/>
              </a:ext>
            </a:extLst>
          </p:cNvPr>
          <p:cNvSpPr>
            <a:spLocks noGrp="1"/>
          </p:cNvSpPr>
          <p:nvPr>
            <p:ph type="ctrTitle" hasCustomPrompt="1"/>
          </p:nvPr>
        </p:nvSpPr>
        <p:spPr>
          <a:xfrm>
            <a:off x="420687" y="5066452"/>
            <a:ext cx="4459766" cy="539345"/>
          </a:xfrm>
          <a:prstGeom prst="roundRect">
            <a:avLst>
              <a:gd name="adj" fmla="val 10086"/>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108000" rIns="180000" bIns="0" rtlCol="0" anchor="t"/>
          <a:lstStyle>
            <a:lvl1pPr algn="l">
              <a:lnSpc>
                <a:spcPct val="100000"/>
              </a:lnSpc>
              <a:defRPr sz="1800" b="0" spc="0">
                <a:solidFill>
                  <a:schemeClr val="bg1">
                    <a:lumMod val="95000"/>
                  </a:schemeClr>
                </a:solidFill>
                <a:latin typeface="+mn-lt"/>
              </a:defRPr>
            </a:lvl1pPr>
          </a:lstStyle>
          <a:p>
            <a:pPr rtl="0"/>
            <a:r>
              <a:rPr lang="ru-RU" noProof="0" dirty="0"/>
              <a:t>Введите подпись</a:t>
            </a:r>
          </a:p>
        </p:txBody>
      </p:sp>
    </p:spTree>
    <p:extLst>
      <p:ext uri="{BB962C8B-B14F-4D97-AF65-F5344CB8AC3E}">
        <p14:creationId xmlns:p14="http://schemas.microsoft.com/office/powerpoint/2010/main" val="198778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Слайд с благодарностью">
    <p:spTree>
      <p:nvGrpSpPr>
        <p:cNvPr id="1" name=""/>
        <p:cNvGrpSpPr/>
        <p:nvPr/>
      </p:nvGrpSpPr>
      <p:grpSpPr>
        <a:xfrm>
          <a:off x="0" y="0"/>
          <a:ext cx="0" cy="0"/>
          <a:chOff x="0" y="0"/>
          <a:chExt cx="0" cy="0"/>
        </a:xfrm>
      </p:grpSpPr>
      <p:sp>
        <p:nvSpPr>
          <p:cNvPr id="13" name="Прямоугольник 12">
            <a:extLst>
              <a:ext uri="{FF2B5EF4-FFF2-40B4-BE49-F238E27FC236}">
                <a16:creationId xmlns:a16="http://schemas.microsoft.com/office/drawing/2014/main" id="{DD31C544-1372-4B34-8149-B6058B8CC577}"/>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4" name="Прямоугольник 13">
            <a:extLst>
              <a:ext uri="{FF2B5EF4-FFF2-40B4-BE49-F238E27FC236}">
                <a16:creationId xmlns:a16="http://schemas.microsoft.com/office/drawing/2014/main" id="{7B2598CA-3443-4098-80E7-1F16DC9A13CC}"/>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2" name="Рисунок 11">
            <a:extLst>
              <a:ext uri="{FF2B5EF4-FFF2-40B4-BE49-F238E27FC236}">
                <a16:creationId xmlns:a16="http://schemas.microsoft.com/office/drawing/2014/main" id="{BE421EAA-68E8-4AED-BA2F-01A6AC66859D}"/>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834640"/>
            <a:ext cx="4459766" cy="2720356"/>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Спасибо за внимание!</a:t>
            </a:r>
          </a:p>
        </p:txBody>
      </p:sp>
      <p:sp>
        <p:nvSpPr>
          <p:cNvPr id="7" name="Текст 5">
            <a:extLst>
              <a:ext uri="{FF2B5EF4-FFF2-40B4-BE49-F238E27FC236}">
                <a16:creationId xmlns:a16="http://schemas.microsoft.com/office/drawing/2014/main" id="{D907C852-B0E0-4C2E-88CE-B543605961EE}"/>
              </a:ext>
            </a:extLst>
          </p:cNvPr>
          <p:cNvSpPr>
            <a:spLocks noGrp="1"/>
          </p:cNvSpPr>
          <p:nvPr>
            <p:ph type="body" sz="quarter" idx="15" hasCustomPrompt="1"/>
          </p:nvPr>
        </p:nvSpPr>
        <p:spPr>
          <a:xfrm>
            <a:off x="8034849" y="3859066"/>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Полное имя</a:t>
            </a:r>
          </a:p>
        </p:txBody>
      </p:sp>
      <p:sp>
        <p:nvSpPr>
          <p:cNvPr id="8" name="Текст 6">
            <a:extLst>
              <a:ext uri="{FF2B5EF4-FFF2-40B4-BE49-F238E27FC236}">
                <a16:creationId xmlns:a16="http://schemas.microsoft.com/office/drawing/2014/main" id="{D84C0BEF-F601-4B10-8AEE-4859FE996B34}"/>
              </a:ext>
            </a:extLst>
          </p:cNvPr>
          <p:cNvSpPr>
            <a:spLocks noGrp="1"/>
          </p:cNvSpPr>
          <p:nvPr>
            <p:ph type="body" sz="quarter" idx="16" hasCustomPrompt="1"/>
          </p:nvPr>
        </p:nvSpPr>
        <p:spPr>
          <a:xfrm>
            <a:off x="8034849" y="4220189"/>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Номер телефона</a:t>
            </a:r>
          </a:p>
        </p:txBody>
      </p:sp>
      <p:sp>
        <p:nvSpPr>
          <p:cNvPr id="9" name="Текст 7">
            <a:extLst>
              <a:ext uri="{FF2B5EF4-FFF2-40B4-BE49-F238E27FC236}">
                <a16:creationId xmlns:a16="http://schemas.microsoft.com/office/drawing/2014/main" id="{83A6EF9B-EF2F-4949-9CC4-C16BF8DC85A0}"/>
              </a:ext>
            </a:extLst>
          </p:cNvPr>
          <p:cNvSpPr>
            <a:spLocks noGrp="1"/>
          </p:cNvSpPr>
          <p:nvPr>
            <p:ph type="body" sz="quarter" idx="17" hasCustomPrompt="1"/>
          </p:nvPr>
        </p:nvSpPr>
        <p:spPr>
          <a:xfrm>
            <a:off x="8034849" y="4581312"/>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Электронная почта или контакт в социальной сети</a:t>
            </a:r>
          </a:p>
        </p:txBody>
      </p:sp>
      <p:sp>
        <p:nvSpPr>
          <p:cNvPr id="10" name="Текст 8">
            <a:extLst>
              <a:ext uri="{FF2B5EF4-FFF2-40B4-BE49-F238E27FC236}">
                <a16:creationId xmlns:a16="http://schemas.microsoft.com/office/drawing/2014/main" id="{BE8CA170-9CA9-448E-B07A-E01AB84F7FD3}"/>
              </a:ext>
            </a:extLst>
          </p:cNvPr>
          <p:cNvSpPr>
            <a:spLocks noGrp="1"/>
          </p:cNvSpPr>
          <p:nvPr>
            <p:ph type="body" sz="quarter" idx="18" hasCustomPrompt="1"/>
          </p:nvPr>
        </p:nvSpPr>
        <p:spPr>
          <a:xfrm>
            <a:off x="8034849" y="4942435"/>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Веб-сайт компании</a:t>
            </a:r>
          </a:p>
        </p:txBody>
      </p:sp>
    </p:spTree>
    <p:extLst>
      <p:ext uri="{BB962C8B-B14F-4D97-AF65-F5344CB8AC3E}">
        <p14:creationId xmlns:p14="http://schemas.microsoft.com/office/powerpoint/2010/main" val="1632891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buNone/>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6" name="Текст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столбц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5" name="Текст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1" name="Текст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6D4BCA97-F31B-451D-82F8-6E000DF2118A}"/>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столбцов">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5" name="Текст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3" name="Текст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5" name="Текст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17" name="Текст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endParaRPr lang="ru-RU" noProof="0" dirty="0"/>
          </a:p>
        </p:txBody>
      </p:sp>
      <p:sp>
        <p:nvSpPr>
          <p:cNvPr id="4" name="Нижний колонтитул 3">
            <a:extLst>
              <a:ext uri="{FF2B5EF4-FFF2-40B4-BE49-F238E27FC236}">
                <a16:creationId xmlns:a16="http://schemas.microsoft.com/office/drawing/2014/main" id="{2D09234E-176D-4BBF-9391-7B6F018C51AB}"/>
              </a:ext>
            </a:extLst>
          </p:cNvPr>
          <p:cNvSpPr>
            <a:spLocks noGrp="1"/>
          </p:cNvSpPr>
          <p:nvPr>
            <p:ph type="ftr" sz="quarter" idx="16"/>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Нижний колонтитул 1">
            <a:extLst>
              <a:ext uri="{FF2B5EF4-FFF2-40B4-BE49-F238E27FC236}">
                <a16:creationId xmlns:a16="http://schemas.microsoft.com/office/drawing/2014/main" id="{16D0504D-4610-4E9E-A2DB-8B701F044BBC}"/>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3" name="Номер слайда 2">
            <a:extLst>
              <a:ext uri="{FF2B5EF4-FFF2-40B4-BE49-F238E27FC236}">
                <a16:creationId xmlns:a16="http://schemas.microsoft.com/office/drawing/2014/main" id="{A95CDFA7-DEA3-4BBE-8D70-0AF654A1E6FF}"/>
              </a:ext>
            </a:extLst>
          </p:cNvPr>
          <p:cNvSpPr>
            <a:spLocks noGrp="1"/>
          </p:cNvSpPr>
          <p:nvPr>
            <p:ph type="sldNum" sz="quarter" idx="13"/>
          </p:nvPr>
        </p:nvSpPr>
        <p:spPr>
          <a:xfrm>
            <a:off x="11727656" y="6277243"/>
            <a:ext cx="464344" cy="400188"/>
          </a:xfrm>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70E81F30-8FC8-4841-8404-4DC79218B945}"/>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5" name="Прямоугольник: Скругленные углы 24">
            <a:extLst>
              <a:ext uri="{FF2B5EF4-FFF2-40B4-BE49-F238E27FC236}">
                <a16:creationId xmlns:a16="http://schemas.microsoft.com/office/drawing/2014/main" id="{83D29F65-481C-4C80-BB65-121E5AED26B5}"/>
              </a:ext>
            </a:extLst>
          </p:cNvPr>
          <p:cNvSpPr/>
          <p:nvPr userDrawn="1"/>
        </p:nvSpPr>
        <p:spPr>
          <a:xfrm>
            <a:off x="11844618" y="6249961"/>
            <a:ext cx="230420" cy="460402"/>
          </a:xfrm>
          <a:prstGeom prst="roundRect">
            <a:avLst>
              <a:gd name="adj" fmla="val 7366"/>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9" name="Прямоугольник 8">
            <a:extLst>
              <a:ext uri="{FF2B5EF4-FFF2-40B4-BE49-F238E27FC236}">
                <a16:creationId xmlns:a16="http://schemas.microsoft.com/office/drawing/2014/main" id="{4BC39664-EB8B-4A32-915A-D4308F792772}"/>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5" name="Прямоугольник 14">
            <a:extLst>
              <a:ext uri="{FF2B5EF4-FFF2-40B4-BE49-F238E27FC236}">
                <a16:creationId xmlns:a16="http://schemas.microsoft.com/office/drawing/2014/main" id="{AC6C03AE-289A-4BCC-971C-3400028C8764}"/>
              </a:ext>
            </a:extLst>
          </p:cNvPr>
          <p:cNvSpPr/>
          <p:nvPr userDrawn="1"/>
        </p:nvSpPr>
        <p:spPr>
          <a:xfrm rot="5400000">
            <a:off x="8694713" y="3406143"/>
            <a:ext cx="6857999" cy="45720"/>
          </a:xfrm>
          <a:prstGeom prst="rect">
            <a:avLst/>
          </a:prstGeom>
          <a:gradFill flip="none" rotWithShape="1">
            <a:gsLst>
              <a:gs pos="0">
                <a:schemeClr val="bg1">
                  <a:lumMod val="95000"/>
                  <a:alpha val="0"/>
                </a:schemeClr>
              </a:gs>
              <a:gs pos="100000">
                <a:schemeClr val="bg1">
                  <a:lumMod val="65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 name="Заголовок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pPr rtl="0"/>
            <a:r>
              <a:rPr lang="ru-RU" noProof="0" dirty="0"/>
              <a:t>Щелкните, чтобы изменить заголовок</a:t>
            </a:r>
          </a:p>
        </p:txBody>
      </p:sp>
      <p:sp>
        <p:nvSpPr>
          <p:cNvPr id="3" name="Текст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Нижний колонтитул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1483"/>
            <a:ext cx="5484930" cy="20153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5ECA3099-A94F-4C3E-BC29-780EDD38F722}"/>
              </a:ext>
            </a:extLst>
          </p:cNvPr>
          <p:cNvSpPr>
            <a:spLocks noGrp="1"/>
          </p:cNvSpPr>
          <p:nvPr>
            <p:ph type="sldNum" sz="quarter" idx="4"/>
          </p:nvPr>
        </p:nvSpPr>
        <p:spPr>
          <a:xfrm>
            <a:off x="11727656" y="6277243"/>
            <a:ext cx="464344" cy="400188"/>
          </a:xfrm>
          <a:prstGeom prst="roundRect">
            <a:avLst>
              <a:gd name="adj" fmla="val 9526"/>
            </a:avLst>
          </a:prstGeom>
          <a:gradFill>
            <a:gsLst>
              <a:gs pos="20000">
                <a:schemeClr val="tx1">
                  <a:lumMod val="75000"/>
                  <a:lumOff val="25000"/>
                </a:schemeClr>
              </a:gs>
              <a:gs pos="82000">
                <a:schemeClr val="tx1"/>
              </a:gs>
            </a:gsLst>
            <a:lin ang="3000000" scaled="0"/>
          </a:gradFill>
          <a:ln w="6350">
            <a:solidFill>
              <a:schemeClr val="accent1"/>
            </a:solidFill>
          </a:ln>
        </p:spPr>
        <p:txBody>
          <a:bodyPr vert="horz" lIns="0" tIns="0" rIns="0" bIns="0" rtlCol="0" anchor="ctr"/>
          <a:lstStyle>
            <a:lvl1pPr algn="ctr">
              <a:defRPr sz="1200" i="1">
                <a:solidFill>
                  <a:schemeClr val="bg1"/>
                </a:solidFill>
                <a:latin typeface="Times New Roman" panose="02020603050405020304" pitchFamily="18" charset="0"/>
                <a:cs typeface="Times New Roman" panose="02020603050405020304" pitchFamily="18" charset="0"/>
              </a:defRPr>
            </a:lvl1pPr>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54" r:id="rId1"/>
    <p:sldLayoutId id="2147483649" r:id="rId2"/>
    <p:sldLayoutId id="2147483662" r:id="rId3"/>
    <p:sldLayoutId id="2147483663" r:id="rId4"/>
    <p:sldLayoutId id="2147483658" r:id="rId5"/>
    <p:sldLayoutId id="2147483665" r:id="rId6"/>
    <p:sldLayoutId id="2147483666" r:id="rId7"/>
    <p:sldLayoutId id="2147483659" r:id="rId8"/>
    <p:sldLayoutId id="2147483660" r:id="rId9"/>
    <p:sldLayoutId id="2147483664" r:id="rId10"/>
    <p:sldLayoutId id="2147483650" r:id="rId11"/>
    <p:sldLayoutId id="2147483652" r:id="rId12"/>
    <p:sldLayoutId id="2147483656" r:id="rId13"/>
    <p:sldLayoutId id="2147483657" r:id="rId14"/>
    <p:sldLayoutId id="2147483655" r:id="rId15"/>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8.sv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36.sv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Рисунок 6" descr="Изображение слайда">
            <a:extLst>
              <a:ext uri="{FF2B5EF4-FFF2-40B4-BE49-F238E27FC236}">
                <a16:creationId xmlns:a16="http://schemas.microsoft.com/office/drawing/2014/main" id="{FE5D908F-BAEF-2843-BC2F-691696E72E11}"/>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25" name="Надпись 24" descr="Акцент слайда для поля заголовка">
            <a:extLst>
              <a:ext uri="{FF2B5EF4-FFF2-40B4-BE49-F238E27FC236}">
                <a16:creationId xmlns:a16="http://schemas.microsoft.com/office/drawing/2014/main" id="{7EF238CB-AB58-4787-8F9C-A1C16929A2FA}"/>
              </a:ext>
              <a:ext uri="{C183D7F6-B498-43B3-948B-1728B52AA6E4}">
                <adec:decorative xmlns="" xmlns:adec="http://schemas.microsoft.com/office/drawing/2017/decorative" val="1"/>
              </a:ext>
            </a:extLst>
          </p:cNvPr>
          <p:cNvSpPr txBox="1">
            <a:spLocks/>
          </p:cNvSpPr>
          <p:nvPr/>
        </p:nvSpPr>
        <p:spPr>
          <a:xfrm flipH="1">
            <a:off x="-1" y="3914775"/>
            <a:ext cx="1481849" cy="2200275"/>
          </a:xfrm>
          <a:custGeom>
            <a:avLst/>
            <a:gdLst>
              <a:gd name="connsiteX0" fmla="*/ 1494549 w 1494549"/>
              <a:gd name="connsiteY0" fmla="*/ 0 h 2200275"/>
              <a:gd name="connsiteX1" fmla="*/ 100333 w 1494549"/>
              <a:gd name="connsiteY1" fmla="*/ 0 h 2200275"/>
              <a:gd name="connsiteX2" fmla="*/ 0 w 1494549"/>
              <a:gd name="connsiteY2" fmla="*/ 100333 h 2200275"/>
              <a:gd name="connsiteX3" fmla="*/ 0 w 1494549"/>
              <a:gd name="connsiteY3" fmla="*/ 2099942 h 2200275"/>
              <a:gd name="connsiteX4" fmla="*/ 100333 w 1494549"/>
              <a:gd name="connsiteY4" fmla="*/ 2200275 h 2200275"/>
              <a:gd name="connsiteX5" fmla="*/ 1494549 w 1494549"/>
              <a:gd name="connsiteY5" fmla="*/ 2200275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4549" h="2200275">
                <a:moveTo>
                  <a:pt x="1494549" y="0"/>
                </a:moveTo>
                <a:lnTo>
                  <a:pt x="100333" y="0"/>
                </a:lnTo>
                <a:cubicBezTo>
                  <a:pt x="44921" y="0"/>
                  <a:pt x="0" y="44921"/>
                  <a:pt x="0" y="100333"/>
                </a:cubicBezTo>
                <a:lnTo>
                  <a:pt x="0" y="2099942"/>
                </a:lnTo>
                <a:cubicBezTo>
                  <a:pt x="0" y="2155354"/>
                  <a:pt x="44921" y="2200275"/>
                  <a:pt x="100333" y="2200275"/>
                </a:cubicBezTo>
                <a:lnTo>
                  <a:pt x="1494549" y="2200275"/>
                </a:ln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948293" y="3114635"/>
            <a:ext cx="4459766" cy="2514635"/>
          </a:xfrm>
          <a:gradFill>
            <a:gsLst>
              <a:gs pos="100000">
                <a:schemeClr val="tx1">
                  <a:lumMod val="95000"/>
                  <a:lumOff val="5000"/>
                </a:schemeClr>
              </a:gs>
              <a:gs pos="0">
                <a:schemeClr val="tx1">
                  <a:lumMod val="75000"/>
                  <a:lumOff val="25000"/>
                </a:schemeClr>
              </a:gs>
            </a:gsLst>
          </a:gradFill>
          <a:ln>
            <a:solidFill>
              <a:schemeClr val="bg1">
                <a:lumMod val="50000"/>
              </a:schemeClr>
            </a:solidFill>
          </a:ln>
        </p:spPr>
        <p:txBody>
          <a:bodyPr rtlCol="0"/>
          <a:lstStyle/>
          <a:p>
            <a:r>
              <a:rPr lang="en-US" sz="5000" dirty="0" smtClean="0"/>
              <a:t>LLM </a:t>
            </a:r>
            <a:r>
              <a:rPr lang="ru-RU" sz="5000" dirty="0" smtClean="0"/>
              <a:t>часть 2</a:t>
            </a:r>
            <a:endParaRPr lang="ru-RU" sz="50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a:xfrm>
            <a:off x="1104420" y="4938518"/>
            <a:ext cx="4000500" cy="690752"/>
          </a:xfrm>
        </p:spPr>
        <p:txBody>
          <a:bodyPr rtlCol="0"/>
          <a:lstStyle/>
          <a:p>
            <a:r>
              <a:rPr lang="ru-RU" dirty="0"/>
              <a:t>Основы обработки текстов</a:t>
            </a:r>
          </a:p>
        </p:txBody>
      </p:sp>
      <p:sp>
        <p:nvSpPr>
          <p:cNvPr id="20" name="Равнобедренный треугольник 19" descr="Тень на слайде для поля заголовка">
            <a:extLst>
              <a:ext uri="{FF2B5EF4-FFF2-40B4-BE49-F238E27FC236}">
                <a16:creationId xmlns:a16="http://schemas.microsoft.com/office/drawing/2014/main" id="{545D50A1-D634-4325-B06C-5450FDF7B818}"/>
              </a:ext>
              <a:ext uri="{C183D7F6-B498-43B3-948B-1728B52AA6E4}">
                <adec:decorative xmlns="" xmlns:adec="http://schemas.microsoft.com/office/drawing/2017/decorative" val="1"/>
              </a:ext>
            </a:extLst>
          </p:cNvPr>
          <p:cNvSpPr/>
          <p:nvPr/>
        </p:nvSpPr>
        <p:spPr>
          <a:xfrm rot="10800000" flipH="1">
            <a:off x="1000837" y="5629270"/>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2" name="Прямоугольник 1"/>
          <p:cNvSpPr/>
          <p:nvPr/>
        </p:nvSpPr>
        <p:spPr>
          <a:xfrm>
            <a:off x="4275020" y="3244334"/>
            <a:ext cx="3641959" cy="369332"/>
          </a:xfrm>
          <a:prstGeom prst="rect">
            <a:avLst/>
          </a:prstGeom>
        </p:spPr>
        <p:txBody>
          <a:bodyPr wrap="none">
            <a:spAutoFit/>
          </a:bodyPr>
          <a:lstStyle/>
          <a:p>
            <a:r>
              <a:rPr lang="ru-RU" b="1" dirty="0">
                <a:solidFill>
                  <a:srgbClr val="131523"/>
                </a:solidFill>
                <a:latin typeface="Inter"/>
              </a:rPr>
              <a:t>Метрики оценки качества </a:t>
            </a:r>
            <a:r>
              <a:rPr lang="en-US" b="1" dirty="0">
                <a:solidFill>
                  <a:srgbClr val="131523"/>
                </a:solidFill>
                <a:latin typeface="Inter"/>
              </a:rPr>
              <a:t>LLM</a:t>
            </a:r>
            <a:endParaRPr lang="en-US" b="1" i="0" dirty="0">
              <a:solidFill>
                <a:srgbClr val="131523"/>
              </a:solidFill>
              <a:effectLst/>
              <a:latin typeface="Inter"/>
            </a:endParaRPr>
          </a:p>
        </p:txBody>
      </p:sp>
      <p:sp>
        <p:nvSpPr>
          <p:cNvPr id="5" name="Прямоугольник 4"/>
          <p:cNvSpPr/>
          <p:nvPr/>
        </p:nvSpPr>
        <p:spPr>
          <a:xfrm>
            <a:off x="4275020" y="3244334"/>
            <a:ext cx="3641959" cy="369332"/>
          </a:xfrm>
          <a:prstGeom prst="rect">
            <a:avLst/>
          </a:prstGeom>
        </p:spPr>
        <p:txBody>
          <a:bodyPr wrap="none">
            <a:spAutoFit/>
          </a:bodyPr>
          <a:lstStyle/>
          <a:p>
            <a:r>
              <a:rPr lang="ru-RU" b="1" dirty="0">
                <a:solidFill>
                  <a:srgbClr val="131523"/>
                </a:solidFill>
                <a:latin typeface="Inter"/>
              </a:rPr>
              <a:t>Метрики оценки качества </a:t>
            </a:r>
            <a:r>
              <a:rPr lang="en-US" b="1" dirty="0">
                <a:solidFill>
                  <a:srgbClr val="131523"/>
                </a:solidFill>
                <a:latin typeface="Inter"/>
              </a:rPr>
              <a:t>LLM</a:t>
            </a:r>
            <a:endParaRPr lang="en-US" b="1" i="0" dirty="0">
              <a:solidFill>
                <a:srgbClr val="131523"/>
              </a:solidFill>
              <a:effectLst/>
              <a:latin typeface="Inter"/>
            </a:endParaRPr>
          </a:p>
        </p:txBody>
      </p:sp>
    </p:spTree>
    <p:extLst>
      <p:ext uri="{BB962C8B-B14F-4D97-AF65-F5344CB8AC3E}">
        <p14:creationId xmlns:p14="http://schemas.microsoft.com/office/powerpoint/2010/main" val="389996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pPr marL="0" indent="0" fontAlgn="base"/>
            <a:r>
              <a:rPr lang="ru-RU" sz="4000" spc="0" dirty="0"/>
              <a:t>Метрики оценки качества </a:t>
            </a:r>
            <a:r>
              <a:rPr lang="en-US" sz="4000" spc="0" dirty="0"/>
              <a:t>LLM</a:t>
            </a:r>
            <a:endParaRPr lang="ru-RU" sz="4000" spc="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p:txBody>
          <a:bodyPr rtlCol="0"/>
          <a:lstStyle/>
          <a:p>
            <a:pPr rtl="0"/>
            <a:endParaRPr lang="ru-RU"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2</a:t>
            </a:fld>
            <a:endParaRPr lang="ru-RU" dirty="0"/>
          </a:p>
        </p:txBody>
      </p:sp>
    </p:spTree>
    <p:extLst>
      <p:ext uri="{BB962C8B-B14F-4D97-AF65-F5344CB8AC3E}">
        <p14:creationId xmlns:p14="http://schemas.microsoft.com/office/powerpoint/2010/main" val="2900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a:t>Метрики оценки качества LLM (</a:t>
            </a:r>
            <a:r>
              <a:rPr lang="ru-RU" sz="3200" dirty="0" err="1"/>
              <a:t>Large</a:t>
            </a:r>
            <a:r>
              <a:rPr lang="ru-RU" sz="3200" dirty="0"/>
              <a:t> </a:t>
            </a:r>
            <a:r>
              <a:rPr lang="ru-RU" sz="3200" dirty="0" err="1"/>
              <a:t>Language</a:t>
            </a:r>
            <a:r>
              <a:rPr lang="ru-RU" sz="3200" dirty="0"/>
              <a:t> </a:t>
            </a:r>
            <a:r>
              <a:rPr lang="ru-RU" sz="3200" dirty="0" err="1"/>
              <a:t>Models</a:t>
            </a:r>
            <a:r>
              <a:rPr lang="ru-RU" sz="3200" dirty="0"/>
              <a:t>) — это стандартизированные критерии, алгоритмы и тесты, которые позволяют измерить, насколько точно, безопасно и логично большая языковая модель генерирует текст и решает поставленные задачи</a:t>
            </a:r>
            <a:r>
              <a:rPr lang="ru-RU" sz="3200" dirty="0" smtClean="0"/>
              <a:t>.</a:t>
            </a:r>
          </a:p>
          <a:p>
            <a:pPr marL="0" indent="0" fontAlgn="base"/>
            <a:endParaRPr lang="ru-RU" sz="3200" dirty="0"/>
          </a:p>
        </p:txBody>
      </p:sp>
    </p:spTree>
    <p:extLst>
      <p:ext uri="{BB962C8B-B14F-4D97-AF65-F5344CB8AC3E}">
        <p14:creationId xmlns:p14="http://schemas.microsoft.com/office/powerpoint/2010/main" val="1072559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r>
              <a:rPr lang="ru-RU" b="1" dirty="0"/>
              <a:t>Зачем нужны метрики оценки LLM?</a:t>
            </a:r>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4</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92500"/>
          </a:bodyPr>
          <a:lstStyle/>
          <a:p>
            <a:pPr marL="0" indent="0" fontAlgn="base"/>
            <a:r>
              <a:rPr lang="ru-RU" sz="3200" dirty="0" smtClean="0"/>
              <a:t>С </a:t>
            </a:r>
            <a:r>
              <a:rPr lang="ru-RU" sz="3200" dirty="0"/>
              <a:t>развитием искусственного интеллекта нейросети научились писать код, сочинять стихи и консультировать клиентов. Однако они склонны к «галлюцинациям» (выдумыванию фактов), токсичности и логическим ошибкам. Чтобы понять, готова ли модель к реальному использованию, и сравнить её с конкурентами, разработчикам нужны объективные системы измерений — метрики.</a:t>
            </a:r>
          </a:p>
          <a:p>
            <a:pPr marL="0" indent="0" fontAlgn="base"/>
            <a:r>
              <a:rPr lang="ru-RU" sz="3200" dirty="0" smtClean="0"/>
              <a:t>Оценка </a:t>
            </a:r>
            <a:r>
              <a:rPr lang="ru-RU" sz="3200" dirty="0"/>
              <a:t>качества стала отдельной наукой, так как проверять генеративный текст гораздо сложнее, чем обычные математические вычисления. Если на вопрос «Как дела?» нейросеть ответит «Отлично» или «Всё супер», оба варианта будут правильными по смыслу, хотя текст кардинально отличается. Поэтому традиционные методы дословного сравнения строк здесь не работают.</a:t>
            </a:r>
            <a:endParaRPr lang="ru-RU" sz="3200" dirty="0"/>
          </a:p>
        </p:txBody>
      </p:sp>
    </p:spTree>
    <p:extLst>
      <p:ext uri="{BB962C8B-B14F-4D97-AF65-F5344CB8AC3E}">
        <p14:creationId xmlns:p14="http://schemas.microsoft.com/office/powerpoint/2010/main" val="3785054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r>
              <a:rPr lang="ru-RU" b="1" dirty="0"/>
              <a:t>Основные виды метрик</a:t>
            </a:r>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5</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92500" lnSpcReduction="10000"/>
          </a:bodyPr>
          <a:lstStyle/>
          <a:p>
            <a:pPr marL="0" indent="0" fontAlgn="base"/>
            <a:r>
              <a:rPr lang="ru-RU" sz="3200" dirty="0" smtClean="0"/>
              <a:t>Сегодня </a:t>
            </a:r>
            <a:r>
              <a:rPr lang="ru-RU" sz="3200" dirty="0"/>
              <a:t>подходы к тестированию генеративных моделей делятся на несколько основных категорий:</a:t>
            </a:r>
          </a:p>
          <a:p>
            <a:pPr marL="0" indent="0" fontAlgn="base"/>
            <a:r>
              <a:rPr lang="ru-RU" sz="3200" b="1" dirty="0" smtClean="0"/>
              <a:t>Классические</a:t>
            </a:r>
            <a:r>
              <a:rPr lang="ru-RU" sz="3200" dirty="0" smtClean="0"/>
              <a:t> </a:t>
            </a:r>
            <a:r>
              <a:rPr lang="ru-RU" sz="3200" dirty="0"/>
              <a:t>(статистические) метрики: BLEU, ROUGE и METEOR. Они пришли из эпохи раннего машинного перевода и сравнивают совпадение слов (N-грамм) в ответе нейросети с эталонным текстом, написанным человеком. Сегодня они считаются устаревшими для сложных задач, но всё ещё применяются для простых проверок.</a:t>
            </a:r>
          </a:p>
          <a:p>
            <a:pPr marL="0" indent="0" fontAlgn="base"/>
            <a:r>
              <a:rPr lang="ru-RU" sz="3200" b="1" dirty="0"/>
              <a:t>Метрики на основе других LLM </a:t>
            </a:r>
            <a:r>
              <a:rPr lang="ru-RU" sz="3200" dirty="0"/>
              <a:t>(LLM-</a:t>
            </a:r>
            <a:r>
              <a:rPr lang="ru-RU" sz="3200" dirty="0" err="1"/>
              <a:t>as</a:t>
            </a:r>
            <a:r>
              <a:rPr lang="ru-RU" sz="3200" dirty="0"/>
              <a:t>-a-</a:t>
            </a:r>
            <a:r>
              <a:rPr lang="ru-RU" sz="3200" dirty="0" err="1"/>
              <a:t>Judge</a:t>
            </a:r>
            <a:r>
              <a:rPr lang="ru-RU" sz="3200" dirty="0"/>
              <a:t>): Современный подход, при котором одна мощная модель (например, GPT-4) выступает в роли независимого судьи. Она оценивает ответы другой модели по заданным критериям: вежливость, точность, полезность и структурированность</a:t>
            </a:r>
            <a:r>
              <a:rPr lang="ru-RU" sz="3200" dirty="0" smtClean="0"/>
              <a:t>.</a:t>
            </a:r>
            <a:endParaRPr lang="ru-RU" sz="3200" dirty="0"/>
          </a:p>
        </p:txBody>
      </p:sp>
    </p:spTree>
    <p:extLst>
      <p:ext uri="{BB962C8B-B14F-4D97-AF65-F5344CB8AC3E}">
        <p14:creationId xmlns:p14="http://schemas.microsoft.com/office/powerpoint/2010/main" val="1319699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r>
              <a:rPr lang="ru-RU" b="1" dirty="0"/>
              <a:t>Основные виды метрик</a:t>
            </a:r>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6</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smtClean="0"/>
              <a:t>Сегодня </a:t>
            </a:r>
            <a:r>
              <a:rPr lang="ru-RU" sz="3200" dirty="0"/>
              <a:t>подходы к тестированию генеративных моделей делятся на несколько основных категорий</a:t>
            </a:r>
            <a:r>
              <a:rPr lang="ru-RU" sz="3200" dirty="0" smtClean="0"/>
              <a:t>:</a:t>
            </a:r>
          </a:p>
          <a:p>
            <a:pPr marL="0" indent="0" fontAlgn="base"/>
            <a:r>
              <a:rPr lang="ru-RU" sz="3200" b="1" dirty="0"/>
              <a:t>Метрики для RAG </a:t>
            </a:r>
            <a:r>
              <a:rPr lang="ru-RU" sz="3200" dirty="0"/>
              <a:t>(генерации с дополненной выборкой): Оценивают, насколько ответ опирается на предоставленный корпоративный контекст. Популярный </a:t>
            </a:r>
            <a:r>
              <a:rPr lang="ru-RU" sz="3200" dirty="0" err="1"/>
              <a:t>фреймворк</a:t>
            </a:r>
            <a:r>
              <a:rPr lang="ru-RU" sz="3200" dirty="0"/>
              <a:t> RAGAS измеряет «верность фактам» (</a:t>
            </a:r>
            <a:r>
              <a:rPr lang="ru-RU" sz="3200" dirty="0" err="1"/>
              <a:t>Faithfulness</a:t>
            </a:r>
            <a:r>
              <a:rPr lang="ru-RU" sz="3200" dirty="0"/>
              <a:t>) и «релевантность ответа» (</a:t>
            </a:r>
            <a:r>
              <a:rPr lang="ru-RU" sz="3200" dirty="0" err="1"/>
              <a:t>Answer</a:t>
            </a:r>
            <a:r>
              <a:rPr lang="ru-RU" sz="3200" dirty="0"/>
              <a:t> </a:t>
            </a:r>
            <a:r>
              <a:rPr lang="ru-RU" sz="3200" dirty="0" err="1"/>
              <a:t>Relevance</a:t>
            </a:r>
            <a:r>
              <a:rPr lang="ru-RU" sz="3200" dirty="0"/>
              <a:t>).</a:t>
            </a:r>
          </a:p>
          <a:p>
            <a:pPr marL="0" indent="0" fontAlgn="base"/>
            <a:r>
              <a:rPr lang="ru-RU" sz="3200" b="1" dirty="0"/>
              <a:t>Человеческая оценка </a:t>
            </a:r>
            <a:r>
              <a:rPr lang="ru-RU" sz="3200" dirty="0"/>
              <a:t>(RLHF): Слепые тестирования и разметка, где эксперты-люди вручную оценивают качество, безопасность и полезность сгенерированного контента.</a:t>
            </a:r>
          </a:p>
          <a:p>
            <a:pPr marL="0" indent="0" fontAlgn="base"/>
            <a:endParaRPr lang="ru-RU" sz="3200" dirty="0"/>
          </a:p>
        </p:txBody>
      </p:sp>
    </p:spTree>
    <p:extLst>
      <p:ext uri="{BB962C8B-B14F-4D97-AF65-F5344CB8AC3E}">
        <p14:creationId xmlns:p14="http://schemas.microsoft.com/office/powerpoint/2010/main" val="3049320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r>
              <a:rPr lang="ru-RU" b="1" dirty="0"/>
              <a:t>Популярные </a:t>
            </a:r>
            <a:r>
              <a:rPr lang="ru-RU" b="1" dirty="0" err="1"/>
              <a:t>бенчмарки</a:t>
            </a:r>
            <a:r>
              <a:rPr lang="ru-RU" b="1" dirty="0"/>
              <a:t> для языковых моделей</a:t>
            </a:r>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7</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92500" lnSpcReduction="10000"/>
          </a:bodyPr>
          <a:lstStyle/>
          <a:p>
            <a:pPr marL="0" indent="0" fontAlgn="base"/>
            <a:r>
              <a:rPr lang="ru-RU" sz="3200" dirty="0" smtClean="0"/>
              <a:t>Помимо </a:t>
            </a:r>
            <a:r>
              <a:rPr lang="ru-RU" sz="3200" dirty="0"/>
              <a:t>отдельных метрик, в ИИ-индустрии существуют комплексные экзамены для нейросетей — </a:t>
            </a:r>
            <a:r>
              <a:rPr lang="ru-RU" sz="3200" dirty="0" err="1"/>
              <a:t>бенчмарки</a:t>
            </a:r>
            <a:r>
              <a:rPr lang="ru-RU" sz="3200" dirty="0"/>
              <a:t>. Они состоят из тысяч вопросов по разным дисциплинам:</a:t>
            </a:r>
          </a:p>
          <a:p>
            <a:pPr marL="457200" indent="-457200" fontAlgn="base">
              <a:buFont typeface="Arial" panose="020B0604020202020204" pitchFamily="34" charset="0"/>
              <a:buChar char="•"/>
            </a:pPr>
            <a:r>
              <a:rPr lang="ru-RU" sz="3200" dirty="0" smtClean="0"/>
              <a:t>MMLU </a:t>
            </a:r>
            <a:r>
              <a:rPr lang="ru-RU" sz="3200" dirty="0"/>
              <a:t>(</a:t>
            </a:r>
            <a:r>
              <a:rPr lang="ru-RU" sz="3200" dirty="0" err="1"/>
              <a:t>Massive</a:t>
            </a:r>
            <a:r>
              <a:rPr lang="ru-RU" sz="3200" dirty="0"/>
              <a:t> </a:t>
            </a:r>
            <a:r>
              <a:rPr lang="ru-RU" sz="3200" dirty="0" err="1"/>
              <a:t>Multitask</a:t>
            </a:r>
            <a:r>
              <a:rPr lang="ru-RU" sz="3200" dirty="0"/>
              <a:t> </a:t>
            </a:r>
            <a:r>
              <a:rPr lang="ru-RU" sz="3200" dirty="0" err="1"/>
              <a:t>Language</a:t>
            </a:r>
            <a:r>
              <a:rPr lang="ru-RU" sz="3200" dirty="0"/>
              <a:t> </a:t>
            </a:r>
            <a:r>
              <a:rPr lang="ru-RU" sz="3200" dirty="0" err="1"/>
              <a:t>Understanding</a:t>
            </a:r>
            <a:r>
              <a:rPr lang="ru-RU" sz="3200" dirty="0"/>
              <a:t>): Один из самых известных тестов. Включает вопросы по 57 предметам — от элементарной математики и истории до квантовой физики и юриспруденции. Он проверяет широту знаний ИИ.</a:t>
            </a:r>
          </a:p>
          <a:p>
            <a:pPr marL="457200" indent="-457200" fontAlgn="base">
              <a:buFont typeface="Arial" panose="020B0604020202020204" pitchFamily="34" charset="0"/>
              <a:buChar char="•"/>
            </a:pPr>
            <a:r>
              <a:rPr lang="ru-RU" sz="3200" dirty="0"/>
              <a:t>GSM8K: Набор школьных задач по математике. Оценивает способность модели к многошаговому логическому рассуждению.</a:t>
            </a:r>
          </a:p>
          <a:p>
            <a:pPr marL="457200" indent="-457200" fontAlgn="base">
              <a:buFont typeface="Arial" panose="020B0604020202020204" pitchFamily="34" charset="0"/>
              <a:buChar char="•"/>
            </a:pPr>
            <a:r>
              <a:rPr lang="ru-RU" sz="3200" dirty="0" err="1"/>
              <a:t>HumanEval</a:t>
            </a:r>
            <a:r>
              <a:rPr lang="ru-RU" sz="3200" dirty="0"/>
              <a:t>: Тест от </a:t>
            </a:r>
            <a:r>
              <a:rPr lang="ru-RU" sz="3200" dirty="0" err="1"/>
              <a:t>OpenAI</a:t>
            </a:r>
            <a:r>
              <a:rPr lang="ru-RU" sz="3200" dirty="0"/>
              <a:t> для проверки навыков программирования. Модели дается описание функции, и она должна написать рабочий код, который пройдет скрытые тесты.</a:t>
            </a:r>
            <a:endParaRPr lang="ru-RU" sz="3200" dirty="0"/>
          </a:p>
        </p:txBody>
      </p:sp>
    </p:spTree>
    <p:extLst>
      <p:ext uri="{BB962C8B-B14F-4D97-AF65-F5344CB8AC3E}">
        <p14:creationId xmlns:p14="http://schemas.microsoft.com/office/powerpoint/2010/main" val="309059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pPr marL="0" indent="0" fontAlgn="base"/>
            <a:r>
              <a:rPr lang="ru-RU" sz="4000" spc="0" dirty="0"/>
              <a:t>Методология оценивания </a:t>
            </a:r>
            <a:r>
              <a:rPr lang="en-US" sz="4000" spc="0" dirty="0"/>
              <a:t>LLM</a:t>
            </a:r>
            <a:endParaRPr lang="ru-RU" sz="4000" spc="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p:txBody>
          <a:bodyPr rtlCol="0"/>
          <a:lstStyle/>
          <a:p>
            <a:pPr rtl="0"/>
            <a:endParaRPr lang="ru-RU"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8</a:t>
            </a:fld>
            <a:endParaRPr lang="ru-RU" dirty="0"/>
          </a:p>
        </p:txBody>
      </p:sp>
    </p:spTree>
    <p:extLst>
      <p:ext uri="{BB962C8B-B14F-4D97-AF65-F5344CB8AC3E}">
        <p14:creationId xmlns:p14="http://schemas.microsoft.com/office/powerpoint/2010/main" val="575830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9</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a:t>Ранжирование и оценка моделей LLM и систем Q&amp;A на данный момент остается </a:t>
            </a:r>
            <a:r>
              <a:rPr lang="ru-RU" sz="3200" dirty="0" smtClean="0"/>
              <a:t>затруднительной </a:t>
            </a:r>
            <a:r>
              <a:rPr lang="ru-RU" sz="3200" dirty="0"/>
              <a:t>в связи со сложностью оценки качества ответов без привлечения </a:t>
            </a:r>
            <a:r>
              <a:rPr lang="ru-RU" sz="3200" dirty="0" smtClean="0"/>
              <a:t>экспертов</a:t>
            </a:r>
            <a:r>
              <a:rPr lang="ru-RU" sz="3200" dirty="0"/>
              <a:t>. Существующие LLM не раскрывают информацию об используемых ими </a:t>
            </a:r>
            <a:r>
              <a:rPr lang="ru-RU" sz="3200" dirty="0" smtClean="0"/>
              <a:t>источниках данных</a:t>
            </a:r>
            <a:r>
              <a:rPr lang="ru-RU" sz="3200" dirty="0"/>
              <a:t>, а широко используемые в Q&amp;A системах на таких наборах данных как KGQA</a:t>
            </a:r>
            <a:r>
              <a:rPr lang="ru-RU" sz="3200" dirty="0" smtClean="0"/>
              <a:t>, LC-</a:t>
            </a:r>
            <a:r>
              <a:rPr lang="ru-RU" sz="3200" dirty="0" err="1" smtClean="0"/>
              <a:t>QuAD</a:t>
            </a:r>
            <a:r>
              <a:rPr lang="ru-RU" sz="3200" dirty="0" smtClean="0"/>
              <a:t> </a:t>
            </a:r>
            <a:r>
              <a:rPr lang="ru-RU" sz="3200" dirty="0"/>
              <a:t>и QALD, не вызывают доверия в связи с неполнотой и недостаточной </a:t>
            </a:r>
            <a:r>
              <a:rPr lang="ru-RU" sz="3200" dirty="0" smtClean="0"/>
              <a:t>актуальностью </a:t>
            </a:r>
            <a:r>
              <a:rPr lang="ru-RU" sz="3200" dirty="0"/>
              <a:t>информации. В связи с этим появляются работы, посвященные оценкам </a:t>
            </a:r>
            <a:r>
              <a:rPr lang="ru-RU" sz="3200" dirty="0" smtClean="0"/>
              <a:t>существующих </a:t>
            </a:r>
            <a:r>
              <a:rPr lang="ru-RU" sz="3200" dirty="0"/>
              <a:t>систем как по качеству ответов так и использующие выводы полученные в </a:t>
            </a:r>
            <a:r>
              <a:rPr lang="ru-RU" sz="3200" dirty="0" smtClean="0"/>
              <a:t>отдельных </a:t>
            </a:r>
            <a:r>
              <a:rPr lang="ru-RU" sz="3200" dirty="0"/>
              <a:t>исследованиях для получения обобщенных </a:t>
            </a:r>
            <a:r>
              <a:rPr lang="ru-RU" sz="3200" dirty="0" smtClean="0"/>
              <a:t>оценок.</a:t>
            </a:r>
            <a:endParaRPr lang="ru-RU" sz="3200" dirty="0"/>
          </a:p>
        </p:txBody>
      </p:sp>
    </p:spTree>
    <p:extLst>
      <p:ext uri="{BB962C8B-B14F-4D97-AF65-F5344CB8AC3E}">
        <p14:creationId xmlns:p14="http://schemas.microsoft.com/office/powerpoint/2010/main" val="2958350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10</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474453"/>
            <a:ext cx="11328000" cy="5716797"/>
          </a:xfrm>
        </p:spPr>
        <p:txBody>
          <a:bodyPr>
            <a:normAutofit fontScale="85000" lnSpcReduction="20000"/>
          </a:bodyPr>
          <a:lstStyle/>
          <a:p>
            <a:pPr marL="0" indent="0" fontAlgn="base"/>
            <a:r>
              <a:rPr lang="ru-RU" sz="3200" dirty="0"/>
              <a:t>Решение задачи оценки правильности ответов связано с задачей оценки степени </a:t>
            </a:r>
            <a:r>
              <a:rPr lang="ru-RU" sz="3200" dirty="0" smtClean="0"/>
              <a:t>похожести </a:t>
            </a:r>
            <a:r>
              <a:rPr lang="ru-RU" sz="3200" dirty="0"/>
              <a:t>текстов. При этом многие смысловые связи могут быть сформулированы с </a:t>
            </a:r>
            <a:r>
              <a:rPr lang="ru-RU" sz="3200" dirty="0" smtClean="0"/>
              <a:t>использованием </a:t>
            </a:r>
            <a:r>
              <a:rPr lang="ru-RU" sz="3200" dirty="0"/>
              <a:t>разной лексики и различных способах построения фраз. Для оценки </a:t>
            </a:r>
            <a:r>
              <a:rPr lang="ru-RU" sz="3200" dirty="0" smtClean="0"/>
              <a:t>степени похожести </a:t>
            </a:r>
            <a:r>
              <a:rPr lang="ru-RU" sz="3200" dirty="0"/>
              <a:t>выделяют тематическую, сущностную и риторическую когерентности. Все </a:t>
            </a:r>
            <a:r>
              <a:rPr lang="ru-RU" sz="3200" dirty="0" smtClean="0"/>
              <a:t>из них </a:t>
            </a:r>
            <a:r>
              <a:rPr lang="ru-RU" sz="3200" dirty="0"/>
              <a:t>измерить не представляется возможным. Поэтому на практике оценивают отличия </a:t>
            </a:r>
            <a:r>
              <a:rPr lang="ru-RU" sz="3200" dirty="0" smtClean="0"/>
              <a:t>в используемых </a:t>
            </a:r>
            <a:r>
              <a:rPr lang="ru-RU" sz="3200" dirty="0"/>
              <a:t>словах и структурах фраз.</a:t>
            </a:r>
          </a:p>
          <a:p>
            <a:pPr marL="0" indent="0" fontAlgn="base"/>
            <a:r>
              <a:rPr lang="ru-RU" sz="3200" dirty="0"/>
              <a:t>Для тестирования Q&amp;A и LLM систем в отдельных областях разработаны </a:t>
            </a:r>
            <a:r>
              <a:rPr lang="ru-RU" sz="3200" dirty="0" smtClean="0"/>
              <a:t>специализированные </a:t>
            </a:r>
            <a:r>
              <a:rPr lang="ru-RU" sz="3200" dirty="0"/>
              <a:t>наборы вопросов-ответов. Например, разработан MMLU (</a:t>
            </a:r>
            <a:r>
              <a:rPr lang="ru-RU" sz="3200" dirty="0" err="1"/>
              <a:t>Measuring</a:t>
            </a:r>
            <a:r>
              <a:rPr lang="ru-RU" sz="3200" dirty="0"/>
              <a:t> </a:t>
            </a:r>
            <a:r>
              <a:rPr lang="ru-RU" sz="3200" dirty="0" err="1" smtClean="0"/>
              <a:t>Massive</a:t>
            </a:r>
            <a:r>
              <a:rPr lang="ru-RU" sz="3200" dirty="0" smtClean="0"/>
              <a:t> </a:t>
            </a:r>
            <a:r>
              <a:rPr lang="ru-RU" sz="3200" dirty="0" err="1" smtClean="0"/>
              <a:t>Multitask</a:t>
            </a:r>
            <a:r>
              <a:rPr lang="ru-RU" sz="3200" dirty="0" smtClean="0"/>
              <a:t> </a:t>
            </a:r>
            <a:r>
              <a:rPr lang="ru-RU" sz="3200" dirty="0" err="1"/>
              <a:t>Language</a:t>
            </a:r>
            <a:r>
              <a:rPr lang="ru-RU" sz="3200" dirty="0"/>
              <a:t> </a:t>
            </a:r>
            <a:r>
              <a:rPr lang="ru-RU" sz="3200" dirty="0" err="1"/>
              <a:t>Understanding</a:t>
            </a:r>
            <a:r>
              <a:rPr lang="ru-RU" sz="3200" dirty="0"/>
              <a:t>) тест с использованием которого исследователи </a:t>
            </a:r>
            <a:r>
              <a:rPr lang="ru-RU" sz="3200" dirty="0" smtClean="0"/>
              <a:t>измеряют </a:t>
            </a:r>
            <a:r>
              <a:rPr lang="ru-RU" sz="3200" dirty="0"/>
              <a:t>понимание языка изучаемыми LLM. Тест опирается на большую базу </a:t>
            </a:r>
            <a:r>
              <a:rPr lang="ru-RU" sz="3200" dirty="0" smtClean="0"/>
              <a:t>размеченных по </a:t>
            </a:r>
            <a:r>
              <a:rPr lang="ru-RU" sz="3200" dirty="0"/>
              <a:t>категориям вопросов и вариантов ответов (множество возможных корректных </a:t>
            </a:r>
            <a:r>
              <a:rPr lang="ru-RU" sz="3200" dirty="0" smtClean="0"/>
              <a:t>ответов</a:t>
            </a:r>
            <a:r>
              <a:rPr lang="ru-RU" sz="3200" dirty="0"/>
              <a:t>), что делает возможным применение традиционных для ML моделей метрик (</a:t>
            </a:r>
            <a:r>
              <a:rPr lang="ru-RU" sz="3200" dirty="0" err="1" smtClean="0"/>
              <a:t>Precision</a:t>
            </a:r>
            <a:r>
              <a:rPr lang="ru-RU" sz="3200" dirty="0" smtClean="0"/>
              <a:t> и </a:t>
            </a:r>
            <a:r>
              <a:rPr lang="ru-RU" sz="3200" dirty="0" err="1" smtClean="0"/>
              <a:t>Recall</a:t>
            </a:r>
            <a:r>
              <a:rPr lang="ru-RU" sz="3200" dirty="0" smtClean="0"/>
              <a:t>), </a:t>
            </a:r>
            <a:r>
              <a:rPr lang="ru-RU" sz="3200" dirty="0"/>
              <a:t>а также использование рейтингов ответов (MRR, </a:t>
            </a:r>
            <a:r>
              <a:rPr lang="ru-RU" sz="3200" dirty="0" err="1"/>
              <a:t>mean</a:t>
            </a:r>
            <a:r>
              <a:rPr lang="ru-RU" sz="3200" dirty="0"/>
              <a:t> </a:t>
            </a:r>
            <a:r>
              <a:rPr lang="ru-RU" sz="3200" dirty="0" err="1"/>
              <a:t>reciprocal</a:t>
            </a:r>
            <a:r>
              <a:rPr lang="ru-RU" sz="3200" dirty="0"/>
              <a:t> </a:t>
            </a:r>
            <a:r>
              <a:rPr lang="ru-RU" sz="3200" dirty="0" err="1"/>
              <a:t>rank</a:t>
            </a:r>
            <a:r>
              <a:rPr lang="ru-RU" sz="3200" dirty="0"/>
              <a:t>) для определения того как хорошо система выбирает свой ответ, если варианты ответов </a:t>
            </a:r>
            <a:r>
              <a:rPr lang="ru-RU" sz="3200" dirty="0" smtClean="0"/>
              <a:t>могут быть </a:t>
            </a:r>
            <a:r>
              <a:rPr lang="ru-RU" sz="3200" dirty="0" err="1" smtClean="0"/>
              <a:t>отранжированы</a:t>
            </a:r>
            <a:r>
              <a:rPr lang="ru-RU" sz="3200" dirty="0" smtClean="0"/>
              <a:t>.</a:t>
            </a:r>
            <a:endParaRPr lang="ru-RU" sz="3200" dirty="0"/>
          </a:p>
        </p:txBody>
      </p:sp>
    </p:spTree>
    <p:extLst>
      <p:ext uri="{BB962C8B-B14F-4D97-AF65-F5344CB8AC3E}">
        <p14:creationId xmlns:p14="http://schemas.microsoft.com/office/powerpoint/2010/main" val="837414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ru-RU"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11</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92500" lnSpcReduction="20000"/>
          </a:bodyPr>
          <a:lstStyle/>
          <a:p>
            <a:pPr marL="0" indent="0" fontAlgn="base"/>
            <a:r>
              <a:rPr lang="ru-RU" sz="3200" dirty="0"/>
              <a:t>Контекст таких тестов использует общие знания и не учитывает специфику и </a:t>
            </a:r>
            <a:r>
              <a:rPr lang="ru-RU" sz="3200" dirty="0" smtClean="0"/>
              <a:t>особенности </a:t>
            </a:r>
            <a:r>
              <a:rPr lang="ru-RU" sz="3200" dirty="0"/>
              <a:t>манипуляции с информацией и данными в специальных предметных областях.</a:t>
            </a:r>
          </a:p>
          <a:p>
            <a:pPr marL="0" indent="0" fontAlgn="base"/>
            <a:r>
              <a:rPr lang="ru-RU" sz="3200" dirty="0"/>
              <a:t>При этом существуют специализированные базы задач по математике (например, GSM8k</a:t>
            </a:r>
            <a:r>
              <a:rPr lang="ru-RU" sz="3200" dirty="0" smtClean="0"/>
              <a:t>) и </a:t>
            </a:r>
            <a:r>
              <a:rPr lang="ru-RU" sz="3200" dirty="0"/>
              <a:t>программированию </a:t>
            </a:r>
            <a:r>
              <a:rPr lang="ru-RU" sz="3200" dirty="0" err="1"/>
              <a:t>HumanEval</a:t>
            </a:r>
            <a:r>
              <a:rPr lang="ru-RU" sz="3200" dirty="0"/>
              <a:t> (тест на решение задач программирования). Такие </a:t>
            </a:r>
            <a:r>
              <a:rPr lang="ru-RU" sz="3200" dirty="0" smtClean="0"/>
              <a:t>тесты предполагают </a:t>
            </a:r>
            <a:r>
              <a:rPr lang="ru-RU" sz="3200" dirty="0"/>
              <a:t>только один или ограниченный тип ответов (например, число, </a:t>
            </a:r>
            <a:r>
              <a:rPr lang="ru-RU" sz="3200" dirty="0" smtClean="0"/>
              <a:t>которое можно </a:t>
            </a:r>
            <a:r>
              <a:rPr lang="ru-RU" sz="3200" dirty="0"/>
              <a:t>сравнить с ответом, программа, которую можно запустить тем самым проверив </a:t>
            </a:r>
            <a:r>
              <a:rPr lang="ru-RU" sz="3200" dirty="0" smtClean="0"/>
              <a:t>её работоспособность </a:t>
            </a:r>
            <a:r>
              <a:rPr lang="ru-RU" sz="3200" dirty="0"/>
              <a:t>и результат, который она выдаст и т.п.).</a:t>
            </a:r>
          </a:p>
          <a:p>
            <a:pPr marL="0" indent="0" fontAlgn="base"/>
            <a:r>
              <a:rPr lang="ru-RU" sz="3200" dirty="0"/>
              <a:t>Составлять подобные тесты для всех областей знания затруднительно и не имеет смысла </a:t>
            </a:r>
            <a:r>
              <a:rPr lang="ru-RU" sz="3200" dirty="0" smtClean="0"/>
              <a:t>в связи </a:t>
            </a:r>
            <a:r>
              <a:rPr lang="ru-RU" sz="3200" dirty="0"/>
              <a:t>с тем, что это потребует с одной стороны огромных ресурсов на их создание и </a:t>
            </a:r>
            <a:r>
              <a:rPr lang="ru-RU" sz="3200" dirty="0" smtClean="0"/>
              <a:t>актуализацию</a:t>
            </a:r>
            <a:r>
              <a:rPr lang="ru-RU" sz="3200" dirty="0"/>
              <a:t>, а с другой поставит вопрос о необходимости LLM.</a:t>
            </a:r>
            <a:endParaRPr lang="ru-RU" sz="3200" dirty="0"/>
          </a:p>
        </p:txBody>
      </p:sp>
    </p:spTree>
    <p:extLst>
      <p:ext uri="{BB962C8B-B14F-4D97-AF65-F5344CB8AC3E}">
        <p14:creationId xmlns:p14="http://schemas.microsoft.com/office/powerpoint/2010/main" val="3944298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ru-RU"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12</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92500" lnSpcReduction="10000"/>
          </a:bodyPr>
          <a:lstStyle/>
          <a:p>
            <a:pPr marL="0" indent="0" fontAlgn="base"/>
            <a:r>
              <a:rPr lang="ru-RU" sz="3200" dirty="0"/>
              <a:t>Другая группа оценки эффективности LLM и Q&amp;A является группа методов </a:t>
            </a:r>
            <a:r>
              <a:rPr lang="ru-RU" sz="3200" dirty="0" smtClean="0"/>
              <a:t>использующая </a:t>
            </a:r>
            <a:r>
              <a:rPr lang="ru-RU" sz="3200" dirty="0" err="1"/>
              <a:t>токенизацию</a:t>
            </a:r>
            <a:r>
              <a:rPr lang="ru-RU" sz="3200" dirty="0"/>
              <a:t> ответов. В этом случае при наличии эталонных ответов на </a:t>
            </a:r>
            <a:r>
              <a:rPr lang="ru-RU" sz="3200" dirty="0" smtClean="0"/>
              <a:t>задаваемые </a:t>
            </a:r>
            <a:r>
              <a:rPr lang="ru-RU" sz="3200" dirty="0"/>
              <a:t>вопросы становиться возможным применение </a:t>
            </a:r>
            <a:r>
              <a:rPr lang="ru-RU" sz="3200" dirty="0" smtClean="0"/>
              <a:t>метрик используемых </a:t>
            </a:r>
            <a:r>
              <a:rPr lang="ru-RU" sz="3200" dirty="0"/>
              <a:t>в системах </a:t>
            </a:r>
            <a:r>
              <a:rPr lang="ru-RU" sz="3200" dirty="0" smtClean="0"/>
              <a:t>машинного </a:t>
            </a:r>
            <a:r>
              <a:rPr lang="ru-RU" sz="3200" dirty="0"/>
              <a:t>перевода — BLEU, ROUGE, METEOR, </a:t>
            </a:r>
            <a:r>
              <a:rPr lang="ru-RU" sz="3200" dirty="0" smtClean="0"/>
              <a:t>TER, </a:t>
            </a:r>
            <a:r>
              <a:rPr lang="ru-RU" sz="3200" dirty="0"/>
              <a:t>а также метрик, </a:t>
            </a:r>
            <a:r>
              <a:rPr lang="ru-RU" sz="3200" dirty="0" smtClean="0"/>
              <a:t>опирающихся на </a:t>
            </a:r>
            <a:r>
              <a:rPr lang="ru-RU" sz="3200" dirty="0"/>
              <a:t>меры </a:t>
            </a:r>
            <a:r>
              <a:rPr lang="ru-RU" sz="3200" dirty="0" smtClean="0"/>
              <a:t>когерентности, </a:t>
            </a:r>
            <a:r>
              <a:rPr lang="ru-RU" sz="3200" dirty="0"/>
              <a:t>количества информации, энтропию Шеннона, а также </a:t>
            </a:r>
            <a:r>
              <a:rPr lang="ru-RU" sz="3200" dirty="0" smtClean="0"/>
              <a:t>такие традиционные </a:t>
            </a:r>
            <a:r>
              <a:rPr lang="ru-RU" sz="3200" dirty="0"/>
              <a:t>метрики как корреляция, TF-IDF, косинусное расстояние, расстояние </a:t>
            </a:r>
            <a:r>
              <a:rPr lang="ru-RU" sz="3200" dirty="0" smtClean="0"/>
              <a:t>Левенштейна</a:t>
            </a:r>
            <a:r>
              <a:rPr lang="ru-RU" sz="3200" dirty="0"/>
              <a:t>, сходства </a:t>
            </a:r>
            <a:r>
              <a:rPr lang="ru-RU" sz="3200" dirty="0" err="1"/>
              <a:t>Жаккара</a:t>
            </a:r>
            <a:r>
              <a:rPr lang="ru-RU" sz="3200" dirty="0"/>
              <a:t>, Рэнда и т.п.</a:t>
            </a:r>
          </a:p>
          <a:p>
            <a:pPr marL="0" indent="0" fontAlgn="base"/>
            <a:r>
              <a:rPr lang="ru-RU" sz="3200" dirty="0"/>
              <a:t>Применение метрик возможно только при наличии материала, который можно </a:t>
            </a:r>
            <a:r>
              <a:rPr lang="ru-RU" sz="3200" dirty="0" smtClean="0"/>
              <a:t>сравнивать</a:t>
            </a:r>
            <a:r>
              <a:rPr lang="ru-RU" sz="3200" dirty="0"/>
              <a:t>; таким образом, </a:t>
            </a:r>
            <a:r>
              <a:rPr lang="ru-RU" sz="3200" dirty="0" smtClean="0"/>
              <a:t>необходимо определиться </a:t>
            </a:r>
            <a:r>
              <a:rPr lang="ru-RU" sz="3200" dirty="0"/>
              <a:t>с типами вопросов, которые будут </a:t>
            </a:r>
            <a:r>
              <a:rPr lang="ru-RU" sz="3200" dirty="0" smtClean="0"/>
              <a:t>задаваться </a:t>
            </a:r>
            <a:r>
              <a:rPr lang="ru-RU" sz="3200" dirty="0"/>
              <a:t>LLM и перечнем LLM, которые будем сравнивать.</a:t>
            </a:r>
            <a:endParaRPr lang="ru-RU" sz="3200" dirty="0"/>
          </a:p>
        </p:txBody>
      </p:sp>
    </p:spTree>
    <p:extLst>
      <p:ext uri="{BB962C8B-B14F-4D97-AF65-F5344CB8AC3E}">
        <p14:creationId xmlns:p14="http://schemas.microsoft.com/office/powerpoint/2010/main" val="2883434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ru-RU"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13</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a:t>Еще одной возможностью оценки качества является использование LLM, таких </a:t>
            </a:r>
            <a:r>
              <a:rPr lang="ru-RU" sz="3200" dirty="0" smtClean="0"/>
              <a:t>как BERT </a:t>
            </a:r>
            <a:r>
              <a:rPr lang="ru-RU" sz="3200" dirty="0"/>
              <a:t>и др. для </a:t>
            </a:r>
            <a:r>
              <a:rPr lang="ru-RU" sz="3200" dirty="0" smtClean="0"/>
              <a:t>оценки соответствия </a:t>
            </a:r>
            <a:r>
              <a:rPr lang="ru-RU" sz="3200" dirty="0"/>
              <a:t>между векторами термов. Преимуществом </a:t>
            </a:r>
            <a:r>
              <a:rPr lang="ru-RU" sz="3200" dirty="0" smtClean="0"/>
              <a:t>такого подхода </a:t>
            </a:r>
            <a:r>
              <a:rPr lang="ru-RU" sz="3200" dirty="0"/>
              <a:t>может быть использование </a:t>
            </a:r>
            <a:r>
              <a:rPr lang="ru-RU" sz="3200" dirty="0" err="1"/>
              <a:t>эмбединнгов</a:t>
            </a:r>
            <a:r>
              <a:rPr lang="ru-RU" sz="3200" dirty="0"/>
              <a:t> для получения промежуточных оценок</a:t>
            </a:r>
            <a:r>
              <a:rPr lang="ru-RU" sz="3200" dirty="0" smtClean="0"/>
              <a:t>, похожих </a:t>
            </a:r>
            <a:r>
              <a:rPr lang="ru-RU" sz="3200" dirty="0"/>
              <a:t>или аналогичных описанным выше, и возможность их корректировки за </a:t>
            </a:r>
            <a:r>
              <a:rPr lang="ru-RU" sz="3200" dirty="0" smtClean="0"/>
              <a:t>счет учета </a:t>
            </a:r>
            <a:r>
              <a:rPr lang="ru-RU" sz="3200" dirty="0"/>
              <a:t>мнения экспертов и построения сложных нелинейных зависимостей между </a:t>
            </a:r>
            <a:r>
              <a:rPr lang="ru-RU" sz="3200" dirty="0" smtClean="0"/>
              <a:t>значениями </a:t>
            </a:r>
            <a:r>
              <a:rPr lang="ru-RU" sz="3200" dirty="0"/>
              <a:t>оценок. Однако на практике для этого необходимы большие объемы размеченной </a:t>
            </a:r>
            <a:r>
              <a:rPr lang="ru-RU" sz="3200" dirty="0" smtClean="0"/>
              <a:t>информации</a:t>
            </a:r>
            <a:r>
              <a:rPr lang="ru-RU" sz="3200" dirty="0"/>
              <a:t>, собрать которые затруднительно.</a:t>
            </a:r>
            <a:endParaRPr lang="ru-RU" sz="3200" dirty="0"/>
          </a:p>
        </p:txBody>
      </p:sp>
    </p:spTree>
    <p:extLst>
      <p:ext uri="{BB962C8B-B14F-4D97-AF65-F5344CB8AC3E}">
        <p14:creationId xmlns:p14="http://schemas.microsoft.com/office/powerpoint/2010/main" val="493510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pPr fontAlgn="base">
              <a:lnSpc>
                <a:spcPct val="100000"/>
              </a:lnSpc>
            </a:pPr>
            <a:r>
              <a:rPr lang="ru-RU" sz="3200" spc="0" dirty="0"/>
              <a:t>Принципы формирования множества вопросов для оценки LLM</a:t>
            </a:r>
            <a:endParaRPr lang="ru-RU" sz="3200" spc="0"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14</a:t>
            </a:fld>
            <a:endParaRPr lang="ru-RU" dirty="0"/>
          </a:p>
        </p:txBody>
      </p:sp>
    </p:spTree>
    <p:extLst>
      <p:ext uri="{BB962C8B-B14F-4D97-AF65-F5344CB8AC3E}">
        <p14:creationId xmlns:p14="http://schemas.microsoft.com/office/powerpoint/2010/main" val="1974030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15</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92500" lnSpcReduction="20000"/>
          </a:bodyPr>
          <a:lstStyle/>
          <a:p>
            <a:pPr marL="0" indent="0" fontAlgn="base"/>
            <a:r>
              <a:rPr lang="ru-RU" sz="3200" dirty="0"/>
              <a:t>Особенности вопросов, которые передаются для обработки в LLM могут </a:t>
            </a:r>
            <a:r>
              <a:rPr lang="ru-RU" sz="3200" dirty="0" smtClean="0"/>
              <a:t>являться темой </a:t>
            </a:r>
            <a:r>
              <a:rPr lang="ru-RU" sz="3200" dirty="0"/>
              <a:t>отдельных исследований. Размер подаваемого на вход LLM сообщения является </a:t>
            </a:r>
            <a:r>
              <a:rPr lang="ru-RU" sz="3200" dirty="0" smtClean="0"/>
              <a:t>одной </a:t>
            </a:r>
            <a:r>
              <a:rPr lang="ru-RU" sz="3200" dirty="0"/>
              <a:t>из характеристик языковых моделей. Список контрольных вопросов для LLM </a:t>
            </a:r>
            <a:r>
              <a:rPr lang="ru-RU" sz="3200" dirty="0" smtClean="0"/>
              <a:t>должен отвечать </a:t>
            </a:r>
            <a:r>
              <a:rPr lang="ru-RU" sz="3200" dirty="0"/>
              <a:t>нескольким условиям:</a:t>
            </a:r>
          </a:p>
          <a:p>
            <a:pPr marL="0" indent="0" fontAlgn="base"/>
            <a:r>
              <a:rPr lang="ru-RU" sz="3200" dirty="0"/>
              <a:t>• характеризоваться полнотой, то есть охватывать все возможные области </a:t>
            </a:r>
            <a:r>
              <a:rPr lang="ru-RU" sz="3200" dirty="0" smtClean="0"/>
              <a:t>деятельности </a:t>
            </a:r>
            <a:r>
              <a:rPr lang="ru-RU" sz="3200" dirty="0"/>
              <a:t>в области природопользования, в которых у представителей бизнеса или </a:t>
            </a:r>
            <a:r>
              <a:rPr lang="ru-RU" sz="3200" dirty="0" smtClean="0"/>
              <a:t>государственных </a:t>
            </a:r>
            <a:r>
              <a:rPr lang="ru-RU" sz="3200" dirty="0"/>
              <a:t>органов власти могут возникать потребность;</a:t>
            </a:r>
          </a:p>
          <a:p>
            <a:pPr marL="0" indent="0" fontAlgn="base"/>
            <a:r>
              <a:rPr lang="ru-RU" sz="3200" dirty="0"/>
              <a:t>• вопросы должны включать в себя все наиболее актуальные проблемы, </a:t>
            </a:r>
            <a:r>
              <a:rPr lang="ru-RU" sz="3200" dirty="0" smtClean="0"/>
              <a:t>которые возникают </a:t>
            </a:r>
            <a:r>
              <a:rPr lang="ru-RU" sz="3200" dirty="0"/>
              <a:t>в практической деятельности – от концептуальных (напр., почему </a:t>
            </a:r>
            <a:r>
              <a:rPr lang="ru-RU" sz="3200" dirty="0" smtClean="0"/>
              <a:t>существует данное </a:t>
            </a:r>
            <a:r>
              <a:rPr lang="ru-RU" sz="3200" dirty="0"/>
              <a:t>ограничение) до очень практических (как заполнить заявление или как </a:t>
            </a:r>
            <a:r>
              <a:rPr lang="ru-RU" sz="3200" dirty="0" smtClean="0"/>
              <a:t>рассчитать размер </a:t>
            </a:r>
            <a:r>
              <a:rPr lang="ru-RU" sz="3200" dirty="0"/>
              <a:t>платежа</a:t>
            </a:r>
            <a:r>
              <a:rPr lang="ru-RU" sz="3200" dirty="0" smtClean="0"/>
              <a:t>).</a:t>
            </a:r>
            <a:endParaRPr lang="ru-RU" sz="3200" dirty="0"/>
          </a:p>
        </p:txBody>
      </p:sp>
    </p:spTree>
    <p:extLst>
      <p:ext uri="{BB962C8B-B14F-4D97-AF65-F5344CB8AC3E}">
        <p14:creationId xmlns:p14="http://schemas.microsoft.com/office/powerpoint/2010/main" val="4055010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16</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85000" lnSpcReduction="10000"/>
          </a:bodyPr>
          <a:lstStyle/>
          <a:p>
            <a:pPr marL="0" indent="0" fontAlgn="base"/>
            <a:r>
              <a:rPr lang="ru-RU" sz="3200" dirty="0"/>
              <a:t>Все вопросы можно объединить в группы и подгруппы, которые будут </a:t>
            </a:r>
            <a:r>
              <a:rPr lang="ru-RU" sz="3200" dirty="0" smtClean="0"/>
              <a:t>облегчать составление вопросов и </a:t>
            </a:r>
            <a:r>
              <a:rPr lang="ru-RU" sz="3200" dirty="0"/>
              <a:t>последующий анализ ответов, поскольку лексические </a:t>
            </a:r>
            <a:r>
              <a:rPr lang="ru-RU" sz="3200" dirty="0" smtClean="0"/>
              <a:t>характеристики </a:t>
            </a:r>
            <a:r>
              <a:rPr lang="ru-RU" sz="3200" dirty="0"/>
              <a:t>ответов на вопросы из одной группы должны быть очевидным образом похожи.</a:t>
            </a:r>
          </a:p>
          <a:p>
            <a:pPr marL="0" indent="0" fontAlgn="base"/>
            <a:r>
              <a:rPr lang="ru-RU" sz="3200" dirty="0"/>
              <a:t>Такие группы могут быть сформированы:</a:t>
            </a:r>
          </a:p>
          <a:p>
            <a:pPr marL="0" indent="0" fontAlgn="base"/>
            <a:r>
              <a:rPr lang="ru-RU" sz="3200" dirty="0"/>
              <a:t>1) </a:t>
            </a:r>
            <a:r>
              <a:rPr lang="ru-RU" sz="3200" b="1" dirty="0"/>
              <a:t>по тематикам вопросов:</a:t>
            </a:r>
          </a:p>
          <a:p>
            <a:pPr marL="0" indent="0" fontAlgn="base"/>
            <a:r>
              <a:rPr lang="ru-RU" sz="3200" dirty="0"/>
              <a:t>• нормативно-правовые вопросы (о содержании нормативно-правовых </a:t>
            </a:r>
            <a:r>
              <a:rPr lang="ru-RU" sz="3200" dirty="0" smtClean="0"/>
              <a:t>актов</a:t>
            </a:r>
            <a:r>
              <a:rPr lang="ru-RU" sz="3200" dirty="0"/>
              <a:t>);</a:t>
            </a:r>
          </a:p>
          <a:p>
            <a:pPr marL="0" indent="0" fontAlgn="base"/>
            <a:r>
              <a:rPr lang="ru-RU" sz="3200" dirty="0"/>
              <a:t>• расчётно-финансовые вопросы (о применении методик расчёта платы за</a:t>
            </a:r>
          </a:p>
          <a:p>
            <a:pPr marL="0" indent="0" fontAlgn="base"/>
            <a:r>
              <a:rPr lang="ru-RU" sz="3200" dirty="0"/>
              <a:t>негативное воздействие на окружающую среду и экологического сбора);</a:t>
            </a:r>
          </a:p>
          <a:p>
            <a:pPr marL="0" indent="0" fontAlgn="base"/>
            <a:r>
              <a:rPr lang="ru-RU" sz="3200" dirty="0"/>
              <a:t>• терминологические вопросы (об определениях терминов и их трактовках</a:t>
            </a:r>
            <a:r>
              <a:rPr lang="ru-RU" sz="3200" dirty="0" smtClean="0"/>
              <a:t>);</a:t>
            </a:r>
          </a:p>
          <a:p>
            <a:pPr marL="0" indent="0" fontAlgn="base"/>
            <a:r>
              <a:rPr lang="ru-RU" sz="3200" dirty="0"/>
              <a:t>• </a:t>
            </a:r>
            <a:r>
              <a:rPr lang="ru-RU" sz="3200" dirty="0" smtClean="0"/>
              <a:t>гносеологические </a:t>
            </a:r>
            <a:r>
              <a:rPr lang="ru-RU" sz="3200" dirty="0"/>
              <a:t>вопросы (о знаниях о природе вещей</a:t>
            </a:r>
            <a:r>
              <a:rPr lang="ru-RU" sz="3200" dirty="0" smtClean="0"/>
              <a:t>).</a:t>
            </a:r>
            <a:endParaRPr lang="ru-RU" sz="3200" dirty="0"/>
          </a:p>
        </p:txBody>
      </p:sp>
    </p:spTree>
    <p:extLst>
      <p:ext uri="{BB962C8B-B14F-4D97-AF65-F5344CB8AC3E}">
        <p14:creationId xmlns:p14="http://schemas.microsoft.com/office/powerpoint/2010/main" val="3157440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17</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70000" lnSpcReduction="20000"/>
          </a:bodyPr>
          <a:lstStyle/>
          <a:p>
            <a:pPr marL="0" indent="0" fontAlgn="base"/>
            <a:r>
              <a:rPr lang="ru-RU" sz="3200" dirty="0"/>
              <a:t>2) </a:t>
            </a:r>
            <a:r>
              <a:rPr lang="ru-RU" sz="3200" b="1" dirty="0"/>
              <a:t>по форме ответа</a:t>
            </a:r>
            <a:r>
              <a:rPr lang="ru-RU" sz="3200" dirty="0"/>
              <a:t>: с бинарным ответом (да / нет); с числовым и с текстовым </a:t>
            </a:r>
            <a:r>
              <a:rPr lang="ru-RU" sz="3200" dirty="0" smtClean="0"/>
              <a:t>ответами</a:t>
            </a:r>
            <a:r>
              <a:rPr lang="ru-RU" sz="3200" dirty="0"/>
              <a:t>.</a:t>
            </a:r>
          </a:p>
          <a:p>
            <a:pPr marL="0" indent="0" fontAlgn="base"/>
            <a:r>
              <a:rPr lang="ru-RU" sz="3200" dirty="0"/>
              <a:t>3) </a:t>
            </a:r>
            <a:r>
              <a:rPr lang="ru-RU" sz="3200" b="1" dirty="0"/>
              <a:t>по уровню сложности </a:t>
            </a:r>
            <a:r>
              <a:rPr lang="ru-RU" sz="3200" dirty="0" smtClean="0"/>
              <a:t>выделяют:</a:t>
            </a:r>
            <a:endParaRPr lang="ru-RU" sz="3200" dirty="0"/>
          </a:p>
          <a:p>
            <a:pPr marL="0" indent="0" fontAlgn="base"/>
            <a:r>
              <a:rPr lang="ru-RU" sz="3200" dirty="0"/>
              <a:t>• Уровень 1. Вопросы, ответ на которые содержится в текстах, на которых </a:t>
            </a:r>
            <a:r>
              <a:rPr lang="ru-RU" sz="3200" dirty="0" smtClean="0"/>
              <a:t>обучалась </a:t>
            </a:r>
            <a:r>
              <a:rPr lang="ru-RU" sz="3200" dirty="0"/>
              <a:t>LLM в явном виде.</a:t>
            </a:r>
          </a:p>
          <a:p>
            <a:pPr marL="0" indent="0" fontAlgn="base"/>
            <a:r>
              <a:rPr lang="ru-RU" sz="3200" dirty="0"/>
              <a:t>• Уровень 2: Вопросы, ответ на которые можно получить логическим </a:t>
            </a:r>
            <a:r>
              <a:rPr lang="ru-RU" sz="3200" dirty="0" smtClean="0"/>
              <a:t>выводом или </a:t>
            </a:r>
            <a:r>
              <a:rPr lang="ru-RU" sz="3200" dirty="0"/>
              <a:t>используя вычисления с использованием к информации (</a:t>
            </a:r>
            <a:r>
              <a:rPr lang="ru-RU" sz="3200" dirty="0" smtClean="0"/>
              <a:t>присутствующей </a:t>
            </a:r>
            <a:r>
              <a:rPr lang="ru-RU" sz="3200" dirty="0"/>
              <a:t>в явном виде) из текстов, на которых обучалась модель.</a:t>
            </a:r>
          </a:p>
          <a:p>
            <a:pPr marL="0" indent="0" fontAlgn="base"/>
            <a:r>
              <a:rPr lang="ru-RU" sz="3200" dirty="0"/>
              <a:t>• Уровень 3 : Вопросы, ответ на которые можно получить логическим </a:t>
            </a:r>
            <a:r>
              <a:rPr lang="ru-RU" sz="3200" dirty="0" smtClean="0"/>
              <a:t>выводом или </a:t>
            </a:r>
            <a:r>
              <a:rPr lang="ru-RU" sz="3200" dirty="0"/>
              <a:t>с использованием математических операций, обладая </a:t>
            </a:r>
            <a:r>
              <a:rPr lang="ru-RU" sz="3200" dirty="0" smtClean="0"/>
              <a:t>дополнительной информацией </a:t>
            </a:r>
            <a:r>
              <a:rPr lang="ru-RU" sz="3200" dirty="0"/>
              <a:t>к той, на которой обучалась модель (правила надо достать </a:t>
            </a:r>
            <a:r>
              <a:rPr lang="ru-RU" sz="3200" dirty="0" smtClean="0"/>
              <a:t>из документов</a:t>
            </a:r>
            <a:r>
              <a:rPr lang="ru-RU" sz="3200" dirty="0"/>
              <a:t>, правила предметной области).</a:t>
            </a:r>
          </a:p>
          <a:p>
            <a:pPr marL="0" indent="0" fontAlgn="base"/>
            <a:r>
              <a:rPr lang="ru-RU" sz="3200" dirty="0"/>
              <a:t>• Уровень 4 : Вопросы, ответ на которые можно получить, обладая </a:t>
            </a:r>
            <a:r>
              <a:rPr lang="ru-RU" sz="3200" dirty="0" smtClean="0"/>
              <a:t>дополнительной </a:t>
            </a:r>
            <a:r>
              <a:rPr lang="ru-RU" sz="3200" dirty="0"/>
              <a:t>информацией об объекте или субъекте, о котором задается вопрос</a:t>
            </a:r>
            <a:r>
              <a:rPr lang="ru-RU" sz="3200" dirty="0" smtClean="0"/>
              <a:t>. Для </a:t>
            </a:r>
            <a:r>
              <a:rPr lang="ru-RU" sz="3200" dirty="0"/>
              <a:t>ответа на вопрос нужны обобщения, которые можно собрать из </a:t>
            </a:r>
            <a:r>
              <a:rPr lang="ru-RU" sz="3200" dirty="0" smtClean="0"/>
              <a:t>общедоступной </a:t>
            </a:r>
            <a:r>
              <a:rPr lang="ru-RU" sz="3200" dirty="0"/>
              <a:t>информации (новостей, статистических данных и т.п.).</a:t>
            </a:r>
          </a:p>
          <a:p>
            <a:pPr marL="0" indent="0" fontAlgn="base"/>
            <a:r>
              <a:rPr lang="ru-RU" sz="3200" dirty="0"/>
              <a:t>4) </a:t>
            </a:r>
            <a:r>
              <a:rPr lang="ru-RU" sz="3200" b="1" dirty="0"/>
              <a:t>по вопросительному слову</a:t>
            </a:r>
            <a:r>
              <a:rPr lang="ru-RU" sz="3200" dirty="0"/>
              <a:t>, на основании которого строится запрос, например:</a:t>
            </a:r>
          </a:p>
          <a:p>
            <a:pPr marL="0" indent="0" fontAlgn="base"/>
            <a:r>
              <a:rPr lang="ru-RU" sz="3200" dirty="0"/>
              <a:t>«Кто?», «Когда?», «Где?», «Почему?», «Сколько?», «Что?», «Как?» и </a:t>
            </a:r>
            <a:r>
              <a:rPr lang="ru-RU" sz="3200" dirty="0" smtClean="0"/>
              <a:t>т.д.</a:t>
            </a:r>
            <a:endParaRPr lang="ru-RU" sz="3200" dirty="0"/>
          </a:p>
        </p:txBody>
      </p:sp>
    </p:spTree>
    <p:extLst>
      <p:ext uri="{BB962C8B-B14F-4D97-AF65-F5344CB8AC3E}">
        <p14:creationId xmlns:p14="http://schemas.microsoft.com/office/powerpoint/2010/main" val="3559747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18</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lnSpcReduction="10000"/>
          </a:bodyPr>
          <a:lstStyle/>
          <a:p>
            <a:pPr marL="0" indent="0" fontAlgn="base"/>
            <a:r>
              <a:rPr lang="ru-RU" sz="3200" dirty="0"/>
              <a:t>Подготовка вопросов включает в себя и подготовку эталонных ответов. При этом </a:t>
            </a:r>
            <a:r>
              <a:rPr lang="ru-RU" sz="3200" dirty="0" smtClean="0"/>
              <a:t>для использования </a:t>
            </a:r>
            <a:r>
              <a:rPr lang="ru-RU" sz="3200" dirty="0"/>
              <a:t>алгоритмического подхода в оценке качества LLM эталонные </a:t>
            </a:r>
            <a:r>
              <a:rPr lang="ru-RU" sz="3200" dirty="0" smtClean="0"/>
              <a:t>ответы должны </a:t>
            </a:r>
            <a:r>
              <a:rPr lang="ru-RU" sz="3200" dirty="0"/>
              <a:t>быть развернутыми. Учитывая трудоёмкость процесса подготовки вопросов и </a:t>
            </a:r>
            <a:r>
              <a:rPr lang="ru-RU" sz="3200" dirty="0" smtClean="0"/>
              <a:t>эталонных </a:t>
            </a:r>
            <a:r>
              <a:rPr lang="ru-RU" sz="3200" dirty="0"/>
              <a:t>ответов количество вопросов, которое будет подготовлено, окажется небольшим.</a:t>
            </a:r>
          </a:p>
          <a:p>
            <a:pPr marL="0" indent="0" fontAlgn="base"/>
            <a:r>
              <a:rPr lang="ru-RU" sz="3200" dirty="0"/>
              <a:t>Во многих областях знания такие выборки могут быть подготовлены на основе </a:t>
            </a:r>
            <a:r>
              <a:rPr lang="ru-RU" sz="3200" dirty="0" smtClean="0"/>
              <a:t>множеств часто </a:t>
            </a:r>
            <a:r>
              <a:rPr lang="ru-RU" sz="3200" dirty="0"/>
              <a:t>задаваемых вопросов. Ответы при этом окажутся представлены лишь одним </a:t>
            </a:r>
            <a:r>
              <a:rPr lang="ru-RU" sz="3200" dirty="0" smtClean="0"/>
              <a:t>ответом на </a:t>
            </a:r>
            <a:r>
              <a:rPr lang="ru-RU" sz="3200" dirty="0"/>
              <a:t>каждый вопрос, что делает процесс составления рейтингов без привлечения </a:t>
            </a:r>
            <a:r>
              <a:rPr lang="ru-RU" sz="3200" dirty="0" smtClean="0"/>
              <a:t>экспертов еще </a:t>
            </a:r>
            <a:r>
              <a:rPr lang="ru-RU" sz="3200" dirty="0"/>
              <a:t>более сложным, так как правильные ответы могут отличаться по форме их выражения</a:t>
            </a:r>
            <a:r>
              <a:rPr lang="ru-RU" sz="3200" dirty="0" smtClean="0"/>
              <a:t>.</a:t>
            </a:r>
            <a:endParaRPr lang="ru-RU" sz="3200" dirty="0"/>
          </a:p>
        </p:txBody>
      </p:sp>
    </p:spTree>
    <p:extLst>
      <p:ext uri="{BB962C8B-B14F-4D97-AF65-F5344CB8AC3E}">
        <p14:creationId xmlns:p14="http://schemas.microsoft.com/office/powerpoint/2010/main" val="2088336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19</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a:t>Например, при ответе на вопрос «Можно ли что-то сделать?» могут быть получены на первый взгляд противоположные ответы, которые по сути будут говорить об одном и том же:</a:t>
            </a:r>
          </a:p>
          <a:p>
            <a:pPr marL="0" indent="0" fontAlgn="base"/>
            <a:r>
              <a:rPr lang="ru-RU" sz="3200" dirty="0"/>
              <a:t>«Да, можно за исключением определенных случаев» и «Нет, нельзя за исключением перечня случаев». Сложная для анализа ситуация возникает и с вопросами с бинарными ответами (если они не содержат пояснений к ответу). Имея одну лексическую единицу в эталонном ответе, их невозможно использовать для анализа ответов LLM методами, использующими </a:t>
            </a:r>
            <a:r>
              <a:rPr lang="ru-RU" sz="3200" dirty="0" err="1"/>
              <a:t>токенизацию</a:t>
            </a:r>
            <a:r>
              <a:rPr lang="ru-RU" sz="3200" dirty="0"/>
              <a:t> (т.е. автоматически). Анализ таких ответов можно провести только методами экспертного анализа.</a:t>
            </a:r>
            <a:endParaRPr lang="ru-RU" sz="3200" dirty="0"/>
          </a:p>
        </p:txBody>
      </p:sp>
    </p:spTree>
    <p:extLst>
      <p:ext uri="{BB962C8B-B14F-4D97-AF65-F5344CB8AC3E}">
        <p14:creationId xmlns:p14="http://schemas.microsoft.com/office/powerpoint/2010/main" val="3211239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descr="Изображение слайда-разделителя">
            <a:extLst>
              <a:ext uri="{FF2B5EF4-FFF2-40B4-BE49-F238E27FC236}">
                <a16:creationId xmlns:a16="http://schemas.microsoft.com/office/drawing/2014/main" id="{177FEC3E-B2FE-9045-8D49-89B1E3D20C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24" name="Надпись 23" descr="Контрастный элемент для поля заголовка">
            <a:extLst>
              <a:ext uri="{FF2B5EF4-FFF2-40B4-BE49-F238E27FC236}">
                <a16:creationId xmlns:a16="http://schemas.microsoft.com/office/drawing/2014/main" id="{993B1474-02E3-4509-B5C5-84427653BA68}"/>
              </a:ext>
              <a:ext uri="{C183D7F6-B498-43B3-948B-1728B52AA6E4}">
                <adec:decorative xmlns="" xmlns:adec="http://schemas.microsoft.com/office/drawing/2017/decorative" val="1"/>
              </a:ext>
            </a:extLst>
          </p:cNvPr>
          <p:cNvSpPr txBox="1">
            <a:spLocks/>
          </p:cNvSpPr>
          <p:nvPr/>
        </p:nvSpPr>
        <p:spPr>
          <a:xfrm>
            <a:off x="11387102" y="2928857"/>
            <a:ext cx="804898" cy="3140150"/>
          </a:xfrm>
          <a:custGeom>
            <a:avLst/>
            <a:gdLst>
              <a:gd name="connsiteX0" fmla="*/ 99480 w 804898"/>
              <a:gd name="connsiteY0" fmla="*/ 0 h 3140150"/>
              <a:gd name="connsiteX1" fmla="*/ 804898 w 804898"/>
              <a:gd name="connsiteY1" fmla="*/ 0 h 3140150"/>
              <a:gd name="connsiteX2" fmla="*/ 804898 w 804898"/>
              <a:gd name="connsiteY2" fmla="*/ 357262 h 3140150"/>
              <a:gd name="connsiteX3" fmla="*/ 804898 w 804898"/>
              <a:gd name="connsiteY3" fmla="*/ 2782888 h 3140150"/>
              <a:gd name="connsiteX4" fmla="*/ 804898 w 804898"/>
              <a:gd name="connsiteY4" fmla="*/ 3140150 h 3140150"/>
              <a:gd name="connsiteX5" fmla="*/ 99480 w 804898"/>
              <a:gd name="connsiteY5" fmla="*/ 3140150 h 3140150"/>
              <a:gd name="connsiteX6" fmla="*/ 0 w 804898"/>
              <a:gd name="connsiteY6" fmla="*/ 3013250 h 3140150"/>
              <a:gd name="connsiteX7" fmla="*/ 0 w 804898"/>
              <a:gd name="connsiteY7" fmla="*/ 2655988 h 3140150"/>
              <a:gd name="connsiteX8" fmla="*/ 0 w 804898"/>
              <a:gd name="connsiteY8" fmla="*/ 484162 h 3140150"/>
              <a:gd name="connsiteX9" fmla="*/ 0 w 804898"/>
              <a:gd name="connsiteY9" fmla="*/ 126900 h 3140150"/>
              <a:gd name="connsiteX10" fmla="*/ 99480 w 804898"/>
              <a:gd name="connsiteY10" fmla="*/ 0 h 314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4898" h="3140150">
                <a:moveTo>
                  <a:pt x="99480" y="0"/>
                </a:moveTo>
                <a:lnTo>
                  <a:pt x="804898" y="0"/>
                </a:lnTo>
                <a:lnTo>
                  <a:pt x="804898" y="357262"/>
                </a:lnTo>
                <a:lnTo>
                  <a:pt x="804898" y="2782888"/>
                </a:lnTo>
                <a:lnTo>
                  <a:pt x="804898" y="3140150"/>
                </a:lnTo>
                <a:lnTo>
                  <a:pt x="99480" y="3140150"/>
                </a:lnTo>
                <a:cubicBezTo>
                  <a:pt x="44539" y="3140150"/>
                  <a:pt x="0" y="3083334"/>
                  <a:pt x="0" y="3013250"/>
                </a:cubicBezTo>
                <a:lnTo>
                  <a:pt x="0" y="2655988"/>
                </a:lnTo>
                <a:lnTo>
                  <a:pt x="0" y="484162"/>
                </a:lnTo>
                <a:lnTo>
                  <a:pt x="0" y="126900"/>
                </a:lnTo>
                <a:cubicBezTo>
                  <a:pt x="0" y="56816"/>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18" name="Равнобедренный треугольник 17" descr="Тень для поля заголовка">
            <a:extLst>
              <a:ext uri="{FF2B5EF4-FFF2-40B4-BE49-F238E27FC236}">
                <a16:creationId xmlns:a16="http://schemas.microsoft.com/office/drawing/2014/main" id="{FAB4748B-F532-4C70-827A-5FEA8C084327}"/>
              </a:ext>
              <a:ext uri="{C183D7F6-B498-43B3-948B-1728B52AA6E4}">
                <adec:decorative xmlns="" xmlns:adec="http://schemas.microsoft.com/office/drawing/2017/decorative" val="1"/>
              </a:ext>
            </a:extLst>
          </p:cNvPr>
          <p:cNvSpPr/>
          <p:nvPr/>
        </p:nvSpPr>
        <p:spPr>
          <a:xfrm rot="10800000">
            <a:off x="11391864" y="5548307"/>
            <a:ext cx="450092"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7425293" y="2408157"/>
            <a:ext cx="4459766" cy="3146839"/>
          </a:xfrm>
        </p:spPr>
        <p:txBody>
          <a:bodyPr rtlCol="0"/>
          <a:lstStyle/>
          <a:p>
            <a:pPr fontAlgn="base">
              <a:lnSpc>
                <a:spcPct val="100000"/>
              </a:lnSpc>
            </a:pPr>
            <a:r>
              <a:rPr lang="ru-RU" sz="2800" spc="0" dirty="0"/>
              <a:t>Методика оценки ответов</a:t>
            </a:r>
            <a:endParaRPr lang="ru-RU" sz="2800" spc="0" dirty="0"/>
          </a:p>
        </p:txBody>
      </p:sp>
      <p:sp>
        <p:nvSpPr>
          <p:cNvPr id="15" name="Полилиния 5" descr="Контрастный блок">
            <a:extLst>
              <a:ext uri="{FF2B5EF4-FFF2-40B4-BE49-F238E27FC236}">
                <a16:creationId xmlns:a16="http://schemas.microsoft.com/office/drawing/2014/main" id="{7746F873-A4ED-4E4C-BB89-CA0FBB9E9582}"/>
              </a:ext>
              <a:ext uri="{C183D7F6-B498-43B3-948B-1728B52AA6E4}">
                <adec:decorative xmlns="" xmlns:adec="http://schemas.microsoft.com/office/drawing/2017/decorative" val="1"/>
              </a:ext>
            </a:extLst>
          </p:cNvPr>
          <p:cNvSpPr>
            <a:spLocks noChangeAspect="1"/>
          </p:cNvSpPr>
          <p:nvPr/>
        </p:nvSpPr>
        <p:spPr bwMode="auto">
          <a:xfrm>
            <a:off x="456656" y="5118766"/>
            <a:ext cx="751030" cy="65906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16" name="Полилиния 5" descr="Пустой контрастный блок">
            <a:extLst>
              <a:ext uri="{FF2B5EF4-FFF2-40B4-BE49-F238E27FC236}">
                <a16:creationId xmlns:a16="http://schemas.microsoft.com/office/drawing/2014/main" id="{E0D7A780-33BC-4E68-9763-AB62376D5024}"/>
              </a:ext>
              <a:ext uri="{C183D7F6-B498-43B3-948B-1728B52AA6E4}">
                <adec:decorative xmlns="" xmlns:adec="http://schemas.microsoft.com/office/drawing/2017/decorative" val="1"/>
              </a:ext>
            </a:extLst>
          </p:cNvPr>
          <p:cNvSpPr>
            <a:spLocks noChangeAspect="1"/>
          </p:cNvSpPr>
          <p:nvPr/>
        </p:nvSpPr>
        <p:spPr bwMode="auto">
          <a:xfrm>
            <a:off x="1779027" y="1160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75000"/>
                <a:lumOff val="2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5" name="Номер слайда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ru-RU" smtClean="0"/>
              <a:pPr rtl="0"/>
              <a:t>20</a:t>
            </a:fld>
            <a:endParaRPr lang="ru-RU" dirty="0"/>
          </a:p>
        </p:txBody>
      </p:sp>
    </p:spTree>
    <p:extLst>
      <p:ext uri="{BB962C8B-B14F-4D97-AF65-F5344CB8AC3E}">
        <p14:creationId xmlns:p14="http://schemas.microsoft.com/office/powerpoint/2010/main" val="3263264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21</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92500" lnSpcReduction="20000"/>
          </a:bodyPr>
          <a:lstStyle/>
          <a:p>
            <a:pPr marL="0" indent="0" fontAlgn="base"/>
            <a:r>
              <a:rPr lang="ru-RU" sz="3200" dirty="0" smtClean="0"/>
              <a:t>После </a:t>
            </a:r>
            <a:r>
              <a:rPr lang="ru-RU" sz="3200" dirty="0"/>
              <a:t>сбора ответов LLM на вопросы из составленного множества необходимо, </a:t>
            </a:r>
            <a:r>
              <a:rPr lang="ru-RU" sz="3200" dirty="0" smtClean="0"/>
              <a:t>провести </a:t>
            </a:r>
            <a:r>
              <a:rPr lang="ru-RU" sz="3200" dirty="0"/>
              <a:t>оценку качества ответа на каждый вопрос и получить агрегированные оценки </a:t>
            </a:r>
            <a:r>
              <a:rPr lang="ru-RU" sz="3200" dirty="0" smtClean="0"/>
              <a:t>для получения </a:t>
            </a:r>
            <a:r>
              <a:rPr lang="ru-RU" sz="3200" dirty="0"/>
              <a:t>рейтинга. В собранном множестве вопросов в качестве эталонного </a:t>
            </a:r>
            <a:r>
              <a:rPr lang="ru-RU" sz="3200" dirty="0" smtClean="0"/>
              <a:t>эксперты подготовили </a:t>
            </a:r>
            <a:r>
              <a:rPr lang="ru-RU" sz="3200" dirty="0"/>
              <a:t>только один ответ, который обладает краткостью и содержит при этом </a:t>
            </a:r>
            <a:r>
              <a:rPr lang="ru-RU" sz="3200" dirty="0" smtClean="0"/>
              <a:t>всю необходимую </a:t>
            </a:r>
            <a:r>
              <a:rPr lang="ru-RU" sz="3200" dirty="0"/>
              <a:t>информацию (прежде всего необходимые цифры и ссылки на нормы </a:t>
            </a:r>
            <a:r>
              <a:rPr lang="ru-RU" sz="3200" dirty="0" smtClean="0"/>
              <a:t>законодательства</a:t>
            </a:r>
            <a:r>
              <a:rPr lang="ru-RU" sz="3200" dirty="0"/>
              <a:t>).</a:t>
            </a:r>
          </a:p>
          <a:p>
            <a:pPr marL="0" indent="0" fontAlgn="base"/>
            <a:r>
              <a:rPr lang="ru-RU" sz="3200" dirty="0"/>
              <a:t>При оценке ответов экспертными методами учитывают такие факторы как 1) </a:t>
            </a:r>
            <a:r>
              <a:rPr lang="ru-RU" sz="3200" dirty="0" smtClean="0"/>
              <a:t>точность </a:t>
            </a:r>
            <a:r>
              <a:rPr lang="ru-RU" sz="3200" dirty="0"/>
              <a:t>информации, 2) глубина ответа, 3) контекстуальная релевантность, 4) актуальность</a:t>
            </a:r>
            <a:r>
              <a:rPr lang="ru-RU" sz="3200" dirty="0" smtClean="0"/>
              <a:t>, 5</a:t>
            </a:r>
            <a:r>
              <a:rPr lang="ru-RU" sz="3200" dirty="0"/>
              <a:t>) практическая применимость, 6) ясность и структурированность, 7) этичность </a:t>
            </a:r>
            <a:r>
              <a:rPr lang="ru-RU" sz="3200" dirty="0" smtClean="0"/>
              <a:t>и нейтральность</a:t>
            </a:r>
            <a:r>
              <a:rPr lang="ru-RU" sz="3200" dirty="0"/>
              <a:t>. Абсолютно полноценно и надежно оценить по данным критериям </a:t>
            </a:r>
            <a:r>
              <a:rPr lang="ru-RU" sz="3200" dirty="0" smtClean="0"/>
              <a:t>ответы способен </a:t>
            </a:r>
            <a:r>
              <a:rPr lang="ru-RU" sz="3200" dirty="0"/>
              <a:t>только эксперт или группа </a:t>
            </a:r>
            <a:r>
              <a:rPr lang="ru-RU" sz="3200" dirty="0" smtClean="0"/>
              <a:t>экспертов.</a:t>
            </a:r>
            <a:endParaRPr lang="ru-RU" sz="3200" dirty="0"/>
          </a:p>
        </p:txBody>
      </p:sp>
    </p:spTree>
    <p:extLst>
      <p:ext uri="{BB962C8B-B14F-4D97-AF65-F5344CB8AC3E}">
        <p14:creationId xmlns:p14="http://schemas.microsoft.com/office/powerpoint/2010/main" val="827798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22</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92500" lnSpcReduction="10000"/>
          </a:bodyPr>
          <a:lstStyle/>
          <a:p>
            <a:pPr marL="0" indent="0" fontAlgn="base"/>
            <a:r>
              <a:rPr lang="ru-RU" sz="3200" dirty="0"/>
              <a:t>Однако при наличии словарей терминов, учет этих факторов возможен и при </a:t>
            </a:r>
            <a:r>
              <a:rPr lang="ru-RU" sz="3200" dirty="0" smtClean="0"/>
              <a:t>использовании </a:t>
            </a:r>
            <a:r>
              <a:rPr lang="ru-RU" sz="3200" dirty="0"/>
              <a:t>методов, использующих </a:t>
            </a:r>
            <a:r>
              <a:rPr lang="ru-RU" sz="3200" dirty="0" err="1"/>
              <a:t>токенизацию</a:t>
            </a:r>
            <a:r>
              <a:rPr lang="ru-RU" sz="3200" dirty="0"/>
              <a:t>.</a:t>
            </a:r>
          </a:p>
          <a:p>
            <a:pPr marL="0" indent="0" fontAlgn="base"/>
            <a:r>
              <a:rPr lang="ru-RU" sz="3200" dirty="0"/>
              <a:t>Принимая в качестве эталонного ответа ответ эксперта будем считать, что он </a:t>
            </a:r>
            <a:r>
              <a:rPr lang="ru-RU" sz="3200" dirty="0" smtClean="0"/>
              <a:t>содержит </a:t>
            </a:r>
            <a:r>
              <a:rPr lang="ru-RU" sz="3200" dirty="0"/>
              <a:t>всю необходимую информацию. Тогда для ранжирования ответов будем искать </a:t>
            </a:r>
            <a:r>
              <a:rPr lang="ru-RU" sz="3200" dirty="0" smtClean="0"/>
              <a:t>функцию 𝑑</a:t>
            </a:r>
            <a:r>
              <a:rPr lang="en-US" sz="3200" dirty="0" smtClean="0"/>
              <a:t>(</a:t>
            </a:r>
            <a:r>
              <a:rPr lang="ru-RU" sz="3200" dirty="0" smtClean="0"/>
              <a:t>𝐴</a:t>
            </a:r>
            <a:r>
              <a:rPr lang="ru-RU" sz="3200" baseline="-25000" dirty="0" smtClean="0"/>
              <a:t>э</a:t>
            </a:r>
            <a:r>
              <a:rPr lang="ru-RU" sz="3200" dirty="0" smtClean="0"/>
              <a:t>,</a:t>
            </a:r>
            <a:r>
              <a:rPr lang="ru-RU" sz="3200" dirty="0"/>
              <a:t> 𝐴</a:t>
            </a:r>
            <a:r>
              <a:rPr lang="ru-RU" sz="3200" dirty="0" smtClean="0"/>
              <a:t>) которая </a:t>
            </a:r>
            <a:r>
              <a:rPr lang="ru-RU" sz="3200" dirty="0"/>
              <a:t>будет показывать меру эталонного </a:t>
            </a:r>
            <a:r>
              <a:rPr lang="ru-RU" sz="3200" dirty="0" smtClean="0"/>
              <a:t>(</a:t>
            </a:r>
            <a:r>
              <a:rPr lang="ru-RU" sz="3200" dirty="0"/>
              <a:t>𝐴</a:t>
            </a:r>
            <a:r>
              <a:rPr lang="ru-RU" sz="3200" baseline="-25000" dirty="0" smtClean="0"/>
              <a:t>э</a:t>
            </a:r>
            <a:r>
              <a:rPr lang="ru-RU" sz="3200" dirty="0" smtClean="0"/>
              <a:t>) </a:t>
            </a:r>
            <a:r>
              <a:rPr lang="ru-RU" sz="3200" dirty="0"/>
              <a:t>и полученного </a:t>
            </a:r>
            <a:r>
              <a:rPr lang="ru-RU" sz="3200" dirty="0" smtClean="0"/>
              <a:t>𝐴 ответов.</a:t>
            </a:r>
          </a:p>
          <a:p>
            <a:pPr marL="0" indent="0" fontAlgn="base"/>
            <a:r>
              <a:rPr lang="ru-RU" sz="3200" dirty="0" smtClean="0"/>
              <a:t>Для </a:t>
            </a:r>
            <a:r>
              <a:rPr lang="ru-RU" sz="3200" dirty="0"/>
              <a:t>эталонного ответа проведем </a:t>
            </a:r>
            <a:r>
              <a:rPr lang="ru-RU" sz="3200" dirty="0" err="1"/>
              <a:t>токенизацию</a:t>
            </a:r>
            <a:r>
              <a:rPr lang="ru-RU" sz="3200" dirty="0"/>
              <a:t>, </a:t>
            </a:r>
            <a:r>
              <a:rPr lang="ru-RU" sz="3200" dirty="0" err="1"/>
              <a:t>лемматизацию</a:t>
            </a:r>
            <a:r>
              <a:rPr lang="ru-RU" sz="3200" dirty="0"/>
              <a:t> и </a:t>
            </a:r>
            <a:r>
              <a:rPr lang="ru-RU" sz="3200" dirty="0" smtClean="0"/>
              <a:t>очистку удаляя </a:t>
            </a:r>
            <a:r>
              <a:rPr lang="ru-RU" sz="3200" dirty="0"/>
              <a:t>стоп слова, знаки препинания и сохраняя только уникальные токены. В </a:t>
            </a:r>
            <a:r>
              <a:rPr lang="ru-RU" sz="3200" dirty="0" smtClean="0"/>
              <a:t>результате получим </a:t>
            </a:r>
            <a:r>
              <a:rPr lang="ru-RU" sz="3200" dirty="0"/>
              <a:t>множество токенов </a:t>
            </a:r>
            <a:r>
              <a:rPr lang="ru-RU" sz="3200" dirty="0" smtClean="0"/>
              <a:t>𝑊 состоящее </a:t>
            </a:r>
            <a:r>
              <a:rPr lang="ru-RU" sz="3200" dirty="0"/>
              <a:t>из |</a:t>
            </a:r>
            <a:r>
              <a:rPr lang="ru-RU" sz="3200" dirty="0" smtClean="0"/>
              <a:t>𝑊</a:t>
            </a:r>
            <a:r>
              <a:rPr lang="en-US" sz="3200" dirty="0" smtClean="0"/>
              <a:t>|</a:t>
            </a:r>
            <a:r>
              <a:rPr lang="ru-RU" sz="3200" dirty="0" smtClean="0"/>
              <a:t/>
            </a:r>
            <a:r>
              <a:rPr lang="ru-RU" sz="3200" dirty="0"/>
              <a:t>э</a:t>
            </a:r>
            <a:r>
              <a:rPr lang="ru-RU" sz="3200" dirty="0" smtClean="0"/>
              <a:t>лементов</a:t>
            </a:r>
            <a:r>
              <a:rPr lang="ru-RU" sz="3200" dirty="0"/>
              <a:t>, по которым </a:t>
            </a:r>
            <a:r>
              <a:rPr lang="ru-RU" sz="3200" dirty="0" smtClean="0"/>
              <a:t>можно анализировать </a:t>
            </a:r>
            <a:r>
              <a:rPr lang="ru-RU" sz="3200" dirty="0"/>
              <a:t>ответы.</a:t>
            </a:r>
            <a:endParaRPr lang="ru-RU" sz="3200" dirty="0"/>
          </a:p>
        </p:txBody>
      </p:sp>
    </p:spTree>
    <p:extLst>
      <p:ext uri="{BB962C8B-B14F-4D97-AF65-F5344CB8AC3E}">
        <p14:creationId xmlns:p14="http://schemas.microsoft.com/office/powerpoint/2010/main" val="3909631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23</a:t>
            </a:fld>
            <a:endParaRPr lang="ru-RU" noProof="0" dirty="0"/>
          </a:p>
        </p:txBody>
      </p:sp>
      <mc:AlternateContent xmlns:mc="http://schemas.openxmlformats.org/markup-compatibility/2006">
        <mc:Choice xmlns:a14="http://schemas.microsoft.com/office/drawing/2010/main" Requires="a14">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smtClean="0"/>
                  <a:t>Вероятность появления токена 𝑃</a:t>
                </a:r>
                <a:r>
                  <a:rPr lang="en-US" sz="3200" dirty="0" smtClean="0"/>
                  <a:t>(</a:t>
                </a:r>
                <a:r>
                  <a:rPr lang="ru-RU" sz="3200" dirty="0" smtClean="0">
                    <a:sym typeface="Symbol" panose="05050102010706020507" pitchFamily="18" charset="2"/>
                  </a:rPr>
                  <a:t></a:t>
                </a:r>
                <a:r>
                  <a:rPr lang="en-US" sz="3200" dirty="0" smtClean="0"/>
                  <a:t>)</a:t>
                </a:r>
                <a:r>
                  <a:rPr lang="ru-RU" sz="3200" dirty="0" smtClean="0"/>
                  <a:t> будем </a:t>
                </a:r>
                <a:r>
                  <a:rPr lang="ru-RU" sz="3200" dirty="0"/>
                  <a:t>определять как вероятность Лапласа </a:t>
                </a:r>
                <a:r>
                  <a:rPr lang="ru-RU" sz="3200" dirty="0" smtClean="0"/>
                  <a:t>— </a:t>
                </a:r>
                <a14:m>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𝑤</m:t>
                        </m:r>
                      </m:e>
                    </m:d>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𝑛</m:t>
                            </m:r>
                          </m:e>
                          <m:sub>
                            <m:r>
                              <a:rPr lang="en-US" sz="3200" b="0" i="1" smtClean="0">
                                <a:latin typeface="Cambria Math" panose="02040503050406030204" pitchFamily="18" charset="0"/>
                                <a:ea typeface="Cambria Math" panose="02040503050406030204" pitchFamily="18" charset="0"/>
                              </a:rPr>
                              <m:t>𝑤</m:t>
                            </m:r>
                          </m:sub>
                        </m:sSub>
                      </m:num>
                      <m:den>
                        <m:r>
                          <a:rPr lang="en-US" sz="3200" b="0" i="1" smtClean="0">
                            <a:latin typeface="Cambria Math" panose="02040503050406030204" pitchFamily="18" charset="0"/>
                            <a:ea typeface="Cambria Math" panose="02040503050406030204" pitchFamily="18" charset="0"/>
                          </a:rPr>
                          <m:t>𝑁</m:t>
                        </m:r>
                      </m:den>
                    </m:f>
                    <m:r>
                      <a:rPr lang="ru-RU" sz="3200" b="0" i="0" smtClean="0">
                        <a:latin typeface="Cambria Math" panose="02040503050406030204" pitchFamily="18" charset="0"/>
                        <a:ea typeface="Cambria Math" panose="02040503050406030204" pitchFamily="18" charset="0"/>
                      </a:rPr>
                      <m:t>, </m:t>
                    </m:r>
                  </m:oMath>
                </a14:m>
                <a:r>
                  <a:rPr lang="ru-RU" sz="3200" dirty="0" smtClean="0"/>
                  <a:t>где </a:t>
                </a:r>
                <a14:m>
                  <m:oMath xmlns:m="http://schemas.openxmlformats.org/officeDocument/2006/math">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𝑛</m:t>
                        </m:r>
                      </m:e>
                      <m:sub>
                        <m:r>
                          <a:rPr lang="en-US" sz="3200" b="0" i="1" smtClean="0">
                            <a:latin typeface="Cambria Math" panose="02040503050406030204" pitchFamily="18" charset="0"/>
                            <a:ea typeface="Cambria Math" panose="02040503050406030204" pitchFamily="18" charset="0"/>
                          </a:rPr>
                          <m:t>𝑤</m:t>
                        </m:r>
                      </m:sub>
                    </m:sSub>
                  </m:oMath>
                </a14:m>
                <a:r>
                  <a:rPr lang="ru-RU" sz="3200" dirty="0" smtClean="0"/>
                  <a:t> </a:t>
                </a:r>
                <a:r>
                  <a:rPr lang="ru-RU" sz="3200" dirty="0"/>
                  <a:t>число раз, которое встретился токен, </a:t>
                </a:r>
                <a:r>
                  <a:rPr lang="en-US" sz="3200" i="1" dirty="0"/>
                  <a:t>N</a:t>
                </a:r>
                <a:r>
                  <a:rPr lang="ru-RU" sz="3200" dirty="0" smtClean="0"/>
                  <a:t> </a:t>
                </a:r>
                <a:r>
                  <a:rPr lang="ru-RU" sz="3200" dirty="0"/>
                  <a:t>число токенов в </a:t>
                </a:r>
                <a:r>
                  <a:rPr lang="ru-RU" sz="3200" dirty="0" smtClean="0"/>
                  <a:t>анализируемом </a:t>
                </a:r>
                <a:r>
                  <a:rPr lang="ru-RU" sz="3200" dirty="0"/>
                  <a:t>тексте (тексте, составленном из всех ответов включая эталонный.</a:t>
                </a:r>
              </a:p>
              <a:p>
                <a:pPr marL="0" indent="0" fontAlgn="base"/>
                <a:r>
                  <a:rPr lang="ru-RU" sz="3200" dirty="0"/>
                  <a:t>Аналогично посчитаем и вероятности для появления пары </a:t>
                </a:r>
                <a:r>
                  <a:rPr lang="ru-RU" sz="3200" dirty="0" smtClean="0"/>
                  <a:t>токенов </a:t>
                </a:r>
                <a14:m>
                  <m:oMath xmlns:m="http://schemas.openxmlformats.org/officeDocument/2006/math">
                    <m:r>
                      <a:rPr lang="en-US" sz="3200" i="1">
                        <a:latin typeface="Cambria Math" panose="02040503050406030204" pitchFamily="18" charset="0"/>
                      </a:rPr>
                      <m:t>𝑃</m:t>
                    </m:r>
                    <m:d>
                      <m:dPr>
                        <m:ctrlPr>
                          <a:rPr lang="en-US" sz="3200" i="1">
                            <a:latin typeface="Cambria Math" panose="02040503050406030204" pitchFamily="18" charset="0"/>
                          </a:rPr>
                        </m:ctrlPr>
                      </m:dPr>
                      <m:e>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𝑤</m:t>
                            </m:r>
                          </m:e>
                          <m:sub>
                            <m:r>
                              <a:rPr lang="en-US" sz="3200" b="0" i="1" smtClean="0">
                                <a:latin typeface="Cambria Math" panose="02040503050406030204" pitchFamily="18" charset="0"/>
                              </a:rPr>
                              <m:t>𝑗</m:t>
                            </m:r>
                          </m:sub>
                        </m:sSub>
                      </m:e>
                    </m:d>
                  </m:oMath>
                </a14:m>
                <a:r>
                  <a:rPr lang="en-US" sz="3200" dirty="0" smtClean="0"/>
                  <a:t> (</a:t>
                </a:r>
                <a14:m>
                  <m:oMath xmlns:m="http://schemas.openxmlformats.org/officeDocument/2006/math">
                    <m:r>
                      <a:rPr lang="en-US" sz="3200" b="0" i="1" dirty="0" smtClean="0">
                        <a:latin typeface="Cambria Math" panose="02040503050406030204" pitchFamily="18" charset="0"/>
                      </a:rPr>
                      <m:t>𝑖</m:t>
                    </m:r>
                    <m:r>
                      <a:rPr lang="en-US" sz="3200" b="0" i="1" dirty="0" smtClean="0">
                        <a:latin typeface="Cambria Math" panose="02040503050406030204" pitchFamily="18" charset="0"/>
                        <a:ea typeface="Cambria Math" panose="02040503050406030204" pitchFamily="18" charset="0"/>
                      </a:rPr>
                      <m:t>≠</m:t>
                    </m:r>
                    <m:r>
                      <a:rPr lang="en-US" sz="3200" b="0" i="1" dirty="0" smtClean="0">
                        <a:latin typeface="Cambria Math" panose="02040503050406030204" pitchFamily="18" charset="0"/>
                        <a:ea typeface="Cambria Math" panose="02040503050406030204" pitchFamily="18" charset="0"/>
                      </a:rPr>
                      <m:t>𝑗</m:t>
                    </m:r>
                    <m:r>
                      <a:rPr lang="en-US" sz="3200" b="0" i="1" dirty="0" smtClean="0">
                        <a:latin typeface="Cambria Math" panose="02040503050406030204" pitchFamily="18" charset="0"/>
                        <a:ea typeface="Cambria Math" panose="02040503050406030204" pitchFamily="18" charset="0"/>
                      </a:rPr>
                      <m:t>).</m:t>
                    </m:r>
                  </m:oMath>
                </a14:m>
                <a:endParaRPr lang="ru-RU" sz="3200" dirty="0"/>
              </a:p>
            </p:txBody>
          </p:sp>
        </mc:Choice>
        <mc:Fallback>
          <p:sp>
            <p:nvSpPr>
              <p:cNvPr id="4" name="Объект 3">
                <a:extLst>
                  <a:ext uri="{FF2B5EF4-FFF2-40B4-BE49-F238E27FC236}">
                    <a16:creationId xmlns:a16="http://schemas.microsoft.com/office/drawing/2014/main" id="{59322EA0-4F06-4DC1-08FD-3296BB86A2DF}"/>
                  </a:ext>
                </a:extLst>
              </p:cNvPr>
              <p:cNvSpPr>
                <a:spLocks noGrp="1" noRot="1" noChangeAspect="1" noMove="1" noResize="1" noEditPoints="1" noAdjustHandles="1" noChangeArrowheads="1" noChangeShapeType="1" noTextEdit="1"/>
              </p:cNvSpPr>
              <p:nvPr>
                <p:ph idx="1"/>
              </p:nvPr>
            </p:nvSpPr>
            <p:spPr>
              <a:xfrm>
                <a:off x="432000" y="1055716"/>
                <a:ext cx="11328000" cy="5135534"/>
              </a:xfrm>
              <a:blipFill>
                <a:blip r:embed="rId2"/>
                <a:stretch>
                  <a:fillRect l="-2207" t="-3559"/>
                </a:stretch>
              </a:blipFill>
            </p:spPr>
            <p:txBody>
              <a:bodyPr/>
              <a:lstStyle/>
              <a:p>
                <a:r>
                  <a:rPr lang="ru-RU">
                    <a:noFill/>
                  </a:rPr>
                  <a:t> </a:t>
                </a:r>
              </a:p>
            </p:txBody>
          </p:sp>
        </mc:Fallback>
      </mc:AlternateContent>
    </p:spTree>
    <p:extLst>
      <p:ext uri="{BB962C8B-B14F-4D97-AF65-F5344CB8AC3E}">
        <p14:creationId xmlns:p14="http://schemas.microsoft.com/office/powerpoint/2010/main" val="460058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24</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lnSpcReduction="10000"/>
          </a:bodyPr>
          <a:lstStyle/>
          <a:p>
            <a:pPr marL="0" indent="0" fontAlgn="base"/>
            <a:r>
              <a:rPr lang="ru-RU" sz="3200" dirty="0"/>
              <a:t>Можно предположить, что с увеличением сложности вопроса разница между </a:t>
            </a:r>
            <a:r>
              <a:rPr lang="ru-RU" sz="3200" dirty="0" smtClean="0"/>
              <a:t>эталонным </a:t>
            </a:r>
            <a:r>
              <a:rPr lang="ru-RU" sz="3200" dirty="0"/>
              <a:t>ответом и ответами LLM будет возрастать. При этом само значение </a:t>
            </a:r>
            <a:r>
              <a:rPr lang="ru-RU" sz="3200" dirty="0" smtClean="0"/>
              <a:t>вероятности наступления </a:t>
            </a:r>
            <a:r>
              <a:rPr lang="ru-RU" sz="3200" dirty="0"/>
              <a:t>события, при котором ответ идеален, будет уменьшаться для сложных </a:t>
            </a:r>
            <a:r>
              <a:rPr lang="ru-RU" sz="3200" dirty="0" smtClean="0"/>
              <a:t>вопросов </a:t>
            </a:r>
            <a:r>
              <a:rPr lang="ru-RU" sz="3200" dirty="0"/>
              <a:t>(то есть значения когерентности для сложных вопросов должны убывать). </a:t>
            </a:r>
            <a:r>
              <a:rPr lang="ru-RU" sz="3200" dirty="0" smtClean="0"/>
              <a:t>Можно использовать </a:t>
            </a:r>
            <a:r>
              <a:rPr lang="ru-RU" sz="3200" dirty="0"/>
              <a:t>две формулы для расчета когерентности, которые обоснованы и протестированы </a:t>
            </a:r>
            <a:r>
              <a:rPr lang="ru-RU" sz="3200" dirty="0" smtClean="0"/>
              <a:t>в работе (</a:t>
            </a:r>
            <a:r>
              <a:rPr lang="en-US" sz="3200" dirty="0" err="1"/>
              <a:t>Röder</a:t>
            </a:r>
            <a:r>
              <a:rPr lang="en-US" sz="3200" dirty="0"/>
              <a:t> M., Both A., </a:t>
            </a:r>
            <a:r>
              <a:rPr lang="en-US" sz="3200" dirty="0" err="1"/>
              <a:t>Hinneburg</a:t>
            </a:r>
            <a:r>
              <a:rPr lang="en-US" sz="3200" dirty="0"/>
              <a:t> A. Exploring the Space of Topic Coherence Measures </a:t>
            </a:r>
            <a:r>
              <a:rPr lang="en-US" sz="3200" dirty="0" smtClean="0"/>
              <a:t>New</a:t>
            </a:r>
            <a:r>
              <a:rPr lang="ru-RU" sz="3200" dirty="0" smtClean="0"/>
              <a:t> </a:t>
            </a:r>
            <a:r>
              <a:rPr lang="en-US" sz="3200" dirty="0" smtClean="0"/>
              <a:t>York</a:t>
            </a:r>
            <a:r>
              <a:rPr lang="en-US" sz="3200" dirty="0"/>
              <a:t>, NY, USA: ACM, 2015.C. 399–408.</a:t>
            </a:r>
            <a:r>
              <a:rPr lang="ru-RU" sz="3200" dirty="0" smtClean="0"/>
              <a:t>) </a:t>
            </a:r>
            <a:r>
              <a:rPr lang="ru-RU" sz="3200" dirty="0"/>
              <a:t>и ведут себя немного по разному в зависимости от объема текста ответа (в </a:t>
            </a:r>
            <a:r>
              <a:rPr lang="ru-RU" sz="3200" dirty="0" smtClean="0"/>
              <a:t>первой </a:t>
            </a:r>
            <a:r>
              <a:rPr lang="ru-RU" sz="3200" dirty="0"/>
              <a:t>формуле значение когерентности C</a:t>
            </a:r>
            <a:r>
              <a:rPr lang="ru-RU" sz="3200" baseline="-25000" dirty="0"/>
              <a:t>UCI</a:t>
            </a:r>
            <a:r>
              <a:rPr lang="ru-RU" sz="3200" dirty="0"/>
              <a:t> понижается при увеличении объема текста, а </a:t>
            </a:r>
            <a:r>
              <a:rPr lang="ru-RU" sz="3200" dirty="0" smtClean="0"/>
              <a:t>во второй </a:t>
            </a:r>
            <a:r>
              <a:rPr lang="ru-RU" sz="3200" dirty="0"/>
              <a:t>формуле </a:t>
            </a:r>
            <a:r>
              <a:rPr lang="ru-RU" sz="3200" dirty="0" err="1"/>
              <a:t>C</a:t>
            </a:r>
            <a:r>
              <a:rPr lang="ru-RU" sz="3200" baseline="-25000" dirty="0" err="1"/>
              <a:t>UMass</a:t>
            </a:r>
            <a:r>
              <a:rPr lang="ru-RU" sz="3200" dirty="0"/>
              <a:t> — нет). </a:t>
            </a:r>
            <a:endParaRPr lang="ru-RU" sz="3200" dirty="0"/>
          </a:p>
        </p:txBody>
      </p:sp>
    </p:spTree>
    <p:extLst>
      <p:ext uri="{BB962C8B-B14F-4D97-AF65-F5344CB8AC3E}">
        <p14:creationId xmlns:p14="http://schemas.microsoft.com/office/powerpoint/2010/main" val="1576204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25</a:t>
            </a:fld>
            <a:endParaRPr lang="ru-RU" noProof="0" dirty="0"/>
          </a:p>
        </p:txBody>
      </p:sp>
      <p:pic>
        <p:nvPicPr>
          <p:cNvPr id="3" name="Объект 2"/>
          <p:cNvPicPr>
            <a:picLocks noGrp="1" noChangeAspect="1"/>
          </p:cNvPicPr>
          <p:nvPr>
            <p:ph idx="1"/>
          </p:nvPr>
        </p:nvPicPr>
        <p:blipFill>
          <a:blip r:embed="rId2"/>
          <a:stretch>
            <a:fillRect/>
          </a:stretch>
        </p:blipFill>
        <p:spPr>
          <a:xfrm>
            <a:off x="352997" y="2635745"/>
            <a:ext cx="11154641" cy="1599825"/>
          </a:xfrm>
          <a:prstGeom prst="rect">
            <a:avLst/>
          </a:prstGeom>
        </p:spPr>
      </p:pic>
      <p:sp>
        <p:nvSpPr>
          <p:cNvPr id="6" name="Прямоугольник 5"/>
          <p:cNvSpPr/>
          <p:nvPr/>
        </p:nvSpPr>
        <p:spPr>
          <a:xfrm>
            <a:off x="733244" y="4347085"/>
            <a:ext cx="10994411" cy="830997"/>
          </a:xfrm>
          <a:prstGeom prst="rect">
            <a:avLst/>
          </a:prstGeom>
        </p:spPr>
        <p:txBody>
          <a:bodyPr wrap="square">
            <a:spAutoFit/>
          </a:bodyPr>
          <a:lstStyle/>
          <a:p>
            <a:r>
              <a:rPr lang="ru-RU" sz="2400" dirty="0">
                <a:solidFill>
                  <a:srgbClr val="000000"/>
                </a:solidFill>
                <a:latin typeface="TimesNewRomanPSMT"/>
              </a:rPr>
              <a:t>Рейтинг качества ответов получим по величине разности значений </a:t>
            </a:r>
            <a:r>
              <a:rPr lang="ru-RU" sz="2400" dirty="0" smtClean="0">
                <a:solidFill>
                  <a:srgbClr val="000000"/>
                </a:solidFill>
                <a:latin typeface="TimesNewRomanPSMT"/>
              </a:rPr>
              <a:t>когерентности</a:t>
            </a:r>
            <a:r>
              <a:rPr lang="en-US" sz="2400" dirty="0" smtClean="0">
                <a:solidFill>
                  <a:srgbClr val="000000"/>
                </a:solidFill>
                <a:latin typeface="TimesNewRomanPSMT"/>
              </a:rPr>
              <a:t> </a:t>
            </a:r>
            <a:r>
              <a:rPr lang="ru-RU" sz="2400" dirty="0" smtClean="0">
                <a:solidFill>
                  <a:srgbClr val="000000"/>
                </a:solidFill>
                <a:latin typeface="TimesNewRomanPSMT"/>
              </a:rPr>
              <a:t>для </a:t>
            </a:r>
            <a:r>
              <a:rPr lang="ru-RU" sz="2400" dirty="0">
                <a:solidFill>
                  <a:srgbClr val="000000"/>
                </a:solidFill>
                <a:latin typeface="TimesNewRomanPSMT"/>
              </a:rPr>
              <a:t>эталонного и оцениваемого ответов</a:t>
            </a:r>
            <a:r>
              <a:rPr lang="ru-RU" sz="2400" dirty="0" smtClean="0">
                <a:solidFill>
                  <a:srgbClr val="000000"/>
                </a:solidFill>
                <a:latin typeface="TimesNewRomanPSMT"/>
              </a:rPr>
              <a:t>.</a:t>
            </a:r>
            <a:endParaRPr lang="ru-RU" sz="2400" dirty="0"/>
          </a:p>
        </p:txBody>
      </p:sp>
    </p:spTree>
    <p:extLst>
      <p:ext uri="{BB962C8B-B14F-4D97-AF65-F5344CB8AC3E}">
        <p14:creationId xmlns:p14="http://schemas.microsoft.com/office/powerpoint/2010/main" val="1748252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26</a:t>
            </a:fld>
            <a:endParaRPr lang="ru-RU" noProof="0" dirty="0"/>
          </a:p>
        </p:txBody>
      </p:sp>
      <mc:AlternateContent xmlns:mc="http://schemas.openxmlformats.org/markup-compatibility/2006">
        <mc:Choice xmlns:a14="http://schemas.microsoft.com/office/drawing/2010/main" Requires="a14">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Autofit/>
              </a:bodyPr>
              <a:lstStyle/>
              <a:p>
                <a:pPr marL="0" indent="0" fontAlgn="base"/>
                <a:r>
                  <a:rPr lang="ru-RU" sz="2800" dirty="0" smtClean="0"/>
                  <a:t>Алгоритм оценки описывается следующими шагами:</a:t>
                </a:r>
              </a:p>
              <a:p>
                <a:pPr marL="0" indent="0" fontAlgn="base"/>
                <a:r>
                  <a:rPr lang="ru-RU" sz="2800" dirty="0"/>
                  <a:t>Шаг 1. Для эталонного ответа проводим </a:t>
                </a:r>
                <a:r>
                  <a:rPr lang="ru-RU" sz="2800" dirty="0" err="1"/>
                  <a:t>токенизацию</a:t>
                </a:r>
                <a:r>
                  <a:rPr lang="ru-RU" sz="2800" dirty="0"/>
                  <a:t>, </a:t>
                </a:r>
                <a:r>
                  <a:rPr lang="ru-RU" sz="2800" dirty="0" err="1"/>
                  <a:t>лемматизацию</a:t>
                </a:r>
                <a:r>
                  <a:rPr lang="ru-RU" sz="2800" dirty="0"/>
                  <a:t> и </a:t>
                </a:r>
                <a:r>
                  <a:rPr lang="ru-RU" sz="2800" dirty="0" smtClean="0"/>
                  <a:t>выполняем</a:t>
                </a:r>
                <a:r>
                  <a:rPr lang="en-US" sz="2800" dirty="0" smtClean="0"/>
                  <a:t> </a:t>
                </a:r>
                <a:r>
                  <a:rPr lang="ru-RU" sz="2800" dirty="0" smtClean="0"/>
                  <a:t>очистку </a:t>
                </a:r>
                <a:r>
                  <a:rPr lang="ru-RU" sz="2800" dirty="0"/>
                  <a:t>удаляя стоп слова, знаки препинания и сохраняя только уникальные токены (</a:t>
                </a:r>
                <a:r>
                  <a:rPr lang="ru-RU" sz="2800" dirty="0" smtClean="0"/>
                  <a:t>получаемый </a:t>
                </a:r>
                <a:r>
                  <a:rPr lang="ru-RU" sz="2800" dirty="0"/>
                  <a:t>эталонное множество токенов 𝑊</a:t>
                </a:r>
              </a:p>
              <a:p>
                <a:pPr marL="0" indent="0" fontAlgn="base"/>
                <a:r>
                  <a:rPr lang="ru-RU" sz="2800" dirty="0"/>
                  <a:t>Шаг 2. Для всех ответов LLM на анализируемый вопрос проводим </a:t>
                </a:r>
                <a:r>
                  <a:rPr lang="ru-RU" sz="2800" dirty="0" err="1"/>
                  <a:t>токенизацию</a:t>
                </a:r>
                <a:r>
                  <a:rPr lang="ru-RU" sz="2800" dirty="0" smtClean="0"/>
                  <a:t>,</a:t>
                </a:r>
                <a:r>
                  <a:rPr lang="en-US" sz="2800" dirty="0" smtClean="0"/>
                  <a:t> </a:t>
                </a:r>
                <a:r>
                  <a:rPr lang="ru-RU" sz="2800" dirty="0" err="1" smtClean="0"/>
                  <a:t>лемматизацию</a:t>
                </a:r>
                <a:r>
                  <a:rPr lang="ru-RU" sz="2800" dirty="0" smtClean="0"/>
                  <a:t> </a:t>
                </a:r>
                <a:r>
                  <a:rPr lang="ru-RU" sz="2800" dirty="0"/>
                  <a:t>и выполняем очистку удаляя стоп слова, знаки препинания.</a:t>
                </a:r>
              </a:p>
              <a:p>
                <a:pPr marL="0" indent="0" fontAlgn="base"/>
                <a:r>
                  <a:rPr lang="ru-RU" sz="2800" dirty="0"/>
                  <a:t>Шаг 3. Для каждого токена (</a:t>
                </a:r>
                <a:r>
                  <a:rPr lang="ru-RU" sz="2800" dirty="0" smtClean="0"/>
                  <a:t>𝑤</a:t>
                </a:r>
                <a:r>
                  <a:rPr lang="en-US" sz="2800" i="1" baseline="-25000" dirty="0" err="1" smtClean="0"/>
                  <a:t>i</a:t>
                </a:r>
                <a:r>
                  <a:rPr lang="en-US" sz="2800" dirty="0" smtClean="0"/>
                  <a:t>)</a:t>
                </a:r>
                <a:r>
                  <a:rPr lang="ru-RU" sz="2800" dirty="0" smtClean="0"/>
                  <a:t> </a:t>
                </a:r>
                <a:r>
                  <a:rPr lang="ru-RU" sz="2800" dirty="0"/>
                  <a:t>уникальных пар токенов </a:t>
                </a:r>
                <a14:m>
                  <m:oMath xmlns:m="http://schemas.openxmlformats.org/officeDocument/2006/math">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𝑗</m:t>
                            </m:r>
                          </m:sub>
                        </m:sSub>
                      </m:e>
                    </m:d>
                  </m:oMath>
                </a14:m>
                <a:r>
                  <a:rPr lang="ru-RU" sz="2800" dirty="0" smtClean="0"/>
                  <a:t>  определяем вероятности </a:t>
                </a:r>
                <a14:m>
                  <m:oMath xmlns:m="http://schemas.openxmlformats.org/officeDocument/2006/math">
                    <m:r>
                      <a:rPr lang="en-US" sz="2800" b="0" i="1" smtClean="0">
                        <a:latin typeface="Cambria Math" panose="02040503050406030204" pitchFamily="18" charset="0"/>
                      </a:rPr>
                      <m:t>𝑝</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m:t>
                            </m:r>
                          </m:sub>
                        </m:sSub>
                        <m:r>
                          <a:rPr lang="en-US" sz="2800" i="1" smtClean="0">
                            <a:latin typeface="Cambria Math" panose="02040503050406030204" pitchFamily="18" charset="0"/>
                          </a:rPr>
                          <m:t> </m:t>
                        </m:r>
                      </m:e>
                    </m:d>
                  </m:oMath>
                </a14:m>
                <a:r>
                  <a:rPr lang="ru-RU" sz="2800" dirty="0" smtClean="0"/>
                  <a:t> и </a:t>
                </a:r>
                <a14:m>
                  <m:oMath xmlns:m="http://schemas.openxmlformats.org/officeDocument/2006/math">
                    <m:r>
                      <a:rPr lang="en-US" sz="2800" b="0" i="1" smtClean="0">
                        <a:latin typeface="Cambria Math" panose="02040503050406030204" pitchFamily="18" charset="0"/>
                      </a:rPr>
                      <m:t>𝑝</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𝑗</m:t>
                            </m:r>
                          </m:sub>
                        </m:sSub>
                      </m:e>
                    </m:d>
                    <m:r>
                      <a:rPr lang="en-US" sz="2800" b="0" i="1" smtClean="0">
                        <a:latin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𝑖</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𝑗</m:t>
                    </m:r>
                    <m:r>
                      <a:rPr lang="en-US" sz="2800" b="0" i="1" smtClean="0">
                        <a:latin typeface="Cambria Math" panose="02040503050406030204" pitchFamily="18" charset="0"/>
                        <a:ea typeface="Cambria Math" panose="02040503050406030204" pitchFamily="18" charset="0"/>
                      </a:rPr>
                      <m:t>.</m:t>
                    </m:r>
                  </m:oMath>
                </a14:m>
                <a:endParaRPr lang="en-US" sz="2800" dirty="0" smtClean="0"/>
              </a:p>
              <a:p>
                <a:pPr marL="0" indent="0" fontAlgn="base"/>
                <a:r>
                  <a:rPr lang="ru-RU" sz="2800" dirty="0"/>
                  <a:t>Шаг 4. Используя значения вероятностей для каждого </a:t>
                </a:r>
                <a:r>
                  <a:rPr lang="ru-RU" sz="2800" dirty="0" smtClean="0"/>
                  <a:t>токена</a:t>
                </a:r>
                <a:r>
                  <a:rPr lang="en-US" sz="2800" dirty="0" smtClean="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m:t>
                        </m:r>
                      </m:sub>
                    </m:sSub>
                  </m:oMath>
                </a14:m>
                <a:r>
                  <a:rPr lang="en-US" sz="2800" dirty="0" smtClean="0"/>
                  <a:t> </a:t>
                </a:r>
                <a:r>
                  <a:rPr lang="ru-RU" sz="2800" dirty="0" smtClean="0"/>
                  <a:t>их сочетаний</a:t>
                </a:r>
                <a:r>
                  <a:rPr lang="en-US" sz="2800" dirty="0" smtClean="0"/>
                  <a:t> </a:t>
                </a:r>
                <a:r>
                  <a:rPr lang="ru-RU" sz="2800" dirty="0" smtClean="0"/>
                  <a:t>из </a:t>
                </a:r>
                <a:r>
                  <a:rPr lang="ru-RU" sz="2800" dirty="0"/>
                  <a:t>эталонного ответа, определяем значение когерентности каждого ответа LLM на </a:t>
                </a:r>
                <a:r>
                  <a:rPr lang="ru-RU" sz="2800" dirty="0" smtClean="0"/>
                  <a:t>анализируемый </a:t>
                </a:r>
                <a:r>
                  <a:rPr lang="ru-RU" sz="2800" dirty="0"/>
                  <a:t>вопрос.</a:t>
                </a:r>
                <a:endParaRPr lang="ru-RU" sz="2800" dirty="0"/>
              </a:p>
            </p:txBody>
          </p:sp>
        </mc:Choice>
        <mc:Fallback>
          <p:sp>
            <p:nvSpPr>
              <p:cNvPr id="4" name="Объект 3">
                <a:extLst>
                  <a:ext uri="{FF2B5EF4-FFF2-40B4-BE49-F238E27FC236}">
                    <a16:creationId xmlns:a16="http://schemas.microsoft.com/office/drawing/2014/main" id="{59322EA0-4F06-4DC1-08FD-3296BB86A2DF}"/>
                  </a:ext>
                </a:extLst>
              </p:cNvPr>
              <p:cNvSpPr>
                <a:spLocks noGrp="1" noRot="1" noChangeAspect="1" noMove="1" noResize="1" noEditPoints="1" noAdjustHandles="1" noChangeArrowheads="1" noChangeShapeType="1" noTextEdit="1"/>
              </p:cNvSpPr>
              <p:nvPr>
                <p:ph idx="1"/>
              </p:nvPr>
            </p:nvSpPr>
            <p:spPr>
              <a:xfrm>
                <a:off x="432000" y="1055716"/>
                <a:ext cx="11328000" cy="5135534"/>
              </a:xfrm>
              <a:blipFill>
                <a:blip r:embed="rId2"/>
                <a:stretch>
                  <a:fillRect l="-1938" t="-2847" r="-1130" b="-6168"/>
                </a:stretch>
              </a:blipFill>
            </p:spPr>
            <p:txBody>
              <a:bodyPr/>
              <a:lstStyle/>
              <a:p>
                <a:r>
                  <a:rPr lang="ru-RU">
                    <a:noFill/>
                  </a:rPr>
                  <a:t> </a:t>
                </a:r>
              </a:p>
            </p:txBody>
          </p:sp>
        </mc:Fallback>
      </mc:AlternateContent>
    </p:spTree>
    <p:extLst>
      <p:ext uri="{BB962C8B-B14F-4D97-AF65-F5344CB8AC3E}">
        <p14:creationId xmlns:p14="http://schemas.microsoft.com/office/powerpoint/2010/main" val="4056176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27</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a:t>В качестве еще одной меры возьмем косинусное расстояние</a:t>
            </a:r>
            <a:r>
              <a:rPr lang="ru-RU" sz="3200" dirty="0" smtClean="0"/>
              <a:t>,</a:t>
            </a:r>
            <a:r>
              <a:rPr lang="en-US" sz="3200" dirty="0" smtClean="0"/>
              <a:t> </a:t>
            </a:r>
            <a:r>
              <a:rPr lang="ru-RU" sz="3200" dirty="0" smtClean="0"/>
              <a:t>которое </a:t>
            </a:r>
            <a:r>
              <a:rPr lang="ru-RU" sz="3200" dirty="0"/>
              <a:t>будем </a:t>
            </a:r>
            <a:r>
              <a:rPr lang="ru-RU" sz="3200" dirty="0" smtClean="0"/>
              <a:t>считать</a:t>
            </a:r>
            <a:r>
              <a:rPr lang="en-US" sz="3200" dirty="0" smtClean="0"/>
              <a:t> </a:t>
            </a:r>
            <a:r>
              <a:rPr lang="ru-RU" sz="3200" dirty="0" smtClean="0"/>
              <a:t>попарно </a:t>
            </a:r>
            <a:r>
              <a:rPr lang="ru-RU" sz="3200" dirty="0"/>
              <a:t>для эталонного ответа и ответа LLM, используя для этого вектор </a:t>
            </a:r>
            <a:r>
              <a:rPr lang="ru-RU" sz="3200" dirty="0" err="1"/>
              <a:t>Bag</a:t>
            </a:r>
            <a:r>
              <a:rPr lang="ru-RU" sz="3200" dirty="0"/>
              <a:t> </a:t>
            </a:r>
            <a:r>
              <a:rPr lang="ru-RU" sz="3200" dirty="0" err="1"/>
              <a:t>of</a:t>
            </a:r>
            <a:r>
              <a:rPr lang="ru-RU" sz="3200" dirty="0"/>
              <a:t> </a:t>
            </a:r>
            <a:r>
              <a:rPr lang="ru-RU" sz="3200" dirty="0" err="1" smtClean="0"/>
              <a:t>Words</a:t>
            </a:r>
            <a:r>
              <a:rPr lang="en-US" sz="3200" dirty="0" smtClean="0"/>
              <a:t> </a:t>
            </a:r>
            <a:r>
              <a:rPr lang="ru-RU" sz="3200" dirty="0" smtClean="0"/>
              <a:t>для</a:t>
            </a:r>
            <a:r>
              <a:rPr lang="en-US" sz="3200" dirty="0" smtClean="0"/>
              <a:t> </a:t>
            </a:r>
            <a:r>
              <a:rPr lang="ru-RU" sz="3200" dirty="0" smtClean="0"/>
              <a:t>рассматриваемой </a:t>
            </a:r>
            <a:r>
              <a:rPr lang="ru-RU" sz="3200" dirty="0"/>
              <a:t>пары.</a:t>
            </a:r>
            <a:endParaRPr lang="ru-RU" sz="3200" dirty="0"/>
          </a:p>
        </p:txBody>
      </p:sp>
    </p:spTree>
    <p:extLst>
      <p:ext uri="{BB962C8B-B14F-4D97-AF65-F5344CB8AC3E}">
        <p14:creationId xmlns:p14="http://schemas.microsoft.com/office/powerpoint/2010/main" val="4029284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28</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a:t>Для анализа результатов были собраны ответы на 81 вопрос, относящихся к </a:t>
            </a:r>
            <a:r>
              <a:rPr lang="ru-RU" sz="3200" dirty="0" smtClean="0"/>
              <a:t>разным тематикам</a:t>
            </a:r>
            <a:r>
              <a:rPr lang="ru-RU" sz="3200" dirty="0"/>
              <a:t>, с разными формами вопросов, сложностью и отвечающие на разные </a:t>
            </a:r>
            <a:r>
              <a:rPr lang="ru-RU" sz="3200" dirty="0" smtClean="0"/>
              <a:t>вопроси</a:t>
            </a:r>
            <a:r>
              <a:rPr lang="ru-RU" sz="3200" dirty="0"/>
              <a:t>т</a:t>
            </a:r>
            <a:r>
              <a:rPr lang="ru-RU" sz="3200" dirty="0" smtClean="0"/>
              <a:t>ельные слова.</a:t>
            </a:r>
            <a:endParaRPr lang="ru-RU" sz="3200" dirty="0"/>
          </a:p>
          <a:p>
            <a:pPr marL="0" indent="0" fontAlgn="base"/>
            <a:r>
              <a:rPr lang="ru-RU" sz="3200" dirty="0"/>
              <a:t>Ответы, которые дают LLM - более развернутые, чем ответы эксперта-человека. </a:t>
            </a:r>
            <a:r>
              <a:rPr lang="ru-RU" sz="3200" dirty="0" smtClean="0"/>
              <a:t>Для оценки </a:t>
            </a:r>
            <a:r>
              <a:rPr lang="ru-RU" sz="3200" dirty="0"/>
              <a:t>работы алгоритмических методов ранжирования необходимо провести </a:t>
            </a:r>
            <a:r>
              <a:rPr lang="ru-RU" sz="3200" dirty="0" smtClean="0"/>
              <a:t>их проверку с </a:t>
            </a:r>
            <a:r>
              <a:rPr lang="ru-RU" sz="3200" dirty="0"/>
              <a:t>использованием экспертной разметки. Ответы эксперта могут не совпадать на 1-2 </a:t>
            </a:r>
            <a:r>
              <a:rPr lang="ru-RU" sz="3200" dirty="0" smtClean="0"/>
              <a:t>позиции с </a:t>
            </a:r>
            <a:r>
              <a:rPr lang="ru-RU" sz="3200" dirty="0"/>
              <a:t>оценками, полученными с использованием алгоритмов. Это связано с наличием </a:t>
            </a:r>
            <a:r>
              <a:rPr lang="ru-RU" sz="3200" dirty="0" smtClean="0"/>
              <a:t>порога безразличия</a:t>
            </a:r>
            <a:r>
              <a:rPr lang="ru-RU" sz="3200" dirty="0"/>
              <a:t>, который можно продемонстрировать так называемым парадоксом чашек </a:t>
            </a:r>
            <a:r>
              <a:rPr lang="ru-RU" sz="3200" dirty="0" smtClean="0"/>
              <a:t>кофе или </a:t>
            </a:r>
            <a:r>
              <a:rPr lang="ru-RU" sz="3200" dirty="0"/>
              <a:t>парадоксом </a:t>
            </a:r>
            <a:r>
              <a:rPr lang="ru-RU" sz="3200" dirty="0" err="1" smtClean="0"/>
              <a:t>Люче</a:t>
            </a:r>
            <a:r>
              <a:rPr lang="ru-RU" sz="3200" dirty="0" smtClean="0"/>
              <a:t>.</a:t>
            </a:r>
            <a:endParaRPr lang="ru-RU" sz="3200" dirty="0"/>
          </a:p>
        </p:txBody>
      </p:sp>
    </p:spTree>
    <p:extLst>
      <p:ext uri="{BB962C8B-B14F-4D97-AF65-F5344CB8AC3E}">
        <p14:creationId xmlns:p14="http://schemas.microsoft.com/office/powerpoint/2010/main" val="683791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29</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fontScale="92500" lnSpcReduction="20000"/>
          </a:bodyPr>
          <a:lstStyle/>
          <a:p>
            <a:pPr marL="0" indent="0" fontAlgn="base"/>
            <a:r>
              <a:rPr lang="ru-RU" sz="3200" dirty="0"/>
              <a:t>Суть парадокса состоит в том, что если у нас, например, есть 402 чашки кофе: </a:t>
            </a:r>
            <a:r>
              <a:rPr lang="ru-RU" sz="3200" dirty="0" smtClean="0"/>
              <a:t>𝑐</a:t>
            </a:r>
            <a:r>
              <a:rPr lang="ru-RU" sz="3200" baseline="-25000" dirty="0" smtClean="0"/>
              <a:t>0</a:t>
            </a:r>
            <a:r>
              <a:rPr lang="ru-RU" sz="3200" dirty="0"/>
              <a:t> </a:t>
            </a:r>
            <a:r>
              <a:rPr lang="ru-RU" sz="3200" dirty="0" smtClean="0"/>
              <a:t>чашка из </a:t>
            </a:r>
            <a:r>
              <a:rPr lang="ru-RU" sz="3200" dirty="0"/>
              <a:t>нуля зерен кофе, </a:t>
            </a:r>
            <a:r>
              <a:rPr lang="ru-RU" sz="3200" dirty="0" smtClean="0"/>
              <a:t>𝑐</a:t>
            </a:r>
            <a:r>
              <a:rPr lang="ru-RU" sz="3200" baseline="-25000" dirty="0" smtClean="0"/>
              <a:t>1</a:t>
            </a:r>
            <a:r>
              <a:rPr lang="ru-RU" sz="3200" dirty="0" smtClean="0"/>
              <a:t> чашка </a:t>
            </a:r>
            <a:r>
              <a:rPr lang="ru-RU" sz="3200" dirty="0"/>
              <a:t>из одного зерна кофе и т.д. То мы не можем сказать, что </a:t>
            </a:r>
            <a:r>
              <a:rPr lang="ru-RU" sz="3200" dirty="0" smtClean="0"/>
              <a:t>нет разницы </a:t>
            </a:r>
            <a:r>
              <a:rPr lang="ru-RU" sz="3200" dirty="0"/>
              <a:t>между 𝑐</a:t>
            </a:r>
            <a:r>
              <a:rPr lang="ru-RU" sz="3200" baseline="-25000" dirty="0" smtClean="0"/>
              <a:t>0</a:t>
            </a:r>
            <a:r>
              <a:rPr lang="ru-RU" sz="3200" dirty="0" smtClean="0"/>
              <a:t> и 𝑐</a:t>
            </a:r>
            <a:r>
              <a:rPr lang="ru-RU" sz="3200" baseline="-25000" dirty="0" smtClean="0"/>
              <a:t>401</a:t>
            </a:r>
            <a:r>
              <a:rPr lang="ru-RU" sz="3200" dirty="0" smtClean="0"/>
              <a:t>. Однако </a:t>
            </a:r>
            <a:r>
              <a:rPr lang="ru-RU" sz="3200" dirty="0"/>
              <a:t>разница между соседними элементами </a:t>
            </a:r>
            <a:r>
              <a:rPr lang="ru-RU" sz="3200" dirty="0" smtClean="0"/>
              <a:t>последовательности </a:t>
            </a:r>
            <a:r>
              <a:rPr lang="ru-RU" sz="3200" dirty="0"/>
              <a:t>может оказаться для нас незаметна. Этот пример показывает, что при оценке LLM </a:t>
            </a:r>
            <a:r>
              <a:rPr lang="ru-RU" sz="3200" dirty="0" smtClean="0"/>
              <a:t>может </a:t>
            </a:r>
            <a:r>
              <a:rPr lang="ru-RU" sz="3200" dirty="0"/>
              <a:t>нарушаться свойство транзитивности, что и приводит к необходимости не </a:t>
            </a:r>
            <a:r>
              <a:rPr lang="ru-RU" sz="3200" dirty="0" smtClean="0"/>
              <a:t>обращать внимание на незначительные </a:t>
            </a:r>
            <a:r>
              <a:rPr lang="ru-RU" sz="3200" dirty="0"/>
              <a:t>нарушения порядка, а задача сводиться к определению </a:t>
            </a:r>
            <a:r>
              <a:rPr lang="ru-RU" sz="3200" dirty="0" smtClean="0"/>
              <a:t>некоторого </a:t>
            </a:r>
            <a:r>
              <a:rPr lang="ru-RU" sz="3200" dirty="0" err="1"/>
              <a:t>квази</a:t>
            </a:r>
            <a:r>
              <a:rPr lang="ru-RU" sz="3200" dirty="0"/>
              <a:t>-порядка, который характеризуется:</a:t>
            </a:r>
          </a:p>
          <a:p>
            <a:pPr marL="0" indent="0" fontAlgn="base"/>
            <a:r>
              <a:rPr lang="ru-RU" sz="3200" dirty="0"/>
              <a:t>• интервальными порядками (пороги предпочтений и безразличия);</a:t>
            </a:r>
          </a:p>
          <a:p>
            <a:pPr marL="0" indent="0" fontAlgn="base"/>
            <a:r>
              <a:rPr lang="ru-RU" sz="3200" dirty="0"/>
              <a:t>• псевдо-порядком (имеются несравнимые альтернативы);</a:t>
            </a:r>
          </a:p>
          <a:p>
            <a:pPr marL="0" indent="0" fontAlgn="base"/>
            <a:r>
              <a:rPr lang="ru-RU" sz="3200" dirty="0"/>
              <a:t>• частичной упорядоченностью (ограниченная структура и множество </a:t>
            </a:r>
            <a:r>
              <a:rPr lang="ru-RU" sz="3200" dirty="0" smtClean="0"/>
              <a:t>предпочтений</a:t>
            </a:r>
            <a:r>
              <a:rPr lang="ru-RU" sz="3200" dirty="0"/>
              <a:t>).</a:t>
            </a:r>
            <a:endParaRPr lang="ru-RU" sz="3200" dirty="0"/>
          </a:p>
        </p:txBody>
      </p:sp>
    </p:spTree>
    <p:extLst>
      <p:ext uri="{BB962C8B-B14F-4D97-AF65-F5344CB8AC3E}">
        <p14:creationId xmlns:p14="http://schemas.microsoft.com/office/powerpoint/2010/main" val="3686238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30</a:t>
            </a:fld>
            <a:endParaRPr lang="ru-RU" noProof="0" dirty="0"/>
          </a:p>
        </p:txBody>
      </p:sp>
      <p:pic>
        <p:nvPicPr>
          <p:cNvPr id="3" name="Объект 2"/>
          <p:cNvPicPr>
            <a:picLocks noGrp="1" noChangeAspect="1"/>
          </p:cNvPicPr>
          <p:nvPr>
            <p:ph idx="1"/>
          </p:nvPr>
        </p:nvPicPr>
        <p:blipFill>
          <a:blip r:embed="rId2"/>
          <a:stretch>
            <a:fillRect/>
          </a:stretch>
        </p:blipFill>
        <p:spPr>
          <a:xfrm>
            <a:off x="431800" y="1859787"/>
            <a:ext cx="11328400" cy="3527363"/>
          </a:xfrm>
          <a:prstGeom prst="rect">
            <a:avLst/>
          </a:prstGeom>
        </p:spPr>
      </p:pic>
    </p:spTree>
    <p:extLst>
      <p:ext uri="{BB962C8B-B14F-4D97-AF65-F5344CB8AC3E}">
        <p14:creationId xmlns:p14="http://schemas.microsoft.com/office/powerpoint/2010/main" val="39946588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31</a:t>
            </a:fld>
            <a:endParaRPr lang="ru-RU" noProof="0" dirty="0"/>
          </a:p>
        </p:txBody>
      </p:sp>
      <p:pic>
        <p:nvPicPr>
          <p:cNvPr id="6" name="Объект 5"/>
          <p:cNvPicPr>
            <a:picLocks noGrp="1" noChangeAspect="1"/>
          </p:cNvPicPr>
          <p:nvPr>
            <p:ph idx="1"/>
          </p:nvPr>
        </p:nvPicPr>
        <p:blipFill>
          <a:blip r:embed="rId2"/>
          <a:stretch>
            <a:fillRect/>
          </a:stretch>
        </p:blipFill>
        <p:spPr>
          <a:xfrm>
            <a:off x="431800" y="2225341"/>
            <a:ext cx="11328400" cy="3251867"/>
          </a:xfrm>
          <a:prstGeom prst="rect">
            <a:avLst/>
          </a:prstGeom>
        </p:spPr>
      </p:pic>
    </p:spTree>
    <p:extLst>
      <p:ext uri="{BB962C8B-B14F-4D97-AF65-F5344CB8AC3E}">
        <p14:creationId xmlns:p14="http://schemas.microsoft.com/office/powerpoint/2010/main" val="2423380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32</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a:t>Сравнивая полученные с применением оценки когерентности результаты и </a:t>
            </a:r>
            <a:r>
              <a:rPr lang="ru-RU" sz="3200" dirty="0" smtClean="0"/>
              <a:t>результаты </a:t>
            </a:r>
            <a:r>
              <a:rPr lang="ru-RU" sz="3200" dirty="0"/>
              <a:t>экспертной оценки мы наблюдаем нарушение порядка при сохранении лидеров и </a:t>
            </a:r>
            <a:r>
              <a:rPr lang="ru-RU" sz="3200" dirty="0" smtClean="0"/>
              <a:t>аутсайдеров:</a:t>
            </a:r>
            <a:endParaRPr lang="ru-RU" sz="3200" dirty="0"/>
          </a:p>
        </p:txBody>
      </p:sp>
      <p:pic>
        <p:nvPicPr>
          <p:cNvPr id="3" name="Рисунок 2"/>
          <p:cNvPicPr>
            <a:picLocks noChangeAspect="1"/>
          </p:cNvPicPr>
          <p:nvPr/>
        </p:nvPicPr>
        <p:blipFill>
          <a:blip r:embed="rId2"/>
          <a:stretch>
            <a:fillRect/>
          </a:stretch>
        </p:blipFill>
        <p:spPr>
          <a:xfrm>
            <a:off x="1152525" y="2555485"/>
            <a:ext cx="9886950" cy="3248025"/>
          </a:xfrm>
          <a:prstGeom prst="rect">
            <a:avLst/>
          </a:prstGeom>
        </p:spPr>
      </p:pic>
    </p:spTree>
    <p:extLst>
      <p:ext uri="{BB962C8B-B14F-4D97-AF65-F5344CB8AC3E}">
        <p14:creationId xmlns:p14="http://schemas.microsoft.com/office/powerpoint/2010/main" val="4233491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33</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a:bodyPr>
          <a:lstStyle/>
          <a:p>
            <a:pPr marL="0" indent="0" fontAlgn="base"/>
            <a:r>
              <a:rPr lang="ru-RU" sz="3200" dirty="0"/>
              <a:t>Сравнивая полученные с применением оценки когерентности результаты и </a:t>
            </a:r>
            <a:r>
              <a:rPr lang="ru-RU" sz="3200" dirty="0" smtClean="0"/>
              <a:t>результаты </a:t>
            </a:r>
            <a:r>
              <a:rPr lang="ru-RU" sz="3200" dirty="0"/>
              <a:t>экспертной оценки мы наблюдаем нарушение порядка при сохранении лидеров и </a:t>
            </a:r>
            <a:r>
              <a:rPr lang="ru-RU" sz="3200" dirty="0" smtClean="0"/>
              <a:t>аутсайдеров:</a:t>
            </a:r>
            <a:endParaRPr lang="ru-RU" sz="3200" dirty="0"/>
          </a:p>
        </p:txBody>
      </p:sp>
      <p:pic>
        <p:nvPicPr>
          <p:cNvPr id="6" name="Рисунок 5"/>
          <p:cNvPicPr>
            <a:picLocks noChangeAspect="1"/>
          </p:cNvPicPr>
          <p:nvPr/>
        </p:nvPicPr>
        <p:blipFill>
          <a:blip r:embed="rId2"/>
          <a:stretch>
            <a:fillRect/>
          </a:stretch>
        </p:blipFill>
        <p:spPr>
          <a:xfrm>
            <a:off x="982063" y="2609311"/>
            <a:ext cx="9934575" cy="3295650"/>
          </a:xfrm>
          <a:prstGeom prst="rect">
            <a:avLst/>
          </a:prstGeom>
        </p:spPr>
      </p:pic>
    </p:spTree>
    <p:extLst>
      <p:ext uri="{BB962C8B-B14F-4D97-AF65-F5344CB8AC3E}">
        <p14:creationId xmlns:p14="http://schemas.microsoft.com/office/powerpoint/2010/main" val="23938686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34</a:t>
            </a:fld>
            <a:endParaRPr lang="ru-RU" noProof="0" dirty="0"/>
          </a:p>
        </p:txBody>
      </p:sp>
      <p:sp>
        <p:nvSpPr>
          <p:cNvPr id="4" name="Объект 3">
            <a:extLst>
              <a:ext uri="{FF2B5EF4-FFF2-40B4-BE49-F238E27FC236}">
                <a16:creationId xmlns:a16="http://schemas.microsoft.com/office/drawing/2014/main" id="{59322EA0-4F06-4DC1-08FD-3296BB86A2DF}"/>
              </a:ext>
            </a:extLst>
          </p:cNvPr>
          <p:cNvSpPr>
            <a:spLocks noGrp="1"/>
          </p:cNvSpPr>
          <p:nvPr>
            <p:ph idx="1"/>
          </p:nvPr>
        </p:nvSpPr>
        <p:spPr>
          <a:xfrm>
            <a:off x="432000" y="1055716"/>
            <a:ext cx="11328000" cy="5135534"/>
          </a:xfrm>
        </p:spPr>
        <p:txBody>
          <a:bodyPr>
            <a:normAutofit lnSpcReduction="10000"/>
          </a:bodyPr>
          <a:lstStyle/>
          <a:p>
            <a:pPr marL="0" indent="0" fontAlgn="base"/>
            <a:r>
              <a:rPr lang="ru-RU" sz="3200" dirty="0"/>
              <a:t>Из полученных результатов видно, что разница </a:t>
            </a:r>
            <a:r>
              <a:rPr lang="ru-RU" sz="3200" dirty="0" smtClean="0"/>
              <a:t>между когерентностью </a:t>
            </a:r>
            <a:r>
              <a:rPr lang="ru-RU" sz="3200" dirty="0"/>
              <a:t>C</a:t>
            </a:r>
            <a:r>
              <a:rPr lang="ru-RU" sz="3200" baseline="-25000" dirty="0"/>
              <a:t>UCI</a:t>
            </a:r>
            <a:r>
              <a:rPr lang="ru-RU" sz="3200" dirty="0"/>
              <a:t> </a:t>
            </a:r>
            <a:r>
              <a:rPr lang="ru-RU" sz="3200" dirty="0" smtClean="0"/>
              <a:t>и экспертными </a:t>
            </a:r>
            <a:r>
              <a:rPr lang="ru-RU" sz="3200" dirty="0"/>
              <a:t>оценками меньше, чем между другими рассмотренными способами </a:t>
            </a:r>
            <a:r>
              <a:rPr lang="ru-RU" sz="3200" dirty="0" smtClean="0"/>
              <a:t>автоматического получения </a:t>
            </a:r>
            <a:r>
              <a:rPr lang="ru-RU" sz="3200" dirty="0"/>
              <a:t>рейтинга (косинусное расстояние, например, дает практически </a:t>
            </a:r>
            <a:r>
              <a:rPr lang="ru-RU" sz="3200" dirty="0" smtClean="0"/>
              <a:t>противоположный </a:t>
            </a:r>
            <a:r>
              <a:rPr lang="ru-RU" sz="3200" dirty="0"/>
              <a:t>результат). Для построения рейтинга проведем оценку по всем собранным вопросам </a:t>
            </a:r>
            <a:r>
              <a:rPr lang="ru-RU" sz="3200" dirty="0" smtClean="0"/>
              <a:t>и построим </a:t>
            </a:r>
            <a:r>
              <a:rPr lang="ru-RU" sz="3200" dirty="0"/>
              <a:t>скрипичную </a:t>
            </a:r>
            <a:r>
              <a:rPr lang="ru-RU" sz="3200" dirty="0" smtClean="0"/>
              <a:t>диаграмму. </a:t>
            </a:r>
            <a:r>
              <a:rPr lang="ru-RU" sz="3200" dirty="0"/>
              <a:t>На вертикальной оси будем откладывать </a:t>
            </a:r>
            <a:r>
              <a:rPr lang="ru-RU" sz="3200" dirty="0" smtClean="0"/>
              <a:t>значение </a:t>
            </a:r>
            <a:r>
              <a:rPr lang="ru-RU" sz="3200" dirty="0"/>
              <a:t>когерентности </a:t>
            </a:r>
            <a:r>
              <a:rPr lang="ru-RU" sz="3200" dirty="0" err="1"/>
              <a:t>С</a:t>
            </a:r>
            <a:r>
              <a:rPr lang="ru-RU" sz="3200" baseline="-25000" dirty="0" err="1"/>
              <a:t>uci</a:t>
            </a:r>
            <a:r>
              <a:rPr lang="ru-RU" sz="3200" baseline="-25000" dirty="0"/>
              <a:t> </a:t>
            </a:r>
            <a:r>
              <a:rPr lang="ru-RU" sz="3200" dirty="0"/>
              <a:t>(чем выше значение, тем выше качество ответа). Белая точка </a:t>
            </a:r>
            <a:r>
              <a:rPr lang="ru-RU" sz="3200" dirty="0" smtClean="0"/>
              <a:t>показывает </a:t>
            </a:r>
            <a:r>
              <a:rPr lang="ru-RU" sz="3200" dirty="0"/>
              <a:t>медианное значение когерентности. Ширина фигуры в каждом месте </a:t>
            </a:r>
            <a:r>
              <a:rPr lang="ru-RU" sz="3200" dirty="0" smtClean="0"/>
              <a:t>показывает частоту </a:t>
            </a:r>
            <a:r>
              <a:rPr lang="ru-RU" sz="3200" dirty="0"/>
              <a:t>ответов данной LLM с данным значением когерентности. Как видим, на этом </a:t>
            </a:r>
            <a:r>
              <a:rPr lang="ru-RU" sz="3200" dirty="0" smtClean="0"/>
              <a:t>графике </a:t>
            </a:r>
            <a:r>
              <a:rPr lang="ru-RU" sz="3200" dirty="0"/>
              <a:t>наилучший результат показывает модель </a:t>
            </a:r>
            <a:r>
              <a:rPr lang="ru-RU" sz="3200" dirty="0" err="1"/>
              <a:t>Grok</a:t>
            </a:r>
            <a:r>
              <a:rPr lang="ru-RU" sz="3200" dirty="0"/>
              <a:t> AI.</a:t>
            </a:r>
            <a:endParaRPr lang="ru-RU" sz="3200" dirty="0"/>
          </a:p>
        </p:txBody>
      </p:sp>
    </p:spTree>
    <p:extLst>
      <p:ext uri="{BB962C8B-B14F-4D97-AF65-F5344CB8AC3E}">
        <p14:creationId xmlns:p14="http://schemas.microsoft.com/office/powerpoint/2010/main" val="27352416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35</a:t>
            </a:fld>
            <a:endParaRPr lang="ru-RU" noProof="0" dirty="0"/>
          </a:p>
        </p:txBody>
      </p:sp>
      <p:pic>
        <p:nvPicPr>
          <p:cNvPr id="3" name="Объект 2"/>
          <p:cNvPicPr>
            <a:picLocks noGrp="1" noChangeAspect="1"/>
          </p:cNvPicPr>
          <p:nvPr>
            <p:ph idx="1"/>
          </p:nvPr>
        </p:nvPicPr>
        <p:blipFill>
          <a:blip r:embed="rId2"/>
          <a:stretch>
            <a:fillRect/>
          </a:stretch>
        </p:blipFill>
        <p:spPr>
          <a:xfrm>
            <a:off x="552609" y="1414732"/>
            <a:ext cx="10575466" cy="4213742"/>
          </a:xfrm>
          <a:prstGeom prst="rect">
            <a:avLst/>
          </a:prstGeom>
        </p:spPr>
      </p:pic>
    </p:spTree>
    <p:extLst>
      <p:ext uri="{BB962C8B-B14F-4D97-AF65-F5344CB8AC3E}">
        <p14:creationId xmlns:p14="http://schemas.microsoft.com/office/powerpoint/2010/main" val="41105907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36</a:t>
            </a:fld>
            <a:endParaRPr lang="ru-RU" noProof="0" dirty="0"/>
          </a:p>
        </p:txBody>
      </p:sp>
      <p:pic>
        <p:nvPicPr>
          <p:cNvPr id="3" name="Объект 2"/>
          <p:cNvPicPr>
            <a:picLocks noGrp="1" noChangeAspect="1"/>
          </p:cNvPicPr>
          <p:nvPr>
            <p:ph idx="1"/>
          </p:nvPr>
        </p:nvPicPr>
        <p:blipFill>
          <a:blip r:embed="rId2"/>
          <a:stretch>
            <a:fillRect/>
          </a:stretch>
        </p:blipFill>
        <p:spPr>
          <a:xfrm>
            <a:off x="431800" y="1245343"/>
            <a:ext cx="11328400" cy="4756251"/>
          </a:xfrm>
          <a:prstGeom prst="rect">
            <a:avLst/>
          </a:prstGeom>
        </p:spPr>
      </p:pic>
    </p:spTree>
    <p:extLst>
      <p:ext uri="{BB962C8B-B14F-4D97-AF65-F5344CB8AC3E}">
        <p14:creationId xmlns:p14="http://schemas.microsoft.com/office/powerpoint/2010/main" val="967418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37</a:t>
            </a:fld>
            <a:endParaRPr lang="ru-RU" noProof="0" dirty="0"/>
          </a:p>
        </p:txBody>
      </p:sp>
      <p:pic>
        <p:nvPicPr>
          <p:cNvPr id="3" name="Объект 2"/>
          <p:cNvPicPr>
            <a:picLocks noGrp="1" noChangeAspect="1"/>
          </p:cNvPicPr>
          <p:nvPr>
            <p:ph idx="1"/>
          </p:nvPr>
        </p:nvPicPr>
        <p:blipFill>
          <a:blip r:embed="rId2"/>
          <a:stretch>
            <a:fillRect/>
          </a:stretch>
        </p:blipFill>
        <p:spPr>
          <a:xfrm>
            <a:off x="1584103" y="1055688"/>
            <a:ext cx="9023793" cy="5135562"/>
          </a:xfrm>
          <a:prstGeom prst="rect">
            <a:avLst/>
          </a:prstGeom>
        </p:spPr>
      </p:pic>
    </p:spTree>
    <p:extLst>
      <p:ext uri="{BB962C8B-B14F-4D97-AF65-F5344CB8AC3E}">
        <p14:creationId xmlns:p14="http://schemas.microsoft.com/office/powerpoint/2010/main" val="1950530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CC98-B887-AEDB-B629-7448185EBF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B06DD-CBD8-8DB8-C727-47F197C748C8}"/>
              </a:ext>
            </a:extLst>
          </p:cNvPr>
          <p:cNvSpPr>
            <a:spLocks noGrp="1"/>
          </p:cNvSpPr>
          <p:nvPr>
            <p:ph type="title"/>
          </p:nvPr>
        </p:nvSpPr>
        <p:spPr/>
        <p:txBody>
          <a:bodyPr/>
          <a:lstStyle/>
          <a:p>
            <a:pPr fontAlgn="base"/>
            <a:endParaRPr lang="en-US" b="1" dirty="0"/>
          </a:p>
        </p:txBody>
      </p:sp>
      <p:sp>
        <p:nvSpPr>
          <p:cNvPr id="5" name="Номер слайда 4">
            <a:extLst>
              <a:ext uri="{FF2B5EF4-FFF2-40B4-BE49-F238E27FC236}">
                <a16:creationId xmlns:a16="http://schemas.microsoft.com/office/drawing/2014/main" id="{C7096C9A-FC71-0C21-F745-EC4C0999B39B}"/>
              </a:ext>
            </a:extLst>
          </p:cNvPr>
          <p:cNvSpPr>
            <a:spLocks noGrp="1"/>
          </p:cNvSpPr>
          <p:nvPr>
            <p:ph type="sldNum" sz="quarter" idx="33"/>
          </p:nvPr>
        </p:nvSpPr>
        <p:spPr/>
        <p:txBody>
          <a:bodyPr/>
          <a:lstStyle/>
          <a:p>
            <a:pPr rtl="0"/>
            <a:fld id="{19B51A1E-902D-48AF-9020-955120F399B6}" type="slidenum">
              <a:rPr lang="ru-RU" noProof="0" smtClean="0"/>
              <a:pPr rtl="0"/>
              <a:t>38</a:t>
            </a:fld>
            <a:endParaRPr lang="ru-RU" noProof="0" dirty="0"/>
          </a:p>
        </p:txBody>
      </p:sp>
      <p:pic>
        <p:nvPicPr>
          <p:cNvPr id="3" name="Объект 2"/>
          <p:cNvPicPr>
            <a:picLocks noGrp="1" noChangeAspect="1"/>
          </p:cNvPicPr>
          <p:nvPr>
            <p:ph idx="1"/>
          </p:nvPr>
        </p:nvPicPr>
        <p:blipFill>
          <a:blip r:embed="rId2"/>
          <a:stretch>
            <a:fillRect/>
          </a:stretch>
        </p:blipFill>
        <p:spPr>
          <a:xfrm>
            <a:off x="737587" y="1055688"/>
            <a:ext cx="10716826" cy="5135562"/>
          </a:xfrm>
          <a:prstGeom prst="rect">
            <a:avLst/>
          </a:prstGeom>
        </p:spPr>
      </p:pic>
      <p:sp>
        <p:nvSpPr>
          <p:cNvPr id="6" name="Прямоугольник 5"/>
          <p:cNvSpPr/>
          <p:nvPr/>
        </p:nvSpPr>
        <p:spPr>
          <a:xfrm>
            <a:off x="2912357" y="6277243"/>
            <a:ext cx="6004977" cy="369332"/>
          </a:xfrm>
          <a:prstGeom prst="rect">
            <a:avLst/>
          </a:prstGeom>
        </p:spPr>
        <p:txBody>
          <a:bodyPr wrap="none">
            <a:spAutoFit/>
          </a:bodyPr>
          <a:lstStyle/>
          <a:p>
            <a:r>
              <a:rPr lang="ru-RU" dirty="0"/>
              <a:t>https://publications.hse.ru/pubs/share/direct/1085466832.pdf</a:t>
            </a:r>
          </a:p>
        </p:txBody>
      </p:sp>
    </p:spTree>
    <p:extLst>
      <p:ext uri="{BB962C8B-B14F-4D97-AF65-F5344CB8AC3E}">
        <p14:creationId xmlns:p14="http://schemas.microsoft.com/office/powerpoint/2010/main" val="80349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descr="Изображение">
            <a:extLst>
              <a:ext uri="{FF2B5EF4-FFF2-40B4-BE49-F238E27FC236}">
                <a16:creationId xmlns:a16="http://schemas.microsoft.com/office/drawing/2014/main" id="{C4330FBA-FEA8-B941-8864-B3DEDDE80404}"/>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38" name="Надпись 37" descr="Акцент для блока заголовка">
            <a:extLst>
              <a:ext uri="{FF2B5EF4-FFF2-40B4-BE49-F238E27FC236}">
                <a16:creationId xmlns:a16="http://schemas.microsoft.com/office/drawing/2014/main" id="{B231FB9C-F234-41D0-A4CE-8C29A5F2F553}"/>
              </a:ext>
              <a:ext uri="{C183D7F6-B498-43B3-948B-1728B52AA6E4}">
                <adec:decorative xmlns="" xmlns:adec="http://schemas.microsoft.com/office/drawing/2017/decorative" val="1"/>
              </a:ext>
            </a:extLst>
          </p:cNvPr>
          <p:cNvSpPr txBox="1">
            <a:spLocks/>
          </p:cNvSpPr>
          <p:nvPr/>
        </p:nvSpPr>
        <p:spPr>
          <a:xfrm>
            <a:off x="11354303" y="3842399"/>
            <a:ext cx="846997" cy="2200275"/>
          </a:xfrm>
          <a:custGeom>
            <a:avLst/>
            <a:gdLst>
              <a:gd name="connsiteX0" fmla="*/ 99480 w 846997"/>
              <a:gd name="connsiteY0" fmla="*/ 0 h 2200275"/>
              <a:gd name="connsiteX1" fmla="*/ 846997 w 846997"/>
              <a:gd name="connsiteY1" fmla="*/ 0 h 2200275"/>
              <a:gd name="connsiteX2" fmla="*/ 846997 w 846997"/>
              <a:gd name="connsiteY2" fmla="*/ 2200275 h 2200275"/>
              <a:gd name="connsiteX3" fmla="*/ 99480 w 846997"/>
              <a:gd name="connsiteY3" fmla="*/ 2200275 h 2200275"/>
              <a:gd name="connsiteX4" fmla="*/ 0 w 846997"/>
              <a:gd name="connsiteY4" fmla="*/ 2099942 h 2200275"/>
              <a:gd name="connsiteX5" fmla="*/ 0 w 846997"/>
              <a:gd name="connsiteY5" fmla="*/ 100333 h 2200275"/>
              <a:gd name="connsiteX6" fmla="*/ 99480 w 846997"/>
              <a:gd name="connsiteY6" fmla="*/ 0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6997" h="2200275">
                <a:moveTo>
                  <a:pt x="99480" y="0"/>
                </a:moveTo>
                <a:lnTo>
                  <a:pt x="846997" y="0"/>
                </a:lnTo>
                <a:lnTo>
                  <a:pt x="846997" y="2200275"/>
                </a:lnTo>
                <a:lnTo>
                  <a:pt x="99480" y="2200275"/>
                </a:lnTo>
                <a:cubicBezTo>
                  <a:pt x="44539" y="2200275"/>
                  <a:pt x="0" y="2155354"/>
                  <a:pt x="0" y="2099942"/>
                </a:cubicBezTo>
                <a:lnTo>
                  <a:pt x="0" y="100333"/>
                </a:lnTo>
                <a:cubicBezTo>
                  <a:pt x="0" y="44921"/>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5" name="Равнобедренный треугольник 34" descr="Тень для блока заголовка">
            <a:extLst>
              <a:ext uri="{FF2B5EF4-FFF2-40B4-BE49-F238E27FC236}">
                <a16:creationId xmlns:a16="http://schemas.microsoft.com/office/drawing/2014/main" id="{FE193317-B8BD-46CA-B0A6-8A7511B086D9}"/>
              </a:ext>
              <a:ext uri="{C183D7F6-B498-43B3-948B-1728B52AA6E4}">
                <adec:decorative xmlns="" xmlns:adec="http://schemas.microsoft.com/office/drawing/2017/decorative" val="1"/>
              </a:ext>
            </a:extLst>
          </p:cNvPr>
          <p:cNvSpPr/>
          <p:nvPr/>
        </p:nvSpPr>
        <p:spPr>
          <a:xfrm rot="10800000">
            <a:off x="11359065" y="5556894"/>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2" name="Полилиния 5" descr="Сплошной контрастный блок">
            <a:extLst>
              <a:ext uri="{FF2B5EF4-FFF2-40B4-BE49-F238E27FC236}">
                <a16:creationId xmlns:a16="http://schemas.microsoft.com/office/drawing/2014/main" id="{85E0D4E1-E389-4671-B0E7-165A10A05425}"/>
              </a:ext>
              <a:ext uri="{C183D7F6-B498-43B3-948B-1728B52AA6E4}">
                <adec:decorative xmlns="" xmlns:adec="http://schemas.microsoft.com/office/drawing/2017/decorative" val="1"/>
              </a:ext>
            </a:extLst>
          </p:cNvPr>
          <p:cNvSpPr>
            <a:spLocks noChangeAspect="1"/>
          </p:cNvSpPr>
          <p:nvPr/>
        </p:nvSpPr>
        <p:spPr bwMode="auto">
          <a:xfrm>
            <a:off x="4257349" y="2355010"/>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33" name="Полилиния 5" descr="Пустой контрастный блок">
            <a:extLst>
              <a:ext uri="{FF2B5EF4-FFF2-40B4-BE49-F238E27FC236}">
                <a16:creationId xmlns:a16="http://schemas.microsoft.com/office/drawing/2014/main" id="{8186FEAF-6E1E-4258-94C3-5C589D4B5ADE}"/>
              </a:ext>
              <a:ext uri="{C183D7F6-B498-43B3-948B-1728B52AA6E4}">
                <adec:decorative xmlns="" xmlns:adec="http://schemas.microsoft.com/office/drawing/2017/decorative" val="1"/>
              </a:ext>
            </a:extLst>
          </p:cNvPr>
          <p:cNvSpPr>
            <a:spLocks noChangeAspect="1"/>
          </p:cNvSpPr>
          <p:nvPr/>
        </p:nvSpPr>
        <p:spPr bwMode="auto">
          <a:xfrm>
            <a:off x="6490727" y="12363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lumMod val="9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20" name="Заголовок 19">
            <a:extLst>
              <a:ext uri="{FF2B5EF4-FFF2-40B4-BE49-F238E27FC236}">
                <a16:creationId xmlns:a16="http://schemas.microsoft.com/office/drawing/2014/main" id="{7C11A64B-7EA5-442C-8405-73273A5331D1}"/>
              </a:ext>
            </a:extLst>
          </p:cNvPr>
          <p:cNvSpPr>
            <a:spLocks noGrp="1"/>
          </p:cNvSpPr>
          <p:nvPr>
            <p:ph type="ctrTitle"/>
          </p:nvPr>
        </p:nvSpPr>
        <p:spPr/>
        <p:txBody>
          <a:bodyPr rtlCol="0"/>
          <a:lstStyle/>
          <a:p>
            <a:pPr rtl="0"/>
            <a:r>
              <a:rPr lang="ru-RU" dirty="0"/>
              <a:t>Спасибо за внимание!</a:t>
            </a:r>
          </a:p>
        </p:txBody>
      </p:sp>
      <p:pic>
        <p:nvPicPr>
          <p:cNvPr id="8" name="Графический объект 7" descr="Пользователь" title="Значок — имя докладчика">
            <a:extLst>
              <a:ext uri="{FF2B5EF4-FFF2-40B4-BE49-F238E27FC236}">
                <a16:creationId xmlns:a16="http://schemas.microsoft.com/office/drawing/2014/main" id="{111541C4-DB03-4E53-994D-499C7D73C4D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7678512" y="3859066"/>
            <a:ext cx="218900" cy="218900"/>
          </a:xfrm>
          <a:prstGeom prst="rect">
            <a:avLst/>
          </a:prstGeom>
        </p:spPr>
      </p:pic>
      <p:sp>
        <p:nvSpPr>
          <p:cNvPr id="4" name="Текст 3">
            <a:extLst>
              <a:ext uri="{FF2B5EF4-FFF2-40B4-BE49-F238E27FC236}">
                <a16:creationId xmlns:a16="http://schemas.microsoft.com/office/drawing/2014/main" id="{60828E04-9C2A-4859-8050-C2DF67A249CB}"/>
              </a:ext>
            </a:extLst>
          </p:cNvPr>
          <p:cNvSpPr>
            <a:spLocks noGrp="1"/>
          </p:cNvSpPr>
          <p:nvPr>
            <p:ph type="body" sz="quarter" idx="15"/>
          </p:nvPr>
        </p:nvSpPr>
        <p:spPr/>
        <p:txBody>
          <a:bodyPr rtlCol="0"/>
          <a:lstStyle/>
          <a:p>
            <a:pPr rtl="0"/>
            <a:r>
              <a:rPr lang="ru-RU" sz="1800" dirty="0"/>
              <a:t>Сергей Ткаченко</a:t>
            </a:r>
          </a:p>
        </p:txBody>
      </p:sp>
      <p:pic>
        <p:nvPicPr>
          <p:cNvPr id="9" name="Графический объект 8" descr="Конверт" title="Значок — адрес электронной почты докладчика">
            <a:extLst>
              <a:ext uri="{FF2B5EF4-FFF2-40B4-BE49-F238E27FC236}">
                <a16:creationId xmlns:a16="http://schemas.microsoft.com/office/drawing/2014/main" id="{773C1382-ACE1-460F-A1B6-AB761A7D2E6B}"/>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7678512" y="4253359"/>
            <a:ext cx="218900" cy="218900"/>
          </a:xfrm>
          <a:prstGeom prst="rect">
            <a:avLst/>
          </a:prstGeom>
        </p:spPr>
      </p:pic>
      <p:sp>
        <p:nvSpPr>
          <p:cNvPr id="6" name="Текст 5">
            <a:extLst>
              <a:ext uri="{FF2B5EF4-FFF2-40B4-BE49-F238E27FC236}">
                <a16:creationId xmlns:a16="http://schemas.microsoft.com/office/drawing/2014/main" id="{50A3BCC3-A277-4C0B-9EBA-EB53990D8EBD}"/>
              </a:ext>
            </a:extLst>
          </p:cNvPr>
          <p:cNvSpPr>
            <a:spLocks noGrp="1"/>
          </p:cNvSpPr>
          <p:nvPr>
            <p:ph type="body" sz="quarter" idx="17"/>
          </p:nvPr>
        </p:nvSpPr>
        <p:spPr>
          <a:xfrm>
            <a:off x="8034849" y="4246905"/>
            <a:ext cx="3521514" cy="288000"/>
          </a:xfrm>
        </p:spPr>
        <p:txBody>
          <a:bodyPr rtlCol="0"/>
          <a:lstStyle/>
          <a:p>
            <a:pPr rtl="0"/>
            <a:r>
              <a:rPr lang="en-US" sz="1800" dirty="0" err="1"/>
              <a:t>SNTkachenko</a:t>
            </a:r>
            <a:r>
              <a:rPr lang="ru-RU" sz="1800" dirty="0"/>
              <a:t>@</a:t>
            </a:r>
            <a:r>
              <a:rPr lang="en-US" sz="1800" dirty="0" err="1"/>
              <a:t>kantiana</a:t>
            </a:r>
            <a:r>
              <a:rPr lang="ru-RU" sz="1800" dirty="0"/>
              <a:t>.</a:t>
            </a:r>
            <a:r>
              <a:rPr lang="en-US" sz="1800" dirty="0" err="1"/>
              <a:t>ru</a:t>
            </a:r>
            <a:endParaRPr lang="ru-RU" sz="1800" dirty="0"/>
          </a:p>
        </p:txBody>
      </p:sp>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Тема Offic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9716552_TF16411253.potx" id="{484AC4F0-DFB1-44B1-A48A-4A4E5B9BAE55}" vid="{642D7752-446B-4E16-8C1E-EACC99EB30B7}"/>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9" ma:contentTypeDescription="Create a new document." ma:contentTypeScope="" ma:versionID="76e25e1730b4532ab1d5e5b131a96a5a">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d1e9281a84c4949647088091c718de3"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D4F06F66-218D-4D1C-873A-158A1848B8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8A50AA-654B-45CA-B6AD-FDA9E9535EF9}">
  <ds:schemaRefs>
    <ds:schemaRef ds:uri="http://purl.org/dc/dcmitype/"/>
    <ds:schemaRef ds:uri="http://schemas.microsoft.com/office/2006/documentManagement/types"/>
    <ds:schemaRef ds:uri="http://purl.org/dc/elements/1.1/"/>
    <ds:schemaRef ds:uri="http://purl.org/dc/term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fb0879af-3eba-417a-a55a-ffe6dcd6ca77"/>
    <ds:schemaRef ds:uri="6dc4bcd6-49db-4c07-9060-8acfc67cef9f"/>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Геометрическая презентация</Template>
  <TotalTime>0</TotalTime>
  <Words>2708</Words>
  <Application>Microsoft Office PowerPoint</Application>
  <PresentationFormat>Широкоэкранный</PresentationFormat>
  <Paragraphs>128</Paragraphs>
  <Slides>39</Slides>
  <Notes>6</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39</vt:i4>
      </vt:variant>
    </vt:vector>
  </HeadingPairs>
  <TitlesOfParts>
    <vt:vector size="49" baseType="lpstr">
      <vt:lpstr>Arial</vt:lpstr>
      <vt:lpstr>Calibri</vt:lpstr>
      <vt:lpstr>Calibri Light</vt:lpstr>
      <vt:lpstr>Cambria Math</vt:lpstr>
      <vt:lpstr>Corbel</vt:lpstr>
      <vt:lpstr>Inter</vt:lpstr>
      <vt:lpstr>Symbol</vt:lpstr>
      <vt:lpstr>Times New Roman</vt:lpstr>
      <vt:lpstr>TimesNewRomanPSMT</vt:lpstr>
      <vt:lpstr>Тема Office</vt:lpstr>
      <vt:lpstr>LLM часть 2</vt:lpstr>
      <vt:lpstr>Метрики оценки качества LLM</vt:lpstr>
      <vt:lpstr>Презентация PowerPoint</vt:lpstr>
      <vt:lpstr>Зачем нужны метрики оценки LLM?</vt:lpstr>
      <vt:lpstr>Основные виды метрик</vt:lpstr>
      <vt:lpstr>Основные виды метрик</vt:lpstr>
      <vt:lpstr>Популярные бенчмарки для языковых моделей</vt:lpstr>
      <vt:lpstr>Методология оценивания LLM</vt:lpstr>
      <vt:lpstr>Презентация PowerPoint</vt:lpstr>
      <vt:lpstr>Презентация PowerPoint</vt:lpstr>
      <vt:lpstr>Презентация PowerPoint</vt:lpstr>
      <vt:lpstr>Презентация PowerPoint</vt:lpstr>
      <vt:lpstr>Презентация PowerPoint</vt:lpstr>
      <vt:lpstr>Принципы формирования множества вопросов для оценки LLM</vt:lpstr>
      <vt:lpstr>Презентация PowerPoint</vt:lpstr>
      <vt:lpstr>Презентация PowerPoint</vt:lpstr>
      <vt:lpstr>Презентация PowerPoint</vt:lpstr>
      <vt:lpstr>Презентация PowerPoint</vt:lpstr>
      <vt:lpstr>Презентация PowerPoint</vt:lpstr>
      <vt:lpstr>Методика оценки ответов</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2025-08-26T15:19:12Z</dcterms:created>
  <dcterms:modified xsi:type="dcterms:W3CDTF">2026-04-07T16:33:23Z</dcterms:modified>
</cp:coreProperties>
</file>